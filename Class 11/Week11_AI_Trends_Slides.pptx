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621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0"/>
            <a:ext cx="12191695" cy="2743200"/>
          </a:xfrm>
          <a:prstGeom prst="rect">
            <a:avLst/>
          </a:prstGeom>
          <a:solidFill>
            <a:srgbClr val="0F34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3474720"/>
            <a:ext cx="12191695" cy="73152"/>
          </a:xfrm>
          <a:prstGeom prst="rect">
            <a:avLst/>
          </a:prstGeom>
          <a:solidFill>
            <a:srgbClr val="0EA5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188720"/>
            <a:ext cx="10789920" cy="1463040"/>
          </a:xfrm>
          <a:prstGeom prst="rect">
            <a:avLst/>
          </a:prstGeom>
          <a:noFill/>
        </p:spPr>
        <p:txBody>
          <a:bodyPr wrap="none">
            <a:spAutoFit/>
          </a:bodyPr>
          <a:lstStyle/>
          <a:p>
            <a:r>
              <a:rPr sz="4200" b="1">
                <a:solidFill>
                  <a:srgbClr val="FFFFFF"/>
                </a:solidFill>
                <a:latin typeface="Calibri"/>
              </a:rPr>
              <a:t>Week 11: New AI Tools and Trends</a:t>
            </a:r>
          </a:p>
        </p:txBody>
      </p:sp>
      <p:sp>
        <p:nvSpPr>
          <p:cNvPr id="6" name="TextBox 5"/>
          <p:cNvSpPr txBox="1"/>
          <p:nvPr/>
        </p:nvSpPr>
        <p:spPr>
          <a:xfrm>
            <a:off x="731520" y="2697480"/>
            <a:ext cx="10789920" cy="731520"/>
          </a:xfrm>
          <a:prstGeom prst="rect">
            <a:avLst/>
          </a:prstGeom>
          <a:noFill/>
        </p:spPr>
        <p:txBody>
          <a:bodyPr wrap="none">
            <a:spAutoFit/>
          </a:bodyPr>
          <a:lstStyle/>
          <a:p>
            <a:r>
              <a:rPr sz="1900">
                <a:solidFill>
                  <a:srgbClr val="0EA5E9"/>
                </a:solidFill>
                <a:latin typeface="Calibri"/>
              </a:rPr>
              <a:t>The Full 2026 AI Landscape — Models · Agents · Coding Tools · Automation · Strategy</a:t>
            </a:r>
          </a:p>
        </p:txBody>
      </p:sp>
      <p:sp>
        <p:nvSpPr>
          <p:cNvPr id="7" name="TextBox 6"/>
          <p:cNvSpPr txBox="1"/>
          <p:nvPr/>
        </p:nvSpPr>
        <p:spPr>
          <a:xfrm>
            <a:off x="731520" y="4572000"/>
            <a:ext cx="10789920" cy="1645920"/>
          </a:xfrm>
          <a:prstGeom prst="rect">
            <a:avLst/>
          </a:prstGeom>
          <a:noFill/>
        </p:spPr>
        <p:txBody>
          <a:bodyPr wrap="none">
            <a:spAutoFit/>
          </a:bodyPr>
          <a:lstStyle/>
          <a:p>
            <a:pPr>
              <a:spcBef>
                <a:spcPts val="500"/>
              </a:spcBef>
            </a:pPr>
            <a:r>
              <a:rPr sz="1600">
                <a:solidFill>
                  <a:srgbClr val="FFFFFF"/>
                </a:solidFill>
                <a:latin typeface="Calibri"/>
              </a:rPr>
              <a:t>BUAN 6v99 — Generative AI for Business</a:t>
            </a:r>
          </a:p>
          <a:p>
            <a:pPr>
              <a:spcBef>
                <a:spcPts val="500"/>
              </a:spcBef>
            </a:pPr>
            <a:r>
              <a:rPr sz="1400">
                <a:solidFill>
                  <a:srgbClr val="AABBDD"/>
                </a:solidFill>
                <a:latin typeface="Calibri"/>
              </a:rPr>
              <a:t>University of Texas at Dallas  |  Spring 2026</a:t>
            </a:r>
          </a:p>
          <a:p>
            <a:pPr>
              <a:spcBef>
                <a:spcPts val="500"/>
              </a:spcBef>
            </a:pPr>
            <a:r>
              <a:rPr sz="1400">
                <a:solidFill>
                  <a:srgbClr val="AABBDD"/>
                </a:solidFill>
                <a:latin typeface="Calibri"/>
              </a:rPr>
              <a:t>April 8, 2026  |  Professor Antonio de Pádua Paes Jr.</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234440"/>
          </a:xfrm>
          <a:prstGeom prst="rect">
            <a:avLst/>
          </a:prstGeom>
          <a:solidFill>
            <a:srgbClr val="1621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91440"/>
            <a:ext cx="11368735" cy="658368"/>
          </a:xfrm>
          <a:prstGeom prst="rect">
            <a:avLst/>
          </a:prstGeom>
          <a:noFill/>
        </p:spPr>
        <p:txBody>
          <a:bodyPr wrap="square">
            <a:spAutoFit/>
          </a:bodyPr>
          <a:lstStyle/>
          <a:p>
            <a:r>
              <a:rPr sz="2700" b="1">
                <a:solidFill>
                  <a:srgbClr val="FFFFFF"/>
                </a:solidFill>
                <a:latin typeface="Calibri"/>
              </a:rPr>
              <a:t>New AI Tools and Trends</a:t>
            </a:r>
          </a:p>
        </p:txBody>
      </p:sp>
      <p:sp>
        <p:nvSpPr>
          <p:cNvPr id="5" name="TextBox 4"/>
          <p:cNvSpPr txBox="1"/>
          <p:nvPr/>
        </p:nvSpPr>
        <p:spPr>
          <a:xfrm>
            <a:off x="411480" y="749808"/>
            <a:ext cx="11368735" cy="402336"/>
          </a:xfrm>
          <a:prstGeom prst="rect">
            <a:avLst/>
          </a:prstGeom>
          <a:noFill/>
        </p:spPr>
        <p:txBody>
          <a:bodyPr wrap="none">
            <a:spAutoFit/>
          </a:bodyPr>
          <a:lstStyle/>
          <a:p>
            <a:r>
              <a:rPr sz="1500">
                <a:solidFill>
                  <a:srgbClr val="0EA5E9"/>
                </a:solidFill>
                <a:latin typeface="Calibri"/>
              </a:rPr>
              <a:t>BUAN 6v99 — Generative AI for Business</a:t>
            </a:r>
          </a:p>
        </p:txBody>
      </p:sp>
      <p:sp>
        <p:nvSpPr>
          <p:cNvPr id="6" name="Rectangle 5"/>
          <p:cNvSpPr/>
          <p:nvPr/>
        </p:nvSpPr>
        <p:spPr>
          <a:xfrm>
            <a:off x="0" y="1234440"/>
            <a:ext cx="12191695" cy="36576"/>
          </a:xfrm>
          <a:prstGeom prst="rect">
            <a:avLst/>
          </a:prstGeom>
          <a:solidFill>
            <a:srgbClr val="0EA5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1551615" y="6537960"/>
            <a:ext cx="502920" cy="256032"/>
          </a:xfrm>
          <a:prstGeom prst="rect">
            <a:avLst/>
          </a:prstGeom>
          <a:noFill/>
        </p:spPr>
        <p:txBody>
          <a:bodyPr wrap="none">
            <a:spAutoFit/>
          </a:bodyPr>
          <a:lstStyle/>
          <a:p>
            <a:pPr algn="ctr"/>
            <a:r>
              <a:rPr sz="1000">
                <a:solidFill>
                  <a:srgbClr val="AAAABB"/>
                </a:solidFill>
                <a:latin typeface="Calibri"/>
              </a:rPr>
              <a:t>1</a:t>
            </a:r>
          </a:p>
        </p:txBody>
      </p:sp>
      <p:sp>
        <p:nvSpPr>
          <p:cNvPr id="8" name="TextBox 7"/>
          <p:cNvSpPr txBox="1"/>
          <p:nvPr/>
        </p:nvSpPr>
        <p:spPr>
          <a:xfrm>
            <a:off x="502920" y="1353312"/>
            <a:ext cx="11185855" cy="5093208"/>
          </a:xfrm>
          <a:prstGeom prst="rect">
            <a:avLst/>
          </a:prstGeom>
          <a:noFill/>
        </p:spPr>
        <p:txBody>
          <a:bodyPr wrap="square">
            <a:spAutoFit/>
          </a:bodyPr>
          <a:lstStyle/>
          <a:p>
            <a:pPr>
              <a:spcBef>
                <a:spcPts val="300"/>
              </a:spcBef>
              <a:spcAft>
                <a:spcPts val="200"/>
              </a:spcAft>
            </a:pPr>
            <a:r>
              <a:rPr sz="1600" b="1">
                <a:solidFill>
                  <a:srgbClr val="533483"/>
                </a:solidFill>
                <a:latin typeface="Calibri"/>
              </a:rPr>
              <a:t>Class 11 | University of Texas at Dallas | Spring 2026</a:t>
            </a:r>
          </a:p>
          <a:p>
            <a:pPr>
              <a:spcBef>
                <a:spcPts val="300"/>
              </a:spcBef>
              <a:spcAft>
                <a:spcPts val="200"/>
              </a:spcAft>
            </a:pPr>
            <a:r>
              <a:rPr sz="1200" b="0">
                <a:solidFill>
                  <a:srgbClr val="2D3748"/>
                </a:solidFill>
                <a:latin typeface="Calibri"/>
              </a:rPr>
              <a:t>Professor: Antonio de Pádua Paes Jr.</a:t>
            </a:r>
          </a:p>
        </p:txBody>
      </p:sp>
      <p:sp>
        <p:nvSpPr>
          <p:cNvPr id="9" name="Rectangle 8"/>
          <p:cNvSpPr/>
          <p:nvPr/>
        </p:nvSpPr>
        <p:spPr>
          <a:xfrm>
            <a:off x="502920" y="2029968"/>
            <a:ext cx="54864" cy="498896"/>
          </a:xfrm>
          <a:prstGeom prst="rect">
            <a:avLst/>
          </a:prstGeom>
          <a:solidFill>
            <a:srgbClr val="53348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67512" y="2029968"/>
            <a:ext cx="11021263" cy="566928"/>
          </a:xfrm>
          <a:prstGeom prst="rect">
            <a:avLst/>
          </a:prstGeom>
          <a:noFill/>
        </p:spPr>
        <p:txBody>
          <a:bodyPr wrap="square">
            <a:spAutoFit/>
          </a:bodyPr>
          <a:lstStyle/>
          <a:p>
            <a:r>
              <a:rPr sz="1300" i="1">
                <a:solidFill>
                  <a:srgbClr val="0F3460"/>
                </a:solidFill>
                <a:latin typeface="Calibri"/>
              </a:rPr>
              <a:t>"We are not in a period of gradual improvement. We are in a period of compounding transformation — where every month rewrites what's possible."</a:t>
            </a:r>
          </a:p>
        </p:txBody>
      </p:sp>
      <p:sp>
        <p:nvSpPr>
          <p:cNvPr id="11" name="TextBox 10"/>
          <p:cNvSpPr txBox="1"/>
          <p:nvPr/>
        </p:nvSpPr>
        <p:spPr>
          <a:xfrm>
            <a:off x="502920" y="2688336"/>
            <a:ext cx="11185855" cy="3758184"/>
          </a:xfrm>
          <a:prstGeom prst="rect">
            <a:avLst/>
          </a:prstGeom>
          <a:noFill/>
        </p:spPr>
        <p:txBody>
          <a:bodyPr wrap="square">
            <a:spAutoFit/>
          </a:bodyPr>
          <a:lstStyle/>
          <a:p>
            <a:pPr>
              <a:spcBef>
                <a:spcPts val="300"/>
              </a:spcBef>
              <a:spcAft>
                <a:spcPts val="200"/>
              </a:spcAft>
            </a:pPr>
            <a:r>
              <a:rPr sz="1300" b="1">
                <a:solidFill>
                  <a:srgbClr val="0F3460"/>
                </a:solidFill>
                <a:latin typeface="Calibri"/>
              </a:rPr>
              <a:t>Today we cover five sections:</a:t>
            </a:r>
          </a:p>
          <a:p>
            <a:pPr>
              <a:spcBef>
                <a:spcPts val="300"/>
              </a:spcBef>
              <a:spcAft>
                <a:spcPts val="200"/>
              </a:spcAft>
            </a:pPr>
            <a:r>
              <a:rPr sz="1300">
                <a:solidFill>
                  <a:srgbClr val="0EA5E9"/>
                </a:solidFill>
                <a:latin typeface="Calibri"/>
              </a:rPr>
              <a:t>• </a:t>
            </a:r>
            <a:r>
              <a:rPr sz="1300" b="0">
                <a:solidFill>
                  <a:srgbClr val="1A1A2E"/>
                </a:solidFill>
                <a:latin typeface="Calibri"/>
              </a:rPr>
              <a:t>The AI model landscape in early 2026 — who's leading and why</a:t>
            </a:r>
          </a:p>
          <a:p>
            <a:pPr>
              <a:spcBef>
                <a:spcPts val="300"/>
              </a:spcBef>
              <a:spcAft>
                <a:spcPts val="200"/>
              </a:spcAft>
            </a:pPr>
            <a:r>
              <a:rPr sz="1300">
                <a:solidFill>
                  <a:srgbClr val="0EA5E9"/>
                </a:solidFill>
                <a:latin typeface="Calibri"/>
              </a:rPr>
              <a:t>• </a:t>
            </a:r>
            <a:r>
              <a:rPr sz="1300" b="0">
                <a:solidFill>
                  <a:srgbClr val="1A1A2E"/>
                </a:solidFill>
                <a:latin typeface="Calibri"/>
              </a:rPr>
              <a:t>AI agent frameworks — how AI now takes actions, not just answers questions</a:t>
            </a:r>
          </a:p>
          <a:p>
            <a:pPr>
              <a:spcBef>
                <a:spcPts val="300"/>
              </a:spcBef>
              <a:spcAft>
                <a:spcPts val="200"/>
              </a:spcAft>
            </a:pPr>
            <a:r>
              <a:rPr sz="1300">
                <a:solidFill>
                  <a:srgbClr val="0EA5E9"/>
                </a:solidFill>
                <a:latin typeface="Calibri"/>
              </a:rPr>
              <a:t>• </a:t>
            </a:r>
            <a:r>
              <a:rPr sz="1300" b="0">
                <a:solidFill>
                  <a:srgbClr val="1A1A2E"/>
                </a:solidFill>
                <a:latin typeface="Calibri"/>
              </a:rPr>
              <a:t>AI coding tools — Claude Code, Cursor, Copilot, Windsurf compared</a:t>
            </a:r>
          </a:p>
          <a:p>
            <a:pPr>
              <a:spcBef>
                <a:spcPts val="300"/>
              </a:spcBef>
              <a:spcAft>
                <a:spcPts val="200"/>
              </a:spcAft>
            </a:pPr>
            <a:r>
              <a:rPr sz="1300">
                <a:solidFill>
                  <a:srgbClr val="0EA5E9"/>
                </a:solidFill>
                <a:latin typeface="Calibri"/>
              </a:rPr>
              <a:t>• </a:t>
            </a:r>
            <a:r>
              <a:rPr sz="1300" b="0">
                <a:solidFill>
                  <a:srgbClr val="1A1A2E"/>
                </a:solidFill>
                <a:latin typeface="Calibri"/>
              </a:rPr>
              <a:t>Business automation and multimodal AI — n8n, Make, Zapier, video generation</a:t>
            </a:r>
          </a:p>
          <a:p>
            <a:pPr>
              <a:spcBef>
                <a:spcPts val="300"/>
              </a:spcBef>
              <a:spcAft>
                <a:spcPts val="200"/>
              </a:spcAft>
            </a:pPr>
            <a:r>
              <a:rPr sz="1300">
                <a:solidFill>
                  <a:srgbClr val="0EA5E9"/>
                </a:solidFill>
                <a:latin typeface="Calibri"/>
              </a:rPr>
              <a:t>• </a:t>
            </a:r>
            <a:r>
              <a:rPr sz="1300" b="0">
                <a:solidFill>
                  <a:srgbClr val="1A1A2E"/>
                </a:solidFill>
                <a:latin typeface="Calibri"/>
              </a:rPr>
              <a:t>Key trends — RAG, fine-tuning, building your AI stack, career outlook</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234440"/>
          </a:xfrm>
          <a:prstGeom prst="rect">
            <a:avLst/>
          </a:prstGeom>
          <a:solidFill>
            <a:srgbClr val="1621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91440"/>
            <a:ext cx="11368735" cy="658368"/>
          </a:xfrm>
          <a:prstGeom prst="rect">
            <a:avLst/>
          </a:prstGeom>
          <a:noFill/>
        </p:spPr>
        <p:txBody>
          <a:bodyPr wrap="square">
            <a:spAutoFit/>
          </a:bodyPr>
          <a:lstStyle/>
          <a:p>
            <a:r>
              <a:rPr sz="2700" b="1">
                <a:solidFill>
                  <a:srgbClr val="FFFFFF"/>
                </a:solidFill>
                <a:latin typeface="Calibri"/>
              </a:rPr>
              <a:t>Today's Agenda</a:t>
            </a:r>
          </a:p>
        </p:txBody>
      </p:sp>
      <p:sp>
        <p:nvSpPr>
          <p:cNvPr id="5" name="TextBox 4"/>
          <p:cNvSpPr txBox="1"/>
          <p:nvPr/>
        </p:nvSpPr>
        <p:spPr>
          <a:xfrm>
            <a:off x="411480" y="749808"/>
            <a:ext cx="11368735" cy="402336"/>
          </a:xfrm>
          <a:prstGeom prst="rect">
            <a:avLst/>
          </a:prstGeom>
          <a:noFill/>
        </p:spPr>
        <p:txBody>
          <a:bodyPr wrap="none">
            <a:spAutoFit/>
          </a:bodyPr>
          <a:lstStyle/>
          <a:p>
            <a:r>
              <a:rPr sz="1500">
                <a:solidFill>
                  <a:srgbClr val="0EA5E9"/>
                </a:solidFill>
                <a:latin typeface="Calibri"/>
              </a:rPr>
              <a:t>Class Overview — 2 Hours</a:t>
            </a:r>
          </a:p>
        </p:txBody>
      </p:sp>
      <p:sp>
        <p:nvSpPr>
          <p:cNvPr id="6" name="Rectangle 5"/>
          <p:cNvSpPr/>
          <p:nvPr/>
        </p:nvSpPr>
        <p:spPr>
          <a:xfrm>
            <a:off x="0" y="1234440"/>
            <a:ext cx="12191695" cy="36576"/>
          </a:xfrm>
          <a:prstGeom prst="rect">
            <a:avLst/>
          </a:prstGeom>
          <a:solidFill>
            <a:srgbClr val="0EA5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1551615" y="6537960"/>
            <a:ext cx="502920" cy="256032"/>
          </a:xfrm>
          <a:prstGeom prst="rect">
            <a:avLst/>
          </a:prstGeom>
          <a:noFill/>
        </p:spPr>
        <p:txBody>
          <a:bodyPr wrap="none">
            <a:spAutoFit/>
          </a:bodyPr>
          <a:lstStyle/>
          <a:p>
            <a:pPr algn="ctr"/>
            <a:r>
              <a:rPr sz="1000">
                <a:solidFill>
                  <a:srgbClr val="AAAABB"/>
                </a:solidFill>
                <a:latin typeface="Calibri"/>
              </a:rPr>
              <a:t>2</a:t>
            </a:r>
          </a:p>
        </p:txBody>
      </p:sp>
      <p:graphicFrame>
        <p:nvGraphicFramePr>
          <p:cNvPr id="8" name="Table 7"/>
          <p:cNvGraphicFramePr>
            <a:graphicFrameLocks noGrp="1"/>
          </p:cNvGraphicFramePr>
          <p:nvPr/>
        </p:nvGraphicFramePr>
        <p:xfrm>
          <a:off x="502920" y="1353312"/>
          <a:ext cx="11185855" cy="1975104"/>
        </p:xfrm>
        <a:graphic>
          <a:graphicData uri="http://schemas.openxmlformats.org/drawingml/2006/table">
            <a:tbl>
              <a:tblPr firstRow="1" bandRow="1">
                <a:tableStyleId>{5C22544A-7EE6-4342-B048-85BDC9FD1C3A}</a:tableStyleId>
              </a:tblPr>
              <a:tblGrid>
                <a:gridCol w="2796463"/>
                <a:gridCol w="2796463"/>
                <a:gridCol w="2796463"/>
                <a:gridCol w="2796466"/>
              </a:tblGrid>
              <a:tr h="329184">
                <a:tc>
                  <a:txBody>
                    <a:bodyPr/>
                    <a:lstStyle/>
                    <a:p>
                      <a:pPr algn="l"/>
                      <a:r>
                        <a:rPr sz="1000" b="1">
                          <a:solidFill>
                            <a:srgbClr val="FFFFFF"/>
                          </a:solidFill>
                          <a:latin typeface="Calibri"/>
                        </a:rPr>
                        <a:t>#</a:t>
                      </a:r>
                    </a:p>
                  </a:txBody>
                  <a:tcPr>
                    <a:solidFill>
                      <a:srgbClr val="16213E"/>
                    </a:solidFill>
                  </a:tcPr>
                </a:tc>
                <a:tc>
                  <a:txBody>
                    <a:bodyPr/>
                    <a:lstStyle/>
                    <a:p>
                      <a:pPr algn="l"/>
                      <a:r>
                        <a:rPr sz="1000" b="1">
                          <a:solidFill>
                            <a:srgbClr val="FFFFFF"/>
                          </a:solidFill>
                          <a:latin typeface="Calibri"/>
                        </a:rPr>
                        <a:t>Section</a:t>
                      </a:r>
                    </a:p>
                  </a:txBody>
                  <a:tcPr>
                    <a:solidFill>
                      <a:srgbClr val="16213E"/>
                    </a:solidFill>
                  </a:tcPr>
                </a:tc>
                <a:tc>
                  <a:txBody>
                    <a:bodyPr/>
                    <a:lstStyle/>
                    <a:p>
                      <a:pPr algn="l"/>
                      <a:r>
                        <a:rPr sz="1000" b="1">
                          <a:solidFill>
                            <a:srgbClr val="FFFFFF"/>
                          </a:solidFill>
                          <a:latin typeface="Calibri"/>
                        </a:rPr>
                        <a:t>Topics</a:t>
                      </a:r>
                    </a:p>
                  </a:txBody>
                  <a:tcPr>
                    <a:solidFill>
                      <a:srgbClr val="16213E"/>
                    </a:solidFill>
                  </a:tcPr>
                </a:tc>
                <a:tc>
                  <a:txBody>
                    <a:bodyPr/>
                    <a:lstStyle/>
                    <a:p>
                      <a:pPr algn="l"/>
                      <a:r>
                        <a:rPr sz="1000" b="1">
                          <a:solidFill>
                            <a:srgbClr val="FFFFFF"/>
                          </a:solidFill>
                          <a:latin typeface="Calibri"/>
                        </a:rPr>
                        <a:t>Time</a:t>
                      </a:r>
                    </a:p>
                  </a:txBody>
                  <a:tcPr>
                    <a:solidFill>
                      <a:srgbClr val="16213E"/>
                    </a:solidFill>
                  </a:tcPr>
                </a:tc>
              </a:tr>
              <a:tr h="329184">
                <a:tc>
                  <a:txBody>
                    <a:bodyPr/>
                    <a:lstStyle/>
                    <a:p>
                      <a:r>
                        <a:rPr sz="1000">
                          <a:solidFill>
                            <a:srgbClr val="1A1A2E"/>
                          </a:solidFill>
                          <a:latin typeface="Calibri"/>
                        </a:rPr>
                        <a:t>1</a:t>
                      </a:r>
                    </a:p>
                  </a:txBody>
                  <a:tcPr>
                    <a:solidFill>
                      <a:srgbClr val="FFFFFF"/>
                    </a:solidFill>
                  </a:tcPr>
                </a:tc>
                <a:tc>
                  <a:txBody>
                    <a:bodyPr/>
                    <a:lstStyle/>
                    <a:p>
                      <a:r>
                        <a:rPr sz="1000">
                          <a:solidFill>
                            <a:srgbClr val="1A1A2E"/>
                          </a:solidFill>
                          <a:latin typeface="Calibri"/>
                        </a:rPr>
                        <a:t>AI Model Landscape</a:t>
                      </a:r>
                    </a:p>
                  </a:txBody>
                  <a:tcPr>
                    <a:solidFill>
                      <a:srgbClr val="FFFFFF"/>
                    </a:solidFill>
                  </a:tcPr>
                </a:tc>
                <a:tc>
                  <a:txBody>
                    <a:bodyPr/>
                    <a:lstStyle/>
                    <a:p>
                      <a:r>
                        <a:rPr sz="1000">
                          <a:solidFill>
                            <a:srgbClr val="1A1A2E"/>
                          </a:solidFill>
                          <a:latin typeface="Calibri"/>
                        </a:rPr>
                        <a:t>GPT, Claude, Gemini, DeepSeek, Llama — what's new and how to choose</a:t>
                      </a:r>
                    </a:p>
                  </a:txBody>
                  <a:tcPr>
                    <a:solidFill>
                      <a:srgbClr val="FFFFFF"/>
                    </a:solidFill>
                  </a:tcPr>
                </a:tc>
                <a:tc>
                  <a:txBody>
                    <a:bodyPr/>
                    <a:lstStyle/>
                    <a:p>
                      <a:r>
                        <a:rPr sz="1000">
                          <a:solidFill>
                            <a:srgbClr val="1A1A2E"/>
                          </a:solidFill>
                          <a:latin typeface="Calibri"/>
                        </a:rPr>
                        <a:t>25 min</a:t>
                      </a:r>
                    </a:p>
                  </a:txBody>
                  <a:tcPr>
                    <a:solidFill>
                      <a:srgbClr val="FFFFFF"/>
                    </a:solidFill>
                  </a:tcPr>
                </a:tc>
              </a:tr>
              <a:tr h="329184">
                <a:tc>
                  <a:txBody>
                    <a:bodyPr/>
                    <a:lstStyle/>
                    <a:p>
                      <a:r>
                        <a:rPr sz="1000">
                          <a:solidFill>
                            <a:srgbClr val="1A1A2E"/>
                          </a:solidFill>
                          <a:latin typeface="Calibri"/>
                        </a:rPr>
                        <a:t>2</a:t>
                      </a:r>
                    </a:p>
                  </a:txBody>
                  <a:tcPr>
                    <a:solidFill>
                      <a:srgbClr val="F8F9FF"/>
                    </a:solidFill>
                  </a:tcPr>
                </a:tc>
                <a:tc>
                  <a:txBody>
                    <a:bodyPr/>
                    <a:lstStyle/>
                    <a:p>
                      <a:r>
                        <a:rPr sz="1000">
                          <a:solidFill>
                            <a:srgbClr val="1A1A2E"/>
                          </a:solidFill>
                          <a:latin typeface="Calibri"/>
                        </a:rPr>
                        <a:t>AI Agent Frameworks</a:t>
                      </a:r>
                    </a:p>
                  </a:txBody>
                  <a:tcPr>
                    <a:solidFill>
                      <a:srgbClr val="F8F9FF"/>
                    </a:solidFill>
                  </a:tcPr>
                </a:tc>
                <a:tc>
                  <a:txBody>
                    <a:bodyPr/>
                    <a:lstStyle/>
                    <a:p>
                      <a:r>
                        <a:rPr sz="1000">
                          <a:solidFill>
                            <a:srgbClr val="1A1A2E"/>
                          </a:solidFill>
                          <a:latin typeface="Calibri"/>
                        </a:rPr>
                        <a:t>Claude SDK, OpenAI Agents, LangGraph, CrewAI, MCP protocol</a:t>
                      </a:r>
                    </a:p>
                  </a:txBody>
                  <a:tcPr>
                    <a:solidFill>
                      <a:srgbClr val="F8F9FF"/>
                    </a:solidFill>
                  </a:tcPr>
                </a:tc>
                <a:tc>
                  <a:txBody>
                    <a:bodyPr/>
                    <a:lstStyle/>
                    <a:p>
                      <a:r>
                        <a:rPr sz="1000">
                          <a:solidFill>
                            <a:srgbClr val="1A1A2E"/>
                          </a:solidFill>
                          <a:latin typeface="Calibri"/>
                        </a:rPr>
                        <a:t>25 min</a:t>
                      </a:r>
                    </a:p>
                  </a:txBody>
                  <a:tcPr>
                    <a:solidFill>
                      <a:srgbClr val="F8F9FF"/>
                    </a:solidFill>
                  </a:tcPr>
                </a:tc>
              </a:tr>
              <a:tr h="329184">
                <a:tc>
                  <a:txBody>
                    <a:bodyPr/>
                    <a:lstStyle/>
                    <a:p>
                      <a:r>
                        <a:rPr sz="1000">
                          <a:solidFill>
                            <a:srgbClr val="1A1A2E"/>
                          </a:solidFill>
                          <a:latin typeface="Calibri"/>
                        </a:rPr>
                        <a:t>3</a:t>
                      </a:r>
                    </a:p>
                  </a:txBody>
                  <a:tcPr>
                    <a:solidFill>
                      <a:srgbClr val="FFFFFF"/>
                    </a:solidFill>
                  </a:tcPr>
                </a:tc>
                <a:tc>
                  <a:txBody>
                    <a:bodyPr/>
                    <a:lstStyle/>
                    <a:p>
                      <a:r>
                        <a:rPr sz="1000">
                          <a:solidFill>
                            <a:srgbClr val="1A1A2E"/>
                          </a:solidFill>
                          <a:latin typeface="Calibri"/>
                        </a:rPr>
                        <a:t>AI Coding Tools</a:t>
                      </a:r>
                    </a:p>
                  </a:txBody>
                  <a:tcPr>
                    <a:solidFill>
                      <a:srgbClr val="FFFFFF"/>
                    </a:solidFill>
                  </a:tcPr>
                </a:tc>
                <a:tc>
                  <a:txBody>
                    <a:bodyPr/>
                    <a:lstStyle/>
                    <a:p>
                      <a:r>
                        <a:rPr sz="1000">
                          <a:solidFill>
                            <a:srgbClr val="1A1A2E"/>
                          </a:solidFill>
                          <a:latin typeface="Calibri"/>
                        </a:rPr>
                        <a:t>Claude Code, Cursor, Windsurf, GitHub Copilot — live comparison</a:t>
                      </a:r>
                    </a:p>
                  </a:txBody>
                  <a:tcPr>
                    <a:solidFill>
                      <a:srgbClr val="FFFFFF"/>
                    </a:solidFill>
                  </a:tcPr>
                </a:tc>
                <a:tc>
                  <a:txBody>
                    <a:bodyPr/>
                    <a:lstStyle/>
                    <a:p>
                      <a:r>
                        <a:rPr sz="1000">
                          <a:solidFill>
                            <a:srgbClr val="1A1A2E"/>
                          </a:solidFill>
                          <a:latin typeface="Calibri"/>
                        </a:rPr>
                        <a:t>20 min</a:t>
                      </a:r>
                    </a:p>
                  </a:txBody>
                  <a:tcPr>
                    <a:solidFill>
                      <a:srgbClr val="FFFFFF"/>
                    </a:solidFill>
                  </a:tcPr>
                </a:tc>
              </a:tr>
              <a:tr h="329184">
                <a:tc>
                  <a:txBody>
                    <a:bodyPr/>
                    <a:lstStyle/>
                    <a:p>
                      <a:r>
                        <a:rPr sz="1000">
                          <a:solidFill>
                            <a:srgbClr val="1A1A2E"/>
                          </a:solidFill>
                          <a:latin typeface="Calibri"/>
                        </a:rPr>
                        <a:t>4</a:t>
                      </a:r>
                    </a:p>
                  </a:txBody>
                  <a:tcPr>
                    <a:solidFill>
                      <a:srgbClr val="F8F9FF"/>
                    </a:solidFill>
                  </a:tcPr>
                </a:tc>
                <a:tc>
                  <a:txBody>
                    <a:bodyPr/>
                    <a:lstStyle/>
                    <a:p>
                      <a:r>
                        <a:rPr sz="1000">
                          <a:solidFill>
                            <a:srgbClr val="1A1A2E"/>
                          </a:solidFill>
                          <a:latin typeface="Calibri"/>
                        </a:rPr>
                        <a:t>Business Automation</a:t>
                      </a:r>
                    </a:p>
                  </a:txBody>
                  <a:tcPr>
                    <a:solidFill>
                      <a:srgbClr val="F8F9FF"/>
                    </a:solidFill>
                  </a:tcPr>
                </a:tc>
                <a:tc>
                  <a:txBody>
                    <a:bodyPr/>
                    <a:lstStyle/>
                    <a:p>
                      <a:r>
                        <a:rPr sz="1000">
                          <a:solidFill>
                            <a:srgbClr val="1A1A2E"/>
                          </a:solidFill>
                          <a:latin typeface="Calibri"/>
                        </a:rPr>
                        <a:t>n8n, Make, Zapier AI, vision/audio/video — real workflows</a:t>
                      </a:r>
                    </a:p>
                  </a:txBody>
                  <a:tcPr>
                    <a:solidFill>
                      <a:srgbClr val="F8F9FF"/>
                    </a:solidFill>
                  </a:tcPr>
                </a:tc>
                <a:tc>
                  <a:txBody>
                    <a:bodyPr/>
                    <a:lstStyle/>
                    <a:p>
                      <a:r>
                        <a:rPr sz="1000">
                          <a:solidFill>
                            <a:srgbClr val="1A1A2E"/>
                          </a:solidFill>
                          <a:latin typeface="Calibri"/>
                        </a:rPr>
                        <a:t>20 min</a:t>
                      </a:r>
                    </a:p>
                  </a:txBody>
                  <a:tcPr>
                    <a:solidFill>
                      <a:srgbClr val="F8F9FF"/>
                    </a:solidFill>
                  </a:tcPr>
                </a:tc>
              </a:tr>
              <a:tr h="329184">
                <a:tc>
                  <a:txBody>
                    <a:bodyPr/>
                    <a:lstStyle/>
                    <a:p>
                      <a:r>
                        <a:rPr sz="1000">
                          <a:solidFill>
                            <a:srgbClr val="1A1A2E"/>
                          </a:solidFill>
                          <a:latin typeface="Calibri"/>
                        </a:rPr>
                        <a:t>5</a:t>
                      </a:r>
                    </a:p>
                  </a:txBody>
                  <a:tcPr>
                    <a:solidFill>
                      <a:srgbClr val="FFFFFF"/>
                    </a:solidFill>
                  </a:tcPr>
                </a:tc>
                <a:tc>
                  <a:txBody>
                    <a:bodyPr/>
                    <a:lstStyle/>
                    <a:p>
                      <a:r>
                        <a:rPr sz="1000">
                          <a:solidFill>
                            <a:srgbClr val="1A1A2E"/>
                          </a:solidFill>
                          <a:latin typeface="Calibri"/>
                        </a:rPr>
                        <a:t>Key Trends</a:t>
                      </a:r>
                    </a:p>
                  </a:txBody>
                  <a:tcPr>
                    <a:solidFill>
                      <a:srgbClr val="FFFFFF"/>
                    </a:solidFill>
                  </a:tcPr>
                </a:tc>
                <a:tc>
                  <a:txBody>
                    <a:bodyPr/>
                    <a:lstStyle/>
                    <a:p>
                      <a:r>
                        <a:rPr sz="1000">
                          <a:solidFill>
                            <a:srgbClr val="1A1A2E"/>
                          </a:solidFill>
                          <a:latin typeface="Calibri"/>
                        </a:rPr>
                        <a:t>RAG 2026, fine-tuning access, your AI stack, career paths</a:t>
                      </a:r>
                    </a:p>
                  </a:txBody>
                  <a:tcPr>
                    <a:solidFill>
                      <a:srgbClr val="FFFFFF"/>
                    </a:solidFill>
                  </a:tcPr>
                </a:tc>
                <a:tc>
                  <a:txBody>
                    <a:bodyPr/>
                    <a:lstStyle/>
                    <a:p>
                      <a:r>
                        <a:rPr sz="1000">
                          <a:solidFill>
                            <a:srgbClr val="1A1A2E"/>
                          </a:solidFill>
                          <a:latin typeface="Calibri"/>
                        </a:rPr>
                        <a:t>20 min</a:t>
                      </a:r>
                    </a:p>
                  </a:txBody>
                  <a:tcPr>
                    <a:solidFill>
                      <a:srgbClr val="FFFFFF"/>
                    </a:solidFill>
                  </a:tcPr>
                </a:tc>
              </a:tr>
            </a:tbl>
          </a:graphicData>
        </a:graphic>
      </p:graphicFrame>
      <p:sp>
        <p:nvSpPr>
          <p:cNvPr id="9" name="TextBox 8"/>
          <p:cNvSpPr txBox="1"/>
          <p:nvPr/>
        </p:nvSpPr>
        <p:spPr>
          <a:xfrm>
            <a:off x="502920" y="3419856"/>
            <a:ext cx="11185855" cy="3026664"/>
          </a:xfrm>
          <a:prstGeom prst="rect">
            <a:avLst/>
          </a:prstGeom>
          <a:noFill/>
        </p:spPr>
        <p:txBody>
          <a:bodyPr wrap="square">
            <a:spAutoFit/>
          </a:bodyPr>
          <a:lstStyle/>
          <a:p>
            <a:pPr>
              <a:spcBef>
                <a:spcPts val="300"/>
              </a:spcBef>
              <a:spcAft>
                <a:spcPts val="200"/>
              </a:spcAft>
            </a:pPr>
            <a:r>
              <a:rPr sz="1200" b="0">
                <a:solidFill>
                  <a:srgbClr val="2D3748"/>
                </a:solidFill>
                <a:latin typeface="Calibri"/>
              </a:rPr>
              <a:t>Wrap-up: Building your personal AI stack + homework preview</a:t>
            </a:r>
          </a:p>
          <a:p>
            <a:pPr>
              <a:spcBef>
                <a:spcPts val="300"/>
              </a:spcBef>
              <a:spcAft>
                <a:spcPts val="200"/>
              </a:spcAft>
            </a:pPr>
            <a:r>
              <a:rPr sz="1200" b="0">
                <a:solidFill>
                  <a:srgbClr val="2D3748"/>
                </a:solidFill>
                <a:latin typeface="Calibri"/>
              </a:rPr>
              <a:t>What's different about this class: We're not just surveying tools — we're building judgment about when to use each one, at what cost, and for what business outcome.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234440"/>
          </a:xfrm>
          <a:prstGeom prst="rect">
            <a:avLst/>
          </a:prstGeom>
          <a:solidFill>
            <a:srgbClr val="1621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91440"/>
            <a:ext cx="11368735" cy="658368"/>
          </a:xfrm>
          <a:prstGeom prst="rect">
            <a:avLst/>
          </a:prstGeom>
          <a:noFill/>
        </p:spPr>
        <p:txBody>
          <a:bodyPr wrap="square">
            <a:spAutoFit/>
          </a:bodyPr>
          <a:lstStyle/>
          <a:p>
            <a:r>
              <a:rPr sz="2700" b="1">
                <a:solidFill>
                  <a:srgbClr val="FFFFFF"/>
                </a:solidFill>
                <a:latin typeface="Calibri"/>
              </a:rPr>
              <a:t>The Five-Layer AI Ecosystem</a:t>
            </a:r>
          </a:p>
        </p:txBody>
      </p:sp>
      <p:sp>
        <p:nvSpPr>
          <p:cNvPr id="5" name="TextBox 4"/>
          <p:cNvSpPr txBox="1"/>
          <p:nvPr/>
        </p:nvSpPr>
        <p:spPr>
          <a:xfrm>
            <a:off x="411480" y="749808"/>
            <a:ext cx="11368735" cy="402336"/>
          </a:xfrm>
          <a:prstGeom prst="rect">
            <a:avLst/>
          </a:prstGeom>
          <a:noFill/>
        </p:spPr>
        <p:txBody>
          <a:bodyPr wrap="none">
            <a:spAutoFit/>
          </a:bodyPr>
          <a:lstStyle/>
          <a:p>
            <a:r>
              <a:rPr sz="1500">
                <a:solidFill>
                  <a:srgbClr val="0EA5E9"/>
                </a:solidFill>
                <a:latin typeface="Calibri"/>
              </a:rPr>
              <a:t>How the Industry Organizes Itself</a:t>
            </a:r>
          </a:p>
        </p:txBody>
      </p:sp>
      <p:sp>
        <p:nvSpPr>
          <p:cNvPr id="6" name="Rectangle 5"/>
          <p:cNvSpPr/>
          <p:nvPr/>
        </p:nvSpPr>
        <p:spPr>
          <a:xfrm>
            <a:off x="0" y="1234440"/>
            <a:ext cx="12191695" cy="36576"/>
          </a:xfrm>
          <a:prstGeom prst="rect">
            <a:avLst/>
          </a:prstGeom>
          <a:solidFill>
            <a:srgbClr val="0EA5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1551615" y="6537960"/>
            <a:ext cx="502920" cy="256032"/>
          </a:xfrm>
          <a:prstGeom prst="rect">
            <a:avLst/>
          </a:prstGeom>
          <a:noFill/>
        </p:spPr>
        <p:txBody>
          <a:bodyPr wrap="none">
            <a:spAutoFit/>
          </a:bodyPr>
          <a:lstStyle/>
          <a:p>
            <a:pPr algn="ctr"/>
            <a:r>
              <a:rPr sz="1000">
                <a:solidFill>
                  <a:srgbClr val="AAAABB"/>
                </a:solidFill>
                <a:latin typeface="Calibri"/>
              </a:rPr>
              <a:t>3</a:t>
            </a:r>
          </a:p>
        </p:txBody>
      </p:sp>
      <p:sp>
        <p:nvSpPr>
          <p:cNvPr id="8" name="Rectangle 7"/>
          <p:cNvSpPr/>
          <p:nvPr/>
        </p:nvSpPr>
        <p:spPr>
          <a:xfrm>
            <a:off x="6949440" y="1353312"/>
            <a:ext cx="18288" cy="5257800"/>
          </a:xfrm>
          <a:prstGeom prst="rect">
            <a:avLst/>
          </a:prstGeom>
          <a:solidFill>
            <a:srgbClr val="DDDD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slide_03_chart.png"/>
          <p:cNvPicPr>
            <a:picLocks noChangeAspect="1"/>
          </p:cNvPicPr>
          <p:nvPr/>
        </p:nvPicPr>
        <p:blipFill>
          <a:blip r:embed="rId2"/>
          <a:stretch>
            <a:fillRect/>
          </a:stretch>
        </p:blipFill>
        <p:spPr>
          <a:xfrm>
            <a:off x="7040880" y="1444752"/>
            <a:ext cx="4663440" cy="5074920"/>
          </a:xfrm>
          <a:prstGeom prst="rect">
            <a:avLst/>
          </a:prstGeom>
        </p:spPr>
      </p:pic>
      <p:graphicFrame>
        <p:nvGraphicFramePr>
          <p:cNvPr id="10" name="Table 9"/>
          <p:cNvGraphicFramePr>
            <a:graphicFrameLocks noGrp="1"/>
          </p:cNvGraphicFramePr>
          <p:nvPr/>
        </p:nvGraphicFramePr>
        <p:xfrm>
          <a:off x="502920" y="1353312"/>
          <a:ext cx="6400800" cy="1975104"/>
        </p:xfrm>
        <a:graphic>
          <a:graphicData uri="http://schemas.openxmlformats.org/drawingml/2006/table">
            <a:tbl>
              <a:tblPr firstRow="1" bandRow="1">
                <a:tableStyleId>{5C22544A-7EE6-4342-B048-85BDC9FD1C3A}</a:tableStyleId>
              </a:tblPr>
              <a:tblGrid>
                <a:gridCol w="1600200"/>
                <a:gridCol w="1600200"/>
                <a:gridCol w="1600200"/>
                <a:gridCol w="1600200"/>
              </a:tblGrid>
              <a:tr h="329184">
                <a:tc>
                  <a:txBody>
                    <a:bodyPr/>
                    <a:lstStyle/>
                    <a:p>
                      <a:pPr algn="l"/>
                      <a:r>
                        <a:rPr sz="1000" b="1">
                          <a:solidFill>
                            <a:srgbClr val="FFFFFF"/>
                          </a:solidFill>
                          <a:latin typeface="Calibri"/>
                        </a:rPr>
                        <a:t>Layer</a:t>
                      </a:r>
                    </a:p>
                  </a:txBody>
                  <a:tcPr>
                    <a:solidFill>
                      <a:srgbClr val="16213E"/>
                    </a:solidFill>
                  </a:tcPr>
                </a:tc>
                <a:tc>
                  <a:txBody>
                    <a:bodyPr/>
                    <a:lstStyle/>
                    <a:p>
                      <a:pPr algn="l"/>
                      <a:r>
                        <a:rPr sz="1000" b="1">
                          <a:solidFill>
                            <a:srgbClr val="FFFFFF"/>
                          </a:solidFill>
                          <a:latin typeface="Calibri"/>
                        </a:rPr>
                        <a:t>What It Is</a:t>
                      </a:r>
                    </a:p>
                  </a:txBody>
                  <a:tcPr>
                    <a:solidFill>
                      <a:srgbClr val="16213E"/>
                    </a:solidFill>
                  </a:tcPr>
                </a:tc>
                <a:tc>
                  <a:txBody>
                    <a:bodyPr/>
                    <a:lstStyle/>
                    <a:p>
                      <a:pPr algn="l"/>
                      <a:r>
                        <a:rPr sz="1000" b="1">
                          <a:solidFill>
                            <a:srgbClr val="FFFFFF"/>
                          </a:solidFill>
                          <a:latin typeface="Calibri"/>
                        </a:rPr>
                        <a:t>Key Players</a:t>
                      </a:r>
                    </a:p>
                  </a:txBody>
                  <a:tcPr>
                    <a:solidFill>
                      <a:srgbClr val="16213E"/>
                    </a:solidFill>
                  </a:tcPr>
                </a:tc>
                <a:tc>
                  <a:txBody>
                    <a:bodyPr/>
                    <a:lstStyle/>
                    <a:p>
                      <a:pPr algn="l"/>
                      <a:r>
                        <a:rPr sz="1000" b="1">
                          <a:solidFill>
                            <a:srgbClr val="FFFFFF"/>
                          </a:solidFill>
                          <a:latin typeface="Calibri"/>
                        </a:rPr>
                        <a:t>Where Value Lives</a:t>
                      </a:r>
                    </a:p>
                  </a:txBody>
                  <a:tcPr>
                    <a:solidFill>
                      <a:srgbClr val="16213E"/>
                    </a:solidFill>
                  </a:tcPr>
                </a:tc>
              </a:tr>
              <a:tr h="329184">
                <a:tc>
                  <a:txBody>
                    <a:bodyPr/>
                    <a:lstStyle/>
                    <a:p>
                      <a:r>
                        <a:rPr sz="1000">
                          <a:solidFill>
                            <a:srgbClr val="1A1A2E"/>
                          </a:solidFill>
                          <a:latin typeface="Calibri"/>
                        </a:rPr>
                        <a:t>Layer 5: Applications</a:t>
                      </a:r>
                    </a:p>
                  </a:txBody>
                  <a:tcPr>
                    <a:solidFill>
                      <a:srgbClr val="FFFFFF"/>
                    </a:solidFill>
                  </a:tcPr>
                </a:tc>
                <a:tc>
                  <a:txBody>
                    <a:bodyPr/>
                    <a:lstStyle/>
                    <a:p>
                      <a:r>
                        <a:rPr sz="1000">
                          <a:solidFill>
                            <a:srgbClr val="1A1A2E"/>
                          </a:solidFill>
                          <a:latin typeface="Calibri"/>
                        </a:rPr>
                        <a:t>End-user products people interact with daily</a:t>
                      </a:r>
                    </a:p>
                  </a:txBody>
                  <a:tcPr>
                    <a:solidFill>
                      <a:srgbClr val="FFFFFF"/>
                    </a:solidFill>
                  </a:tcPr>
                </a:tc>
                <a:tc>
                  <a:txBody>
                    <a:bodyPr/>
                    <a:lstStyle/>
                    <a:p>
                      <a:r>
                        <a:rPr sz="1000">
                          <a:solidFill>
                            <a:srgbClr val="1A1A2E"/>
                          </a:solidFill>
                          <a:latin typeface="Calibri"/>
                        </a:rPr>
                        <a:t>ChatGPT, Claude.ai, Gemini, Perplexity, Copilot</a:t>
                      </a:r>
                    </a:p>
                  </a:txBody>
                  <a:tcPr>
                    <a:solidFill>
                      <a:srgbClr val="FFFFFF"/>
                    </a:solidFill>
                  </a:tcPr>
                </a:tc>
                <a:tc>
                  <a:txBody>
                    <a:bodyPr/>
                    <a:lstStyle/>
                    <a:p>
                      <a:r>
                        <a:rPr sz="1000">
                          <a:solidFill>
                            <a:srgbClr val="1A1A2E"/>
                          </a:solidFill>
                          <a:latin typeface="Calibri"/>
                        </a:rPr>
                        <a:t>User experience + workflow integration</a:t>
                      </a:r>
                    </a:p>
                  </a:txBody>
                  <a:tcPr>
                    <a:solidFill>
                      <a:srgbClr val="FFFFFF"/>
                    </a:solidFill>
                  </a:tcPr>
                </a:tc>
              </a:tr>
              <a:tr h="329184">
                <a:tc>
                  <a:txBody>
                    <a:bodyPr/>
                    <a:lstStyle/>
                    <a:p>
                      <a:r>
                        <a:rPr sz="1000">
                          <a:solidFill>
                            <a:srgbClr val="1A1A2E"/>
                          </a:solidFill>
                          <a:latin typeface="Calibri"/>
                        </a:rPr>
                        <a:t>Layer 4: Agent Frameworks</a:t>
                      </a:r>
                    </a:p>
                  </a:txBody>
                  <a:tcPr>
                    <a:solidFill>
                      <a:srgbClr val="F8F9FF"/>
                    </a:solidFill>
                  </a:tcPr>
                </a:tc>
                <a:tc>
                  <a:txBody>
                    <a:bodyPr/>
                    <a:lstStyle/>
                    <a:p>
                      <a:r>
                        <a:rPr sz="1000">
                          <a:solidFill>
                            <a:srgbClr val="1A1A2E"/>
                          </a:solidFill>
                          <a:latin typeface="Calibri"/>
                        </a:rPr>
                        <a:t>Orchestration of multi-step AI workflows</a:t>
                      </a:r>
                    </a:p>
                  </a:txBody>
                  <a:tcPr>
                    <a:solidFill>
                      <a:srgbClr val="F8F9FF"/>
                    </a:solidFill>
                  </a:tcPr>
                </a:tc>
                <a:tc>
                  <a:txBody>
                    <a:bodyPr/>
                    <a:lstStyle/>
                    <a:p>
                      <a:r>
                        <a:rPr sz="1000">
                          <a:solidFill>
                            <a:srgbClr val="1A1A2E"/>
                          </a:solidFill>
                          <a:latin typeface="Calibri"/>
                        </a:rPr>
                        <a:t>Claude Agent SDK, OpenAI Agents, LangGraph, CrewAI</a:t>
                      </a:r>
                    </a:p>
                  </a:txBody>
                  <a:tcPr>
                    <a:solidFill>
                      <a:srgbClr val="F8F9FF"/>
                    </a:solidFill>
                  </a:tcPr>
                </a:tc>
                <a:tc>
                  <a:txBody>
                    <a:bodyPr/>
                    <a:lstStyle/>
                    <a:p>
                      <a:r>
                        <a:rPr sz="1000">
                          <a:solidFill>
                            <a:srgbClr val="1A1A2E"/>
                          </a:solidFill>
                          <a:latin typeface="Calibri"/>
                        </a:rPr>
                        <a:t>Business process automation</a:t>
                      </a:r>
                    </a:p>
                  </a:txBody>
                  <a:tcPr>
                    <a:solidFill>
                      <a:srgbClr val="F8F9FF"/>
                    </a:solidFill>
                  </a:tcPr>
                </a:tc>
              </a:tr>
              <a:tr h="329184">
                <a:tc>
                  <a:txBody>
                    <a:bodyPr/>
                    <a:lstStyle/>
                    <a:p>
                      <a:r>
                        <a:rPr sz="1000">
                          <a:solidFill>
                            <a:srgbClr val="1A1A2E"/>
                          </a:solidFill>
                          <a:latin typeface="Calibri"/>
                        </a:rPr>
                        <a:t>Layer 3: Integration Tools</a:t>
                      </a:r>
                    </a:p>
                  </a:txBody>
                  <a:tcPr>
                    <a:solidFill>
                      <a:srgbClr val="FFFFFF"/>
                    </a:solidFill>
                  </a:tcPr>
                </a:tc>
                <a:tc>
                  <a:txBody>
                    <a:bodyPr/>
                    <a:lstStyle/>
                    <a:p>
                      <a:r>
                        <a:rPr sz="1000">
                          <a:solidFill>
                            <a:srgbClr val="1A1A2E"/>
                          </a:solidFill>
                          <a:latin typeface="Calibri"/>
                        </a:rPr>
                        <a:t>Connecting models to data and external systems</a:t>
                      </a:r>
                    </a:p>
                  </a:txBody>
                  <a:tcPr>
                    <a:solidFill>
                      <a:srgbClr val="FFFFFF"/>
                    </a:solidFill>
                  </a:tcPr>
                </a:tc>
                <a:tc>
                  <a:txBody>
                    <a:bodyPr/>
                    <a:lstStyle/>
                    <a:p>
                      <a:r>
                        <a:rPr sz="1000">
                          <a:solidFill>
                            <a:srgbClr val="1A1A2E"/>
                          </a:solidFill>
                          <a:latin typeface="Calibri"/>
                        </a:rPr>
                        <a:t>MCP, LangChain, LlamaIndex, RAG Pipelines</a:t>
                      </a:r>
                    </a:p>
                  </a:txBody>
                  <a:tcPr>
                    <a:solidFill>
                      <a:srgbClr val="FFFFFF"/>
                    </a:solidFill>
                  </a:tcPr>
                </a:tc>
                <a:tc>
                  <a:txBody>
                    <a:bodyPr/>
                    <a:lstStyle/>
                    <a:p>
                      <a:r>
                        <a:rPr sz="1000">
                          <a:solidFill>
                            <a:srgbClr val="1A1A2E"/>
                          </a:solidFill>
                          <a:latin typeface="Calibri"/>
                        </a:rPr>
                        <a:t>Enterprise data access</a:t>
                      </a:r>
                    </a:p>
                  </a:txBody>
                  <a:tcPr>
                    <a:solidFill>
                      <a:srgbClr val="FFFFFF"/>
                    </a:solidFill>
                  </a:tcPr>
                </a:tc>
              </a:tr>
              <a:tr h="329184">
                <a:tc>
                  <a:txBody>
                    <a:bodyPr/>
                    <a:lstStyle/>
                    <a:p>
                      <a:r>
                        <a:rPr sz="1000">
                          <a:solidFill>
                            <a:srgbClr val="1A1A2E"/>
                          </a:solidFill>
                          <a:latin typeface="Calibri"/>
                        </a:rPr>
                        <a:t>Layer 2: Foundation Models</a:t>
                      </a:r>
                    </a:p>
                  </a:txBody>
                  <a:tcPr>
                    <a:solidFill>
                      <a:srgbClr val="F8F9FF"/>
                    </a:solidFill>
                  </a:tcPr>
                </a:tc>
                <a:tc>
                  <a:txBody>
                    <a:bodyPr/>
                    <a:lstStyle/>
                    <a:p>
                      <a:r>
                        <a:rPr sz="1000">
                          <a:solidFill>
                            <a:srgbClr val="1A1A2E"/>
                          </a:solidFill>
                          <a:latin typeface="Calibri"/>
                        </a:rPr>
                        <a:t>The raw intelligence — trained on massive data</a:t>
                      </a:r>
                    </a:p>
                  </a:txBody>
                  <a:tcPr>
                    <a:solidFill>
                      <a:srgbClr val="F8F9FF"/>
                    </a:solidFill>
                  </a:tcPr>
                </a:tc>
                <a:tc>
                  <a:txBody>
                    <a:bodyPr/>
                    <a:lstStyle/>
                    <a:p>
                      <a:r>
                        <a:rPr sz="1000">
                          <a:solidFill>
                            <a:srgbClr val="1A1A2E"/>
                          </a:solidFill>
                          <a:latin typeface="Calibri"/>
                        </a:rPr>
                        <a:t>GPT-4.1, Claude 3.7, Gemini 2.5, Llama 4, DeepSeek</a:t>
                      </a:r>
                    </a:p>
                  </a:txBody>
                  <a:tcPr>
                    <a:solidFill>
                      <a:srgbClr val="F8F9FF"/>
                    </a:solidFill>
                  </a:tcPr>
                </a:tc>
                <a:tc>
                  <a:txBody>
                    <a:bodyPr/>
                    <a:lstStyle/>
                    <a:p>
                      <a:r>
                        <a:rPr sz="1000">
                          <a:solidFill>
                            <a:srgbClr val="1A1A2E"/>
                          </a:solidFill>
                          <a:latin typeface="Calibri"/>
                        </a:rPr>
                        <a:t>Capability benchmarks</a:t>
                      </a:r>
                    </a:p>
                  </a:txBody>
                  <a:tcPr>
                    <a:solidFill>
                      <a:srgbClr val="F8F9FF"/>
                    </a:solidFill>
                  </a:tcPr>
                </a:tc>
              </a:tr>
              <a:tr h="329184">
                <a:tc>
                  <a:txBody>
                    <a:bodyPr/>
                    <a:lstStyle/>
                    <a:p>
                      <a:r>
                        <a:rPr sz="1000">
                          <a:solidFill>
                            <a:srgbClr val="1A1A2E"/>
                          </a:solidFill>
                          <a:latin typeface="Calibri"/>
                        </a:rPr>
                        <a:t>Layer 1: Infrastructure</a:t>
                      </a:r>
                    </a:p>
                  </a:txBody>
                  <a:tcPr>
                    <a:solidFill>
                      <a:srgbClr val="FFFFFF"/>
                    </a:solidFill>
                  </a:tcPr>
                </a:tc>
                <a:tc>
                  <a:txBody>
                    <a:bodyPr/>
                    <a:lstStyle/>
                    <a:p>
                      <a:r>
                        <a:rPr sz="1000">
                          <a:solidFill>
                            <a:srgbClr val="1A1A2E"/>
                          </a:solidFill>
                          <a:latin typeface="Calibri"/>
                        </a:rPr>
                        <a:t>Compute, cloud, and specialized AI chips</a:t>
                      </a:r>
                    </a:p>
                  </a:txBody>
                  <a:tcPr>
                    <a:solidFill>
                      <a:srgbClr val="FFFFFF"/>
                    </a:solidFill>
                  </a:tcPr>
                </a:tc>
                <a:tc>
                  <a:txBody>
                    <a:bodyPr/>
                    <a:lstStyle/>
                    <a:p>
                      <a:r>
                        <a:rPr sz="1000">
                          <a:solidFill>
                            <a:srgbClr val="1A1A2E"/>
                          </a:solidFill>
                          <a:latin typeface="Calibri"/>
                        </a:rPr>
                        <a:t>NVIDIA H100, AWS, Azure, GCP, Groq</a:t>
                      </a:r>
                    </a:p>
                  </a:txBody>
                  <a:tcPr>
                    <a:solidFill>
                      <a:srgbClr val="FFFFFF"/>
                    </a:solidFill>
                  </a:tcPr>
                </a:tc>
                <a:tc>
                  <a:txBody>
                    <a:bodyPr/>
                    <a:lstStyle/>
                    <a:p>
                      <a:r>
                        <a:rPr sz="1000">
                          <a:solidFill>
                            <a:srgbClr val="1A1A2E"/>
                          </a:solidFill>
                          <a:latin typeface="Calibri"/>
                        </a:rPr>
                        <a:t>Speed and cost</a:t>
                      </a:r>
                    </a:p>
                  </a:txBody>
                  <a:tcPr>
                    <a:solidFill>
                      <a:srgbClr val="FFFFFF"/>
                    </a:solidFill>
                  </a:tcPr>
                </a:tc>
              </a:tr>
            </a:tbl>
          </a:graphicData>
        </a:graphic>
      </p:graphicFrame>
      <p:sp>
        <p:nvSpPr>
          <p:cNvPr id="11" name="TextBox 10"/>
          <p:cNvSpPr txBox="1"/>
          <p:nvPr/>
        </p:nvSpPr>
        <p:spPr>
          <a:xfrm>
            <a:off x="502920" y="3419856"/>
            <a:ext cx="6400800" cy="3026664"/>
          </a:xfrm>
          <a:prstGeom prst="rect">
            <a:avLst/>
          </a:prstGeom>
          <a:noFill/>
        </p:spPr>
        <p:txBody>
          <a:bodyPr wrap="square">
            <a:spAutoFit/>
          </a:bodyPr>
          <a:lstStyle/>
          <a:p>
            <a:pPr>
              <a:spcBef>
                <a:spcPts val="300"/>
              </a:spcBef>
              <a:spcAft>
                <a:spcPts val="200"/>
              </a:spcAft>
            </a:pPr>
            <a:r>
              <a:rPr sz="1300" b="1">
                <a:solidFill>
                  <a:srgbClr val="0F3460"/>
                </a:solidFill>
                <a:latin typeface="Calibri"/>
              </a:rPr>
              <a:t>The critical insight for business strategists:</a:t>
            </a:r>
          </a:p>
          <a:p>
            <a:pPr>
              <a:spcBef>
                <a:spcPts val="300"/>
              </a:spcBef>
              <a:spcAft>
                <a:spcPts val="200"/>
              </a:spcAft>
            </a:pPr>
            <a:r>
              <a:rPr sz="1300">
                <a:solidFill>
                  <a:srgbClr val="0EA5E9"/>
                </a:solidFill>
                <a:latin typeface="Calibri"/>
              </a:rPr>
              <a:t>• </a:t>
            </a:r>
            <a:r>
              <a:rPr sz="1300" b="0">
                <a:solidFill>
                  <a:srgbClr val="1A1A2E"/>
                </a:solidFill>
                <a:latin typeface="Calibri"/>
              </a:rPr>
              <a:t>Layers 1 and 2 are rapidly commoditizing — multiple providers offer similar capability at falling prices</a:t>
            </a:r>
          </a:p>
          <a:p>
            <a:pPr>
              <a:spcBef>
                <a:spcPts val="300"/>
              </a:spcBef>
              <a:spcAft>
                <a:spcPts val="200"/>
              </a:spcAft>
            </a:pPr>
            <a:r>
              <a:rPr sz="1300">
                <a:solidFill>
                  <a:srgbClr val="0EA5E9"/>
                </a:solidFill>
                <a:latin typeface="Calibri"/>
              </a:rPr>
              <a:t>• </a:t>
            </a:r>
            <a:r>
              <a:rPr sz="1300" b="0">
                <a:solidFill>
                  <a:srgbClr val="1A1A2E"/>
                </a:solidFill>
                <a:latin typeface="Calibri"/>
              </a:rPr>
              <a:t>Competitive advantage has moved to Layers 3, 4, and 5 — how you connect AI to your data and workflows</a:t>
            </a:r>
          </a:p>
          <a:p>
            <a:pPr>
              <a:spcBef>
                <a:spcPts val="300"/>
              </a:spcBef>
              <a:spcAft>
                <a:spcPts val="200"/>
              </a:spcAft>
            </a:pPr>
            <a:r>
              <a:rPr sz="1300">
                <a:solidFill>
                  <a:srgbClr val="0EA5E9"/>
                </a:solidFill>
                <a:latin typeface="Calibri"/>
              </a:rPr>
              <a:t>• </a:t>
            </a:r>
            <a:r>
              <a:rPr sz="1300" b="0">
                <a:solidFill>
                  <a:srgbClr val="1A1A2E"/>
                </a:solidFill>
                <a:latin typeface="Calibri"/>
              </a:rPr>
              <a:t>The companies winning in AI are not the ones with the best models — they're the ones with the best integration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234440"/>
          </a:xfrm>
          <a:prstGeom prst="rect">
            <a:avLst/>
          </a:prstGeom>
          <a:solidFill>
            <a:srgbClr val="1621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91440"/>
            <a:ext cx="11368735" cy="658368"/>
          </a:xfrm>
          <a:prstGeom prst="rect">
            <a:avLst/>
          </a:prstGeom>
          <a:noFill/>
        </p:spPr>
        <p:txBody>
          <a:bodyPr wrap="square">
            <a:spAutoFit/>
          </a:bodyPr>
          <a:lstStyle/>
          <a:p>
            <a:r>
              <a:rPr sz="2700" b="1">
                <a:solidFill>
                  <a:srgbClr val="FFFFFF"/>
                </a:solidFill>
                <a:latin typeface="Calibri"/>
              </a:rPr>
              <a:t>Frontier Models — The Big Three in 2026</a:t>
            </a:r>
          </a:p>
        </p:txBody>
      </p:sp>
      <p:sp>
        <p:nvSpPr>
          <p:cNvPr id="5" name="TextBox 4"/>
          <p:cNvSpPr txBox="1"/>
          <p:nvPr/>
        </p:nvSpPr>
        <p:spPr>
          <a:xfrm>
            <a:off x="411480" y="749808"/>
            <a:ext cx="11368735" cy="402336"/>
          </a:xfrm>
          <a:prstGeom prst="rect">
            <a:avLst/>
          </a:prstGeom>
          <a:noFill/>
        </p:spPr>
        <p:txBody>
          <a:bodyPr wrap="none">
            <a:spAutoFit/>
          </a:bodyPr>
          <a:lstStyle/>
          <a:p>
            <a:r>
              <a:rPr sz="1500">
                <a:solidFill>
                  <a:srgbClr val="0EA5E9"/>
                </a:solidFill>
                <a:latin typeface="Calibri"/>
              </a:rPr>
              <a:t>OpenAI, Anthropic, Google: What's New and Why It Matters</a:t>
            </a:r>
          </a:p>
        </p:txBody>
      </p:sp>
      <p:sp>
        <p:nvSpPr>
          <p:cNvPr id="6" name="Rectangle 5"/>
          <p:cNvSpPr/>
          <p:nvPr/>
        </p:nvSpPr>
        <p:spPr>
          <a:xfrm>
            <a:off x="0" y="1234440"/>
            <a:ext cx="12191695" cy="36576"/>
          </a:xfrm>
          <a:prstGeom prst="rect">
            <a:avLst/>
          </a:prstGeom>
          <a:solidFill>
            <a:srgbClr val="0EA5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1551615" y="6537960"/>
            <a:ext cx="502920" cy="256032"/>
          </a:xfrm>
          <a:prstGeom prst="rect">
            <a:avLst/>
          </a:prstGeom>
          <a:noFill/>
        </p:spPr>
        <p:txBody>
          <a:bodyPr wrap="none">
            <a:spAutoFit/>
          </a:bodyPr>
          <a:lstStyle/>
          <a:p>
            <a:pPr algn="ctr"/>
            <a:r>
              <a:rPr sz="1000">
                <a:solidFill>
                  <a:srgbClr val="AAAABB"/>
                </a:solidFill>
                <a:latin typeface="Calibri"/>
              </a:rPr>
              <a:t>4</a:t>
            </a:r>
          </a:p>
        </p:txBody>
      </p:sp>
      <p:sp>
        <p:nvSpPr>
          <p:cNvPr id="8" name="Rectangle 7"/>
          <p:cNvSpPr/>
          <p:nvPr/>
        </p:nvSpPr>
        <p:spPr>
          <a:xfrm>
            <a:off x="6949440" y="1353312"/>
            <a:ext cx="18288" cy="5257800"/>
          </a:xfrm>
          <a:prstGeom prst="rect">
            <a:avLst/>
          </a:prstGeom>
          <a:solidFill>
            <a:srgbClr val="DDDD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slide_04_chart.png"/>
          <p:cNvPicPr>
            <a:picLocks noChangeAspect="1"/>
          </p:cNvPicPr>
          <p:nvPr/>
        </p:nvPicPr>
        <p:blipFill>
          <a:blip r:embed="rId2"/>
          <a:stretch>
            <a:fillRect/>
          </a:stretch>
        </p:blipFill>
        <p:spPr>
          <a:xfrm>
            <a:off x="7040880" y="1444752"/>
            <a:ext cx="4663440" cy="5074920"/>
          </a:xfrm>
          <a:prstGeom prst="rect">
            <a:avLst/>
          </a:prstGeom>
        </p:spPr>
      </p:pic>
      <p:sp>
        <p:nvSpPr>
          <p:cNvPr id="10" name="TextBox 9"/>
          <p:cNvSpPr txBox="1"/>
          <p:nvPr/>
        </p:nvSpPr>
        <p:spPr>
          <a:xfrm>
            <a:off x="502920" y="1353312"/>
            <a:ext cx="6400800" cy="5093208"/>
          </a:xfrm>
          <a:prstGeom prst="rect">
            <a:avLst/>
          </a:prstGeom>
          <a:noFill/>
        </p:spPr>
        <p:txBody>
          <a:bodyPr wrap="square">
            <a:spAutoFit/>
          </a:bodyPr>
          <a:lstStyle/>
          <a:p>
            <a:pPr>
              <a:spcBef>
                <a:spcPts val="300"/>
              </a:spcBef>
              <a:spcAft>
                <a:spcPts val="200"/>
              </a:spcAft>
            </a:pPr>
            <a:r>
              <a:rPr sz="1200" b="0">
                <a:solidFill>
                  <a:srgbClr val="2D3748"/>
                </a:solidFill>
                <a:latin typeface="Calibri"/>
              </a:rPr>
              <a:t>OpenAI — Reasoning at Scale</a:t>
            </a:r>
          </a:p>
        </p:txBody>
      </p:sp>
      <p:graphicFrame>
        <p:nvGraphicFramePr>
          <p:cNvPr id="11" name="Table 10"/>
          <p:cNvGraphicFramePr>
            <a:graphicFrameLocks noGrp="1"/>
          </p:cNvGraphicFramePr>
          <p:nvPr/>
        </p:nvGraphicFramePr>
        <p:xfrm>
          <a:off x="502920" y="1737360"/>
          <a:ext cx="6400800" cy="1316736"/>
        </p:xfrm>
        <a:graphic>
          <a:graphicData uri="http://schemas.openxmlformats.org/drawingml/2006/table">
            <a:tbl>
              <a:tblPr firstRow="1" bandRow="1">
                <a:tableStyleId>{5C22544A-7EE6-4342-B048-85BDC9FD1C3A}</a:tableStyleId>
              </a:tblPr>
              <a:tblGrid>
                <a:gridCol w="1600200"/>
                <a:gridCol w="1600200"/>
                <a:gridCol w="1600200"/>
                <a:gridCol w="1600200"/>
              </a:tblGrid>
              <a:tr h="329184">
                <a:tc>
                  <a:txBody>
                    <a:bodyPr/>
                    <a:lstStyle/>
                    <a:p>
                      <a:pPr algn="l"/>
                      <a:r>
                        <a:rPr sz="1000" b="1">
                          <a:solidFill>
                            <a:srgbClr val="FFFFFF"/>
                          </a:solidFill>
                          <a:latin typeface="Calibri"/>
                        </a:rPr>
                        <a:t>Model</a:t>
                      </a:r>
                    </a:p>
                  </a:txBody>
                  <a:tcPr>
                    <a:solidFill>
                      <a:srgbClr val="16213E"/>
                    </a:solidFill>
                  </a:tcPr>
                </a:tc>
                <a:tc>
                  <a:txBody>
                    <a:bodyPr/>
                    <a:lstStyle/>
                    <a:p>
                      <a:pPr algn="l"/>
                      <a:r>
                        <a:rPr sz="1000" b="1">
                          <a:solidFill>
                            <a:srgbClr val="FFFFFF"/>
                          </a:solidFill>
                          <a:latin typeface="Calibri"/>
                        </a:rPr>
                        <a:t>Capability</a:t>
                      </a:r>
                    </a:p>
                  </a:txBody>
                  <a:tcPr>
                    <a:solidFill>
                      <a:srgbClr val="16213E"/>
                    </a:solidFill>
                  </a:tcPr>
                </a:tc>
                <a:tc>
                  <a:txBody>
                    <a:bodyPr/>
                    <a:lstStyle/>
                    <a:p>
                      <a:pPr algn="l"/>
                      <a:r>
                        <a:rPr sz="1000" b="1">
                          <a:solidFill>
                            <a:srgbClr val="FFFFFF"/>
                          </a:solidFill>
                          <a:latin typeface="Calibri"/>
                        </a:rPr>
                        <a:t>Best For</a:t>
                      </a:r>
                    </a:p>
                  </a:txBody>
                  <a:tcPr>
                    <a:solidFill>
                      <a:srgbClr val="16213E"/>
                    </a:solidFill>
                  </a:tcPr>
                </a:tc>
                <a:tc>
                  <a:txBody>
                    <a:bodyPr/>
                    <a:lstStyle/>
                    <a:p>
                      <a:pPr algn="l"/>
                      <a:r>
                        <a:rPr sz="1000" b="1">
                          <a:solidFill>
                            <a:srgbClr val="FFFFFF"/>
                          </a:solidFill>
                          <a:latin typeface="Calibri"/>
                        </a:rPr>
                        <a:t>Cost</a:t>
                      </a:r>
                    </a:p>
                  </a:txBody>
                  <a:tcPr>
                    <a:solidFill>
                      <a:srgbClr val="16213E"/>
                    </a:solidFill>
                  </a:tcPr>
                </a:tc>
              </a:tr>
              <a:tr h="329184">
                <a:tc>
                  <a:txBody>
                    <a:bodyPr/>
                    <a:lstStyle/>
                    <a:p>
                      <a:r>
                        <a:rPr sz="1000">
                          <a:solidFill>
                            <a:srgbClr val="1A1A2E"/>
                          </a:solidFill>
                          <a:latin typeface="Calibri"/>
                        </a:rPr>
                        <a:t>GPT-4.1</a:t>
                      </a:r>
                    </a:p>
                  </a:txBody>
                  <a:tcPr>
                    <a:solidFill>
                      <a:srgbClr val="FFFFFF"/>
                    </a:solidFill>
                  </a:tcPr>
                </a:tc>
                <a:tc>
                  <a:txBody>
                    <a:bodyPr/>
                    <a:lstStyle/>
                    <a:p>
                      <a:r>
                        <a:rPr sz="1000">
                          <a:solidFill>
                            <a:srgbClr val="1A1A2E"/>
                          </a:solidFill>
                          <a:latin typeface="Calibri"/>
                        </a:rPr>
                        <a:t>Best general-purpose, fast</a:t>
                      </a:r>
                    </a:p>
                  </a:txBody>
                  <a:tcPr>
                    <a:solidFill>
                      <a:srgbClr val="FFFFFF"/>
                    </a:solidFill>
                  </a:tcPr>
                </a:tc>
                <a:tc>
                  <a:txBody>
                    <a:bodyPr/>
                    <a:lstStyle/>
                    <a:p>
                      <a:r>
                        <a:rPr sz="1000">
                          <a:solidFill>
                            <a:srgbClr val="1A1A2E"/>
                          </a:solidFill>
                          <a:latin typeface="Calibri"/>
                        </a:rPr>
                        <a:t>Everyday tasks, broad applications</a:t>
                      </a:r>
                    </a:p>
                  </a:txBody>
                  <a:tcPr>
                    <a:solidFill>
                      <a:srgbClr val="FFFFFF"/>
                    </a:solidFill>
                  </a:tcPr>
                </a:tc>
                <a:tc>
                  <a:txBody>
                    <a:bodyPr/>
                    <a:lstStyle/>
                    <a:p>
                      <a:r>
                        <a:rPr sz="1000">
                          <a:solidFill>
                            <a:srgbClr val="1A1A2E"/>
                          </a:solidFill>
                          <a:latin typeface="Calibri"/>
                        </a:rPr>
                        <a:t>~$2–8/M tokens</a:t>
                      </a:r>
                    </a:p>
                  </a:txBody>
                  <a:tcPr>
                    <a:solidFill>
                      <a:srgbClr val="FFFFFF"/>
                    </a:solidFill>
                  </a:tcPr>
                </a:tc>
              </a:tr>
              <a:tr h="329184">
                <a:tc>
                  <a:txBody>
                    <a:bodyPr/>
                    <a:lstStyle/>
                    <a:p>
                      <a:r>
                        <a:rPr sz="1000">
                          <a:solidFill>
                            <a:srgbClr val="1A1A2E"/>
                          </a:solidFill>
                          <a:latin typeface="Calibri"/>
                        </a:rPr>
                        <a:t>o3</a:t>
                      </a:r>
                    </a:p>
                  </a:txBody>
                  <a:tcPr>
                    <a:solidFill>
                      <a:srgbClr val="F8F9FF"/>
                    </a:solidFill>
                  </a:tcPr>
                </a:tc>
                <a:tc>
                  <a:txBody>
                    <a:bodyPr/>
                    <a:lstStyle/>
                    <a:p>
                      <a:r>
                        <a:rPr sz="1000">
                          <a:solidFill>
                            <a:srgbClr val="1A1A2E"/>
                          </a:solidFill>
                          <a:latin typeface="Calibri"/>
                        </a:rPr>
                        <a:t>Deep reasoning, thinks before answering</a:t>
                      </a:r>
                    </a:p>
                  </a:txBody>
                  <a:tcPr>
                    <a:solidFill>
                      <a:srgbClr val="F8F9FF"/>
                    </a:solidFill>
                  </a:tcPr>
                </a:tc>
                <a:tc>
                  <a:txBody>
                    <a:bodyPr/>
                    <a:lstStyle/>
                    <a:p>
                      <a:r>
                        <a:rPr sz="1000">
                          <a:solidFill>
                            <a:srgbClr val="1A1A2E"/>
                          </a:solidFill>
                          <a:latin typeface="Calibri"/>
                        </a:rPr>
                        <a:t>Math, complex logic, multi-step analysis</a:t>
                      </a:r>
                    </a:p>
                  </a:txBody>
                  <a:tcPr>
                    <a:solidFill>
                      <a:srgbClr val="F8F9FF"/>
                    </a:solidFill>
                  </a:tcPr>
                </a:tc>
                <a:tc>
                  <a:txBody>
                    <a:bodyPr/>
                    <a:lstStyle/>
                    <a:p>
                      <a:r>
                        <a:rPr sz="1000">
                          <a:solidFill>
                            <a:srgbClr val="1A1A2E"/>
                          </a:solidFill>
                          <a:latin typeface="Calibri"/>
                        </a:rPr>
                        <a:t>~$15/M tokens</a:t>
                      </a:r>
                    </a:p>
                  </a:txBody>
                  <a:tcPr>
                    <a:solidFill>
                      <a:srgbClr val="F8F9FF"/>
                    </a:solidFill>
                  </a:tcPr>
                </a:tc>
              </a:tr>
              <a:tr h="329184">
                <a:tc>
                  <a:txBody>
                    <a:bodyPr/>
                    <a:lstStyle/>
                    <a:p>
                      <a:r>
                        <a:rPr sz="1000">
                          <a:solidFill>
                            <a:srgbClr val="1A1A2E"/>
                          </a:solidFill>
                          <a:latin typeface="Calibri"/>
                        </a:rPr>
                        <a:t>o4-mini</a:t>
                      </a:r>
                    </a:p>
                  </a:txBody>
                  <a:tcPr>
                    <a:solidFill>
                      <a:srgbClr val="FFFFFF"/>
                    </a:solidFill>
                  </a:tcPr>
                </a:tc>
                <a:tc>
                  <a:txBody>
                    <a:bodyPr/>
                    <a:lstStyle/>
                    <a:p>
                      <a:r>
                        <a:rPr sz="1000">
                          <a:solidFill>
                            <a:srgbClr val="1A1A2E"/>
                          </a:solidFill>
                          <a:latin typeface="Calibri"/>
                        </a:rPr>
                        <a:t>Near-o3 quality, 10× cheaper</a:t>
                      </a:r>
                    </a:p>
                  </a:txBody>
                  <a:tcPr>
                    <a:solidFill>
                      <a:srgbClr val="FFFFFF"/>
                    </a:solidFill>
                  </a:tcPr>
                </a:tc>
                <a:tc>
                  <a:txBody>
                    <a:bodyPr/>
                    <a:lstStyle/>
                    <a:p>
                      <a:r>
                        <a:rPr sz="1000">
                          <a:solidFill>
                            <a:srgbClr val="1A1A2E"/>
                          </a:solidFill>
                          <a:latin typeface="Calibri"/>
                        </a:rPr>
                        <a:t>Reasoning tasks at scale</a:t>
                      </a:r>
                    </a:p>
                  </a:txBody>
                  <a:tcPr>
                    <a:solidFill>
                      <a:srgbClr val="FFFFFF"/>
                    </a:solidFill>
                  </a:tcPr>
                </a:tc>
                <a:tc>
                  <a:txBody>
                    <a:bodyPr/>
                    <a:lstStyle/>
                    <a:p>
                      <a:r>
                        <a:rPr sz="1000">
                          <a:solidFill>
                            <a:srgbClr val="1A1A2E"/>
                          </a:solidFill>
                          <a:latin typeface="Calibri"/>
                        </a:rPr>
                        <a:t>~$1–3/M tokens</a:t>
                      </a:r>
                    </a:p>
                  </a:txBody>
                  <a:tcPr>
                    <a:solidFill>
                      <a:srgbClr val="FFFFFF"/>
                    </a:solidFill>
                  </a:tcPr>
                </a:tc>
              </a:tr>
            </a:tbl>
          </a:graphicData>
        </a:graphic>
      </p:graphicFrame>
      <p:sp>
        <p:nvSpPr>
          <p:cNvPr id="12" name="TextBox 11"/>
          <p:cNvSpPr txBox="1"/>
          <p:nvPr/>
        </p:nvSpPr>
        <p:spPr>
          <a:xfrm>
            <a:off x="502920" y="3145536"/>
            <a:ext cx="6400800" cy="3300984"/>
          </a:xfrm>
          <a:prstGeom prst="rect">
            <a:avLst/>
          </a:prstGeom>
          <a:noFill/>
        </p:spPr>
        <p:txBody>
          <a:bodyPr wrap="square">
            <a:spAutoFit/>
          </a:bodyPr>
          <a:lstStyle/>
          <a:p>
            <a:pPr>
              <a:spcBef>
                <a:spcPts val="300"/>
              </a:spcBef>
              <a:spcAft>
                <a:spcPts val="200"/>
              </a:spcAft>
            </a:pPr>
            <a:r>
              <a:rPr sz="1200" b="0">
                <a:solidFill>
                  <a:srgbClr val="2D3748"/>
                </a:solidFill>
                <a:latin typeface="Calibri"/>
              </a:rPr>
              <a:t>Anthropic — Coding and Long Context</a:t>
            </a:r>
          </a:p>
          <a:p>
            <a:pPr>
              <a:spcBef>
                <a:spcPts val="300"/>
              </a:spcBef>
              <a:spcAft>
                <a:spcPts val="200"/>
              </a:spcAft>
            </a:pPr>
            <a:r>
              <a:rPr sz="1200" b="0">
                <a:solidFill>
                  <a:srgbClr val="2D3748"/>
                </a:solidFill>
                <a:latin typeface="Calibri"/>
              </a:rPr>
              <a:t>Google — Multimodal and Massive Context</a:t>
            </a:r>
          </a:p>
        </p:txBody>
      </p:sp>
      <p:sp>
        <p:nvSpPr>
          <p:cNvPr id="13" name="Rectangle 12"/>
          <p:cNvSpPr/>
          <p:nvPr/>
        </p:nvSpPr>
        <p:spPr>
          <a:xfrm>
            <a:off x="502920" y="3822192"/>
            <a:ext cx="54864" cy="498896"/>
          </a:xfrm>
          <a:prstGeom prst="rect">
            <a:avLst/>
          </a:prstGeom>
          <a:solidFill>
            <a:srgbClr val="53348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67512" y="3822192"/>
            <a:ext cx="6236208" cy="566928"/>
          </a:xfrm>
          <a:prstGeom prst="rect">
            <a:avLst/>
          </a:prstGeom>
          <a:noFill/>
        </p:spPr>
        <p:txBody>
          <a:bodyPr wrap="square">
            <a:spAutoFit/>
          </a:bodyPr>
          <a:lstStyle/>
          <a:p>
            <a:r>
              <a:rPr sz="1300" i="1">
                <a:solidFill>
                  <a:srgbClr val="0F3460"/>
                </a:solidFill>
                <a:latin typeface="Calibri"/>
              </a:rPr>
              <a:t>Key 2026 shift: The capability gap between providers has narrowed dramatically. The decision framework is no longer "which is best?" — it's "which fits my specific task, data requirements, and budget?"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234440"/>
          </a:xfrm>
          <a:prstGeom prst="rect">
            <a:avLst/>
          </a:prstGeom>
          <a:solidFill>
            <a:srgbClr val="1621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91440"/>
            <a:ext cx="11368735" cy="658368"/>
          </a:xfrm>
          <a:prstGeom prst="rect">
            <a:avLst/>
          </a:prstGeom>
          <a:noFill/>
        </p:spPr>
        <p:txBody>
          <a:bodyPr wrap="square">
            <a:spAutoFit/>
          </a:bodyPr>
          <a:lstStyle/>
          <a:p>
            <a:r>
              <a:rPr sz="2700" b="1">
                <a:solidFill>
                  <a:srgbClr val="FFFFFF"/>
                </a:solidFill>
                <a:latin typeface="Calibri"/>
              </a:rPr>
              <a:t>The Open Source Revolution</a:t>
            </a:r>
          </a:p>
        </p:txBody>
      </p:sp>
      <p:sp>
        <p:nvSpPr>
          <p:cNvPr id="5" name="TextBox 4"/>
          <p:cNvSpPr txBox="1"/>
          <p:nvPr/>
        </p:nvSpPr>
        <p:spPr>
          <a:xfrm>
            <a:off x="411480" y="749808"/>
            <a:ext cx="11368735" cy="402336"/>
          </a:xfrm>
          <a:prstGeom prst="rect">
            <a:avLst/>
          </a:prstGeom>
          <a:noFill/>
        </p:spPr>
        <p:txBody>
          <a:bodyPr wrap="none">
            <a:spAutoFit/>
          </a:bodyPr>
          <a:lstStyle/>
          <a:p>
            <a:r>
              <a:rPr sz="1500">
                <a:solidFill>
                  <a:srgbClr val="0EA5E9"/>
                </a:solidFill>
                <a:latin typeface="Calibri"/>
              </a:rPr>
              <a:t>DeepSeek, Llama, Mistral — Why This Changes Everything</a:t>
            </a:r>
          </a:p>
        </p:txBody>
      </p:sp>
      <p:sp>
        <p:nvSpPr>
          <p:cNvPr id="6" name="Rectangle 5"/>
          <p:cNvSpPr/>
          <p:nvPr/>
        </p:nvSpPr>
        <p:spPr>
          <a:xfrm>
            <a:off x="0" y="1234440"/>
            <a:ext cx="12191695" cy="36576"/>
          </a:xfrm>
          <a:prstGeom prst="rect">
            <a:avLst/>
          </a:prstGeom>
          <a:solidFill>
            <a:srgbClr val="0EA5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1551615" y="6537960"/>
            <a:ext cx="502920" cy="256032"/>
          </a:xfrm>
          <a:prstGeom prst="rect">
            <a:avLst/>
          </a:prstGeom>
          <a:noFill/>
        </p:spPr>
        <p:txBody>
          <a:bodyPr wrap="none">
            <a:spAutoFit/>
          </a:bodyPr>
          <a:lstStyle/>
          <a:p>
            <a:pPr algn="ctr"/>
            <a:r>
              <a:rPr sz="1000">
                <a:solidFill>
                  <a:srgbClr val="AAAABB"/>
                </a:solidFill>
                <a:latin typeface="Calibri"/>
              </a:rPr>
              <a:t>5</a:t>
            </a:r>
          </a:p>
        </p:txBody>
      </p:sp>
      <p:sp>
        <p:nvSpPr>
          <p:cNvPr id="8" name="Rectangle 7"/>
          <p:cNvSpPr/>
          <p:nvPr/>
        </p:nvSpPr>
        <p:spPr>
          <a:xfrm>
            <a:off x="6949440" y="1353312"/>
            <a:ext cx="18288" cy="5257800"/>
          </a:xfrm>
          <a:prstGeom prst="rect">
            <a:avLst/>
          </a:prstGeom>
          <a:solidFill>
            <a:srgbClr val="DDDD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slide_05_chart.png"/>
          <p:cNvPicPr>
            <a:picLocks noChangeAspect="1"/>
          </p:cNvPicPr>
          <p:nvPr/>
        </p:nvPicPr>
        <p:blipFill>
          <a:blip r:embed="rId2"/>
          <a:stretch>
            <a:fillRect/>
          </a:stretch>
        </p:blipFill>
        <p:spPr>
          <a:xfrm>
            <a:off x="7040880" y="1444752"/>
            <a:ext cx="4663440" cy="5074920"/>
          </a:xfrm>
          <a:prstGeom prst="rect">
            <a:avLst/>
          </a:prstGeom>
        </p:spPr>
      </p:pic>
      <p:sp>
        <p:nvSpPr>
          <p:cNvPr id="10" name="TextBox 9"/>
          <p:cNvSpPr txBox="1"/>
          <p:nvPr/>
        </p:nvSpPr>
        <p:spPr>
          <a:xfrm>
            <a:off x="502920" y="1353312"/>
            <a:ext cx="6400800" cy="5093208"/>
          </a:xfrm>
          <a:prstGeom prst="rect">
            <a:avLst/>
          </a:prstGeom>
          <a:noFill/>
        </p:spPr>
        <p:txBody>
          <a:bodyPr wrap="square">
            <a:spAutoFit/>
          </a:bodyPr>
          <a:lstStyle/>
          <a:p>
            <a:pPr>
              <a:spcBef>
                <a:spcPts val="300"/>
              </a:spcBef>
              <a:spcAft>
                <a:spcPts val="200"/>
              </a:spcAft>
            </a:pPr>
            <a:r>
              <a:rPr sz="1200" b="0">
                <a:solidFill>
                  <a:srgbClr val="2D3748"/>
                </a:solidFill>
                <a:latin typeface="Calibri"/>
              </a:rPr>
              <a:t>The January 2025 Inflection Point: The DeepSeek Moment</a:t>
            </a:r>
          </a:p>
          <a:p>
            <a:pPr>
              <a:spcBef>
                <a:spcPts val="300"/>
              </a:spcBef>
              <a:spcAft>
                <a:spcPts val="200"/>
              </a:spcAft>
            </a:pPr>
            <a:r>
              <a:rPr sz="1200" b="0">
                <a:solidFill>
                  <a:srgbClr val="2D3748"/>
                </a:solidFill>
                <a:latin typeface="Calibri"/>
              </a:rPr>
              <a:t>DeepSeek (a Chinese AI lab) released two open-source models in early 2025 that matched the best proprietary models — trained for a reported $6 million, compared to hundreds of millions spent by OpenAI and Google. The market reacted: NVIDIA's stock dropped 10% in one day.</a:t>
            </a:r>
          </a:p>
          <a:p>
            <a:pPr>
              <a:spcBef>
                <a:spcPts val="300"/>
              </a:spcBef>
              <a:spcAft>
                <a:spcPts val="200"/>
              </a:spcAft>
            </a:pPr>
            <a:r>
              <a:rPr sz="1300" b="1">
                <a:solidFill>
                  <a:srgbClr val="0F3460"/>
                </a:solidFill>
                <a:latin typeface="Calibri"/>
              </a:rPr>
              <a:t>Leading open-source models as of April 2026:</a:t>
            </a:r>
          </a:p>
        </p:txBody>
      </p:sp>
      <p:graphicFrame>
        <p:nvGraphicFramePr>
          <p:cNvPr id="11" name="Table 10"/>
          <p:cNvGraphicFramePr>
            <a:graphicFrameLocks noGrp="1"/>
          </p:cNvGraphicFramePr>
          <p:nvPr/>
        </p:nvGraphicFramePr>
        <p:xfrm>
          <a:off x="502920" y="2322576"/>
          <a:ext cx="6400800" cy="1975104"/>
        </p:xfrm>
        <a:graphic>
          <a:graphicData uri="http://schemas.openxmlformats.org/drawingml/2006/table">
            <a:tbl>
              <a:tblPr firstRow="1" bandRow="1">
                <a:tableStyleId>{5C22544A-7EE6-4342-B048-85BDC9FD1C3A}</a:tableStyleId>
              </a:tblPr>
              <a:tblGrid>
                <a:gridCol w="1280160"/>
                <a:gridCol w="1280160"/>
                <a:gridCol w="1280160"/>
                <a:gridCol w="1280160"/>
                <a:gridCol w="1280160"/>
              </a:tblGrid>
              <a:tr h="329184">
                <a:tc>
                  <a:txBody>
                    <a:bodyPr/>
                    <a:lstStyle/>
                    <a:p>
                      <a:pPr algn="l"/>
                      <a:r>
                        <a:rPr sz="1000" b="1">
                          <a:solidFill>
                            <a:srgbClr val="FFFFFF"/>
                          </a:solidFill>
                          <a:latin typeface="Calibri"/>
                        </a:rPr>
                        <a:t>Model</a:t>
                      </a:r>
                    </a:p>
                  </a:txBody>
                  <a:tcPr>
                    <a:solidFill>
                      <a:srgbClr val="16213E"/>
                    </a:solidFill>
                  </a:tcPr>
                </a:tc>
                <a:tc>
                  <a:txBody>
                    <a:bodyPr/>
                    <a:lstStyle/>
                    <a:p>
                      <a:pPr algn="l"/>
                      <a:r>
                        <a:rPr sz="1000" b="1">
                          <a:solidFill>
                            <a:srgbClr val="FFFFFF"/>
                          </a:solidFill>
                          <a:latin typeface="Calibri"/>
                        </a:rPr>
                        <a:t>Creator</a:t>
                      </a:r>
                    </a:p>
                  </a:txBody>
                  <a:tcPr>
                    <a:solidFill>
                      <a:srgbClr val="16213E"/>
                    </a:solidFill>
                  </a:tcPr>
                </a:tc>
                <a:tc>
                  <a:txBody>
                    <a:bodyPr/>
                    <a:lstStyle/>
                    <a:p>
                      <a:pPr algn="l"/>
                      <a:r>
                        <a:rPr sz="1000" b="1">
                          <a:solidFill>
                            <a:srgbClr val="FFFFFF"/>
                          </a:solidFill>
                          <a:latin typeface="Calibri"/>
                        </a:rPr>
                        <a:t>Size</a:t>
                      </a:r>
                    </a:p>
                  </a:txBody>
                  <a:tcPr>
                    <a:solidFill>
                      <a:srgbClr val="16213E"/>
                    </a:solidFill>
                  </a:tcPr>
                </a:tc>
                <a:tc>
                  <a:txBody>
                    <a:bodyPr/>
                    <a:lstStyle/>
                    <a:p>
                      <a:pPr algn="l"/>
                      <a:r>
                        <a:rPr sz="1000" b="1">
                          <a:solidFill>
                            <a:srgbClr val="FFFFFF"/>
                          </a:solidFill>
                          <a:latin typeface="Calibri"/>
                        </a:rPr>
                        <a:t>Benchmark vs. Proprietary</a:t>
                      </a:r>
                    </a:p>
                  </a:txBody>
                  <a:tcPr>
                    <a:solidFill>
                      <a:srgbClr val="16213E"/>
                    </a:solidFill>
                  </a:tcPr>
                </a:tc>
                <a:tc>
                  <a:txBody>
                    <a:bodyPr/>
                    <a:lstStyle/>
                    <a:p>
                      <a:pPr algn="l"/>
                      <a:r>
                        <a:rPr sz="1000" b="1">
                          <a:solidFill>
                            <a:srgbClr val="FFFFFF"/>
                          </a:solidFill>
                          <a:latin typeface="Calibri"/>
                        </a:rPr>
                        <a:t>Can Run Locally?</a:t>
                      </a:r>
                    </a:p>
                  </a:txBody>
                  <a:tcPr>
                    <a:solidFill>
                      <a:srgbClr val="16213E"/>
                    </a:solidFill>
                  </a:tcPr>
                </a:tc>
              </a:tr>
              <a:tr h="329184">
                <a:tc>
                  <a:txBody>
                    <a:bodyPr/>
                    <a:lstStyle/>
                    <a:p>
                      <a:r>
                        <a:rPr sz="1000">
                          <a:solidFill>
                            <a:srgbClr val="1A1A2E"/>
                          </a:solidFill>
                          <a:latin typeface="Calibri"/>
                        </a:rPr>
                        <a:t>Llama 4 Scout</a:t>
                      </a:r>
                    </a:p>
                  </a:txBody>
                  <a:tcPr>
                    <a:solidFill>
                      <a:srgbClr val="FFFFFF"/>
                    </a:solidFill>
                  </a:tcPr>
                </a:tc>
                <a:tc>
                  <a:txBody>
                    <a:bodyPr/>
                    <a:lstStyle/>
                    <a:p>
                      <a:r>
                        <a:rPr sz="1000">
                          <a:solidFill>
                            <a:srgbClr val="1A1A2E"/>
                          </a:solidFill>
                          <a:latin typeface="Calibri"/>
                        </a:rPr>
                        <a:t>Meta</a:t>
                      </a:r>
                    </a:p>
                  </a:txBody>
                  <a:tcPr>
                    <a:solidFill>
                      <a:srgbClr val="FFFFFF"/>
                    </a:solidFill>
                  </a:tcPr>
                </a:tc>
                <a:tc>
                  <a:txBody>
                    <a:bodyPr/>
                    <a:lstStyle/>
                    <a:p>
                      <a:r>
                        <a:rPr sz="1000">
                          <a:solidFill>
                            <a:srgbClr val="1A1A2E"/>
                          </a:solidFill>
                          <a:latin typeface="Calibri"/>
                        </a:rPr>
                        <a:t>17B active (109B total MoE)</a:t>
                      </a:r>
                    </a:p>
                  </a:txBody>
                  <a:tcPr>
                    <a:solidFill>
                      <a:srgbClr val="FFFFFF"/>
                    </a:solidFill>
                  </a:tcPr>
                </a:tc>
                <a:tc>
                  <a:txBody>
                    <a:bodyPr/>
                    <a:lstStyle/>
                    <a:p>
                      <a:r>
                        <a:rPr sz="1000">
                          <a:solidFill>
                            <a:srgbClr val="1A1A2E"/>
                          </a:solidFill>
                          <a:latin typeface="Calibri"/>
                        </a:rPr>
                        <a:t>Matches GPT-4o on most tasks</a:t>
                      </a:r>
                    </a:p>
                  </a:txBody>
                  <a:tcPr>
                    <a:solidFill>
                      <a:srgbClr val="FFFFFF"/>
                    </a:solidFill>
                  </a:tcPr>
                </a:tc>
                <a:tc>
                  <a:txBody>
                    <a:bodyPr/>
                    <a:lstStyle/>
                    <a:p>
                      <a:r>
                        <a:rPr sz="1000">
                          <a:solidFill>
                            <a:srgbClr val="1A1A2E"/>
                          </a:solidFill>
                          <a:latin typeface="Calibri"/>
                        </a:rPr>
                        <a:t>Yes (requires 24GB+ GPU)</a:t>
                      </a:r>
                    </a:p>
                  </a:txBody>
                  <a:tcPr>
                    <a:solidFill>
                      <a:srgbClr val="FFFFFF"/>
                    </a:solidFill>
                  </a:tcPr>
                </a:tc>
              </a:tr>
              <a:tr h="329184">
                <a:tc>
                  <a:txBody>
                    <a:bodyPr/>
                    <a:lstStyle/>
                    <a:p>
                      <a:r>
                        <a:rPr sz="1000">
                          <a:solidFill>
                            <a:srgbClr val="1A1A2E"/>
                          </a:solidFill>
                          <a:latin typeface="Calibri"/>
                        </a:rPr>
                        <a:t>DeepSeek V3 / R1</a:t>
                      </a:r>
                    </a:p>
                  </a:txBody>
                  <a:tcPr>
                    <a:solidFill>
                      <a:srgbClr val="F8F9FF"/>
                    </a:solidFill>
                  </a:tcPr>
                </a:tc>
                <a:tc>
                  <a:txBody>
                    <a:bodyPr/>
                    <a:lstStyle/>
                    <a:p>
                      <a:r>
                        <a:rPr sz="1000">
                          <a:solidFill>
                            <a:srgbClr val="1A1A2E"/>
                          </a:solidFill>
                          <a:latin typeface="Calibri"/>
                        </a:rPr>
                        <a:t>DeepSeek</a:t>
                      </a:r>
                    </a:p>
                  </a:txBody>
                  <a:tcPr>
                    <a:solidFill>
                      <a:srgbClr val="F8F9FF"/>
                    </a:solidFill>
                  </a:tcPr>
                </a:tc>
                <a:tc>
                  <a:txBody>
                    <a:bodyPr/>
                    <a:lstStyle/>
                    <a:p>
                      <a:r>
                        <a:rPr sz="1000">
                          <a:solidFill>
                            <a:srgbClr val="1A1A2E"/>
                          </a:solidFill>
                          <a:latin typeface="Calibri"/>
                        </a:rPr>
                        <a:t>671B (MoE)</a:t>
                      </a:r>
                    </a:p>
                  </a:txBody>
                  <a:tcPr>
                    <a:solidFill>
                      <a:srgbClr val="F8F9FF"/>
                    </a:solidFill>
                  </a:tcPr>
                </a:tc>
                <a:tc>
                  <a:txBody>
                    <a:bodyPr/>
                    <a:lstStyle/>
                    <a:p>
                      <a:r>
                        <a:rPr sz="1000">
                          <a:solidFill>
                            <a:srgbClr val="1A1A2E"/>
                          </a:solidFill>
                          <a:latin typeface="Calibri"/>
                        </a:rPr>
                        <a:t>V3 ≈ GPT-4o; R1 ≈ o1</a:t>
                      </a:r>
                    </a:p>
                  </a:txBody>
                  <a:tcPr>
                    <a:solidFill>
                      <a:srgbClr val="F8F9FF"/>
                    </a:solidFill>
                  </a:tcPr>
                </a:tc>
                <a:tc>
                  <a:txBody>
                    <a:bodyPr/>
                    <a:lstStyle/>
                    <a:p>
                      <a:r>
                        <a:rPr sz="1000">
                          <a:solidFill>
                            <a:srgbClr val="1A1A2E"/>
                          </a:solidFill>
                          <a:latin typeface="Calibri"/>
                        </a:rPr>
                        <a:t>Via API or self-hosted</a:t>
                      </a:r>
                    </a:p>
                  </a:txBody>
                  <a:tcPr>
                    <a:solidFill>
                      <a:srgbClr val="F8F9FF"/>
                    </a:solidFill>
                  </a:tcPr>
                </a:tc>
              </a:tr>
              <a:tr h="329184">
                <a:tc>
                  <a:txBody>
                    <a:bodyPr/>
                    <a:lstStyle/>
                    <a:p>
                      <a:r>
                        <a:rPr sz="1000">
                          <a:solidFill>
                            <a:srgbClr val="1A1A2E"/>
                          </a:solidFill>
                          <a:latin typeface="Calibri"/>
                        </a:rPr>
                        <a:t>Mistral Large 2</a:t>
                      </a:r>
                    </a:p>
                  </a:txBody>
                  <a:tcPr>
                    <a:solidFill>
                      <a:srgbClr val="FFFFFF"/>
                    </a:solidFill>
                  </a:tcPr>
                </a:tc>
                <a:tc>
                  <a:txBody>
                    <a:bodyPr/>
                    <a:lstStyle/>
                    <a:p>
                      <a:r>
                        <a:rPr sz="1000">
                          <a:solidFill>
                            <a:srgbClr val="1A1A2E"/>
                          </a:solidFill>
                          <a:latin typeface="Calibri"/>
                        </a:rPr>
                        <a:t>Mistral AI</a:t>
                      </a:r>
                    </a:p>
                  </a:txBody>
                  <a:tcPr>
                    <a:solidFill>
                      <a:srgbClr val="FFFFFF"/>
                    </a:solidFill>
                  </a:tcPr>
                </a:tc>
                <a:tc>
                  <a:txBody>
                    <a:bodyPr/>
                    <a:lstStyle/>
                    <a:p>
                      <a:r>
                        <a:rPr sz="1000">
                          <a:solidFill>
                            <a:srgbClr val="1A1A2E"/>
                          </a:solidFill>
                          <a:latin typeface="Calibri"/>
                        </a:rPr>
                        <a:t>123B</a:t>
                      </a:r>
                    </a:p>
                  </a:txBody>
                  <a:tcPr>
                    <a:solidFill>
                      <a:srgbClr val="FFFFFF"/>
                    </a:solidFill>
                  </a:tcPr>
                </a:tc>
                <a:tc>
                  <a:txBody>
                    <a:bodyPr/>
                    <a:lstStyle/>
                    <a:p>
                      <a:r>
                        <a:rPr sz="1000">
                          <a:solidFill>
                            <a:srgbClr val="1A1A2E"/>
                          </a:solidFill>
                          <a:latin typeface="Calibri"/>
                        </a:rPr>
                        <a:t>Strong multilingual, coding</a:t>
                      </a:r>
                    </a:p>
                  </a:txBody>
                  <a:tcPr>
                    <a:solidFill>
                      <a:srgbClr val="FFFFFF"/>
                    </a:solidFill>
                  </a:tcPr>
                </a:tc>
                <a:tc>
                  <a:txBody>
                    <a:bodyPr/>
                    <a:lstStyle/>
                    <a:p>
                      <a:r>
                        <a:rPr sz="1000">
                          <a:solidFill>
                            <a:srgbClr val="1A1A2E"/>
                          </a:solidFill>
                          <a:latin typeface="Calibri"/>
                        </a:rPr>
                        <a:t>Via API or self-hosted</a:t>
                      </a:r>
                    </a:p>
                  </a:txBody>
                  <a:tcPr>
                    <a:solidFill>
                      <a:srgbClr val="FFFFFF"/>
                    </a:solidFill>
                  </a:tcPr>
                </a:tc>
              </a:tr>
              <a:tr h="329184">
                <a:tc>
                  <a:txBody>
                    <a:bodyPr/>
                    <a:lstStyle/>
                    <a:p>
                      <a:r>
                        <a:rPr sz="1000">
                          <a:solidFill>
                            <a:srgbClr val="1A1A2E"/>
                          </a:solidFill>
                          <a:latin typeface="Calibri"/>
                        </a:rPr>
                        <a:t>Qwen 2.5 / QwQ-32B</a:t>
                      </a:r>
                    </a:p>
                  </a:txBody>
                  <a:tcPr>
                    <a:solidFill>
                      <a:srgbClr val="F8F9FF"/>
                    </a:solidFill>
                  </a:tcPr>
                </a:tc>
                <a:tc>
                  <a:txBody>
                    <a:bodyPr/>
                    <a:lstStyle/>
                    <a:p>
                      <a:r>
                        <a:rPr sz="1000">
                          <a:solidFill>
                            <a:srgbClr val="1A1A2E"/>
                          </a:solidFill>
                          <a:latin typeface="Calibri"/>
                        </a:rPr>
                        <a:t>Alibaba</a:t>
                      </a:r>
                    </a:p>
                  </a:txBody>
                  <a:tcPr>
                    <a:solidFill>
                      <a:srgbClr val="F8F9FF"/>
                    </a:solidFill>
                  </a:tcPr>
                </a:tc>
                <a:tc>
                  <a:txBody>
                    <a:bodyPr/>
                    <a:lstStyle/>
                    <a:p>
                      <a:r>
                        <a:rPr sz="1000">
                          <a:solidFill>
                            <a:srgbClr val="1A1A2E"/>
                          </a:solidFill>
                          <a:latin typeface="Calibri"/>
                        </a:rPr>
                        <a:t>7B–72B</a:t>
                      </a:r>
                    </a:p>
                  </a:txBody>
                  <a:tcPr>
                    <a:solidFill>
                      <a:srgbClr val="F8F9FF"/>
                    </a:solidFill>
                  </a:tcPr>
                </a:tc>
                <a:tc>
                  <a:txBody>
                    <a:bodyPr/>
                    <a:lstStyle/>
                    <a:p>
                      <a:r>
                        <a:rPr sz="1000">
                          <a:solidFill>
                            <a:srgbClr val="1A1A2E"/>
                          </a:solidFill>
                          <a:latin typeface="Calibri"/>
                        </a:rPr>
                        <a:t>QwQ-32B strong reasoning</a:t>
                      </a:r>
                    </a:p>
                  </a:txBody>
                  <a:tcPr>
                    <a:solidFill>
                      <a:srgbClr val="F8F9FF"/>
                    </a:solidFill>
                  </a:tcPr>
                </a:tc>
                <a:tc>
                  <a:txBody>
                    <a:bodyPr/>
                    <a:lstStyle/>
                    <a:p>
                      <a:r>
                        <a:rPr sz="1000">
                          <a:solidFill>
                            <a:srgbClr val="1A1A2E"/>
                          </a:solidFill>
                          <a:latin typeface="Calibri"/>
                        </a:rPr>
                        <a:t>Yes — runs on consumer GPU</a:t>
                      </a:r>
                    </a:p>
                  </a:txBody>
                  <a:tcPr>
                    <a:solidFill>
                      <a:srgbClr val="F8F9FF"/>
                    </a:solidFill>
                  </a:tcPr>
                </a:tc>
              </a:tr>
              <a:tr h="329184">
                <a:tc>
                  <a:txBody>
                    <a:bodyPr/>
                    <a:lstStyle/>
                    <a:p>
                      <a:r>
                        <a:rPr sz="1000">
                          <a:solidFill>
                            <a:srgbClr val="1A1A2E"/>
                          </a:solidFill>
                          <a:latin typeface="Calibri"/>
                        </a:rPr>
                        <a:t>Phi-4</a:t>
                      </a:r>
                    </a:p>
                  </a:txBody>
                  <a:tcPr>
                    <a:solidFill>
                      <a:srgbClr val="FFFFFF"/>
                    </a:solidFill>
                  </a:tcPr>
                </a:tc>
                <a:tc>
                  <a:txBody>
                    <a:bodyPr/>
                    <a:lstStyle/>
                    <a:p>
                      <a:r>
                        <a:rPr sz="1000">
                          <a:solidFill>
                            <a:srgbClr val="1A1A2E"/>
                          </a:solidFill>
                          <a:latin typeface="Calibri"/>
                        </a:rPr>
                        <a:t>Microsoft</a:t>
                      </a:r>
                    </a:p>
                  </a:txBody>
                  <a:tcPr>
                    <a:solidFill>
                      <a:srgbClr val="FFFFFF"/>
                    </a:solidFill>
                  </a:tcPr>
                </a:tc>
                <a:tc>
                  <a:txBody>
                    <a:bodyPr/>
                    <a:lstStyle/>
                    <a:p>
                      <a:r>
                        <a:rPr sz="1000">
                          <a:solidFill>
                            <a:srgbClr val="1A1A2E"/>
                          </a:solidFill>
                          <a:latin typeface="Calibri"/>
                        </a:rPr>
                        <a:t>14B</a:t>
                      </a:r>
                    </a:p>
                  </a:txBody>
                  <a:tcPr>
                    <a:solidFill>
                      <a:srgbClr val="FFFFFF"/>
                    </a:solidFill>
                  </a:tcPr>
                </a:tc>
                <a:tc>
                  <a:txBody>
                    <a:bodyPr/>
                    <a:lstStyle/>
                    <a:p>
                      <a:r>
                        <a:rPr sz="1000">
                          <a:solidFill>
                            <a:srgbClr val="1A1A2E"/>
                          </a:solidFill>
                          <a:latin typeface="Calibri"/>
                        </a:rPr>
                        <a:t>Outperforms models 5× larger</a:t>
                      </a:r>
                    </a:p>
                  </a:txBody>
                  <a:tcPr>
                    <a:solidFill>
                      <a:srgbClr val="FFFFFF"/>
                    </a:solidFill>
                  </a:tcPr>
                </a:tc>
                <a:tc>
                  <a:txBody>
                    <a:bodyPr/>
                    <a:lstStyle/>
                    <a:p>
                      <a:r>
                        <a:rPr sz="1000">
                          <a:solidFill>
                            <a:srgbClr val="1A1A2E"/>
                          </a:solidFill>
                          <a:latin typeface="Calibri"/>
                        </a:rPr>
                        <a:t>Yes — runs on a laptop</a:t>
                      </a:r>
                    </a:p>
                  </a:txBody>
                  <a:tcPr>
                    <a:solidFill>
                      <a:srgbClr val="FFFFFF"/>
                    </a:solidFill>
                  </a:tcPr>
                </a:tc>
              </a:tr>
            </a:tbl>
          </a:graphicData>
        </a:graphic>
      </p:graphicFrame>
      <p:sp>
        <p:nvSpPr>
          <p:cNvPr id="12" name="TextBox 11"/>
          <p:cNvSpPr txBox="1"/>
          <p:nvPr/>
        </p:nvSpPr>
        <p:spPr>
          <a:xfrm>
            <a:off x="502920" y="4389120"/>
            <a:ext cx="6400800" cy="2057400"/>
          </a:xfrm>
          <a:prstGeom prst="rect">
            <a:avLst/>
          </a:prstGeom>
          <a:noFill/>
        </p:spPr>
        <p:txBody>
          <a:bodyPr wrap="square">
            <a:spAutoFit/>
          </a:bodyPr>
          <a:lstStyle/>
          <a:p>
            <a:pPr>
              <a:spcBef>
                <a:spcPts val="300"/>
              </a:spcBef>
              <a:spcAft>
                <a:spcPts val="200"/>
              </a:spcAft>
            </a:pPr>
            <a:r>
              <a:rPr sz="1300" b="1">
                <a:solidFill>
                  <a:srgbClr val="0F3460"/>
                </a:solidFill>
                <a:latin typeface="Calibri"/>
              </a:rPr>
              <a:t>What open source unlocks for business:</a:t>
            </a:r>
          </a:p>
          <a:p>
            <a:pPr>
              <a:spcBef>
                <a:spcPts val="300"/>
              </a:spcBef>
              <a:spcAft>
                <a:spcPts val="200"/>
              </a:spcAft>
            </a:pPr>
            <a:r>
              <a:rPr sz="1300">
                <a:solidFill>
                  <a:srgbClr val="0EA5E9"/>
                </a:solidFill>
                <a:latin typeface="Calibri"/>
              </a:rPr>
              <a:t>• </a:t>
            </a:r>
            <a:r>
              <a:rPr sz="1300" b="0">
                <a:solidFill>
                  <a:srgbClr val="1A1A2E"/>
                </a:solidFill>
                <a:latin typeface="Calibri"/>
              </a:rPr>
              <a:t>Privacy: Entire pipeline stays inside your infrastructure — no data sent to any cloud provider</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234440"/>
          </a:xfrm>
          <a:prstGeom prst="rect">
            <a:avLst/>
          </a:prstGeom>
          <a:solidFill>
            <a:srgbClr val="1621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91440"/>
            <a:ext cx="11368735" cy="658368"/>
          </a:xfrm>
          <a:prstGeom prst="rect">
            <a:avLst/>
          </a:prstGeom>
          <a:noFill/>
        </p:spPr>
        <p:txBody>
          <a:bodyPr wrap="square">
            <a:spAutoFit/>
          </a:bodyPr>
          <a:lstStyle/>
          <a:p>
            <a:r>
              <a:rPr sz="2700" b="1">
                <a:solidFill>
                  <a:srgbClr val="FFFFFF"/>
                </a:solidFill>
                <a:latin typeface="Calibri"/>
              </a:rPr>
              <a:t>Choosing the Right Model — Decision Framework</a:t>
            </a:r>
          </a:p>
        </p:txBody>
      </p:sp>
      <p:sp>
        <p:nvSpPr>
          <p:cNvPr id="5" name="TextBox 4"/>
          <p:cNvSpPr txBox="1"/>
          <p:nvPr/>
        </p:nvSpPr>
        <p:spPr>
          <a:xfrm>
            <a:off x="411480" y="749808"/>
            <a:ext cx="11368735" cy="402336"/>
          </a:xfrm>
          <a:prstGeom prst="rect">
            <a:avLst/>
          </a:prstGeom>
          <a:noFill/>
        </p:spPr>
        <p:txBody>
          <a:bodyPr wrap="none">
            <a:spAutoFit/>
          </a:bodyPr>
          <a:lstStyle/>
          <a:p>
            <a:r>
              <a:rPr sz="1500">
                <a:solidFill>
                  <a:srgbClr val="0EA5E9"/>
                </a:solidFill>
                <a:latin typeface="Calibri"/>
              </a:rPr>
              <a:t>A Systematic Approach for Business Use Cases</a:t>
            </a:r>
          </a:p>
        </p:txBody>
      </p:sp>
      <p:sp>
        <p:nvSpPr>
          <p:cNvPr id="6" name="Rectangle 5"/>
          <p:cNvSpPr/>
          <p:nvPr/>
        </p:nvSpPr>
        <p:spPr>
          <a:xfrm>
            <a:off x="0" y="1234440"/>
            <a:ext cx="12191695" cy="36576"/>
          </a:xfrm>
          <a:prstGeom prst="rect">
            <a:avLst/>
          </a:prstGeom>
          <a:solidFill>
            <a:srgbClr val="0EA5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1551615" y="6537960"/>
            <a:ext cx="502920" cy="256032"/>
          </a:xfrm>
          <a:prstGeom prst="rect">
            <a:avLst/>
          </a:prstGeom>
          <a:noFill/>
        </p:spPr>
        <p:txBody>
          <a:bodyPr wrap="none">
            <a:spAutoFit/>
          </a:bodyPr>
          <a:lstStyle/>
          <a:p>
            <a:pPr algn="ctr"/>
            <a:r>
              <a:rPr sz="1000">
                <a:solidFill>
                  <a:srgbClr val="AAAABB"/>
                </a:solidFill>
                <a:latin typeface="Calibri"/>
              </a:rPr>
              <a:t>6</a:t>
            </a:r>
          </a:p>
        </p:txBody>
      </p:sp>
      <p:sp>
        <p:nvSpPr>
          <p:cNvPr id="8" name="Rectangle 7"/>
          <p:cNvSpPr/>
          <p:nvPr/>
        </p:nvSpPr>
        <p:spPr>
          <a:xfrm>
            <a:off x="6949440" y="1353312"/>
            <a:ext cx="18288" cy="5257800"/>
          </a:xfrm>
          <a:prstGeom prst="rect">
            <a:avLst/>
          </a:prstGeom>
          <a:solidFill>
            <a:srgbClr val="DDDD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slide_06_chart.png"/>
          <p:cNvPicPr>
            <a:picLocks noChangeAspect="1"/>
          </p:cNvPicPr>
          <p:nvPr/>
        </p:nvPicPr>
        <p:blipFill>
          <a:blip r:embed="rId2"/>
          <a:stretch>
            <a:fillRect/>
          </a:stretch>
        </p:blipFill>
        <p:spPr>
          <a:xfrm>
            <a:off x="7040880" y="1444752"/>
            <a:ext cx="4663440" cy="5074920"/>
          </a:xfrm>
          <a:prstGeom prst="rect">
            <a:avLst/>
          </a:prstGeom>
        </p:spPr>
      </p:pic>
      <p:sp>
        <p:nvSpPr>
          <p:cNvPr id="10" name="TextBox 9"/>
          <p:cNvSpPr txBox="1"/>
          <p:nvPr/>
        </p:nvSpPr>
        <p:spPr>
          <a:xfrm>
            <a:off x="502920" y="1353312"/>
            <a:ext cx="6400800" cy="5093208"/>
          </a:xfrm>
          <a:prstGeom prst="rect">
            <a:avLst/>
          </a:prstGeom>
          <a:noFill/>
        </p:spPr>
        <p:txBody>
          <a:bodyPr wrap="square">
            <a:spAutoFit/>
          </a:bodyPr>
          <a:lstStyle/>
          <a:p>
            <a:pPr>
              <a:spcBef>
                <a:spcPts val="300"/>
              </a:spcBef>
              <a:spcAft>
                <a:spcPts val="200"/>
              </a:spcAft>
            </a:pPr>
            <a:r>
              <a:rPr sz="1200" b="0">
                <a:solidFill>
                  <a:srgbClr val="2D3748"/>
                </a:solidFill>
                <a:latin typeface="Calibri"/>
              </a:rPr>
              <a:t>Step 1: Match capability to task type</a:t>
            </a:r>
          </a:p>
        </p:txBody>
      </p:sp>
      <p:graphicFrame>
        <p:nvGraphicFramePr>
          <p:cNvPr id="11" name="Table 10"/>
          <p:cNvGraphicFramePr>
            <a:graphicFrameLocks noGrp="1"/>
          </p:cNvGraphicFramePr>
          <p:nvPr/>
        </p:nvGraphicFramePr>
        <p:xfrm>
          <a:off x="502920" y="1737360"/>
          <a:ext cx="6400800" cy="1975104"/>
        </p:xfrm>
        <a:graphic>
          <a:graphicData uri="http://schemas.openxmlformats.org/drawingml/2006/table">
            <a:tbl>
              <a:tblPr firstRow="1" bandRow="1">
                <a:tableStyleId>{5C22544A-7EE6-4342-B048-85BDC9FD1C3A}</a:tableStyleId>
              </a:tblPr>
              <a:tblGrid>
                <a:gridCol w="1600200"/>
                <a:gridCol w="1600200"/>
                <a:gridCol w="1600200"/>
                <a:gridCol w="1600200"/>
              </a:tblGrid>
              <a:tr h="329184">
                <a:tc>
                  <a:txBody>
                    <a:bodyPr/>
                    <a:lstStyle/>
                    <a:p>
                      <a:pPr algn="l"/>
                      <a:r>
                        <a:rPr sz="1000" b="1">
                          <a:solidFill>
                            <a:srgbClr val="FFFFFF"/>
                          </a:solidFill>
                          <a:latin typeface="Calibri"/>
                        </a:rPr>
                        <a:t>Task Category</a:t>
                      </a:r>
                    </a:p>
                  </a:txBody>
                  <a:tcPr>
                    <a:solidFill>
                      <a:srgbClr val="16213E"/>
                    </a:solidFill>
                  </a:tcPr>
                </a:tc>
                <a:tc>
                  <a:txBody>
                    <a:bodyPr/>
                    <a:lstStyle/>
                    <a:p>
                      <a:pPr algn="l"/>
                      <a:r>
                        <a:rPr sz="1000" b="1">
                          <a:solidFill>
                            <a:srgbClr val="FFFFFF"/>
                          </a:solidFill>
                          <a:latin typeface="Calibri"/>
                        </a:rPr>
                        <a:t>Top Choice</a:t>
                      </a:r>
                    </a:p>
                  </a:txBody>
                  <a:tcPr>
                    <a:solidFill>
                      <a:srgbClr val="16213E"/>
                    </a:solidFill>
                  </a:tcPr>
                </a:tc>
                <a:tc>
                  <a:txBody>
                    <a:bodyPr/>
                    <a:lstStyle/>
                    <a:p>
                      <a:pPr algn="l"/>
                      <a:r>
                        <a:rPr sz="1000" b="1">
                          <a:solidFill>
                            <a:srgbClr val="FFFFFF"/>
                          </a:solidFill>
                          <a:latin typeface="Calibri"/>
                        </a:rPr>
                        <a:t>Runner-Up</a:t>
                      </a:r>
                    </a:p>
                  </a:txBody>
                  <a:tcPr>
                    <a:solidFill>
                      <a:srgbClr val="16213E"/>
                    </a:solidFill>
                  </a:tcPr>
                </a:tc>
                <a:tc>
                  <a:txBody>
                    <a:bodyPr/>
                    <a:lstStyle/>
                    <a:p>
                      <a:pPr algn="l"/>
                      <a:r>
                        <a:rPr sz="1000" b="1">
                          <a:solidFill>
                            <a:srgbClr val="FFFFFF"/>
                          </a:solidFill>
                          <a:latin typeface="Calibri"/>
                        </a:rPr>
                        <a:t>Why</a:t>
                      </a:r>
                    </a:p>
                  </a:txBody>
                  <a:tcPr>
                    <a:solidFill>
                      <a:srgbClr val="16213E"/>
                    </a:solidFill>
                  </a:tcPr>
                </a:tc>
              </a:tr>
              <a:tr h="329184">
                <a:tc>
                  <a:txBody>
                    <a:bodyPr/>
                    <a:lstStyle/>
                    <a:p>
                      <a:r>
                        <a:rPr sz="1000">
                          <a:solidFill>
                            <a:srgbClr val="1A1A2E"/>
                          </a:solidFill>
                          <a:latin typeface="Calibri"/>
                        </a:rPr>
                        <a:t>Complex reasoning &amp; analysis</a:t>
                      </a:r>
                    </a:p>
                  </a:txBody>
                  <a:tcPr>
                    <a:solidFill>
                      <a:srgbClr val="FFFFFF"/>
                    </a:solidFill>
                  </a:tcPr>
                </a:tc>
                <a:tc>
                  <a:txBody>
                    <a:bodyPr/>
                    <a:lstStyle/>
                    <a:p>
                      <a:r>
                        <a:rPr sz="1000">
                          <a:solidFill>
                            <a:srgbClr val="1A1A2E"/>
                          </a:solidFill>
                          <a:latin typeface="Calibri"/>
                        </a:rPr>
                        <a:t>Claude 3.7 / o3</a:t>
                      </a:r>
                    </a:p>
                  </a:txBody>
                  <a:tcPr>
                    <a:solidFill>
                      <a:srgbClr val="FFFFFF"/>
                    </a:solidFill>
                  </a:tcPr>
                </a:tc>
                <a:tc>
                  <a:txBody>
                    <a:bodyPr/>
                    <a:lstStyle/>
                    <a:p>
                      <a:r>
                        <a:rPr sz="1000">
                          <a:solidFill>
                            <a:srgbClr val="1A1A2E"/>
                          </a:solidFill>
                          <a:latin typeface="Calibri"/>
                        </a:rPr>
                        <a:t>Gemini 2.5 Pro</a:t>
                      </a:r>
                    </a:p>
                  </a:txBody>
                  <a:tcPr>
                    <a:solidFill>
                      <a:srgbClr val="FFFFFF"/>
                    </a:solidFill>
                  </a:tcPr>
                </a:tc>
                <a:tc>
                  <a:txBody>
                    <a:bodyPr/>
                    <a:lstStyle/>
                    <a:p>
                      <a:r>
                        <a:rPr sz="1000">
                          <a:solidFill>
                            <a:srgbClr val="1A1A2E"/>
                          </a:solidFill>
                          <a:latin typeface="Calibri"/>
                        </a:rPr>
                        <a:t>Step-by-step thinking, high accuracy</a:t>
                      </a:r>
                    </a:p>
                  </a:txBody>
                  <a:tcPr>
                    <a:solidFill>
                      <a:srgbClr val="FFFFFF"/>
                    </a:solidFill>
                  </a:tcPr>
                </a:tc>
              </a:tr>
              <a:tr h="329184">
                <a:tc>
                  <a:txBody>
                    <a:bodyPr/>
                    <a:lstStyle/>
                    <a:p>
                      <a:r>
                        <a:rPr sz="1000">
                          <a:solidFill>
                            <a:srgbClr val="1A1A2E"/>
                          </a:solidFill>
                          <a:latin typeface="Calibri"/>
                        </a:rPr>
                        <a:t>High-volume text processing</a:t>
                      </a:r>
                    </a:p>
                  </a:txBody>
                  <a:tcPr>
                    <a:solidFill>
                      <a:srgbClr val="F8F9FF"/>
                    </a:solidFill>
                  </a:tcPr>
                </a:tc>
                <a:tc>
                  <a:txBody>
                    <a:bodyPr/>
                    <a:lstStyle/>
                    <a:p>
                      <a:r>
                        <a:rPr sz="1000">
                          <a:solidFill>
                            <a:srgbClr val="1A1A2E"/>
                          </a:solidFill>
                          <a:latin typeface="Calibri"/>
                        </a:rPr>
                        <a:t>Gemini 2.0 Flash</a:t>
                      </a:r>
                    </a:p>
                  </a:txBody>
                  <a:tcPr>
                    <a:solidFill>
                      <a:srgbClr val="F8F9FF"/>
                    </a:solidFill>
                  </a:tcPr>
                </a:tc>
                <a:tc>
                  <a:txBody>
                    <a:bodyPr/>
                    <a:lstStyle/>
                    <a:p>
                      <a:r>
                        <a:rPr sz="1000">
                          <a:solidFill>
                            <a:srgbClr val="1A1A2E"/>
                          </a:solidFill>
                          <a:latin typeface="Calibri"/>
                        </a:rPr>
                        <a:t>GPT-4.1-mini</a:t>
                      </a:r>
                    </a:p>
                  </a:txBody>
                  <a:tcPr>
                    <a:solidFill>
                      <a:srgbClr val="F8F9FF"/>
                    </a:solidFill>
                  </a:tcPr>
                </a:tc>
                <a:tc>
                  <a:txBody>
                    <a:bodyPr/>
                    <a:lstStyle/>
                    <a:p>
                      <a:r>
                        <a:rPr sz="1000">
                          <a:solidFill>
                            <a:srgbClr val="1A1A2E"/>
                          </a:solidFill>
                          <a:latin typeface="Calibri"/>
                        </a:rPr>
                        <a:t>Cheap + fast at scale</a:t>
                      </a:r>
                    </a:p>
                  </a:txBody>
                  <a:tcPr>
                    <a:solidFill>
                      <a:srgbClr val="F8F9FF"/>
                    </a:solidFill>
                  </a:tcPr>
                </a:tc>
              </a:tr>
              <a:tr h="329184">
                <a:tc>
                  <a:txBody>
                    <a:bodyPr/>
                    <a:lstStyle/>
                    <a:p>
                      <a:r>
                        <a:rPr sz="1000">
                          <a:solidFill>
                            <a:srgbClr val="1A1A2E"/>
                          </a:solidFill>
                          <a:latin typeface="Calibri"/>
                        </a:rPr>
                        <a:t>Software development &amp; coding</a:t>
                      </a:r>
                    </a:p>
                  </a:txBody>
                  <a:tcPr>
                    <a:solidFill>
                      <a:srgbClr val="FFFFFF"/>
                    </a:solidFill>
                  </a:tcPr>
                </a:tc>
                <a:tc>
                  <a:txBody>
                    <a:bodyPr/>
                    <a:lstStyle/>
                    <a:p>
                      <a:r>
                        <a:rPr sz="1000">
                          <a:solidFill>
                            <a:srgbClr val="1A1A2E"/>
                          </a:solidFill>
                          <a:latin typeface="Calibri"/>
                        </a:rPr>
                        <a:t>Claude 3.7 Sonnet</a:t>
                      </a:r>
                    </a:p>
                  </a:txBody>
                  <a:tcPr>
                    <a:solidFill>
                      <a:srgbClr val="FFFFFF"/>
                    </a:solidFill>
                  </a:tcPr>
                </a:tc>
                <a:tc>
                  <a:txBody>
                    <a:bodyPr/>
                    <a:lstStyle/>
                    <a:p>
                      <a:r>
                        <a:rPr sz="1000">
                          <a:solidFill>
                            <a:srgbClr val="1A1A2E"/>
                          </a:solidFill>
                          <a:latin typeface="Calibri"/>
                        </a:rPr>
                        <a:t>GPT-4.1</a:t>
                      </a:r>
                    </a:p>
                  </a:txBody>
                  <a:tcPr>
                    <a:solidFill>
                      <a:srgbClr val="FFFFFF"/>
                    </a:solidFill>
                  </a:tcPr>
                </a:tc>
                <a:tc>
                  <a:txBody>
                    <a:bodyPr/>
                    <a:lstStyle/>
                    <a:p>
                      <a:r>
                        <a:rPr sz="1000">
                          <a:solidFill>
                            <a:srgbClr val="1A1A2E"/>
                          </a:solidFill>
                          <a:latin typeface="Calibri"/>
                        </a:rPr>
                        <a:t>Consistently #1 on coding benchmarks</a:t>
                      </a:r>
                    </a:p>
                  </a:txBody>
                  <a:tcPr>
                    <a:solidFill>
                      <a:srgbClr val="FFFFFF"/>
                    </a:solidFill>
                  </a:tcPr>
                </a:tc>
              </a:tr>
              <a:tr h="329184">
                <a:tc>
                  <a:txBody>
                    <a:bodyPr/>
                    <a:lstStyle/>
                    <a:p>
                      <a:r>
                        <a:rPr sz="1000">
                          <a:solidFill>
                            <a:srgbClr val="1A1A2E"/>
                          </a:solidFill>
                          <a:latin typeface="Calibri"/>
                        </a:rPr>
                        <a:t>Very long documents (&gt;100K words)</a:t>
                      </a:r>
                    </a:p>
                  </a:txBody>
                  <a:tcPr>
                    <a:solidFill>
                      <a:srgbClr val="F8F9FF"/>
                    </a:solidFill>
                  </a:tcPr>
                </a:tc>
                <a:tc>
                  <a:txBody>
                    <a:bodyPr/>
                    <a:lstStyle/>
                    <a:p>
                      <a:r>
                        <a:rPr sz="1000">
                          <a:solidFill>
                            <a:srgbClr val="1A1A2E"/>
                          </a:solidFill>
                          <a:latin typeface="Calibri"/>
                        </a:rPr>
                        <a:t>Gemini 2.5 Pro</a:t>
                      </a:r>
                    </a:p>
                  </a:txBody>
                  <a:tcPr>
                    <a:solidFill>
                      <a:srgbClr val="F8F9FF"/>
                    </a:solidFill>
                  </a:tcPr>
                </a:tc>
                <a:tc>
                  <a:txBody>
                    <a:bodyPr/>
                    <a:lstStyle/>
                    <a:p>
                      <a:r>
                        <a:rPr sz="1000">
                          <a:solidFill>
                            <a:srgbClr val="1A1A2E"/>
                          </a:solidFill>
                          <a:latin typeface="Calibri"/>
                        </a:rPr>
                        <a:t>Claude 3.7</a:t>
                      </a:r>
                    </a:p>
                  </a:txBody>
                  <a:tcPr>
                    <a:solidFill>
                      <a:srgbClr val="F8F9FF"/>
                    </a:solidFill>
                  </a:tcPr>
                </a:tc>
                <a:tc>
                  <a:txBody>
                    <a:bodyPr/>
                    <a:lstStyle/>
                    <a:p>
                      <a:r>
                        <a:rPr sz="1000">
                          <a:solidFill>
                            <a:srgbClr val="1A1A2E"/>
                          </a:solidFill>
                          <a:latin typeface="Calibri"/>
                        </a:rPr>
                        <a:t>1M token context window</a:t>
                      </a:r>
                    </a:p>
                  </a:txBody>
                  <a:tcPr>
                    <a:solidFill>
                      <a:srgbClr val="F8F9FF"/>
                    </a:solidFill>
                  </a:tcPr>
                </a:tc>
              </a:tr>
              <a:tr h="329184">
                <a:tc>
                  <a:txBody>
                    <a:bodyPr/>
                    <a:lstStyle/>
                    <a:p>
                      <a:r>
                        <a:rPr sz="1000">
                          <a:solidFill>
                            <a:srgbClr val="1A1A2E"/>
                          </a:solidFill>
                          <a:latin typeface="Calibri"/>
                        </a:rPr>
                        <a:t>Sensitive / regulated data</a:t>
                      </a:r>
                    </a:p>
                  </a:txBody>
                  <a:tcPr>
                    <a:solidFill>
                      <a:srgbClr val="FFFFFF"/>
                    </a:solidFill>
                  </a:tcPr>
                </a:tc>
                <a:tc>
                  <a:txBody>
                    <a:bodyPr/>
                    <a:lstStyle/>
                    <a:p>
                      <a:r>
                        <a:rPr sz="1000">
                          <a:solidFill>
                            <a:srgbClr val="1A1A2E"/>
                          </a:solidFill>
                          <a:latin typeface="Calibri"/>
                        </a:rPr>
                        <a:t>Llama 4 / Phi-4 (local)</a:t>
                      </a:r>
                    </a:p>
                  </a:txBody>
                  <a:tcPr>
                    <a:solidFill>
                      <a:srgbClr val="FFFFFF"/>
                    </a:solidFill>
                  </a:tcPr>
                </a:tc>
                <a:tc>
                  <a:txBody>
                    <a:bodyPr/>
                    <a:lstStyle/>
                    <a:p>
                      <a:r>
                        <a:rPr sz="1000">
                          <a:solidFill>
                            <a:srgbClr val="1A1A2E"/>
                          </a:solidFill>
                          <a:latin typeface="Calibri"/>
                        </a:rPr>
                        <a:t>Mistral (self-hosted)</a:t>
                      </a:r>
                    </a:p>
                  </a:txBody>
                  <a:tcPr>
                    <a:solidFill>
                      <a:srgbClr val="FFFFFF"/>
                    </a:solidFill>
                  </a:tcPr>
                </a:tc>
                <a:tc>
                  <a:txBody>
                    <a:bodyPr/>
                    <a:lstStyle/>
                    <a:p>
                      <a:r>
                        <a:rPr sz="1000">
                          <a:solidFill>
                            <a:srgbClr val="1A1A2E"/>
                          </a:solidFill>
                          <a:latin typeface="Calibri"/>
                        </a:rPr>
                        <a:t>Data never leaves your infrastructure</a:t>
                      </a:r>
                    </a:p>
                  </a:txBody>
                  <a:tcPr>
                    <a:solidFill>
                      <a:srgbClr val="FFFFFF"/>
                    </a:solidFill>
                  </a:tcPr>
                </a:tc>
              </a:tr>
            </a:tbl>
          </a:graphicData>
        </a:graphic>
      </p:graphicFrame>
      <p:sp>
        <p:nvSpPr>
          <p:cNvPr id="12" name="TextBox 11"/>
          <p:cNvSpPr txBox="1"/>
          <p:nvPr/>
        </p:nvSpPr>
        <p:spPr>
          <a:xfrm>
            <a:off x="502920" y="3803904"/>
            <a:ext cx="6400800" cy="2642616"/>
          </a:xfrm>
          <a:prstGeom prst="rect">
            <a:avLst/>
          </a:prstGeom>
          <a:noFill/>
        </p:spPr>
        <p:txBody>
          <a:bodyPr wrap="square">
            <a:spAutoFit/>
          </a:bodyPr>
          <a:lstStyle/>
          <a:p>
            <a:pPr>
              <a:spcBef>
                <a:spcPts val="300"/>
              </a:spcBef>
              <a:spcAft>
                <a:spcPts val="200"/>
              </a:spcAft>
            </a:pPr>
            <a:r>
              <a:rPr sz="1200" b="0">
                <a:solidFill>
                  <a:srgbClr val="2D3748"/>
                </a:solidFill>
                <a:latin typeface="Calibri"/>
              </a:rPr>
              <a:t>Step 2: Apply constraint filters</a:t>
            </a:r>
          </a:p>
          <a:p>
            <a:pPr>
              <a:spcBef>
                <a:spcPts val="300"/>
              </a:spcBef>
              <a:spcAft>
                <a:spcPts val="200"/>
              </a:spcAft>
            </a:pPr>
            <a:r>
              <a:rPr sz="1300">
                <a:solidFill>
                  <a:srgbClr val="0EA5E9"/>
                </a:solidFill>
                <a:latin typeface="Calibri"/>
              </a:rPr>
              <a:t>• </a:t>
            </a:r>
            <a:r>
              <a:rPr sz="1300" b="0">
                <a:solidFill>
                  <a:srgbClr val="1A1A2E"/>
                </a:solidFill>
                <a:latin typeface="Calibri"/>
              </a:rPr>
              <a:t>Is data sensitive or regulated? → Self-hosted open source (Llama, Phi-4, Mistral)</a:t>
            </a:r>
          </a:p>
          <a:p>
            <a:pPr>
              <a:spcBef>
                <a:spcPts val="300"/>
              </a:spcBef>
              <a:spcAft>
                <a:spcPts val="200"/>
              </a:spcAft>
            </a:pPr>
            <a:r>
              <a:rPr sz="1300">
                <a:solidFill>
                  <a:srgbClr val="0EA5E9"/>
                </a:solidFill>
                <a:latin typeface="Calibri"/>
              </a:rPr>
              <a:t>• </a:t>
            </a:r>
            <a:r>
              <a:rPr sz="1300" b="0">
                <a:solidFill>
                  <a:srgbClr val="1A1A2E"/>
                </a:solidFill>
                <a:latin typeface="Calibri"/>
              </a:rPr>
              <a:t>Is cost per call the primary constraint? → Flash / Haiku / o4-mini tier</a:t>
            </a:r>
          </a:p>
          <a:p>
            <a:pPr>
              <a:spcBef>
                <a:spcPts val="300"/>
              </a:spcBef>
              <a:spcAft>
                <a:spcPts val="200"/>
              </a:spcAft>
            </a:pPr>
            <a:r>
              <a:rPr sz="1300">
                <a:solidFill>
                  <a:srgbClr val="0EA5E9"/>
                </a:solidFill>
                <a:latin typeface="Calibri"/>
              </a:rPr>
              <a:t>• </a:t>
            </a:r>
            <a:r>
              <a:rPr sz="1300" b="0">
                <a:solidFill>
                  <a:srgbClr val="1A1A2E"/>
                </a:solidFill>
                <a:latin typeface="Calibri"/>
              </a:rPr>
              <a:t>Does quality of reasoning matter most? → o3, Claude 3.7 extended thinking, Gemini 2.5 Pro</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34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926080"/>
            <a:ext cx="12191695" cy="73152"/>
          </a:xfrm>
          <a:prstGeom prst="rect">
            <a:avLst/>
          </a:prstGeom>
          <a:solidFill>
            <a:srgbClr val="0EA5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1920240"/>
            <a:ext cx="10058400" cy="640080"/>
          </a:xfrm>
          <a:prstGeom prst="rect">
            <a:avLst/>
          </a:prstGeom>
          <a:noFill/>
        </p:spPr>
        <p:txBody>
          <a:bodyPr wrap="none">
            <a:spAutoFit/>
          </a:bodyPr>
          <a:lstStyle/>
          <a:p>
            <a:r>
              <a:rPr sz="2200" b="1">
                <a:solidFill>
                  <a:srgbClr val="0EA5E9"/>
                </a:solidFill>
                <a:latin typeface="Calibri"/>
              </a:rPr>
              <a:t>Section 2</a:t>
            </a:r>
          </a:p>
        </p:txBody>
      </p:sp>
      <p:sp>
        <p:nvSpPr>
          <p:cNvPr id="5" name="TextBox 4"/>
          <p:cNvSpPr txBox="1"/>
          <p:nvPr/>
        </p:nvSpPr>
        <p:spPr>
          <a:xfrm>
            <a:off x="914400" y="2606040"/>
            <a:ext cx="10058400" cy="1097280"/>
          </a:xfrm>
          <a:prstGeom prst="rect">
            <a:avLst/>
          </a:prstGeom>
          <a:noFill/>
        </p:spPr>
        <p:txBody>
          <a:bodyPr wrap="none">
            <a:spAutoFit/>
          </a:bodyPr>
          <a:lstStyle/>
          <a:p>
            <a:r>
              <a:rPr sz="3600" b="1">
                <a:solidFill>
                  <a:srgbClr val="FFFFFF"/>
                </a:solidFill>
                <a:latin typeface="Calibri"/>
              </a:rPr>
              <a:t>AI Agent Frameworks &amp; MCP</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234440"/>
          </a:xfrm>
          <a:prstGeom prst="rect">
            <a:avLst/>
          </a:prstGeom>
          <a:solidFill>
            <a:srgbClr val="1621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91440"/>
            <a:ext cx="11368735" cy="658368"/>
          </a:xfrm>
          <a:prstGeom prst="rect">
            <a:avLst/>
          </a:prstGeom>
          <a:noFill/>
        </p:spPr>
        <p:txBody>
          <a:bodyPr wrap="square">
            <a:spAutoFit/>
          </a:bodyPr>
          <a:lstStyle/>
          <a:p>
            <a:r>
              <a:rPr sz="2700" b="1">
                <a:solidFill>
                  <a:srgbClr val="FFFFFF"/>
                </a:solidFill>
                <a:latin typeface="Calibri"/>
              </a:rPr>
              <a:t>The Rise of Agentic AI</a:t>
            </a:r>
          </a:p>
        </p:txBody>
      </p:sp>
      <p:sp>
        <p:nvSpPr>
          <p:cNvPr id="5" name="TextBox 4"/>
          <p:cNvSpPr txBox="1"/>
          <p:nvPr/>
        </p:nvSpPr>
        <p:spPr>
          <a:xfrm>
            <a:off x="411480" y="749808"/>
            <a:ext cx="11368735" cy="402336"/>
          </a:xfrm>
          <a:prstGeom prst="rect">
            <a:avLst/>
          </a:prstGeom>
          <a:noFill/>
        </p:spPr>
        <p:txBody>
          <a:bodyPr wrap="none">
            <a:spAutoFit/>
          </a:bodyPr>
          <a:lstStyle/>
          <a:p>
            <a:r>
              <a:rPr sz="1500">
                <a:solidFill>
                  <a:srgbClr val="0EA5E9"/>
                </a:solidFill>
                <a:latin typeface="Calibri"/>
              </a:rPr>
              <a:t>From "Answer Me" to "Do This For Me"</a:t>
            </a:r>
          </a:p>
        </p:txBody>
      </p:sp>
      <p:sp>
        <p:nvSpPr>
          <p:cNvPr id="6" name="Rectangle 5"/>
          <p:cNvSpPr/>
          <p:nvPr/>
        </p:nvSpPr>
        <p:spPr>
          <a:xfrm>
            <a:off x="0" y="1234440"/>
            <a:ext cx="12191695" cy="36576"/>
          </a:xfrm>
          <a:prstGeom prst="rect">
            <a:avLst/>
          </a:prstGeom>
          <a:solidFill>
            <a:srgbClr val="0EA5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1551615" y="6537960"/>
            <a:ext cx="502920" cy="256032"/>
          </a:xfrm>
          <a:prstGeom prst="rect">
            <a:avLst/>
          </a:prstGeom>
          <a:noFill/>
        </p:spPr>
        <p:txBody>
          <a:bodyPr wrap="none">
            <a:spAutoFit/>
          </a:bodyPr>
          <a:lstStyle/>
          <a:p>
            <a:pPr algn="ctr"/>
            <a:r>
              <a:rPr sz="1000">
                <a:solidFill>
                  <a:srgbClr val="AAAABB"/>
                </a:solidFill>
                <a:latin typeface="Calibri"/>
              </a:rPr>
              <a:t>7</a:t>
            </a:r>
          </a:p>
        </p:txBody>
      </p:sp>
      <p:sp>
        <p:nvSpPr>
          <p:cNvPr id="8" name="Rectangle 7"/>
          <p:cNvSpPr/>
          <p:nvPr/>
        </p:nvSpPr>
        <p:spPr>
          <a:xfrm>
            <a:off x="6949440" y="1353312"/>
            <a:ext cx="18288" cy="5257800"/>
          </a:xfrm>
          <a:prstGeom prst="rect">
            <a:avLst/>
          </a:prstGeom>
          <a:solidFill>
            <a:srgbClr val="DDDD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slide_07_chart.png"/>
          <p:cNvPicPr>
            <a:picLocks noChangeAspect="1"/>
          </p:cNvPicPr>
          <p:nvPr/>
        </p:nvPicPr>
        <p:blipFill>
          <a:blip r:embed="rId2"/>
          <a:stretch>
            <a:fillRect/>
          </a:stretch>
        </p:blipFill>
        <p:spPr>
          <a:xfrm>
            <a:off x="7040880" y="1444752"/>
            <a:ext cx="4663440" cy="5074920"/>
          </a:xfrm>
          <a:prstGeom prst="rect">
            <a:avLst/>
          </a:prstGeom>
        </p:spPr>
      </p:pic>
      <p:sp>
        <p:nvSpPr>
          <p:cNvPr id="10" name="TextBox 9"/>
          <p:cNvSpPr txBox="1"/>
          <p:nvPr/>
        </p:nvSpPr>
        <p:spPr>
          <a:xfrm>
            <a:off x="502920" y="1353312"/>
            <a:ext cx="6400800" cy="5093208"/>
          </a:xfrm>
          <a:prstGeom prst="rect">
            <a:avLst/>
          </a:prstGeom>
          <a:noFill/>
        </p:spPr>
        <p:txBody>
          <a:bodyPr wrap="square">
            <a:spAutoFit/>
          </a:bodyPr>
          <a:lstStyle/>
          <a:p>
            <a:pPr>
              <a:spcBef>
                <a:spcPts val="300"/>
              </a:spcBef>
              <a:spcAft>
                <a:spcPts val="200"/>
              </a:spcAft>
            </a:pPr>
            <a:r>
              <a:rPr sz="1300" b="1">
                <a:solidFill>
                  <a:srgbClr val="0F3460"/>
                </a:solidFill>
                <a:latin typeface="Calibri"/>
              </a:rPr>
              <a:t>The fundamental shift:</a:t>
            </a:r>
          </a:p>
        </p:txBody>
      </p:sp>
      <p:graphicFrame>
        <p:nvGraphicFramePr>
          <p:cNvPr id="11" name="Table 10"/>
          <p:cNvGraphicFramePr>
            <a:graphicFrameLocks noGrp="1"/>
          </p:cNvGraphicFramePr>
          <p:nvPr/>
        </p:nvGraphicFramePr>
        <p:xfrm>
          <a:off x="502920" y="1737360"/>
          <a:ext cx="6400800" cy="1975104"/>
        </p:xfrm>
        <a:graphic>
          <a:graphicData uri="http://schemas.openxmlformats.org/drawingml/2006/table">
            <a:tbl>
              <a:tblPr firstRow="1" bandRow="1">
                <a:tableStyleId>{5C22544A-7EE6-4342-B048-85BDC9FD1C3A}</a:tableStyleId>
              </a:tblPr>
              <a:tblGrid>
                <a:gridCol w="2133600"/>
                <a:gridCol w="2133600"/>
                <a:gridCol w="2133600"/>
              </a:tblGrid>
              <a:tr h="329184">
                <a:tc>
                  <a:txBody>
                    <a:bodyPr/>
                    <a:lstStyle/>
                    <a:p>
                      <a:pPr algn="l"/>
                      <a:r>
                        <a:rPr sz="1000" b="1">
                          <a:solidFill>
                            <a:srgbClr val="FFFFFF"/>
                          </a:solidFill>
                          <a:latin typeface="Calibri"/>
                        </a:rPr>
                        <a:t>Dimension</a:t>
                      </a:r>
                    </a:p>
                  </a:txBody>
                  <a:tcPr>
                    <a:solidFill>
                      <a:srgbClr val="16213E"/>
                    </a:solidFill>
                  </a:tcPr>
                </a:tc>
                <a:tc>
                  <a:txBody>
                    <a:bodyPr/>
                    <a:lstStyle/>
                    <a:p>
                      <a:pPr algn="l"/>
                      <a:r>
                        <a:rPr sz="1000" b="1">
                          <a:solidFill>
                            <a:srgbClr val="FFFFFF"/>
                          </a:solidFill>
                          <a:latin typeface="Calibri"/>
                        </a:rPr>
                        <a:t>Chatbot (2022–2024)</a:t>
                      </a:r>
                    </a:p>
                  </a:txBody>
                  <a:tcPr>
                    <a:solidFill>
                      <a:srgbClr val="16213E"/>
                    </a:solidFill>
                  </a:tcPr>
                </a:tc>
                <a:tc>
                  <a:txBody>
                    <a:bodyPr/>
                    <a:lstStyle/>
                    <a:p>
                      <a:pPr algn="l"/>
                      <a:r>
                        <a:rPr sz="1000" b="1">
                          <a:solidFill>
                            <a:srgbClr val="FFFFFF"/>
                          </a:solidFill>
                          <a:latin typeface="Calibri"/>
                        </a:rPr>
                        <a:t>AI Agent (2025–2026)</a:t>
                      </a:r>
                    </a:p>
                  </a:txBody>
                  <a:tcPr>
                    <a:solidFill>
                      <a:srgbClr val="16213E"/>
                    </a:solidFill>
                  </a:tcPr>
                </a:tc>
              </a:tr>
              <a:tr h="329184">
                <a:tc>
                  <a:txBody>
                    <a:bodyPr/>
                    <a:lstStyle/>
                    <a:p>
                      <a:r>
                        <a:rPr sz="1000">
                          <a:solidFill>
                            <a:srgbClr val="1A1A2E"/>
                          </a:solidFill>
                          <a:latin typeface="Calibri"/>
                        </a:rPr>
                        <a:t>What you give it</a:t>
                      </a:r>
                    </a:p>
                  </a:txBody>
                  <a:tcPr>
                    <a:solidFill>
                      <a:srgbClr val="FFFFFF"/>
                    </a:solidFill>
                  </a:tcPr>
                </a:tc>
                <a:tc>
                  <a:txBody>
                    <a:bodyPr/>
                    <a:lstStyle/>
                    <a:p>
                      <a:r>
                        <a:rPr sz="1000">
                          <a:solidFill>
                            <a:srgbClr val="1A1A2E"/>
                          </a:solidFill>
                          <a:latin typeface="Calibri"/>
                        </a:rPr>
                        <a:t>A question</a:t>
                      </a:r>
                    </a:p>
                  </a:txBody>
                  <a:tcPr>
                    <a:solidFill>
                      <a:srgbClr val="FFFFFF"/>
                    </a:solidFill>
                  </a:tcPr>
                </a:tc>
                <a:tc>
                  <a:txBody>
                    <a:bodyPr/>
                    <a:lstStyle/>
                    <a:p>
                      <a:r>
                        <a:rPr sz="1000">
                          <a:solidFill>
                            <a:srgbClr val="1A1A2E"/>
                          </a:solidFill>
                          <a:latin typeface="Calibri"/>
                        </a:rPr>
                        <a:t>A goal or task</a:t>
                      </a:r>
                    </a:p>
                  </a:txBody>
                  <a:tcPr>
                    <a:solidFill>
                      <a:srgbClr val="FFFFFF"/>
                    </a:solidFill>
                  </a:tcPr>
                </a:tc>
              </a:tr>
              <a:tr h="329184">
                <a:tc>
                  <a:txBody>
                    <a:bodyPr/>
                    <a:lstStyle/>
                    <a:p>
                      <a:r>
                        <a:rPr sz="1000">
                          <a:solidFill>
                            <a:srgbClr val="1A1A2E"/>
                          </a:solidFill>
                          <a:latin typeface="Calibri"/>
                        </a:rPr>
                        <a:t>What it returns</a:t>
                      </a:r>
                    </a:p>
                  </a:txBody>
                  <a:tcPr>
                    <a:solidFill>
                      <a:srgbClr val="F8F9FF"/>
                    </a:solidFill>
                  </a:tcPr>
                </a:tc>
                <a:tc>
                  <a:txBody>
                    <a:bodyPr/>
                    <a:lstStyle/>
                    <a:p>
                      <a:r>
                        <a:rPr sz="1000">
                          <a:solidFill>
                            <a:srgbClr val="1A1A2E"/>
                          </a:solidFill>
                          <a:latin typeface="Calibri"/>
                        </a:rPr>
                        <a:t>Text</a:t>
                      </a:r>
                    </a:p>
                  </a:txBody>
                  <a:tcPr>
                    <a:solidFill>
                      <a:srgbClr val="F8F9FF"/>
                    </a:solidFill>
                  </a:tcPr>
                </a:tc>
                <a:tc>
                  <a:txBody>
                    <a:bodyPr/>
                    <a:lstStyle/>
                    <a:p>
                      <a:r>
                        <a:rPr sz="1000">
                          <a:solidFill>
                            <a:srgbClr val="1A1A2E"/>
                          </a:solidFill>
                          <a:latin typeface="Calibri"/>
                        </a:rPr>
                        <a:t>A completed result</a:t>
                      </a:r>
                    </a:p>
                  </a:txBody>
                  <a:tcPr>
                    <a:solidFill>
                      <a:srgbClr val="F8F9FF"/>
                    </a:solidFill>
                  </a:tcPr>
                </a:tc>
              </a:tr>
              <a:tr h="329184">
                <a:tc>
                  <a:txBody>
                    <a:bodyPr/>
                    <a:lstStyle/>
                    <a:p>
                      <a:r>
                        <a:rPr sz="1000">
                          <a:solidFill>
                            <a:srgbClr val="1A1A2E"/>
                          </a:solidFill>
                          <a:latin typeface="Calibri"/>
                        </a:rPr>
                        <a:t>How it works</a:t>
                      </a:r>
                    </a:p>
                  </a:txBody>
                  <a:tcPr>
                    <a:solidFill>
                      <a:srgbClr val="FFFFFF"/>
                    </a:solidFill>
                  </a:tcPr>
                </a:tc>
                <a:tc>
                  <a:txBody>
                    <a:bodyPr/>
                    <a:lstStyle/>
                    <a:p>
                      <a:r>
                        <a:rPr sz="1000">
                          <a:solidFill>
                            <a:srgbClr val="1A1A2E"/>
                          </a:solidFill>
                          <a:latin typeface="Calibri"/>
                        </a:rPr>
                        <a:t>One round of input/output</a:t>
                      </a:r>
                    </a:p>
                  </a:txBody>
                  <a:tcPr>
                    <a:solidFill>
                      <a:srgbClr val="FFFFFF"/>
                    </a:solidFill>
                  </a:tcPr>
                </a:tc>
                <a:tc>
                  <a:txBody>
                    <a:bodyPr/>
                    <a:lstStyle/>
                    <a:p>
                      <a:r>
                        <a:rPr sz="1000">
                          <a:solidFill>
                            <a:srgbClr val="1A1A2E"/>
                          </a:solidFill>
                          <a:latin typeface="Calibri"/>
                        </a:rPr>
                        <a:t>Plans, uses tools, iterates, adapts</a:t>
                      </a:r>
                    </a:p>
                  </a:txBody>
                  <a:tcPr>
                    <a:solidFill>
                      <a:srgbClr val="FFFFFF"/>
                    </a:solidFill>
                  </a:tcPr>
                </a:tc>
              </a:tr>
              <a:tr h="329184">
                <a:tc>
                  <a:txBody>
                    <a:bodyPr/>
                    <a:lstStyle/>
                    <a:p>
                      <a:r>
                        <a:rPr sz="1000">
                          <a:solidFill>
                            <a:srgbClr val="1A1A2E"/>
                          </a:solidFill>
                          <a:latin typeface="Calibri"/>
                        </a:rPr>
                        <a:t>Memory</a:t>
                      </a:r>
                    </a:p>
                  </a:txBody>
                  <a:tcPr>
                    <a:solidFill>
                      <a:srgbClr val="F8F9FF"/>
                    </a:solidFill>
                  </a:tcPr>
                </a:tc>
                <a:tc>
                  <a:txBody>
                    <a:bodyPr/>
                    <a:lstStyle/>
                    <a:p>
                      <a:r>
                        <a:rPr sz="1000">
                          <a:solidFill>
                            <a:srgbClr val="1A1A2E"/>
                          </a:solidFill>
                          <a:latin typeface="Calibri"/>
                        </a:rPr>
                        <a:t>Single session only</a:t>
                      </a:r>
                    </a:p>
                  </a:txBody>
                  <a:tcPr>
                    <a:solidFill>
                      <a:srgbClr val="F8F9FF"/>
                    </a:solidFill>
                  </a:tcPr>
                </a:tc>
                <a:tc>
                  <a:txBody>
                    <a:bodyPr/>
                    <a:lstStyle/>
                    <a:p>
                      <a:r>
                        <a:rPr sz="1000">
                          <a:solidFill>
                            <a:srgbClr val="1A1A2E"/>
                          </a:solidFill>
                          <a:latin typeface="Calibri"/>
                        </a:rPr>
                        <a:t>Persistent across steps and sessions</a:t>
                      </a:r>
                    </a:p>
                  </a:txBody>
                  <a:tcPr>
                    <a:solidFill>
                      <a:srgbClr val="F8F9FF"/>
                    </a:solidFill>
                  </a:tcPr>
                </a:tc>
              </a:tr>
              <a:tr h="329184">
                <a:tc>
                  <a:txBody>
                    <a:bodyPr/>
                    <a:lstStyle/>
                    <a:p>
                      <a:r>
                        <a:rPr sz="1000">
                          <a:solidFill>
                            <a:srgbClr val="1A1A2E"/>
                          </a:solidFill>
                          <a:latin typeface="Calibri"/>
                        </a:rPr>
                        <a:t>Tools available</a:t>
                      </a:r>
                    </a:p>
                  </a:txBody>
                  <a:tcPr>
                    <a:solidFill>
                      <a:srgbClr val="FFFFFF"/>
                    </a:solidFill>
                  </a:tcPr>
                </a:tc>
                <a:tc>
                  <a:txBody>
                    <a:bodyPr/>
                    <a:lstStyle/>
                    <a:p>
                      <a:r>
                        <a:rPr sz="1000">
                          <a:solidFill>
                            <a:srgbClr val="1A1A2E"/>
                          </a:solidFill>
                          <a:latin typeface="Calibri"/>
                        </a:rPr>
                        <a:t>None (or limited search)</a:t>
                      </a:r>
                    </a:p>
                  </a:txBody>
                  <a:tcPr>
                    <a:solidFill>
                      <a:srgbClr val="FFFFFF"/>
                    </a:solidFill>
                  </a:tcPr>
                </a:tc>
                <a:tc>
                  <a:txBody>
                    <a:bodyPr/>
                    <a:lstStyle/>
                    <a:p>
                      <a:r>
                        <a:rPr sz="1000">
                          <a:solidFill>
                            <a:srgbClr val="1A1A2E"/>
                          </a:solidFill>
                          <a:latin typeface="Calibri"/>
                        </a:rPr>
                        <a:t>Web, code execution, files, APIs, databases, email</a:t>
                      </a:r>
                    </a:p>
                  </a:txBody>
                  <a:tcPr>
                    <a:solidFill>
                      <a:srgbClr val="FFFFFF"/>
                    </a:solidFill>
                  </a:tcPr>
                </a:tc>
              </a:tr>
            </a:tbl>
          </a:graphicData>
        </a:graphic>
      </p:graphicFrame>
      <p:sp>
        <p:nvSpPr>
          <p:cNvPr id="12" name="TextBox 11"/>
          <p:cNvSpPr txBox="1"/>
          <p:nvPr/>
        </p:nvSpPr>
        <p:spPr>
          <a:xfrm>
            <a:off x="502920" y="3803904"/>
            <a:ext cx="6400800" cy="2642616"/>
          </a:xfrm>
          <a:prstGeom prst="rect">
            <a:avLst/>
          </a:prstGeom>
          <a:noFill/>
        </p:spPr>
        <p:txBody>
          <a:bodyPr wrap="square">
            <a:spAutoFit/>
          </a:bodyPr>
          <a:lstStyle/>
          <a:p>
            <a:pPr>
              <a:spcBef>
                <a:spcPts val="300"/>
              </a:spcBef>
              <a:spcAft>
                <a:spcPts val="200"/>
              </a:spcAft>
            </a:pPr>
            <a:r>
              <a:rPr sz="1300" b="1">
                <a:solidFill>
                  <a:srgbClr val="0F3460"/>
                </a:solidFill>
                <a:latin typeface="Calibri"/>
              </a:rPr>
              <a:t>The agent loop — how every agent framework works:</a:t>
            </a:r>
          </a:p>
          <a:p>
            <a:pPr>
              <a:spcBef>
                <a:spcPts val="300"/>
              </a:spcBef>
              <a:spcAft>
                <a:spcPts val="200"/>
              </a:spcAft>
            </a:pPr>
            <a:r>
              <a:rPr sz="1300">
                <a:solidFill>
                  <a:srgbClr val="0EA5E9"/>
                </a:solidFill>
                <a:latin typeface="Calibri"/>
              </a:rPr>
              <a:t>• </a:t>
            </a:r>
            <a:r>
              <a:rPr sz="1300" b="0">
                <a:solidFill>
                  <a:srgbClr val="1A1A2E"/>
                </a:solidFill>
                <a:latin typeface="Calibri"/>
              </a:rPr>
              <a:t>Receive the task and break it into steps</a:t>
            </a:r>
          </a:p>
          <a:p>
            <a:pPr>
              <a:spcBef>
                <a:spcPts val="300"/>
              </a:spcBef>
              <a:spcAft>
                <a:spcPts val="200"/>
              </a:spcAft>
            </a:pPr>
            <a:r>
              <a:rPr sz="1300">
                <a:solidFill>
                  <a:srgbClr val="0EA5E9"/>
                </a:solidFill>
                <a:latin typeface="Calibri"/>
              </a:rPr>
              <a:t>• </a:t>
            </a:r>
            <a:r>
              <a:rPr sz="1300" b="0">
                <a:solidFill>
                  <a:srgbClr val="1A1A2E"/>
                </a:solidFill>
                <a:latin typeface="Calibri"/>
              </a:rPr>
              <a:t>Select the right tool for each step</a:t>
            </a:r>
          </a:p>
          <a:p>
            <a:pPr>
              <a:spcBef>
                <a:spcPts val="300"/>
              </a:spcBef>
              <a:spcAft>
                <a:spcPts val="200"/>
              </a:spcAft>
            </a:pPr>
            <a:r>
              <a:rPr sz="1300">
                <a:solidFill>
                  <a:srgbClr val="0EA5E9"/>
                </a:solidFill>
                <a:latin typeface="Calibri"/>
              </a:rPr>
              <a:t>• </a:t>
            </a:r>
            <a:r>
              <a:rPr sz="1300" b="0">
                <a:solidFill>
                  <a:srgbClr val="1A1A2E"/>
                </a:solidFill>
                <a:latin typeface="Calibri"/>
              </a:rPr>
              <a:t>Execute the tool call and observe the result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234440"/>
          </a:xfrm>
          <a:prstGeom prst="rect">
            <a:avLst/>
          </a:prstGeom>
          <a:solidFill>
            <a:srgbClr val="1621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91440"/>
            <a:ext cx="11368735" cy="658368"/>
          </a:xfrm>
          <a:prstGeom prst="rect">
            <a:avLst/>
          </a:prstGeom>
          <a:noFill/>
        </p:spPr>
        <p:txBody>
          <a:bodyPr wrap="square">
            <a:spAutoFit/>
          </a:bodyPr>
          <a:lstStyle/>
          <a:p>
            <a:r>
              <a:rPr sz="2700" b="1">
                <a:solidFill>
                  <a:srgbClr val="FFFFFF"/>
                </a:solidFill>
                <a:latin typeface="Calibri"/>
              </a:rPr>
              <a:t>Anthropic Claude Agent SDK</a:t>
            </a:r>
          </a:p>
        </p:txBody>
      </p:sp>
      <p:sp>
        <p:nvSpPr>
          <p:cNvPr id="5" name="TextBox 4"/>
          <p:cNvSpPr txBox="1"/>
          <p:nvPr/>
        </p:nvSpPr>
        <p:spPr>
          <a:xfrm>
            <a:off x="411480" y="749808"/>
            <a:ext cx="11368735" cy="402336"/>
          </a:xfrm>
          <a:prstGeom prst="rect">
            <a:avLst/>
          </a:prstGeom>
          <a:noFill/>
        </p:spPr>
        <p:txBody>
          <a:bodyPr wrap="none">
            <a:spAutoFit/>
          </a:bodyPr>
          <a:lstStyle/>
          <a:p>
            <a:r>
              <a:rPr sz="1500">
                <a:solidFill>
                  <a:srgbClr val="0EA5E9"/>
                </a:solidFill>
                <a:latin typeface="Calibri"/>
              </a:rPr>
              <a:t>Building Production Agents with Claude</a:t>
            </a:r>
          </a:p>
        </p:txBody>
      </p:sp>
      <p:sp>
        <p:nvSpPr>
          <p:cNvPr id="6" name="Rectangle 5"/>
          <p:cNvSpPr/>
          <p:nvPr/>
        </p:nvSpPr>
        <p:spPr>
          <a:xfrm>
            <a:off x="0" y="1234440"/>
            <a:ext cx="12191695" cy="36576"/>
          </a:xfrm>
          <a:prstGeom prst="rect">
            <a:avLst/>
          </a:prstGeom>
          <a:solidFill>
            <a:srgbClr val="0EA5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1551615" y="6537960"/>
            <a:ext cx="502920" cy="256032"/>
          </a:xfrm>
          <a:prstGeom prst="rect">
            <a:avLst/>
          </a:prstGeom>
          <a:noFill/>
        </p:spPr>
        <p:txBody>
          <a:bodyPr wrap="none">
            <a:spAutoFit/>
          </a:bodyPr>
          <a:lstStyle/>
          <a:p>
            <a:pPr algn="ctr"/>
            <a:r>
              <a:rPr sz="1000">
                <a:solidFill>
                  <a:srgbClr val="AAAABB"/>
                </a:solidFill>
                <a:latin typeface="Calibri"/>
              </a:rPr>
              <a:t>8</a:t>
            </a:r>
          </a:p>
        </p:txBody>
      </p:sp>
      <p:sp>
        <p:nvSpPr>
          <p:cNvPr id="8" name="TextBox 7"/>
          <p:cNvSpPr txBox="1"/>
          <p:nvPr/>
        </p:nvSpPr>
        <p:spPr>
          <a:xfrm>
            <a:off x="502920" y="1353312"/>
            <a:ext cx="11185855" cy="5093208"/>
          </a:xfrm>
          <a:prstGeom prst="rect">
            <a:avLst/>
          </a:prstGeom>
          <a:noFill/>
        </p:spPr>
        <p:txBody>
          <a:bodyPr wrap="square">
            <a:spAutoFit/>
          </a:bodyPr>
          <a:lstStyle/>
          <a:p>
            <a:pPr>
              <a:spcBef>
                <a:spcPts val="300"/>
              </a:spcBef>
              <a:spcAft>
                <a:spcPts val="200"/>
              </a:spcAft>
            </a:pPr>
            <a:r>
              <a:rPr sz="1300" b="1">
                <a:solidFill>
                  <a:srgbClr val="0F3460"/>
                </a:solidFill>
                <a:latin typeface="Calibri"/>
              </a:rPr>
              <a:t>What makes the Claude Agent SDK powerful:</a:t>
            </a:r>
          </a:p>
          <a:p>
            <a:pPr>
              <a:spcBef>
                <a:spcPts val="300"/>
              </a:spcBef>
              <a:spcAft>
                <a:spcPts val="200"/>
              </a:spcAft>
            </a:pPr>
            <a:r>
              <a:rPr sz="1300">
                <a:solidFill>
                  <a:srgbClr val="0EA5E9"/>
                </a:solidFill>
                <a:latin typeface="Calibri"/>
              </a:rPr>
              <a:t>• </a:t>
            </a:r>
            <a:r>
              <a:rPr sz="1300" b="0">
                <a:solidFill>
                  <a:srgbClr val="1A1A2E"/>
                </a:solidFill>
                <a:latin typeface="Calibri"/>
              </a:rPr>
              <a:t>Tool use: Define any Python function as a tool — the model decides when and how to call it</a:t>
            </a:r>
          </a:p>
          <a:p>
            <a:pPr>
              <a:spcBef>
                <a:spcPts val="300"/>
              </a:spcBef>
              <a:spcAft>
                <a:spcPts val="200"/>
              </a:spcAft>
            </a:pPr>
            <a:r>
              <a:rPr sz="1300">
                <a:solidFill>
                  <a:srgbClr val="0EA5E9"/>
                </a:solidFill>
                <a:latin typeface="Calibri"/>
              </a:rPr>
              <a:t>• </a:t>
            </a:r>
            <a:r>
              <a:rPr sz="1300" b="0">
                <a:solidFill>
                  <a:srgbClr val="1A1A2E"/>
                </a:solidFill>
                <a:latin typeface="Calibri"/>
              </a:rPr>
              <a:t>Extended thinking: Claude reasons step-by-step before using tools, reducing errors on complex tasks</a:t>
            </a:r>
          </a:p>
          <a:p>
            <a:pPr>
              <a:spcBef>
                <a:spcPts val="300"/>
              </a:spcBef>
              <a:spcAft>
                <a:spcPts val="200"/>
              </a:spcAft>
            </a:pPr>
            <a:r>
              <a:rPr sz="1300">
                <a:solidFill>
                  <a:srgbClr val="0EA5E9"/>
                </a:solidFill>
                <a:latin typeface="Calibri"/>
              </a:rPr>
              <a:t>• </a:t>
            </a:r>
            <a:r>
              <a:rPr sz="1300" b="0">
                <a:solidFill>
                  <a:srgbClr val="1A1A2E"/>
                </a:solidFill>
                <a:latin typeface="Calibri"/>
              </a:rPr>
              <a:t>Computer use: Claude can control a real browser — click, type, navigate, take screenshots</a:t>
            </a:r>
          </a:p>
          <a:p>
            <a:pPr>
              <a:spcBef>
                <a:spcPts val="300"/>
              </a:spcBef>
              <a:spcAft>
                <a:spcPts val="200"/>
              </a:spcAft>
            </a:pPr>
            <a:r>
              <a:rPr sz="1300">
                <a:solidFill>
                  <a:srgbClr val="0EA5E9"/>
                </a:solidFill>
                <a:latin typeface="Calibri"/>
              </a:rPr>
              <a:t>• </a:t>
            </a:r>
            <a:r>
              <a:rPr sz="1300" b="0">
                <a:solidFill>
                  <a:srgbClr val="1A1A2E"/>
                </a:solidFill>
                <a:latin typeface="Calibri"/>
              </a:rPr>
              <a:t>Multi-agent: Spawn sub-agents for parallel tasks; orchestrate teams of specialized Claudes</a:t>
            </a:r>
          </a:p>
          <a:p>
            <a:pPr>
              <a:spcBef>
                <a:spcPts val="300"/>
              </a:spcBef>
              <a:spcAft>
                <a:spcPts val="200"/>
              </a:spcAft>
            </a:pPr>
            <a:r>
              <a:rPr sz="1300">
                <a:solidFill>
                  <a:srgbClr val="0EA5E9"/>
                </a:solidFill>
                <a:latin typeface="Calibri"/>
              </a:rPr>
              <a:t>• </a:t>
            </a:r>
            <a:r>
              <a:rPr sz="1300" b="0">
                <a:solidFill>
                  <a:srgbClr val="1A1A2E"/>
                </a:solidFill>
                <a:latin typeface="Calibri"/>
              </a:rPr>
              <a:t>Long context: 200K tokens of working memory — entire codebases, long documents, conversation history</a:t>
            </a:r>
          </a:p>
          <a:p>
            <a:pPr>
              <a:spcBef>
                <a:spcPts val="300"/>
              </a:spcBef>
              <a:spcAft>
                <a:spcPts val="200"/>
              </a:spcAft>
            </a:pPr>
            <a:r>
              <a:rPr sz="1300" b="1">
                <a:solidFill>
                  <a:srgbClr val="0F3460"/>
                </a:solidFill>
                <a:latin typeface="Calibri"/>
              </a:rPr>
              <a:t>Core pattern — tool definition and agent loop:</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234440"/>
          </a:xfrm>
          <a:prstGeom prst="rect">
            <a:avLst/>
          </a:prstGeom>
          <a:solidFill>
            <a:srgbClr val="1621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91440"/>
            <a:ext cx="11368735" cy="658368"/>
          </a:xfrm>
          <a:prstGeom prst="rect">
            <a:avLst/>
          </a:prstGeom>
          <a:noFill/>
        </p:spPr>
        <p:txBody>
          <a:bodyPr wrap="square">
            <a:spAutoFit/>
          </a:bodyPr>
          <a:lstStyle/>
          <a:p>
            <a:r>
              <a:rPr sz="2700" b="1">
                <a:solidFill>
                  <a:srgbClr val="FFFFFF"/>
                </a:solidFill>
                <a:latin typeface="Calibri"/>
              </a:rPr>
              <a:t>OpenAI Agents SDK</a:t>
            </a:r>
          </a:p>
        </p:txBody>
      </p:sp>
      <p:sp>
        <p:nvSpPr>
          <p:cNvPr id="5" name="TextBox 4"/>
          <p:cNvSpPr txBox="1"/>
          <p:nvPr/>
        </p:nvSpPr>
        <p:spPr>
          <a:xfrm>
            <a:off x="411480" y="749808"/>
            <a:ext cx="11368735" cy="402336"/>
          </a:xfrm>
          <a:prstGeom prst="rect">
            <a:avLst/>
          </a:prstGeom>
          <a:noFill/>
        </p:spPr>
        <p:txBody>
          <a:bodyPr wrap="none">
            <a:spAutoFit/>
          </a:bodyPr>
          <a:lstStyle/>
          <a:p>
            <a:r>
              <a:rPr sz="1500">
                <a:solidFill>
                  <a:srgbClr val="0EA5E9"/>
                </a:solidFill>
                <a:latin typeface="Calibri"/>
              </a:rPr>
              <a:t>Four Primitives for Production Agentic Systems</a:t>
            </a:r>
          </a:p>
        </p:txBody>
      </p:sp>
      <p:sp>
        <p:nvSpPr>
          <p:cNvPr id="6" name="Rectangle 5"/>
          <p:cNvSpPr/>
          <p:nvPr/>
        </p:nvSpPr>
        <p:spPr>
          <a:xfrm>
            <a:off x="0" y="1234440"/>
            <a:ext cx="12191695" cy="36576"/>
          </a:xfrm>
          <a:prstGeom prst="rect">
            <a:avLst/>
          </a:prstGeom>
          <a:solidFill>
            <a:srgbClr val="0EA5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1551615" y="6537960"/>
            <a:ext cx="502920" cy="256032"/>
          </a:xfrm>
          <a:prstGeom prst="rect">
            <a:avLst/>
          </a:prstGeom>
          <a:noFill/>
        </p:spPr>
        <p:txBody>
          <a:bodyPr wrap="none">
            <a:spAutoFit/>
          </a:bodyPr>
          <a:lstStyle/>
          <a:p>
            <a:pPr algn="ctr"/>
            <a:r>
              <a:rPr sz="1000">
                <a:solidFill>
                  <a:srgbClr val="AAAABB"/>
                </a:solidFill>
                <a:latin typeface="Calibri"/>
              </a:rPr>
              <a:t>9</a:t>
            </a:r>
          </a:p>
        </p:txBody>
      </p:sp>
      <p:sp>
        <p:nvSpPr>
          <p:cNvPr id="8" name="TextBox 7"/>
          <p:cNvSpPr txBox="1"/>
          <p:nvPr/>
        </p:nvSpPr>
        <p:spPr>
          <a:xfrm>
            <a:off x="502920" y="1353312"/>
            <a:ext cx="11185855" cy="5093208"/>
          </a:xfrm>
          <a:prstGeom prst="rect">
            <a:avLst/>
          </a:prstGeom>
          <a:noFill/>
        </p:spPr>
        <p:txBody>
          <a:bodyPr wrap="square">
            <a:spAutoFit/>
          </a:bodyPr>
          <a:lstStyle/>
          <a:p>
            <a:pPr>
              <a:spcBef>
                <a:spcPts val="300"/>
              </a:spcBef>
              <a:spcAft>
                <a:spcPts val="200"/>
              </a:spcAft>
            </a:pPr>
            <a:r>
              <a:rPr sz="1200" b="0">
                <a:solidFill>
                  <a:srgbClr val="2D3748"/>
                </a:solidFill>
                <a:latin typeface="Calibri"/>
              </a:rPr>
              <a:t>Released in early 2025 — designed for enterprise deployments</a:t>
            </a:r>
          </a:p>
          <a:p>
            <a:pPr>
              <a:spcBef>
                <a:spcPts val="300"/>
              </a:spcBef>
              <a:spcAft>
                <a:spcPts val="200"/>
              </a:spcAft>
            </a:pPr>
            <a:r>
              <a:rPr sz="1200" b="0">
                <a:solidFill>
                  <a:srgbClr val="2D3748"/>
                </a:solidFill>
                <a:latin typeface="Calibri"/>
              </a:rPr>
              <a:t>The OpenAI Agents SDK is built around four composable primitives that map cleanly to real business workflow patterns:</a:t>
            </a:r>
          </a:p>
        </p:txBody>
      </p:sp>
      <p:graphicFrame>
        <p:nvGraphicFramePr>
          <p:cNvPr id="9" name="Table 8"/>
          <p:cNvGraphicFramePr>
            <a:graphicFrameLocks noGrp="1"/>
          </p:cNvGraphicFramePr>
          <p:nvPr/>
        </p:nvGraphicFramePr>
        <p:xfrm>
          <a:off x="502920" y="2029968"/>
          <a:ext cx="11185855" cy="1645920"/>
        </p:xfrm>
        <a:graphic>
          <a:graphicData uri="http://schemas.openxmlformats.org/drawingml/2006/table">
            <a:tbl>
              <a:tblPr firstRow="1" bandRow="1">
                <a:tableStyleId>{5C22544A-7EE6-4342-B048-85BDC9FD1C3A}</a:tableStyleId>
              </a:tblPr>
              <a:tblGrid>
                <a:gridCol w="3728618"/>
                <a:gridCol w="3728618"/>
                <a:gridCol w="3728619"/>
              </a:tblGrid>
              <a:tr h="329184">
                <a:tc>
                  <a:txBody>
                    <a:bodyPr/>
                    <a:lstStyle/>
                    <a:p>
                      <a:pPr algn="l"/>
                      <a:r>
                        <a:rPr sz="1000" b="1">
                          <a:solidFill>
                            <a:srgbClr val="FFFFFF"/>
                          </a:solidFill>
                          <a:latin typeface="Calibri"/>
                        </a:rPr>
                        <a:t>Primitive</a:t>
                      </a:r>
                    </a:p>
                  </a:txBody>
                  <a:tcPr>
                    <a:solidFill>
                      <a:srgbClr val="16213E"/>
                    </a:solidFill>
                  </a:tcPr>
                </a:tc>
                <a:tc>
                  <a:txBody>
                    <a:bodyPr/>
                    <a:lstStyle/>
                    <a:p>
                      <a:pPr algn="l"/>
                      <a:r>
                        <a:rPr sz="1000" b="1">
                          <a:solidFill>
                            <a:srgbClr val="FFFFFF"/>
                          </a:solidFill>
                          <a:latin typeface="Calibri"/>
                        </a:rPr>
                        <a:t>What It Is</a:t>
                      </a:r>
                    </a:p>
                  </a:txBody>
                  <a:tcPr>
                    <a:solidFill>
                      <a:srgbClr val="16213E"/>
                    </a:solidFill>
                  </a:tcPr>
                </a:tc>
                <a:tc>
                  <a:txBody>
                    <a:bodyPr/>
                    <a:lstStyle/>
                    <a:p>
                      <a:pPr algn="l"/>
                      <a:r>
                        <a:rPr sz="1000" b="1">
                          <a:solidFill>
                            <a:srgbClr val="FFFFFF"/>
                          </a:solidFill>
                          <a:latin typeface="Calibri"/>
                        </a:rPr>
                        <a:t>Business Example</a:t>
                      </a:r>
                    </a:p>
                  </a:txBody>
                  <a:tcPr>
                    <a:solidFill>
                      <a:srgbClr val="16213E"/>
                    </a:solidFill>
                  </a:tcPr>
                </a:tc>
              </a:tr>
              <a:tr h="329184">
                <a:tc>
                  <a:txBody>
                    <a:bodyPr/>
                    <a:lstStyle/>
                    <a:p>
                      <a:r>
                        <a:rPr sz="1000">
                          <a:solidFill>
                            <a:srgbClr val="1A1A2E"/>
                          </a:solidFill>
                          <a:latin typeface="Calibri"/>
                        </a:rPr>
                        <a:t>Agent</a:t>
                      </a:r>
                    </a:p>
                  </a:txBody>
                  <a:tcPr>
                    <a:solidFill>
                      <a:srgbClr val="FFFFFF"/>
                    </a:solidFill>
                  </a:tcPr>
                </a:tc>
                <a:tc>
                  <a:txBody>
                    <a:bodyPr/>
                    <a:lstStyle/>
                    <a:p>
                      <a:r>
                        <a:rPr sz="1000">
                          <a:solidFill>
                            <a:srgbClr val="1A1A2E"/>
                          </a:solidFill>
                          <a:latin typeface="Calibri"/>
                        </a:rPr>
                        <a:t>An LLM with a role, instructions, and tools</a:t>
                      </a:r>
                    </a:p>
                  </a:txBody>
                  <a:tcPr>
                    <a:solidFill>
                      <a:srgbClr val="FFFFFF"/>
                    </a:solidFill>
                  </a:tcPr>
                </a:tc>
                <a:tc>
                  <a:txBody>
                    <a:bodyPr/>
                    <a:lstStyle/>
                    <a:p>
                      <a:r>
                        <a:rPr sz="1000">
                          <a:solidFill>
                            <a:srgbClr val="1A1A2E"/>
                          </a:solidFill>
                          <a:latin typeface="Calibri"/>
                        </a:rPr>
                        <a:t>"Tier-1 Support Agent" with access to your knowledge base</a:t>
                      </a:r>
                    </a:p>
                  </a:txBody>
                  <a:tcPr>
                    <a:solidFill>
                      <a:srgbClr val="FFFFFF"/>
                    </a:solidFill>
                  </a:tcPr>
                </a:tc>
              </a:tr>
              <a:tr h="329184">
                <a:tc>
                  <a:txBody>
                    <a:bodyPr/>
                    <a:lstStyle/>
                    <a:p>
                      <a:r>
                        <a:rPr sz="1000">
                          <a:solidFill>
                            <a:srgbClr val="1A1A2E"/>
                          </a:solidFill>
                          <a:latin typeface="Calibri"/>
                        </a:rPr>
                        <a:t>Handoff</a:t>
                      </a:r>
                    </a:p>
                  </a:txBody>
                  <a:tcPr>
                    <a:solidFill>
                      <a:srgbClr val="F8F9FF"/>
                    </a:solidFill>
                  </a:tcPr>
                </a:tc>
                <a:tc>
                  <a:txBody>
                    <a:bodyPr/>
                    <a:lstStyle/>
                    <a:p>
                      <a:r>
                        <a:rPr sz="1000">
                          <a:solidFill>
                            <a:srgbClr val="1A1A2E"/>
                          </a:solidFill>
                          <a:latin typeface="Calibri"/>
                        </a:rPr>
                        <a:t>Transfers control to a specialist agent</a:t>
                      </a:r>
                    </a:p>
                  </a:txBody>
                  <a:tcPr>
                    <a:solidFill>
                      <a:srgbClr val="F8F9FF"/>
                    </a:solidFill>
                  </a:tcPr>
                </a:tc>
                <a:tc>
                  <a:txBody>
                    <a:bodyPr/>
                    <a:lstStyle/>
                    <a:p>
                      <a:r>
                        <a:rPr sz="1000">
                          <a:solidFill>
                            <a:srgbClr val="1A1A2E"/>
                          </a:solidFill>
                          <a:latin typeface="Calibri"/>
                        </a:rPr>
                        <a:t>Escalate complex issues to "Billing Specialist Agent"</a:t>
                      </a:r>
                    </a:p>
                  </a:txBody>
                  <a:tcPr>
                    <a:solidFill>
                      <a:srgbClr val="F8F9FF"/>
                    </a:solidFill>
                  </a:tcPr>
                </a:tc>
              </a:tr>
              <a:tr h="329184">
                <a:tc>
                  <a:txBody>
                    <a:bodyPr/>
                    <a:lstStyle/>
                    <a:p>
                      <a:r>
                        <a:rPr sz="1000">
                          <a:solidFill>
                            <a:srgbClr val="1A1A2E"/>
                          </a:solidFill>
                          <a:latin typeface="Calibri"/>
                        </a:rPr>
                        <a:t>Guardrail</a:t>
                      </a:r>
                    </a:p>
                  </a:txBody>
                  <a:tcPr>
                    <a:solidFill>
                      <a:srgbClr val="FFFFFF"/>
                    </a:solidFill>
                  </a:tcPr>
                </a:tc>
                <a:tc>
                  <a:txBody>
                    <a:bodyPr/>
                    <a:lstStyle/>
                    <a:p>
                      <a:r>
                        <a:rPr sz="1000">
                          <a:solidFill>
                            <a:srgbClr val="1A1A2E"/>
                          </a:solidFill>
                          <a:latin typeface="Calibri"/>
                        </a:rPr>
                        <a:t>Validates inputs and outputs against rules</a:t>
                      </a:r>
                    </a:p>
                  </a:txBody>
                  <a:tcPr>
                    <a:solidFill>
                      <a:srgbClr val="FFFFFF"/>
                    </a:solidFill>
                  </a:tcPr>
                </a:tc>
                <a:tc>
                  <a:txBody>
                    <a:bodyPr/>
                    <a:lstStyle/>
                    <a:p>
                      <a:r>
                        <a:rPr sz="1000">
                          <a:solidFill>
                            <a:srgbClr val="1A1A2E"/>
                          </a:solidFill>
                          <a:latin typeface="Calibri"/>
                        </a:rPr>
                        <a:t>Block PII from leaving the system; enforce safe responses</a:t>
                      </a:r>
                    </a:p>
                  </a:txBody>
                  <a:tcPr>
                    <a:solidFill>
                      <a:srgbClr val="FFFFFF"/>
                    </a:solidFill>
                  </a:tcPr>
                </a:tc>
              </a:tr>
              <a:tr h="329184">
                <a:tc>
                  <a:txBody>
                    <a:bodyPr/>
                    <a:lstStyle/>
                    <a:p>
                      <a:r>
                        <a:rPr sz="1000">
                          <a:solidFill>
                            <a:srgbClr val="1A1A2E"/>
                          </a:solidFill>
                          <a:latin typeface="Calibri"/>
                        </a:rPr>
                        <a:t>Tracing</a:t>
                      </a:r>
                    </a:p>
                  </a:txBody>
                  <a:tcPr>
                    <a:solidFill>
                      <a:srgbClr val="F8F9FF"/>
                    </a:solidFill>
                  </a:tcPr>
                </a:tc>
                <a:tc>
                  <a:txBody>
                    <a:bodyPr/>
                    <a:lstStyle/>
                    <a:p>
                      <a:r>
                        <a:rPr sz="1000">
                          <a:solidFill>
                            <a:srgbClr val="1A1A2E"/>
                          </a:solidFill>
                          <a:latin typeface="Calibri"/>
                        </a:rPr>
                        <a:t>Full audit log of every agent decision and tool call</a:t>
                      </a:r>
                    </a:p>
                  </a:txBody>
                  <a:tcPr>
                    <a:solidFill>
                      <a:srgbClr val="F8F9FF"/>
                    </a:solidFill>
                  </a:tcPr>
                </a:tc>
                <a:tc>
                  <a:txBody>
                    <a:bodyPr/>
                    <a:lstStyle/>
                    <a:p>
                      <a:r>
                        <a:rPr sz="1000">
                          <a:solidFill>
                            <a:srgbClr val="1A1A2E"/>
                          </a:solidFill>
                          <a:latin typeface="Calibri"/>
                        </a:rPr>
                        <a:t>Required for compliance in finance and healthcare</a:t>
                      </a:r>
                    </a:p>
                  </a:txBody>
                  <a:tcPr>
                    <a:solidFill>
                      <a:srgbClr val="F8F9FF"/>
                    </a:solidFill>
                  </a:tcPr>
                </a:tc>
              </a:tr>
            </a:tbl>
          </a:graphicData>
        </a:graphic>
      </p:graphicFrame>
      <p:sp>
        <p:nvSpPr>
          <p:cNvPr id="10" name="TextBox 9"/>
          <p:cNvSpPr txBox="1"/>
          <p:nvPr/>
        </p:nvSpPr>
        <p:spPr>
          <a:xfrm>
            <a:off x="502920" y="3767328"/>
            <a:ext cx="11185855" cy="2679192"/>
          </a:xfrm>
          <a:prstGeom prst="rect">
            <a:avLst/>
          </a:prstGeom>
          <a:noFill/>
        </p:spPr>
        <p:txBody>
          <a:bodyPr wrap="square">
            <a:spAutoFit/>
          </a:bodyPr>
          <a:lstStyle/>
          <a:p>
            <a:pPr>
              <a:spcBef>
                <a:spcPts val="300"/>
              </a:spcBef>
              <a:spcAft>
                <a:spcPts val="200"/>
              </a:spcAft>
            </a:pPr>
            <a:r>
              <a:rPr sz="1300" b="1">
                <a:solidFill>
                  <a:srgbClr val="0F3460"/>
                </a:solidFill>
                <a:latin typeface="Calibri"/>
              </a:rPr>
              <a:t>Code pattern — multi-agent handoff:</a:t>
            </a:r>
          </a:p>
          <a:p>
            <a:pPr>
              <a:spcBef>
                <a:spcPts val="300"/>
              </a:spcBef>
              <a:spcAft>
                <a:spcPts val="200"/>
              </a:spcAft>
            </a:pPr>
            <a:r>
              <a:rPr sz="1300" b="1">
                <a:solidFill>
                  <a:srgbClr val="0F3460"/>
                </a:solidFill>
                <a:latin typeface="Calibri"/>
              </a:rPr>
              <a:t>Key differentiators vs. other frameworks:</a:t>
            </a:r>
          </a:p>
          <a:p>
            <a:pPr>
              <a:spcBef>
                <a:spcPts val="300"/>
              </a:spcBef>
              <a:spcAft>
                <a:spcPts val="200"/>
              </a:spcAft>
            </a:pPr>
            <a:r>
              <a:rPr sz="1300">
                <a:solidFill>
                  <a:srgbClr val="0EA5E9"/>
                </a:solidFill>
                <a:latin typeface="Calibri"/>
              </a:rPr>
              <a:t>• </a:t>
            </a:r>
            <a:r>
              <a:rPr sz="1300" b="0">
                <a:solidFill>
                  <a:srgbClr val="1A1A2E"/>
                </a:solidFill>
                <a:latin typeface="Calibri"/>
              </a:rPr>
              <a:t>Native integration with OpenAI Assistants API (persistent threads, file attachments)</a:t>
            </a:r>
          </a:p>
          <a:p>
            <a:pPr>
              <a:spcBef>
                <a:spcPts val="300"/>
              </a:spcBef>
              <a:spcAft>
                <a:spcPts val="200"/>
              </a:spcAft>
            </a:pPr>
            <a:r>
              <a:rPr sz="1300">
                <a:solidFill>
                  <a:srgbClr val="0EA5E9"/>
                </a:solidFill>
                <a:latin typeface="Calibri"/>
              </a:rPr>
              <a:t>• </a:t>
            </a:r>
            <a:r>
              <a:rPr sz="1300" b="0">
                <a:solidFill>
                  <a:srgbClr val="1A1A2E"/>
                </a:solidFill>
                <a:latin typeface="Calibri"/>
              </a:rPr>
              <a:t>Built-in tracing dashboard — see every step your agent took</a:t>
            </a:r>
          </a:p>
          <a:p>
            <a:pPr>
              <a:spcBef>
                <a:spcPts val="300"/>
              </a:spcBef>
              <a:spcAft>
                <a:spcPts val="200"/>
              </a:spcAft>
            </a:pPr>
            <a:r>
              <a:rPr sz="1300">
                <a:solidFill>
                  <a:srgbClr val="0EA5E9"/>
                </a:solidFill>
                <a:latin typeface="Calibri"/>
              </a:rPr>
              <a:t>• </a:t>
            </a:r>
            <a:r>
              <a:rPr sz="1300" b="0">
                <a:solidFill>
                  <a:srgbClr val="1A1A2E"/>
                </a:solidFill>
                <a:latin typeface="Calibri"/>
              </a:rPr>
              <a:t>Guardrails run in parallel, not sequentially — no added latency</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234440"/>
          </a:xfrm>
          <a:prstGeom prst="rect">
            <a:avLst/>
          </a:prstGeom>
          <a:solidFill>
            <a:srgbClr val="1621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91440"/>
            <a:ext cx="11368735" cy="658368"/>
          </a:xfrm>
          <a:prstGeom prst="rect">
            <a:avLst/>
          </a:prstGeom>
          <a:noFill/>
        </p:spPr>
        <p:txBody>
          <a:bodyPr wrap="square">
            <a:spAutoFit/>
          </a:bodyPr>
          <a:lstStyle/>
          <a:p>
            <a:r>
              <a:rPr sz="2700" b="1">
                <a:solidFill>
                  <a:srgbClr val="FFFFFF"/>
                </a:solidFill>
                <a:latin typeface="Calibri"/>
              </a:rPr>
              <a:t>Google ADK and LangGraph</a:t>
            </a:r>
          </a:p>
        </p:txBody>
      </p:sp>
      <p:sp>
        <p:nvSpPr>
          <p:cNvPr id="5" name="TextBox 4"/>
          <p:cNvSpPr txBox="1"/>
          <p:nvPr/>
        </p:nvSpPr>
        <p:spPr>
          <a:xfrm>
            <a:off x="411480" y="749808"/>
            <a:ext cx="11368735" cy="402336"/>
          </a:xfrm>
          <a:prstGeom prst="rect">
            <a:avLst/>
          </a:prstGeom>
          <a:noFill/>
        </p:spPr>
        <p:txBody>
          <a:bodyPr wrap="none">
            <a:spAutoFit/>
          </a:bodyPr>
          <a:lstStyle/>
          <a:p>
            <a:r>
              <a:rPr sz="1500">
                <a:solidFill>
                  <a:srgbClr val="0EA5E9"/>
                </a:solidFill>
                <a:latin typeface="Calibri"/>
              </a:rPr>
              <a:t>Enterprise Orchestration and Complex Control Flow</a:t>
            </a:r>
          </a:p>
        </p:txBody>
      </p:sp>
      <p:sp>
        <p:nvSpPr>
          <p:cNvPr id="6" name="Rectangle 5"/>
          <p:cNvSpPr/>
          <p:nvPr/>
        </p:nvSpPr>
        <p:spPr>
          <a:xfrm>
            <a:off x="0" y="1234440"/>
            <a:ext cx="12191695" cy="36576"/>
          </a:xfrm>
          <a:prstGeom prst="rect">
            <a:avLst/>
          </a:prstGeom>
          <a:solidFill>
            <a:srgbClr val="0EA5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1551615" y="6537960"/>
            <a:ext cx="502920" cy="256032"/>
          </a:xfrm>
          <a:prstGeom prst="rect">
            <a:avLst/>
          </a:prstGeom>
          <a:noFill/>
        </p:spPr>
        <p:txBody>
          <a:bodyPr wrap="none">
            <a:spAutoFit/>
          </a:bodyPr>
          <a:lstStyle/>
          <a:p>
            <a:pPr algn="ctr"/>
            <a:r>
              <a:rPr sz="1000">
                <a:solidFill>
                  <a:srgbClr val="AAAABB"/>
                </a:solidFill>
                <a:latin typeface="Calibri"/>
              </a:rPr>
              <a:t>10</a:t>
            </a:r>
          </a:p>
        </p:txBody>
      </p:sp>
      <p:sp>
        <p:nvSpPr>
          <p:cNvPr id="8" name="TextBox 7"/>
          <p:cNvSpPr txBox="1"/>
          <p:nvPr/>
        </p:nvSpPr>
        <p:spPr>
          <a:xfrm>
            <a:off x="502920" y="1353312"/>
            <a:ext cx="11185855" cy="5093208"/>
          </a:xfrm>
          <a:prstGeom prst="rect">
            <a:avLst/>
          </a:prstGeom>
          <a:noFill/>
        </p:spPr>
        <p:txBody>
          <a:bodyPr wrap="square">
            <a:spAutoFit/>
          </a:bodyPr>
          <a:lstStyle/>
          <a:p>
            <a:pPr>
              <a:spcBef>
                <a:spcPts val="300"/>
              </a:spcBef>
              <a:spcAft>
                <a:spcPts val="200"/>
              </a:spcAft>
            </a:pPr>
            <a:r>
              <a:rPr sz="1200" b="0">
                <a:solidFill>
                  <a:srgbClr val="2D3748"/>
                </a:solidFill>
                <a:latin typeface="Calibri"/>
              </a:rPr>
              <a:t>Google Agent Development Kit (ADK)</a:t>
            </a:r>
          </a:p>
          <a:p>
            <a:pPr>
              <a:spcBef>
                <a:spcPts val="300"/>
              </a:spcBef>
              <a:spcAft>
                <a:spcPts val="200"/>
              </a:spcAft>
            </a:pPr>
            <a:r>
              <a:rPr sz="1200" b="0">
                <a:solidFill>
                  <a:srgbClr val="2D3748"/>
                </a:solidFill>
                <a:latin typeface="Calibri"/>
              </a:rPr>
              <a:t>Designed for organizations already on Google Cloud — tightly integrated with Vertex AI, Google Search, Google Workspace, and enterprise compliance infrastructure.</a:t>
            </a:r>
          </a:p>
        </p:txBody>
      </p:sp>
      <p:graphicFrame>
        <p:nvGraphicFramePr>
          <p:cNvPr id="9" name="Table 8"/>
          <p:cNvGraphicFramePr>
            <a:graphicFrameLocks noGrp="1"/>
          </p:cNvGraphicFramePr>
          <p:nvPr/>
        </p:nvGraphicFramePr>
        <p:xfrm>
          <a:off x="502920" y="2029968"/>
          <a:ext cx="11185855" cy="2304288"/>
        </p:xfrm>
        <a:graphic>
          <a:graphicData uri="http://schemas.openxmlformats.org/drawingml/2006/table">
            <a:tbl>
              <a:tblPr firstRow="1" bandRow="1">
                <a:tableStyleId>{5C22544A-7EE6-4342-B048-85BDC9FD1C3A}</a:tableStyleId>
              </a:tblPr>
              <a:tblGrid>
                <a:gridCol w="5592927"/>
                <a:gridCol w="5592928"/>
              </a:tblGrid>
              <a:tr h="329184">
                <a:tc>
                  <a:txBody>
                    <a:bodyPr/>
                    <a:lstStyle/>
                    <a:p>
                      <a:pPr algn="l"/>
                      <a:r>
                        <a:rPr sz="1000" b="1">
                          <a:solidFill>
                            <a:srgbClr val="FFFFFF"/>
                          </a:solidFill>
                          <a:latin typeface="Calibri"/>
                        </a:rPr>
                        <a:t>Feature</a:t>
                      </a:r>
                    </a:p>
                  </a:txBody>
                  <a:tcPr>
                    <a:solidFill>
                      <a:srgbClr val="16213E"/>
                    </a:solidFill>
                  </a:tcPr>
                </a:tc>
                <a:tc>
                  <a:txBody>
                    <a:bodyPr/>
                    <a:lstStyle/>
                    <a:p>
                      <a:pPr algn="l"/>
                      <a:r>
                        <a:rPr sz="1000" b="1">
                          <a:solidFill>
                            <a:srgbClr val="FFFFFF"/>
                          </a:solidFill>
                          <a:latin typeface="Calibri"/>
                        </a:rPr>
                        <a:t>Detail</a:t>
                      </a:r>
                    </a:p>
                  </a:txBody>
                  <a:tcPr>
                    <a:solidFill>
                      <a:srgbClr val="16213E"/>
                    </a:solidFill>
                  </a:tcPr>
                </a:tc>
              </a:tr>
              <a:tr h="329184">
                <a:tc>
                  <a:txBody>
                    <a:bodyPr/>
                    <a:lstStyle/>
                    <a:p>
                      <a:r>
                        <a:rPr sz="1000">
                          <a:solidFill>
                            <a:srgbClr val="1A1A2E"/>
                          </a:solidFill>
                          <a:latin typeface="Calibri"/>
                        </a:rPr>
                        <a:t>Model</a:t>
                      </a:r>
                    </a:p>
                  </a:txBody>
                  <a:tcPr>
                    <a:solidFill>
                      <a:srgbClr val="FFFFFF"/>
                    </a:solidFill>
                  </a:tcPr>
                </a:tc>
                <a:tc>
                  <a:txBody>
                    <a:bodyPr/>
                    <a:lstStyle/>
                    <a:p>
                      <a:r>
                        <a:rPr sz="1000">
                          <a:solidFill>
                            <a:srgbClr val="1A1A2E"/>
                          </a:solidFill>
                          <a:latin typeface="Calibri"/>
                        </a:rPr>
                        <a:t>Gemini 2.0 Flash / Pro — native, no adapter needed</a:t>
                      </a:r>
                    </a:p>
                  </a:txBody>
                  <a:tcPr>
                    <a:solidFill>
                      <a:srgbClr val="FFFFFF"/>
                    </a:solidFill>
                  </a:tcPr>
                </a:tc>
              </a:tr>
              <a:tr h="329184">
                <a:tc>
                  <a:txBody>
                    <a:bodyPr/>
                    <a:lstStyle/>
                    <a:p>
                      <a:r>
                        <a:rPr sz="1000">
                          <a:solidFill>
                            <a:srgbClr val="1A1A2E"/>
                          </a:solidFill>
                          <a:latin typeface="Calibri"/>
                        </a:rPr>
                        <a:t>Tools</a:t>
                      </a:r>
                    </a:p>
                  </a:txBody>
                  <a:tcPr>
                    <a:solidFill>
                      <a:srgbClr val="F8F9FF"/>
                    </a:solidFill>
                  </a:tcPr>
                </a:tc>
                <a:tc>
                  <a:txBody>
                    <a:bodyPr/>
                    <a:lstStyle/>
                    <a:p>
                      <a:r>
                        <a:rPr sz="1000">
                          <a:solidFill>
                            <a:srgbClr val="1A1A2E"/>
                          </a:solidFill>
                          <a:latin typeface="Calibri"/>
                        </a:rPr>
                        <a:t>Google Search, Maps, Drive, Gmail, Calendar — all native</a:t>
                      </a:r>
                    </a:p>
                  </a:txBody>
                  <a:tcPr>
                    <a:solidFill>
                      <a:srgbClr val="F8F9FF"/>
                    </a:solidFill>
                  </a:tcPr>
                </a:tc>
              </a:tr>
              <a:tr h="329184">
                <a:tc>
                  <a:txBody>
                    <a:bodyPr/>
                    <a:lstStyle/>
                    <a:p>
                      <a:r>
                        <a:rPr sz="1000">
                          <a:solidFill>
                            <a:srgbClr val="1A1A2E"/>
                          </a:solidFill>
                          <a:latin typeface="Calibri"/>
                        </a:rPr>
                        <a:t>Multi-agent</a:t>
                      </a:r>
                    </a:p>
                  </a:txBody>
                  <a:tcPr>
                    <a:solidFill>
                      <a:srgbClr val="FFFFFF"/>
                    </a:solidFill>
                  </a:tcPr>
                </a:tc>
                <a:tc>
                  <a:txBody>
                    <a:bodyPr/>
                    <a:lstStyle/>
                    <a:p>
                      <a:r>
                        <a:rPr sz="1000">
                          <a:solidFill>
                            <a:srgbClr val="1A1A2E"/>
                          </a:solidFill>
                          <a:latin typeface="Calibri"/>
                        </a:rPr>
                        <a:t>Hierarchical: agents delegate to sub-agents automatically</a:t>
                      </a:r>
                    </a:p>
                  </a:txBody>
                  <a:tcPr>
                    <a:solidFill>
                      <a:srgbClr val="FFFFFF"/>
                    </a:solidFill>
                  </a:tcPr>
                </a:tc>
              </a:tr>
              <a:tr h="329184">
                <a:tc>
                  <a:txBody>
                    <a:bodyPr/>
                    <a:lstStyle/>
                    <a:p>
                      <a:r>
                        <a:rPr sz="1000">
                          <a:solidFill>
                            <a:srgbClr val="1A1A2E"/>
                          </a:solidFill>
                          <a:latin typeface="Calibri"/>
                        </a:rPr>
                        <a:t>Sessions</a:t>
                      </a:r>
                    </a:p>
                  </a:txBody>
                  <a:tcPr>
                    <a:solidFill>
                      <a:srgbClr val="F8F9FF"/>
                    </a:solidFill>
                  </a:tcPr>
                </a:tc>
                <a:tc>
                  <a:txBody>
                    <a:bodyPr/>
                    <a:lstStyle/>
                    <a:p>
                      <a:r>
                        <a:rPr sz="1000">
                          <a:solidFill>
                            <a:srgbClr val="1A1A2E"/>
                          </a:solidFill>
                          <a:latin typeface="Calibri"/>
                        </a:rPr>
                        <a:t>Persistent state management across user conversations</a:t>
                      </a:r>
                    </a:p>
                  </a:txBody>
                  <a:tcPr>
                    <a:solidFill>
                      <a:srgbClr val="F8F9FF"/>
                    </a:solidFill>
                  </a:tcPr>
                </a:tc>
              </a:tr>
              <a:tr h="329184">
                <a:tc>
                  <a:txBody>
                    <a:bodyPr/>
                    <a:lstStyle/>
                    <a:p>
                      <a:r>
                        <a:rPr sz="1000">
                          <a:solidFill>
                            <a:srgbClr val="1A1A2E"/>
                          </a:solidFill>
                          <a:latin typeface="Calibri"/>
                        </a:rPr>
                        <a:t>Deployment</a:t>
                      </a:r>
                    </a:p>
                  </a:txBody>
                  <a:tcPr>
                    <a:solidFill>
                      <a:srgbClr val="FFFFFF"/>
                    </a:solidFill>
                  </a:tcPr>
                </a:tc>
                <a:tc>
                  <a:txBody>
                    <a:bodyPr/>
                    <a:lstStyle/>
                    <a:p>
                      <a:r>
                        <a:rPr sz="1000">
                          <a:solidFill>
                            <a:srgbClr val="1A1A2E"/>
                          </a:solidFill>
                          <a:latin typeface="Calibri"/>
                        </a:rPr>
                        <a:t>Vertex AI — enterprise billing, SOC2, HIPAA, regional data</a:t>
                      </a:r>
                    </a:p>
                  </a:txBody>
                  <a:tcPr>
                    <a:solidFill>
                      <a:srgbClr val="FFFFFF"/>
                    </a:solidFill>
                  </a:tcPr>
                </a:tc>
              </a:tr>
              <a:tr h="329184">
                <a:tc>
                  <a:txBody>
                    <a:bodyPr/>
                    <a:lstStyle/>
                    <a:p>
                      <a:r>
                        <a:rPr sz="1000">
                          <a:solidFill>
                            <a:srgbClr val="1A1A2E"/>
                          </a:solidFill>
                          <a:latin typeface="Calibri"/>
                        </a:rPr>
                        <a:t>Evaluation</a:t>
                      </a:r>
                    </a:p>
                  </a:txBody>
                  <a:tcPr>
                    <a:solidFill>
                      <a:srgbClr val="F8F9FF"/>
                    </a:solidFill>
                  </a:tcPr>
                </a:tc>
                <a:tc>
                  <a:txBody>
                    <a:bodyPr/>
                    <a:lstStyle/>
                    <a:p>
                      <a:r>
                        <a:rPr sz="1000">
                          <a:solidFill>
                            <a:srgbClr val="1A1A2E"/>
                          </a:solidFill>
                          <a:latin typeface="Calibri"/>
                        </a:rPr>
                        <a:t>Built-in eval framework for measuring agent quality</a:t>
                      </a:r>
                    </a:p>
                  </a:txBody>
                  <a:tcPr>
                    <a:solidFill>
                      <a:srgbClr val="F8F9FF"/>
                    </a:solidFill>
                  </a:tcPr>
                </a:tc>
              </a:tr>
            </a:tbl>
          </a:graphicData>
        </a:graphic>
      </p:graphicFrame>
      <p:sp>
        <p:nvSpPr>
          <p:cNvPr id="10" name="TextBox 9"/>
          <p:cNvSpPr txBox="1"/>
          <p:nvPr/>
        </p:nvSpPr>
        <p:spPr>
          <a:xfrm>
            <a:off x="502920" y="4425696"/>
            <a:ext cx="11185855" cy="2020824"/>
          </a:xfrm>
          <a:prstGeom prst="rect">
            <a:avLst/>
          </a:prstGeom>
          <a:noFill/>
        </p:spPr>
        <p:txBody>
          <a:bodyPr wrap="square">
            <a:spAutoFit/>
          </a:bodyPr>
          <a:lstStyle/>
          <a:p>
            <a:pPr>
              <a:spcBef>
                <a:spcPts val="300"/>
              </a:spcBef>
              <a:spcAft>
                <a:spcPts val="200"/>
              </a:spcAft>
            </a:pPr>
            <a:r>
              <a:rPr sz="1200" b="0">
                <a:solidFill>
                  <a:srgbClr val="2D3748"/>
                </a:solidFill>
                <a:latin typeface="Calibri"/>
              </a:rPr>
              <a:t>LangGraph — Workflows as Graphs</a:t>
            </a:r>
          </a:p>
          <a:p>
            <a:pPr>
              <a:spcBef>
                <a:spcPts val="300"/>
              </a:spcBef>
              <a:spcAft>
                <a:spcPts val="200"/>
              </a:spcAft>
            </a:pPr>
            <a:r>
              <a:rPr sz="1200" b="0">
                <a:solidFill>
                  <a:srgbClr val="2D3748"/>
                </a:solidFill>
                <a:latin typeface="Calibri"/>
              </a:rPr>
              <a:t>LangGraph models agent behavior as a directed graph: nodes are processing steps, edges are transitions. This enables patterns that linear chains cannot handle:</a:t>
            </a:r>
          </a:p>
          <a:p>
            <a:pPr>
              <a:spcBef>
                <a:spcPts val="300"/>
              </a:spcBef>
              <a:spcAft>
                <a:spcPts val="200"/>
              </a:spcAft>
            </a:pPr>
            <a:r>
              <a:rPr sz="1300">
                <a:solidFill>
                  <a:srgbClr val="0EA5E9"/>
                </a:solidFill>
                <a:latin typeface="Calibri"/>
              </a:rPr>
              <a:t>• </a:t>
            </a:r>
            <a:r>
              <a:rPr sz="1300" b="0">
                <a:solidFill>
                  <a:srgbClr val="1A1A2E"/>
                </a:solidFill>
                <a:latin typeface="Calibri"/>
              </a:rPr>
              <a:t>Cycles: Retry a step if quality is insufficient; iterate until criteria are met</a:t>
            </a:r>
          </a:p>
          <a:p>
            <a:pPr>
              <a:spcBef>
                <a:spcPts val="300"/>
              </a:spcBef>
              <a:spcAft>
                <a:spcPts val="200"/>
              </a:spcAft>
            </a:pPr>
            <a:r>
              <a:rPr sz="1300">
                <a:solidFill>
                  <a:srgbClr val="0EA5E9"/>
                </a:solidFill>
                <a:latin typeface="Calibri"/>
              </a:rPr>
              <a:t>• </a:t>
            </a:r>
            <a:r>
              <a:rPr sz="1300" b="0">
                <a:solidFill>
                  <a:srgbClr val="1A1A2E"/>
                </a:solidFill>
                <a:latin typeface="Calibri"/>
              </a:rPr>
              <a:t>Parallel branches: Run research and data analysis simultaneously; merge results</a:t>
            </a:r>
          </a:p>
          <a:p>
            <a:pPr>
              <a:spcBef>
                <a:spcPts val="300"/>
              </a:spcBef>
              <a:spcAft>
                <a:spcPts val="200"/>
              </a:spcAft>
            </a:pPr>
            <a:r>
              <a:rPr sz="1300">
                <a:solidFill>
                  <a:srgbClr val="0EA5E9"/>
                </a:solidFill>
                <a:latin typeface="Calibri"/>
              </a:rPr>
              <a:t>• </a:t>
            </a:r>
            <a:r>
              <a:rPr sz="1300" b="0">
                <a:solidFill>
                  <a:srgbClr val="1A1A2E"/>
                </a:solidFill>
                <a:latin typeface="Calibri"/>
              </a:rPr>
              <a:t>Human-in-the-loop: Pause execution at a "human review" node; resume when approved</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234440"/>
          </a:xfrm>
          <a:prstGeom prst="rect">
            <a:avLst/>
          </a:prstGeom>
          <a:solidFill>
            <a:srgbClr val="1621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91440"/>
            <a:ext cx="11368735" cy="658368"/>
          </a:xfrm>
          <a:prstGeom prst="rect">
            <a:avLst/>
          </a:prstGeom>
          <a:noFill/>
        </p:spPr>
        <p:txBody>
          <a:bodyPr wrap="square">
            <a:spAutoFit/>
          </a:bodyPr>
          <a:lstStyle/>
          <a:p>
            <a:r>
              <a:rPr sz="2700" b="1">
                <a:solidFill>
                  <a:srgbClr val="FFFFFF"/>
                </a:solidFill>
                <a:latin typeface="Calibri"/>
              </a:rPr>
              <a:t>CrewAI — Role-Based AI Teams</a:t>
            </a:r>
          </a:p>
        </p:txBody>
      </p:sp>
      <p:sp>
        <p:nvSpPr>
          <p:cNvPr id="5" name="TextBox 4"/>
          <p:cNvSpPr txBox="1"/>
          <p:nvPr/>
        </p:nvSpPr>
        <p:spPr>
          <a:xfrm>
            <a:off x="411480" y="749808"/>
            <a:ext cx="11368735" cy="402336"/>
          </a:xfrm>
          <a:prstGeom prst="rect">
            <a:avLst/>
          </a:prstGeom>
          <a:noFill/>
        </p:spPr>
        <p:txBody>
          <a:bodyPr wrap="none">
            <a:spAutoFit/>
          </a:bodyPr>
          <a:lstStyle/>
          <a:p>
            <a:r>
              <a:rPr sz="1500">
                <a:solidFill>
                  <a:srgbClr val="0EA5E9"/>
                </a:solidFill>
                <a:latin typeface="Calibri"/>
              </a:rPr>
              <a:t>The Consulting Firm Model for AI</a:t>
            </a:r>
          </a:p>
        </p:txBody>
      </p:sp>
      <p:sp>
        <p:nvSpPr>
          <p:cNvPr id="6" name="Rectangle 5"/>
          <p:cNvSpPr/>
          <p:nvPr/>
        </p:nvSpPr>
        <p:spPr>
          <a:xfrm>
            <a:off x="0" y="1234440"/>
            <a:ext cx="12191695" cy="36576"/>
          </a:xfrm>
          <a:prstGeom prst="rect">
            <a:avLst/>
          </a:prstGeom>
          <a:solidFill>
            <a:srgbClr val="0EA5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1551615" y="6537960"/>
            <a:ext cx="502920" cy="256032"/>
          </a:xfrm>
          <a:prstGeom prst="rect">
            <a:avLst/>
          </a:prstGeom>
          <a:noFill/>
        </p:spPr>
        <p:txBody>
          <a:bodyPr wrap="none">
            <a:spAutoFit/>
          </a:bodyPr>
          <a:lstStyle/>
          <a:p>
            <a:pPr algn="ctr"/>
            <a:r>
              <a:rPr sz="1000">
                <a:solidFill>
                  <a:srgbClr val="AAAABB"/>
                </a:solidFill>
                <a:latin typeface="Calibri"/>
              </a:rPr>
              <a:t>11</a:t>
            </a:r>
          </a:p>
        </p:txBody>
      </p:sp>
      <p:sp>
        <p:nvSpPr>
          <p:cNvPr id="8" name="TextBox 7"/>
          <p:cNvSpPr txBox="1"/>
          <p:nvPr/>
        </p:nvSpPr>
        <p:spPr>
          <a:xfrm>
            <a:off x="502920" y="1353312"/>
            <a:ext cx="11185855" cy="5093208"/>
          </a:xfrm>
          <a:prstGeom prst="rect">
            <a:avLst/>
          </a:prstGeom>
          <a:noFill/>
        </p:spPr>
        <p:txBody>
          <a:bodyPr wrap="square">
            <a:spAutoFit/>
          </a:bodyPr>
          <a:lstStyle/>
          <a:p>
            <a:pPr>
              <a:spcBef>
                <a:spcPts val="300"/>
              </a:spcBef>
              <a:spcAft>
                <a:spcPts val="200"/>
              </a:spcAft>
            </a:pPr>
            <a:r>
              <a:rPr sz="1200" b="0">
                <a:solidFill>
                  <a:srgbClr val="2D3748"/>
                </a:solidFill>
                <a:latin typeface="Calibri"/>
              </a:rPr>
              <a:t>The core insight behind CrewAI: Complex knowledge work is done better by a team of specialists than by one generalist — even when all the "people" are AI.</a:t>
            </a:r>
          </a:p>
          <a:p>
            <a:pPr>
              <a:spcBef>
                <a:spcPts val="300"/>
              </a:spcBef>
              <a:spcAft>
                <a:spcPts val="200"/>
              </a:spcAft>
            </a:pPr>
            <a:r>
              <a:rPr sz="1200" b="0">
                <a:solidFill>
                  <a:srgbClr val="2D3748"/>
                </a:solidFill>
                <a:latin typeface="Calibri"/>
              </a:rPr>
              <a:t>A researcher produces different quality work than a writer. An analyst reasons differently than a strategist. CrewAI makes this explicit: you define a team with roles, goals, and backstories — and the agents actually perform differently as a result.</a:t>
            </a:r>
          </a:p>
          <a:p>
            <a:pPr>
              <a:spcBef>
                <a:spcPts val="300"/>
              </a:spcBef>
              <a:spcAft>
                <a:spcPts val="200"/>
              </a:spcAft>
            </a:pPr>
            <a:r>
              <a:rPr sz="1300" b="1">
                <a:solidFill>
                  <a:srgbClr val="0F3460"/>
                </a:solidFill>
                <a:latin typeface="Calibri"/>
              </a:rPr>
              <a:t>Full example — competitive intelligence workflow:</a:t>
            </a:r>
          </a:p>
        </p:txBody>
      </p:sp>
      <p:sp>
        <p:nvSpPr>
          <p:cNvPr id="9" name="Rectangle 8"/>
          <p:cNvSpPr/>
          <p:nvPr/>
        </p:nvSpPr>
        <p:spPr>
          <a:xfrm>
            <a:off x="502920" y="2322576"/>
            <a:ext cx="11185855" cy="3648456"/>
          </a:xfrm>
          <a:prstGeom prst="rect">
            <a:avLst/>
          </a:prstGeom>
          <a:solidFill>
            <a:srgbClr val="1A1A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2414016"/>
            <a:ext cx="10911535" cy="3465576"/>
          </a:xfrm>
          <a:prstGeom prst="rect">
            <a:avLst/>
          </a:prstGeom>
          <a:noFill/>
        </p:spPr>
        <p:txBody>
          <a:bodyPr wrap="none">
            <a:spAutoFit/>
          </a:bodyPr>
          <a:lstStyle/>
          <a:p>
            <a:r>
              <a:rPr sz="900">
                <a:solidFill>
                  <a:srgbClr val="E2E8F0"/>
                </a:solidFill>
                <a:latin typeface="Courier New"/>
              </a:rPr>
              <a:t>from crewai import Agent, Task, Crew, Process</a:t>
            </a:r>
          </a:p>
          <a:p>
            <a:r>
              <a:rPr sz="900">
                <a:solidFill>
                  <a:srgbClr val="E2E8F0"/>
                </a:solidFill>
                <a:latin typeface="Courier New"/>
              </a:rPr>
              <a:t/>
            </a:r>
          </a:p>
          <a:p>
            <a:r>
              <a:rPr sz="900">
                <a:solidFill>
                  <a:srgbClr val="E2E8F0"/>
                </a:solidFill>
                <a:latin typeface="Courier New"/>
              </a:rPr>
              <a:t>researcher = Agent(</a:t>
            </a:r>
          </a:p>
          <a:p>
            <a:r>
              <a:rPr sz="900">
                <a:solidFill>
                  <a:srgbClr val="E2E8F0"/>
                </a:solidFill>
                <a:latin typeface="Courier New"/>
              </a:rPr>
              <a:t>    role="Senior Market Research Analyst",</a:t>
            </a:r>
          </a:p>
          <a:p>
            <a:r>
              <a:rPr sz="900">
                <a:solidFill>
                  <a:srgbClr val="E2E8F0"/>
                </a:solidFill>
                <a:latin typeface="Courier New"/>
              </a:rPr>
              <a:t>    goal="Find accurate, data-backed competitive intelligence",</a:t>
            </a:r>
          </a:p>
          <a:p>
            <a:r>
              <a:rPr sz="900">
                <a:solidFill>
                  <a:srgbClr val="E2E8F0"/>
                </a:solidFill>
                <a:latin typeface="Courier New"/>
              </a:rPr>
              <a:t>    backstory="""You are a veteran analyst at McKinsey &amp; Company.</a:t>
            </a:r>
          </a:p>
          <a:p>
            <a:r>
              <a:rPr sz="900">
                <a:solidFill>
                  <a:srgbClr val="E2E8F0"/>
                </a:solidFill>
                <a:latin typeface="Courier New"/>
              </a:rPr>
              <a:t>    You cite specific numbers and sources. You never speculate.""",</a:t>
            </a:r>
          </a:p>
          <a:p>
            <a:r>
              <a:rPr sz="900">
                <a:solidFill>
                  <a:srgbClr val="E2E8F0"/>
                </a:solidFill>
                <a:latin typeface="Courier New"/>
              </a:rPr>
              <a:t>    tools=[web_search, company_database, news_api],</a:t>
            </a:r>
          </a:p>
          <a:p>
            <a:r>
              <a:rPr sz="900">
                <a:solidFill>
                  <a:srgbClr val="E2E8F0"/>
                </a:solidFill>
                <a:latin typeface="Courier New"/>
              </a:rPr>
              <a:t>    verbose=True</a:t>
            </a:r>
          </a:p>
          <a:p>
            <a:r>
              <a:rPr sz="900">
                <a:solidFill>
                  <a:srgbClr val="E2E8F0"/>
                </a:solidFill>
                <a:latin typeface="Courier New"/>
              </a:rPr>
              <a:t>)</a:t>
            </a:r>
          </a:p>
          <a:p>
            <a:r>
              <a:rPr sz="900">
                <a:solidFill>
                  <a:srgbClr val="E2E8F0"/>
                </a:solidFill>
                <a:latin typeface="Courier New"/>
              </a:rPr>
              <a:t/>
            </a:r>
          </a:p>
          <a:p>
            <a:r>
              <a:rPr sz="900">
                <a:solidFill>
                  <a:srgbClr val="E2E8F0"/>
                </a:solidFill>
                <a:latin typeface="Courier New"/>
              </a:rPr>
              <a:t>analyst = Agent(</a:t>
            </a:r>
          </a:p>
          <a:p>
            <a:r>
              <a:rPr sz="900">
                <a:solidFill>
                  <a:srgbClr val="E2E8F0"/>
                </a:solidFill>
                <a:latin typeface="Courier New"/>
              </a:rPr>
              <a:t>    role="Strategic Analyst",</a:t>
            </a:r>
          </a:p>
          <a:p>
            <a:r>
              <a:rPr sz="900">
                <a:solidFill>
                  <a:srgbClr val="E2E8F0"/>
                </a:solidFill>
                <a:latin typeface="Courier New"/>
              </a:rPr>
              <a:t>    goal="Draw actionable insights from raw research data",</a:t>
            </a:r>
          </a:p>
        </p:txBody>
      </p:sp>
      <p:sp>
        <p:nvSpPr>
          <p:cNvPr id="11" name="TextBox 10"/>
          <p:cNvSpPr txBox="1"/>
          <p:nvPr/>
        </p:nvSpPr>
        <p:spPr>
          <a:xfrm>
            <a:off x="502920" y="6062472"/>
            <a:ext cx="11185855" cy="457200"/>
          </a:xfrm>
          <a:prstGeom prst="rect">
            <a:avLst/>
          </a:prstGeom>
          <a:noFill/>
        </p:spPr>
        <p:txBody>
          <a:bodyPr wrap="square">
            <a:spAutoFit/>
          </a:bodyPr>
          <a:lstStyle/>
          <a:p>
            <a:pPr>
              <a:spcBef>
                <a:spcPts val="300"/>
              </a:spcBef>
              <a:spcAft>
                <a:spcPts val="200"/>
              </a:spcAft>
            </a:pPr>
            <a:r>
              <a:rPr sz="1200" b="0">
                <a:solidFill>
                  <a:srgbClr val="2D3748"/>
                </a:solidFill>
                <a:latin typeface="Calibri"/>
              </a:rPr>
              <a:t>Real production deployments today: Automated RFP responses (one agent per requirement section), daily competitive intelligence briefings, M&amp;A due diligence workflows, content production pipelines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234440"/>
          </a:xfrm>
          <a:prstGeom prst="rect">
            <a:avLst/>
          </a:prstGeom>
          <a:solidFill>
            <a:srgbClr val="1621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91440"/>
            <a:ext cx="11368735" cy="658368"/>
          </a:xfrm>
          <a:prstGeom prst="rect">
            <a:avLst/>
          </a:prstGeom>
          <a:noFill/>
        </p:spPr>
        <p:txBody>
          <a:bodyPr wrap="square">
            <a:spAutoFit/>
          </a:bodyPr>
          <a:lstStyle/>
          <a:p>
            <a:r>
              <a:rPr sz="2700" b="1">
                <a:solidFill>
                  <a:srgbClr val="FFFFFF"/>
                </a:solidFill>
                <a:latin typeface="Calibri"/>
              </a:rPr>
              <a:t>MCP — Model Context Protocol</a:t>
            </a:r>
          </a:p>
        </p:txBody>
      </p:sp>
      <p:sp>
        <p:nvSpPr>
          <p:cNvPr id="5" name="TextBox 4"/>
          <p:cNvSpPr txBox="1"/>
          <p:nvPr/>
        </p:nvSpPr>
        <p:spPr>
          <a:xfrm>
            <a:off x="411480" y="749808"/>
            <a:ext cx="11368735" cy="402336"/>
          </a:xfrm>
          <a:prstGeom prst="rect">
            <a:avLst/>
          </a:prstGeom>
          <a:noFill/>
        </p:spPr>
        <p:txBody>
          <a:bodyPr wrap="none">
            <a:spAutoFit/>
          </a:bodyPr>
          <a:lstStyle/>
          <a:p>
            <a:r>
              <a:rPr sz="1500">
                <a:solidFill>
                  <a:srgbClr val="0EA5E9"/>
                </a:solidFill>
                <a:latin typeface="Calibri"/>
              </a:rPr>
              <a:t>The Universal Standard for AI Tool Integration</a:t>
            </a:r>
          </a:p>
        </p:txBody>
      </p:sp>
      <p:sp>
        <p:nvSpPr>
          <p:cNvPr id="6" name="Rectangle 5"/>
          <p:cNvSpPr/>
          <p:nvPr/>
        </p:nvSpPr>
        <p:spPr>
          <a:xfrm>
            <a:off x="0" y="1234440"/>
            <a:ext cx="12191695" cy="36576"/>
          </a:xfrm>
          <a:prstGeom prst="rect">
            <a:avLst/>
          </a:prstGeom>
          <a:solidFill>
            <a:srgbClr val="0EA5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1551615" y="6537960"/>
            <a:ext cx="502920" cy="256032"/>
          </a:xfrm>
          <a:prstGeom prst="rect">
            <a:avLst/>
          </a:prstGeom>
          <a:noFill/>
        </p:spPr>
        <p:txBody>
          <a:bodyPr wrap="none">
            <a:spAutoFit/>
          </a:bodyPr>
          <a:lstStyle/>
          <a:p>
            <a:pPr algn="ctr"/>
            <a:r>
              <a:rPr sz="1000">
                <a:solidFill>
                  <a:srgbClr val="AAAABB"/>
                </a:solidFill>
                <a:latin typeface="Calibri"/>
              </a:rPr>
              <a:t>12</a:t>
            </a:r>
          </a:p>
        </p:txBody>
      </p:sp>
      <p:sp>
        <p:nvSpPr>
          <p:cNvPr id="8" name="TextBox 7"/>
          <p:cNvSpPr txBox="1"/>
          <p:nvPr/>
        </p:nvSpPr>
        <p:spPr>
          <a:xfrm>
            <a:off x="502920" y="1353312"/>
            <a:ext cx="11185855" cy="5093208"/>
          </a:xfrm>
          <a:prstGeom prst="rect">
            <a:avLst/>
          </a:prstGeom>
          <a:noFill/>
        </p:spPr>
        <p:txBody>
          <a:bodyPr wrap="square">
            <a:spAutoFit/>
          </a:bodyPr>
          <a:lstStyle/>
          <a:p>
            <a:pPr>
              <a:spcBef>
                <a:spcPts val="300"/>
              </a:spcBef>
              <a:spcAft>
                <a:spcPts val="200"/>
              </a:spcAft>
            </a:pPr>
            <a:r>
              <a:rPr sz="1300" b="1">
                <a:solidFill>
                  <a:srgbClr val="0F3460"/>
                </a:solidFill>
                <a:latin typeface="Calibri"/>
              </a:rPr>
              <a:t>The problem MCP solves:</a:t>
            </a:r>
          </a:p>
          <a:p>
            <a:pPr>
              <a:spcBef>
                <a:spcPts val="300"/>
              </a:spcBef>
              <a:spcAft>
                <a:spcPts val="200"/>
              </a:spcAft>
            </a:pPr>
            <a:r>
              <a:rPr sz="1200" b="0">
                <a:solidFill>
                  <a:srgbClr val="2D3748"/>
                </a:solidFill>
                <a:latin typeface="Calibri"/>
              </a:rPr>
              <a:t>Before MCP (pre-late 2024), every AI application needed custom integrations for every data source. A team using Claude needed one custom integration for their database, another for Slack, another for GitHub, another for their CRM. Multiply this by dozens of tools and dozens of AI products — every vendor reinventing the same connections in incompatible ways.</a:t>
            </a:r>
          </a:p>
          <a:p>
            <a:pPr>
              <a:spcBef>
                <a:spcPts val="300"/>
              </a:spcBef>
              <a:spcAft>
                <a:spcPts val="200"/>
              </a:spcAft>
            </a:pPr>
            <a:r>
              <a:rPr sz="1200" b="0">
                <a:solidFill>
                  <a:srgbClr val="2D3748"/>
                </a:solidFill>
                <a:latin typeface="Calibri"/>
              </a:rPr>
              <a:t>MCP's solution: One open standard, like USB-C for AI. Build an MCP server once; any MCP-compatible client can use it.</a:t>
            </a:r>
          </a:p>
          <a:p>
            <a:pPr>
              <a:spcBef>
                <a:spcPts val="300"/>
              </a:spcBef>
              <a:spcAft>
                <a:spcPts val="200"/>
              </a:spcAft>
            </a:pPr>
            <a:r>
              <a:rPr sz="1300" b="1">
                <a:solidFill>
                  <a:srgbClr val="0F3460"/>
                </a:solidFill>
                <a:latin typeface="Calibri"/>
              </a:rPr>
              <a:t>How MCP works:</a:t>
            </a:r>
          </a:p>
        </p:txBody>
      </p:sp>
      <p:graphicFrame>
        <p:nvGraphicFramePr>
          <p:cNvPr id="9" name="Table 8"/>
          <p:cNvGraphicFramePr>
            <a:graphicFrameLocks noGrp="1"/>
          </p:cNvGraphicFramePr>
          <p:nvPr/>
        </p:nvGraphicFramePr>
        <p:xfrm>
          <a:off x="502920" y="2615184"/>
          <a:ext cx="11185855" cy="1316736"/>
        </p:xfrm>
        <a:graphic>
          <a:graphicData uri="http://schemas.openxmlformats.org/drawingml/2006/table">
            <a:tbl>
              <a:tblPr firstRow="1" bandRow="1">
                <a:tableStyleId>{5C22544A-7EE6-4342-B048-85BDC9FD1C3A}</a:tableStyleId>
              </a:tblPr>
              <a:tblGrid>
                <a:gridCol w="3728618"/>
                <a:gridCol w="3728618"/>
                <a:gridCol w="3728619"/>
              </a:tblGrid>
              <a:tr h="329184">
                <a:tc>
                  <a:txBody>
                    <a:bodyPr/>
                    <a:lstStyle/>
                    <a:p>
                      <a:pPr algn="l"/>
                      <a:r>
                        <a:rPr sz="1000" b="1">
                          <a:solidFill>
                            <a:srgbClr val="FFFFFF"/>
                          </a:solidFill>
                          <a:latin typeface="Calibri"/>
                        </a:rPr>
                        <a:t>Component</a:t>
                      </a:r>
                    </a:p>
                  </a:txBody>
                  <a:tcPr>
                    <a:solidFill>
                      <a:srgbClr val="16213E"/>
                    </a:solidFill>
                  </a:tcPr>
                </a:tc>
                <a:tc>
                  <a:txBody>
                    <a:bodyPr/>
                    <a:lstStyle/>
                    <a:p>
                      <a:pPr algn="l"/>
                      <a:r>
                        <a:rPr sz="1000" b="1">
                          <a:solidFill>
                            <a:srgbClr val="FFFFFF"/>
                          </a:solidFill>
                          <a:latin typeface="Calibri"/>
                        </a:rPr>
                        <a:t>Role</a:t>
                      </a:r>
                    </a:p>
                  </a:txBody>
                  <a:tcPr>
                    <a:solidFill>
                      <a:srgbClr val="16213E"/>
                    </a:solidFill>
                  </a:tcPr>
                </a:tc>
                <a:tc>
                  <a:txBody>
                    <a:bodyPr/>
                    <a:lstStyle/>
                    <a:p>
                      <a:pPr algn="l"/>
                      <a:r>
                        <a:rPr sz="1000" b="1">
                          <a:solidFill>
                            <a:srgbClr val="FFFFFF"/>
                          </a:solidFill>
                          <a:latin typeface="Calibri"/>
                        </a:rPr>
                        <a:t>Example</a:t>
                      </a:r>
                    </a:p>
                  </a:txBody>
                  <a:tcPr>
                    <a:solidFill>
                      <a:srgbClr val="16213E"/>
                    </a:solidFill>
                  </a:tcPr>
                </a:tc>
              </a:tr>
              <a:tr h="329184">
                <a:tc>
                  <a:txBody>
                    <a:bodyPr/>
                    <a:lstStyle/>
                    <a:p>
                      <a:r>
                        <a:rPr sz="1000">
                          <a:solidFill>
                            <a:srgbClr val="1A1A2E"/>
                          </a:solidFill>
                          <a:latin typeface="Calibri"/>
                        </a:rPr>
                        <a:t>MCP Server</a:t>
                      </a:r>
                    </a:p>
                  </a:txBody>
                  <a:tcPr>
                    <a:solidFill>
                      <a:srgbClr val="FFFFFF"/>
                    </a:solidFill>
                  </a:tcPr>
                </a:tc>
                <a:tc>
                  <a:txBody>
                    <a:bodyPr/>
                    <a:lstStyle/>
                    <a:p>
                      <a:r>
                        <a:rPr sz="1000">
                          <a:solidFill>
                            <a:srgbClr val="1A1A2E"/>
                          </a:solidFill>
                          <a:latin typeface="Calibri"/>
                        </a:rPr>
                        <a:t>Exposes data/tools via the standard protocol</a:t>
                      </a:r>
                    </a:p>
                  </a:txBody>
                  <a:tcPr>
                    <a:solidFill>
                      <a:srgbClr val="FFFFFF"/>
                    </a:solidFill>
                  </a:tcPr>
                </a:tc>
                <a:tc>
                  <a:txBody>
                    <a:bodyPr/>
                    <a:lstStyle/>
                    <a:p>
                      <a:r>
                        <a:rPr sz="1000">
                          <a:solidFill>
                            <a:srgbClr val="1A1A2E"/>
                          </a:solidFill>
                          <a:latin typeface="Calibri"/>
                        </a:rPr>
                        <a:t>Your PostgreSQL database as an MCP server</a:t>
                      </a:r>
                    </a:p>
                  </a:txBody>
                  <a:tcPr>
                    <a:solidFill>
                      <a:srgbClr val="FFFFFF"/>
                    </a:solidFill>
                  </a:tcPr>
                </a:tc>
              </a:tr>
              <a:tr h="329184">
                <a:tc>
                  <a:txBody>
                    <a:bodyPr/>
                    <a:lstStyle/>
                    <a:p>
                      <a:r>
                        <a:rPr sz="1000">
                          <a:solidFill>
                            <a:srgbClr val="1A1A2E"/>
                          </a:solidFill>
                          <a:latin typeface="Calibri"/>
                        </a:rPr>
                        <a:t>MCP Client</a:t>
                      </a:r>
                    </a:p>
                  </a:txBody>
                  <a:tcPr>
                    <a:solidFill>
                      <a:srgbClr val="F8F9FF"/>
                    </a:solidFill>
                  </a:tcPr>
                </a:tc>
                <a:tc>
                  <a:txBody>
                    <a:bodyPr/>
                    <a:lstStyle/>
                    <a:p>
                      <a:r>
                        <a:rPr sz="1000">
                          <a:solidFill>
                            <a:srgbClr val="1A1A2E"/>
                          </a:solidFill>
                          <a:latin typeface="Calibri"/>
                        </a:rPr>
                        <a:t>AI application that connects to servers</a:t>
                      </a:r>
                    </a:p>
                  </a:txBody>
                  <a:tcPr>
                    <a:solidFill>
                      <a:srgbClr val="F8F9FF"/>
                    </a:solidFill>
                  </a:tcPr>
                </a:tc>
                <a:tc>
                  <a:txBody>
                    <a:bodyPr/>
                    <a:lstStyle/>
                    <a:p>
                      <a:r>
                        <a:rPr sz="1000">
                          <a:solidFill>
                            <a:srgbClr val="1A1A2E"/>
                          </a:solidFill>
                          <a:latin typeface="Calibri"/>
                        </a:rPr>
                        <a:t>Claude, Cursor, any LLM app</a:t>
                      </a:r>
                    </a:p>
                  </a:txBody>
                  <a:tcPr>
                    <a:solidFill>
                      <a:srgbClr val="F8F9FF"/>
                    </a:solidFill>
                  </a:tcPr>
                </a:tc>
              </a:tr>
              <a:tr h="329184">
                <a:tc>
                  <a:txBody>
                    <a:bodyPr/>
                    <a:lstStyle/>
                    <a:p>
                      <a:r>
                        <a:rPr sz="1000">
                          <a:solidFill>
                            <a:srgbClr val="1A1A2E"/>
                          </a:solidFill>
                          <a:latin typeface="Calibri"/>
                        </a:rPr>
                        <a:t>MCP Protocol</a:t>
                      </a:r>
                    </a:p>
                  </a:txBody>
                  <a:tcPr>
                    <a:solidFill>
                      <a:srgbClr val="FFFFFF"/>
                    </a:solidFill>
                  </a:tcPr>
                </a:tc>
                <a:tc>
                  <a:txBody>
                    <a:bodyPr/>
                    <a:lstStyle/>
                    <a:p>
                      <a:r>
                        <a:rPr sz="1000">
                          <a:solidFill>
                            <a:srgbClr val="1A1A2E"/>
                          </a:solidFill>
                          <a:latin typeface="Calibri"/>
                        </a:rPr>
                        <a:t>The standard that connects them</a:t>
                      </a:r>
                    </a:p>
                  </a:txBody>
                  <a:tcPr>
                    <a:solidFill>
                      <a:srgbClr val="FFFFFF"/>
                    </a:solidFill>
                  </a:tcPr>
                </a:tc>
                <a:tc>
                  <a:txBody>
                    <a:bodyPr/>
                    <a:lstStyle/>
                    <a:p>
                      <a:r>
                        <a:rPr sz="1000">
                          <a:solidFill>
                            <a:srgbClr val="1A1A2E"/>
                          </a:solidFill>
                          <a:latin typeface="Calibri"/>
                        </a:rPr>
                        <a:t>JSON-RPC over stdio or HTTP</a:t>
                      </a:r>
                    </a:p>
                  </a:txBody>
                  <a:tcPr>
                    <a:solidFill>
                      <a:srgbClr val="FFFFFF"/>
                    </a:solidFill>
                  </a:tcPr>
                </a:tc>
              </a:tr>
            </a:tbl>
          </a:graphicData>
        </a:graphic>
      </p:graphicFrame>
      <p:sp>
        <p:nvSpPr>
          <p:cNvPr id="10" name="TextBox 9"/>
          <p:cNvSpPr txBox="1"/>
          <p:nvPr/>
        </p:nvSpPr>
        <p:spPr>
          <a:xfrm>
            <a:off x="502920" y="4023360"/>
            <a:ext cx="11185855" cy="2423160"/>
          </a:xfrm>
          <a:prstGeom prst="rect">
            <a:avLst/>
          </a:prstGeom>
          <a:noFill/>
        </p:spPr>
        <p:txBody>
          <a:bodyPr wrap="square">
            <a:spAutoFit/>
          </a:bodyPr>
          <a:lstStyle/>
          <a:p>
            <a:pPr>
              <a:spcBef>
                <a:spcPts val="300"/>
              </a:spcBef>
              <a:spcAft>
                <a:spcPts val="200"/>
              </a:spcAft>
            </a:pPr>
            <a:r>
              <a:rPr sz="1300" b="1">
                <a:solidFill>
                  <a:srgbClr val="0F3460"/>
                </a:solidFill>
                <a:latin typeface="Calibri"/>
              </a:rPr>
              <a:t>MCP servers available today (April 2026):</a:t>
            </a:r>
          </a:p>
          <a:p>
            <a:pPr>
              <a:spcBef>
                <a:spcPts val="300"/>
              </a:spcBef>
              <a:spcAft>
                <a:spcPts val="200"/>
              </a:spcAft>
            </a:pPr>
            <a:r>
              <a:rPr sz="1200" b="0">
                <a:solidFill>
                  <a:srgbClr val="2D3748"/>
                </a:solidFill>
                <a:latin typeface="Calibri"/>
              </a:rPr>
              <a:t>Why MCP matters for your career: If you build an MCP server for your company's internal tools, that integration works with every MCP-compatible AI product — now and in the future. One investment, compounding returns as the ecosystem grows.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234440"/>
          </a:xfrm>
          <a:prstGeom prst="rect">
            <a:avLst/>
          </a:prstGeom>
          <a:solidFill>
            <a:srgbClr val="1621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91440"/>
            <a:ext cx="11368735" cy="658368"/>
          </a:xfrm>
          <a:prstGeom prst="rect">
            <a:avLst/>
          </a:prstGeom>
          <a:noFill/>
        </p:spPr>
        <p:txBody>
          <a:bodyPr wrap="square">
            <a:spAutoFit/>
          </a:bodyPr>
          <a:lstStyle/>
          <a:p>
            <a:r>
              <a:rPr sz="2700" b="1">
                <a:solidFill>
                  <a:srgbClr val="FFFFFF"/>
                </a:solidFill>
                <a:latin typeface="Calibri"/>
              </a:rPr>
              <a:t>Building Your First Agent — The Pattern</a:t>
            </a:r>
          </a:p>
        </p:txBody>
      </p:sp>
      <p:sp>
        <p:nvSpPr>
          <p:cNvPr id="5" name="TextBox 4"/>
          <p:cNvSpPr txBox="1"/>
          <p:nvPr/>
        </p:nvSpPr>
        <p:spPr>
          <a:xfrm>
            <a:off x="411480" y="749808"/>
            <a:ext cx="11368735" cy="402336"/>
          </a:xfrm>
          <a:prstGeom prst="rect">
            <a:avLst/>
          </a:prstGeom>
          <a:noFill/>
        </p:spPr>
        <p:txBody>
          <a:bodyPr wrap="none">
            <a:spAutoFit/>
          </a:bodyPr>
          <a:lstStyle/>
          <a:p>
            <a:r>
              <a:rPr sz="1500">
                <a:solidFill>
                  <a:srgbClr val="0EA5E9"/>
                </a:solidFill>
                <a:latin typeface="Calibri"/>
              </a:rPr>
              <a:t>The Code Architecture Every Agent Uses</a:t>
            </a:r>
          </a:p>
        </p:txBody>
      </p:sp>
      <p:sp>
        <p:nvSpPr>
          <p:cNvPr id="6" name="Rectangle 5"/>
          <p:cNvSpPr/>
          <p:nvPr/>
        </p:nvSpPr>
        <p:spPr>
          <a:xfrm>
            <a:off x="0" y="1234440"/>
            <a:ext cx="12191695" cy="36576"/>
          </a:xfrm>
          <a:prstGeom prst="rect">
            <a:avLst/>
          </a:prstGeom>
          <a:solidFill>
            <a:srgbClr val="0EA5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1551615" y="6537960"/>
            <a:ext cx="502920" cy="256032"/>
          </a:xfrm>
          <a:prstGeom prst="rect">
            <a:avLst/>
          </a:prstGeom>
          <a:noFill/>
        </p:spPr>
        <p:txBody>
          <a:bodyPr wrap="none">
            <a:spAutoFit/>
          </a:bodyPr>
          <a:lstStyle/>
          <a:p>
            <a:pPr algn="ctr"/>
            <a:r>
              <a:rPr sz="1000">
                <a:solidFill>
                  <a:srgbClr val="AAAABB"/>
                </a:solidFill>
                <a:latin typeface="Calibri"/>
              </a:rPr>
              <a:t>13</a:t>
            </a:r>
          </a:p>
        </p:txBody>
      </p:sp>
      <p:sp>
        <p:nvSpPr>
          <p:cNvPr id="8" name="TextBox 7"/>
          <p:cNvSpPr txBox="1"/>
          <p:nvPr/>
        </p:nvSpPr>
        <p:spPr>
          <a:xfrm>
            <a:off x="502920" y="1353312"/>
            <a:ext cx="11185855" cy="5093208"/>
          </a:xfrm>
          <a:prstGeom prst="rect">
            <a:avLst/>
          </a:prstGeom>
          <a:noFill/>
        </p:spPr>
        <p:txBody>
          <a:bodyPr wrap="square">
            <a:spAutoFit/>
          </a:bodyPr>
          <a:lstStyle/>
          <a:p>
            <a:pPr>
              <a:spcBef>
                <a:spcPts val="300"/>
              </a:spcBef>
              <a:spcAft>
                <a:spcPts val="200"/>
              </a:spcAft>
            </a:pPr>
            <a:r>
              <a:rPr sz="1300" b="1">
                <a:solidFill>
                  <a:srgbClr val="0F3460"/>
                </a:solidFill>
                <a:latin typeface="Calibri"/>
              </a:rPr>
              <a:t>Every agent framework — regardless of provider — implements this same fundamental loop:</a:t>
            </a:r>
          </a:p>
        </p:txBody>
      </p:sp>
      <p:sp>
        <p:nvSpPr>
          <p:cNvPr id="9" name="Rectangle 8"/>
          <p:cNvSpPr/>
          <p:nvPr/>
        </p:nvSpPr>
        <p:spPr>
          <a:xfrm>
            <a:off x="502920" y="1737360"/>
            <a:ext cx="11185855" cy="3648456"/>
          </a:xfrm>
          <a:prstGeom prst="rect">
            <a:avLst/>
          </a:prstGeom>
          <a:solidFill>
            <a:srgbClr val="1A1A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1828800"/>
            <a:ext cx="10911535" cy="3465576"/>
          </a:xfrm>
          <a:prstGeom prst="rect">
            <a:avLst/>
          </a:prstGeom>
          <a:noFill/>
        </p:spPr>
        <p:txBody>
          <a:bodyPr wrap="none">
            <a:spAutoFit/>
          </a:bodyPr>
          <a:lstStyle/>
          <a:p>
            <a:r>
              <a:rPr sz="900">
                <a:solidFill>
                  <a:srgbClr val="E2E8F0"/>
                </a:solidFill>
                <a:latin typeface="Courier New"/>
              </a:rPr>
              <a:t>import anthropic, os</a:t>
            </a:r>
          </a:p>
          <a:p>
            <a:r>
              <a:rPr sz="900">
                <a:solidFill>
                  <a:srgbClr val="E2E8F0"/>
                </a:solidFill>
                <a:latin typeface="Courier New"/>
              </a:rPr>
              <a:t>client = anthropic.Anthropic()</a:t>
            </a:r>
          </a:p>
          <a:p>
            <a:r>
              <a:rPr sz="900">
                <a:solidFill>
                  <a:srgbClr val="E2E8F0"/>
                </a:solidFill>
                <a:latin typeface="Courier New"/>
              </a:rPr>
              <a:t/>
            </a:r>
          </a:p>
          <a:p>
            <a:r>
              <a:rPr sz="900">
                <a:solidFill>
                  <a:srgbClr val="E2E8F0"/>
                </a:solidFill>
                <a:latin typeface="Courier New"/>
              </a:rPr>
              <a:t># 1. DEFINE TOOLS: Tell the model what capabilities it has</a:t>
            </a:r>
          </a:p>
          <a:p>
            <a:r>
              <a:rPr sz="900">
                <a:solidFill>
                  <a:srgbClr val="E2E8F0"/>
                </a:solidFill>
                <a:latin typeface="Courier New"/>
              </a:rPr>
              <a:t>tools = [</a:t>
            </a:r>
          </a:p>
          <a:p>
            <a:r>
              <a:rPr sz="900">
                <a:solidFill>
                  <a:srgbClr val="E2E8F0"/>
                </a:solidFill>
                <a:latin typeface="Courier New"/>
              </a:rPr>
              <a:t>    {</a:t>
            </a:r>
          </a:p>
          <a:p>
            <a:r>
              <a:rPr sz="900">
                <a:solidFill>
                  <a:srgbClr val="E2E8F0"/>
                </a:solidFill>
                <a:latin typeface="Courier New"/>
              </a:rPr>
              <a:t>        "name": "fetch_webpage",</a:t>
            </a:r>
          </a:p>
          <a:p>
            <a:r>
              <a:rPr sz="900">
                <a:solidFill>
                  <a:srgbClr val="E2E8F0"/>
                </a:solidFill>
                <a:latin typeface="Courier New"/>
              </a:rPr>
              <a:t>        "description": "Fetch visible text from a URL. Use for research.",</a:t>
            </a:r>
          </a:p>
          <a:p>
            <a:r>
              <a:rPr sz="900">
                <a:solidFill>
                  <a:srgbClr val="E2E8F0"/>
                </a:solidFill>
                <a:latin typeface="Courier New"/>
              </a:rPr>
              <a:t>        "input_schema": {"type": "object",</a:t>
            </a:r>
          </a:p>
          <a:p>
            <a:r>
              <a:rPr sz="900">
                <a:solidFill>
                  <a:srgbClr val="E2E8F0"/>
                </a:solidFill>
                <a:latin typeface="Courier New"/>
              </a:rPr>
              <a:t>                         "properties": {"url": {"type": "string"}},</a:t>
            </a:r>
          </a:p>
          <a:p>
            <a:r>
              <a:rPr sz="900">
                <a:solidFill>
                  <a:srgbClr val="E2E8F0"/>
                </a:solidFill>
                <a:latin typeface="Courier New"/>
              </a:rPr>
              <a:t>                         "required": ["url"]}</a:t>
            </a:r>
          </a:p>
          <a:p>
            <a:r>
              <a:rPr sz="900">
                <a:solidFill>
                  <a:srgbClr val="E2E8F0"/>
                </a:solidFill>
                <a:latin typeface="Courier New"/>
              </a:rPr>
              <a:t>    },</a:t>
            </a:r>
          </a:p>
          <a:p>
            <a:r>
              <a:rPr sz="900">
                <a:solidFill>
                  <a:srgbClr val="E2E8F0"/>
                </a:solidFill>
                <a:latin typeface="Courier New"/>
              </a:rPr>
              <a:t>    {</a:t>
            </a:r>
          </a:p>
          <a:p>
            <a:r>
              <a:rPr sz="900">
                <a:solidFill>
                  <a:srgbClr val="E2E8F0"/>
                </a:solidFill>
                <a:latin typeface="Courier New"/>
              </a:rPr>
              <a:t>        "name": "save_report",</a:t>
            </a:r>
          </a:p>
        </p:txBody>
      </p:sp>
      <p:sp>
        <p:nvSpPr>
          <p:cNvPr id="11" name="TextBox 10"/>
          <p:cNvSpPr txBox="1"/>
          <p:nvPr/>
        </p:nvSpPr>
        <p:spPr>
          <a:xfrm>
            <a:off x="502920" y="5477256"/>
            <a:ext cx="11185855" cy="969264"/>
          </a:xfrm>
          <a:prstGeom prst="rect">
            <a:avLst/>
          </a:prstGeom>
          <a:noFill/>
        </p:spPr>
        <p:txBody>
          <a:bodyPr wrap="square">
            <a:spAutoFit/>
          </a:bodyPr>
          <a:lstStyle/>
          <a:p>
            <a:pPr>
              <a:spcBef>
                <a:spcPts val="300"/>
              </a:spcBef>
              <a:spcAft>
                <a:spcPts val="200"/>
              </a:spcAft>
            </a:pPr>
            <a:r>
              <a:rPr sz="1300" b="1">
                <a:solidFill>
                  <a:srgbClr val="0F3460"/>
                </a:solidFill>
                <a:latin typeface="Calibri"/>
              </a:rPr>
              <a:t>Three things to understand about this pattern:</a:t>
            </a:r>
          </a:p>
          <a:p>
            <a:pPr>
              <a:spcBef>
                <a:spcPts val="300"/>
              </a:spcBef>
              <a:spcAft>
                <a:spcPts val="200"/>
              </a:spcAft>
            </a:pPr>
            <a:r>
              <a:rPr sz="1300">
                <a:solidFill>
                  <a:srgbClr val="0EA5E9"/>
                </a:solidFill>
                <a:latin typeface="Calibri"/>
              </a:rPr>
              <a:t>• </a:t>
            </a:r>
            <a:r>
              <a:rPr sz="1300" b="0">
                <a:solidFill>
                  <a:srgbClr val="1A1A2E"/>
                </a:solidFill>
                <a:latin typeface="Calibri"/>
              </a:rPr>
              <a:t>The model reads the tool descriptions and decides when to call them — you never tell it which tools to use</a:t>
            </a:r>
          </a:p>
          <a:p>
            <a:pPr>
              <a:spcBef>
                <a:spcPts val="300"/>
              </a:spcBef>
              <a:spcAft>
                <a:spcPts val="200"/>
              </a:spcAft>
            </a:pPr>
            <a:r>
              <a:rPr sz="1300">
                <a:solidFill>
                  <a:srgbClr val="0EA5E9"/>
                </a:solidFill>
                <a:latin typeface="Calibri"/>
              </a:rPr>
              <a:t>• </a:t>
            </a:r>
            <a:r>
              <a:rPr sz="1300" b="0">
                <a:solidFill>
                  <a:srgbClr val="1A1A2E"/>
                </a:solidFill>
                <a:latin typeface="Calibri"/>
              </a:rPr>
              <a:t>The loop continues until stop_reason == "end_turn" — the model signals when it's done</a:t>
            </a:r>
          </a:p>
          <a:p>
            <a:pPr>
              <a:spcBef>
                <a:spcPts val="300"/>
              </a:spcBef>
              <a:spcAft>
                <a:spcPts val="200"/>
              </a:spcAft>
            </a:pPr>
            <a:r>
              <a:rPr sz="1300">
                <a:solidFill>
                  <a:srgbClr val="0EA5E9"/>
                </a:solidFill>
                <a:latin typeface="Calibri"/>
              </a:rPr>
              <a:t>• </a:t>
            </a:r>
            <a:r>
              <a:rPr sz="1300" b="0">
                <a:solidFill>
                  <a:srgbClr val="1A1A2E"/>
                </a:solidFill>
                <a:latin typeface="Calibri"/>
              </a:rPr>
              <a:t>Any Python function you can write becomes a tool — databases, APIs, email, file system, anything</a:t>
            </a:r>
          </a:p>
          <a:p>
            <a:pPr>
              <a:spcBef>
                <a:spcPts val="300"/>
              </a:spcBef>
              <a:spcAft>
                <a:spcPts val="200"/>
              </a:spcAft>
            </a:pPr>
            <a:r>
              <a:rPr sz="1200" b="0">
                <a:solidFill>
                  <a:srgbClr val="2D3748"/>
                </a:solidFill>
                <a:latin typeface="Calibri"/>
              </a:rPr>
              <a:t>This is the foundation. Every framework (LangGraph, CrewAI, OpenAI Agents) is an abstraction on top of exactly this loop.</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34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926080"/>
            <a:ext cx="12191695" cy="73152"/>
          </a:xfrm>
          <a:prstGeom prst="rect">
            <a:avLst/>
          </a:prstGeom>
          <a:solidFill>
            <a:srgbClr val="0EA5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1920240"/>
            <a:ext cx="10058400" cy="640080"/>
          </a:xfrm>
          <a:prstGeom prst="rect">
            <a:avLst/>
          </a:prstGeom>
          <a:noFill/>
        </p:spPr>
        <p:txBody>
          <a:bodyPr wrap="none">
            <a:spAutoFit/>
          </a:bodyPr>
          <a:lstStyle/>
          <a:p>
            <a:r>
              <a:rPr sz="2200" b="1">
                <a:solidFill>
                  <a:srgbClr val="0EA5E9"/>
                </a:solidFill>
                <a:latin typeface="Calibri"/>
              </a:rPr>
              <a:t>Section 3</a:t>
            </a:r>
          </a:p>
        </p:txBody>
      </p:sp>
      <p:sp>
        <p:nvSpPr>
          <p:cNvPr id="5" name="TextBox 4"/>
          <p:cNvSpPr txBox="1"/>
          <p:nvPr/>
        </p:nvSpPr>
        <p:spPr>
          <a:xfrm>
            <a:off x="914400" y="2606040"/>
            <a:ext cx="10058400" cy="1097280"/>
          </a:xfrm>
          <a:prstGeom prst="rect">
            <a:avLst/>
          </a:prstGeom>
          <a:noFill/>
        </p:spPr>
        <p:txBody>
          <a:bodyPr wrap="none">
            <a:spAutoFit/>
          </a:bodyPr>
          <a:lstStyle/>
          <a:p>
            <a:r>
              <a:rPr sz="3600" b="1">
                <a:solidFill>
                  <a:srgbClr val="FFFFFF"/>
                </a:solidFill>
                <a:latin typeface="Calibri"/>
              </a:rPr>
              <a:t>AI Coding Tools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234440"/>
          </a:xfrm>
          <a:prstGeom prst="rect">
            <a:avLst/>
          </a:prstGeom>
          <a:solidFill>
            <a:srgbClr val="1621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91440"/>
            <a:ext cx="11368735" cy="658368"/>
          </a:xfrm>
          <a:prstGeom prst="rect">
            <a:avLst/>
          </a:prstGeom>
          <a:noFill/>
        </p:spPr>
        <p:txBody>
          <a:bodyPr wrap="square">
            <a:spAutoFit/>
          </a:bodyPr>
          <a:lstStyle/>
          <a:p>
            <a:r>
              <a:rPr sz="2700" b="1">
                <a:solidFill>
                  <a:srgbClr val="FFFFFF"/>
                </a:solidFill>
                <a:latin typeface="Calibri"/>
              </a:rPr>
              <a:t>The AI-Powered Development Revolution</a:t>
            </a:r>
          </a:p>
        </p:txBody>
      </p:sp>
      <p:sp>
        <p:nvSpPr>
          <p:cNvPr id="5" name="TextBox 4"/>
          <p:cNvSpPr txBox="1"/>
          <p:nvPr/>
        </p:nvSpPr>
        <p:spPr>
          <a:xfrm>
            <a:off x="411480" y="749808"/>
            <a:ext cx="11368735" cy="402336"/>
          </a:xfrm>
          <a:prstGeom prst="rect">
            <a:avLst/>
          </a:prstGeom>
          <a:noFill/>
        </p:spPr>
        <p:txBody>
          <a:bodyPr wrap="none">
            <a:spAutoFit/>
          </a:bodyPr>
          <a:lstStyle/>
          <a:p>
            <a:r>
              <a:rPr sz="1500">
                <a:solidFill>
                  <a:srgbClr val="0EA5E9"/>
                </a:solidFill>
                <a:latin typeface="Calibri"/>
              </a:rPr>
              <a:t>What Changed in 24 Months</a:t>
            </a:r>
          </a:p>
        </p:txBody>
      </p:sp>
      <p:sp>
        <p:nvSpPr>
          <p:cNvPr id="6" name="Rectangle 5"/>
          <p:cNvSpPr/>
          <p:nvPr/>
        </p:nvSpPr>
        <p:spPr>
          <a:xfrm>
            <a:off x="0" y="1234440"/>
            <a:ext cx="12191695" cy="36576"/>
          </a:xfrm>
          <a:prstGeom prst="rect">
            <a:avLst/>
          </a:prstGeom>
          <a:solidFill>
            <a:srgbClr val="0EA5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1551615" y="6537960"/>
            <a:ext cx="502920" cy="256032"/>
          </a:xfrm>
          <a:prstGeom prst="rect">
            <a:avLst/>
          </a:prstGeom>
          <a:noFill/>
        </p:spPr>
        <p:txBody>
          <a:bodyPr wrap="none">
            <a:spAutoFit/>
          </a:bodyPr>
          <a:lstStyle/>
          <a:p>
            <a:pPr algn="ctr"/>
            <a:r>
              <a:rPr sz="1000">
                <a:solidFill>
                  <a:srgbClr val="AAAABB"/>
                </a:solidFill>
                <a:latin typeface="Calibri"/>
              </a:rPr>
              <a:t>14</a:t>
            </a:r>
          </a:p>
        </p:txBody>
      </p:sp>
      <p:sp>
        <p:nvSpPr>
          <p:cNvPr id="8" name="Rectangle 7"/>
          <p:cNvSpPr/>
          <p:nvPr/>
        </p:nvSpPr>
        <p:spPr>
          <a:xfrm>
            <a:off x="6949440" y="1353312"/>
            <a:ext cx="18288" cy="5257800"/>
          </a:xfrm>
          <a:prstGeom prst="rect">
            <a:avLst/>
          </a:prstGeom>
          <a:solidFill>
            <a:srgbClr val="DDDD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slide_14_chart.png"/>
          <p:cNvPicPr>
            <a:picLocks noChangeAspect="1"/>
          </p:cNvPicPr>
          <p:nvPr/>
        </p:nvPicPr>
        <p:blipFill>
          <a:blip r:embed="rId2"/>
          <a:stretch>
            <a:fillRect/>
          </a:stretch>
        </p:blipFill>
        <p:spPr>
          <a:xfrm>
            <a:off x="7040880" y="1444752"/>
            <a:ext cx="4663440" cy="5074920"/>
          </a:xfrm>
          <a:prstGeom prst="rect">
            <a:avLst/>
          </a:prstGeom>
        </p:spPr>
      </p:pic>
      <p:sp>
        <p:nvSpPr>
          <p:cNvPr id="10" name="TextBox 9"/>
          <p:cNvSpPr txBox="1"/>
          <p:nvPr/>
        </p:nvSpPr>
        <p:spPr>
          <a:xfrm>
            <a:off x="502920" y="1353312"/>
            <a:ext cx="6400800" cy="5093208"/>
          </a:xfrm>
          <a:prstGeom prst="rect">
            <a:avLst/>
          </a:prstGeom>
          <a:noFill/>
        </p:spPr>
        <p:txBody>
          <a:bodyPr wrap="square">
            <a:spAutoFit/>
          </a:bodyPr>
          <a:lstStyle/>
          <a:p>
            <a:pPr>
              <a:spcBef>
                <a:spcPts val="300"/>
              </a:spcBef>
              <a:spcAft>
                <a:spcPts val="200"/>
              </a:spcAft>
            </a:pPr>
            <a:r>
              <a:rPr sz="1300" b="1">
                <a:solidFill>
                  <a:srgbClr val="0F3460"/>
                </a:solidFill>
                <a:latin typeface="Calibri"/>
              </a:rPr>
              <a:t>The productivity data (GitHub, StackOverflow surveys, 2025–2026):</a:t>
            </a:r>
          </a:p>
        </p:txBody>
      </p:sp>
      <p:graphicFrame>
        <p:nvGraphicFramePr>
          <p:cNvPr id="11" name="Table 10"/>
          <p:cNvGraphicFramePr>
            <a:graphicFrameLocks noGrp="1"/>
          </p:cNvGraphicFramePr>
          <p:nvPr/>
        </p:nvGraphicFramePr>
        <p:xfrm>
          <a:off x="502920" y="1737360"/>
          <a:ext cx="6400800" cy="1975104"/>
        </p:xfrm>
        <a:graphic>
          <a:graphicData uri="http://schemas.openxmlformats.org/drawingml/2006/table">
            <a:tbl>
              <a:tblPr firstRow="1" bandRow="1">
                <a:tableStyleId>{5C22544A-7EE6-4342-B048-85BDC9FD1C3A}</a:tableStyleId>
              </a:tblPr>
              <a:tblGrid>
                <a:gridCol w="1600200"/>
                <a:gridCol w="1600200"/>
                <a:gridCol w="1600200"/>
                <a:gridCol w="1600200"/>
              </a:tblGrid>
              <a:tr h="329184">
                <a:tc>
                  <a:txBody>
                    <a:bodyPr/>
                    <a:lstStyle/>
                    <a:p>
                      <a:pPr algn="l"/>
                      <a:r>
                        <a:rPr sz="1000" b="1">
                          <a:solidFill>
                            <a:srgbClr val="FFFFFF"/>
                          </a:solidFill>
                          <a:latin typeface="Calibri"/>
                        </a:rPr>
                        <a:t>Development Task</a:t>
                      </a:r>
                    </a:p>
                  </a:txBody>
                  <a:tcPr>
                    <a:solidFill>
                      <a:srgbClr val="16213E"/>
                    </a:solidFill>
                  </a:tcPr>
                </a:tc>
                <a:tc>
                  <a:txBody>
                    <a:bodyPr/>
                    <a:lstStyle/>
                    <a:p>
                      <a:pPr algn="l"/>
                      <a:r>
                        <a:rPr sz="1000" b="1">
                          <a:solidFill>
                            <a:srgbClr val="FFFFFF"/>
                          </a:solidFill>
                          <a:latin typeface="Calibri"/>
                        </a:rPr>
                        <a:t>Without AI</a:t>
                      </a:r>
                    </a:p>
                  </a:txBody>
                  <a:tcPr>
                    <a:solidFill>
                      <a:srgbClr val="16213E"/>
                    </a:solidFill>
                  </a:tcPr>
                </a:tc>
                <a:tc>
                  <a:txBody>
                    <a:bodyPr/>
                    <a:lstStyle/>
                    <a:p>
                      <a:pPr algn="l"/>
                      <a:r>
                        <a:rPr sz="1000" b="1">
                          <a:solidFill>
                            <a:srgbClr val="FFFFFF"/>
                          </a:solidFill>
                          <a:latin typeface="Calibri"/>
                        </a:rPr>
                        <a:t>With AI Tools</a:t>
                      </a:r>
                    </a:p>
                  </a:txBody>
                  <a:tcPr>
                    <a:solidFill>
                      <a:srgbClr val="16213E"/>
                    </a:solidFill>
                  </a:tcPr>
                </a:tc>
                <a:tc>
                  <a:txBody>
                    <a:bodyPr/>
                    <a:lstStyle/>
                    <a:p>
                      <a:pPr algn="l"/>
                      <a:r>
                        <a:rPr sz="1000" b="1">
                          <a:solidFill>
                            <a:srgbClr val="FFFFFF"/>
                          </a:solidFill>
                          <a:latin typeface="Calibri"/>
                        </a:rPr>
                        <a:t>Speedup</a:t>
                      </a:r>
                    </a:p>
                  </a:txBody>
                  <a:tcPr>
                    <a:solidFill>
                      <a:srgbClr val="16213E"/>
                    </a:solidFill>
                  </a:tcPr>
                </a:tc>
              </a:tr>
              <a:tr h="329184">
                <a:tc>
                  <a:txBody>
                    <a:bodyPr/>
                    <a:lstStyle/>
                    <a:p>
                      <a:r>
                        <a:rPr sz="1000">
                          <a:solidFill>
                            <a:srgbClr val="1A1A2E"/>
                          </a:solidFill>
                          <a:latin typeface="Calibri"/>
                        </a:rPr>
                        <a:t>Write a new function</a:t>
                      </a:r>
                    </a:p>
                  </a:txBody>
                  <a:tcPr>
                    <a:solidFill>
                      <a:srgbClr val="FFFFFF"/>
                    </a:solidFill>
                  </a:tcPr>
                </a:tc>
                <a:tc>
                  <a:txBody>
                    <a:bodyPr/>
                    <a:lstStyle/>
                    <a:p>
                      <a:r>
                        <a:rPr sz="1000">
                          <a:solidFill>
                            <a:srgbClr val="1A1A2E"/>
                          </a:solidFill>
                          <a:latin typeface="Calibri"/>
                        </a:rPr>
                        <a:t>15 min</a:t>
                      </a:r>
                    </a:p>
                  </a:txBody>
                  <a:tcPr>
                    <a:solidFill>
                      <a:srgbClr val="FFFFFF"/>
                    </a:solidFill>
                  </a:tcPr>
                </a:tc>
                <a:tc>
                  <a:txBody>
                    <a:bodyPr/>
                    <a:lstStyle/>
                    <a:p>
                      <a:r>
                        <a:rPr sz="1000">
                          <a:solidFill>
                            <a:srgbClr val="1A1A2E"/>
                          </a:solidFill>
                          <a:latin typeface="Calibri"/>
                        </a:rPr>
                        <a:t>2 min</a:t>
                      </a:r>
                    </a:p>
                  </a:txBody>
                  <a:tcPr>
                    <a:solidFill>
                      <a:srgbClr val="FFFFFF"/>
                    </a:solidFill>
                  </a:tcPr>
                </a:tc>
                <a:tc>
                  <a:txBody>
                    <a:bodyPr/>
                    <a:lstStyle/>
                    <a:p>
                      <a:r>
                        <a:rPr sz="1000">
                          <a:solidFill>
                            <a:srgbClr val="1A1A2E"/>
                          </a:solidFill>
                          <a:latin typeface="Calibri"/>
                        </a:rPr>
                        <a:t>7×</a:t>
                      </a:r>
                    </a:p>
                  </a:txBody>
                  <a:tcPr>
                    <a:solidFill>
                      <a:srgbClr val="FFFFFF"/>
                    </a:solidFill>
                  </a:tcPr>
                </a:tc>
              </a:tr>
              <a:tr h="329184">
                <a:tc>
                  <a:txBody>
                    <a:bodyPr/>
                    <a:lstStyle/>
                    <a:p>
                      <a:r>
                        <a:rPr sz="1000">
                          <a:solidFill>
                            <a:srgbClr val="1A1A2E"/>
                          </a:solidFill>
                          <a:latin typeface="Calibri"/>
                        </a:rPr>
                        <a:t>Fix a bug</a:t>
                      </a:r>
                    </a:p>
                  </a:txBody>
                  <a:tcPr>
                    <a:solidFill>
                      <a:srgbClr val="F8F9FF"/>
                    </a:solidFill>
                  </a:tcPr>
                </a:tc>
                <a:tc>
                  <a:txBody>
                    <a:bodyPr/>
                    <a:lstStyle/>
                    <a:p>
                      <a:r>
                        <a:rPr sz="1000">
                          <a:solidFill>
                            <a:srgbClr val="1A1A2E"/>
                          </a:solidFill>
                          <a:latin typeface="Calibri"/>
                        </a:rPr>
                        <a:t>30 min</a:t>
                      </a:r>
                    </a:p>
                  </a:txBody>
                  <a:tcPr>
                    <a:solidFill>
                      <a:srgbClr val="F8F9FF"/>
                    </a:solidFill>
                  </a:tcPr>
                </a:tc>
                <a:tc>
                  <a:txBody>
                    <a:bodyPr/>
                    <a:lstStyle/>
                    <a:p>
                      <a:r>
                        <a:rPr sz="1000">
                          <a:solidFill>
                            <a:srgbClr val="1A1A2E"/>
                          </a:solidFill>
                          <a:latin typeface="Calibri"/>
                        </a:rPr>
                        <a:t>8 min</a:t>
                      </a:r>
                    </a:p>
                  </a:txBody>
                  <a:tcPr>
                    <a:solidFill>
                      <a:srgbClr val="F8F9FF"/>
                    </a:solidFill>
                  </a:tcPr>
                </a:tc>
                <a:tc>
                  <a:txBody>
                    <a:bodyPr/>
                    <a:lstStyle/>
                    <a:p>
                      <a:r>
                        <a:rPr sz="1000">
                          <a:solidFill>
                            <a:srgbClr val="1A1A2E"/>
                          </a:solidFill>
                          <a:latin typeface="Calibri"/>
                        </a:rPr>
                        <a:t>4×</a:t>
                      </a:r>
                    </a:p>
                  </a:txBody>
                  <a:tcPr>
                    <a:solidFill>
                      <a:srgbClr val="F8F9FF"/>
                    </a:solidFill>
                  </a:tcPr>
                </a:tc>
              </a:tr>
              <a:tr h="329184">
                <a:tc>
                  <a:txBody>
                    <a:bodyPr/>
                    <a:lstStyle/>
                    <a:p>
                      <a:r>
                        <a:rPr sz="1000">
                          <a:solidFill>
                            <a:srgbClr val="1A1A2E"/>
                          </a:solidFill>
                          <a:latin typeface="Calibri"/>
                        </a:rPr>
                        <a:t>Write boilerplate / scaffolding</a:t>
                      </a:r>
                    </a:p>
                  </a:txBody>
                  <a:tcPr>
                    <a:solidFill>
                      <a:srgbClr val="FFFFFF"/>
                    </a:solidFill>
                  </a:tcPr>
                </a:tc>
                <a:tc>
                  <a:txBody>
                    <a:bodyPr/>
                    <a:lstStyle/>
                    <a:p>
                      <a:r>
                        <a:rPr sz="1000">
                          <a:solidFill>
                            <a:srgbClr val="1A1A2E"/>
                          </a:solidFill>
                          <a:latin typeface="Calibri"/>
                        </a:rPr>
                        <a:t>45 min</a:t>
                      </a:r>
                    </a:p>
                  </a:txBody>
                  <a:tcPr>
                    <a:solidFill>
                      <a:srgbClr val="FFFFFF"/>
                    </a:solidFill>
                  </a:tcPr>
                </a:tc>
                <a:tc>
                  <a:txBody>
                    <a:bodyPr/>
                    <a:lstStyle/>
                    <a:p>
                      <a:r>
                        <a:rPr sz="1000">
                          <a:solidFill>
                            <a:srgbClr val="1A1A2E"/>
                          </a:solidFill>
                          <a:latin typeface="Calibri"/>
                        </a:rPr>
                        <a:t>30 sec</a:t>
                      </a:r>
                    </a:p>
                  </a:txBody>
                  <a:tcPr>
                    <a:solidFill>
                      <a:srgbClr val="FFFFFF"/>
                    </a:solidFill>
                  </a:tcPr>
                </a:tc>
                <a:tc>
                  <a:txBody>
                    <a:bodyPr/>
                    <a:lstStyle/>
                    <a:p>
                      <a:r>
                        <a:rPr sz="1000">
                          <a:solidFill>
                            <a:srgbClr val="1A1A2E"/>
                          </a:solidFill>
                          <a:latin typeface="Calibri"/>
                        </a:rPr>
                        <a:t>90×</a:t>
                      </a:r>
                    </a:p>
                  </a:txBody>
                  <a:tcPr>
                    <a:solidFill>
                      <a:srgbClr val="FFFFFF"/>
                    </a:solidFill>
                  </a:tcPr>
                </a:tc>
              </a:tr>
              <a:tr h="329184">
                <a:tc>
                  <a:txBody>
                    <a:bodyPr/>
                    <a:lstStyle/>
                    <a:p>
                      <a:r>
                        <a:rPr sz="1000">
                          <a:solidFill>
                            <a:srgbClr val="1A1A2E"/>
                          </a:solidFill>
                          <a:latin typeface="Calibri"/>
                        </a:rPr>
                        <a:t>Understand an unfamiliar codebase</a:t>
                      </a:r>
                    </a:p>
                  </a:txBody>
                  <a:tcPr>
                    <a:solidFill>
                      <a:srgbClr val="F8F9FF"/>
                    </a:solidFill>
                  </a:tcPr>
                </a:tc>
                <a:tc>
                  <a:txBody>
                    <a:bodyPr/>
                    <a:lstStyle/>
                    <a:p>
                      <a:r>
                        <a:rPr sz="1000">
                          <a:solidFill>
                            <a:srgbClr val="1A1A2E"/>
                          </a:solidFill>
                          <a:latin typeface="Calibri"/>
                        </a:rPr>
                        <a:t>2 weeks</a:t>
                      </a:r>
                    </a:p>
                  </a:txBody>
                  <a:tcPr>
                    <a:solidFill>
                      <a:srgbClr val="F8F9FF"/>
                    </a:solidFill>
                  </a:tcPr>
                </a:tc>
                <a:tc>
                  <a:txBody>
                    <a:bodyPr/>
                    <a:lstStyle/>
                    <a:p>
                      <a:r>
                        <a:rPr sz="1000">
                          <a:solidFill>
                            <a:srgbClr val="1A1A2E"/>
                          </a:solidFill>
                          <a:latin typeface="Calibri"/>
                        </a:rPr>
                        <a:t>3 days</a:t>
                      </a:r>
                    </a:p>
                  </a:txBody>
                  <a:tcPr>
                    <a:solidFill>
                      <a:srgbClr val="F8F9FF"/>
                    </a:solidFill>
                  </a:tcPr>
                </a:tc>
                <a:tc>
                  <a:txBody>
                    <a:bodyPr/>
                    <a:lstStyle/>
                    <a:p>
                      <a:r>
                        <a:rPr sz="1000">
                          <a:solidFill>
                            <a:srgbClr val="1A1A2E"/>
                          </a:solidFill>
                          <a:latin typeface="Calibri"/>
                        </a:rPr>
                        <a:t>5×</a:t>
                      </a:r>
                    </a:p>
                  </a:txBody>
                  <a:tcPr>
                    <a:solidFill>
                      <a:srgbClr val="F8F9FF"/>
                    </a:solidFill>
                  </a:tcPr>
                </a:tc>
              </a:tr>
              <a:tr h="329184">
                <a:tc>
                  <a:txBody>
                    <a:bodyPr/>
                    <a:lstStyle/>
                    <a:p>
                      <a:r>
                        <a:rPr sz="1000">
                          <a:solidFill>
                            <a:srgbClr val="1A1A2E"/>
                          </a:solidFill>
                          <a:latin typeface="Calibri"/>
                        </a:rPr>
                        <a:t>Write unit tests</a:t>
                      </a:r>
                    </a:p>
                  </a:txBody>
                  <a:tcPr>
                    <a:solidFill>
                      <a:srgbClr val="FFFFFF"/>
                    </a:solidFill>
                  </a:tcPr>
                </a:tc>
                <a:tc>
                  <a:txBody>
                    <a:bodyPr/>
                    <a:lstStyle/>
                    <a:p>
                      <a:r>
                        <a:rPr sz="1000">
                          <a:solidFill>
                            <a:srgbClr val="1A1A2E"/>
                          </a:solidFill>
                          <a:latin typeface="Calibri"/>
                        </a:rPr>
                        <a:t>20 min</a:t>
                      </a:r>
                    </a:p>
                  </a:txBody>
                  <a:tcPr>
                    <a:solidFill>
                      <a:srgbClr val="FFFFFF"/>
                    </a:solidFill>
                  </a:tcPr>
                </a:tc>
                <a:tc>
                  <a:txBody>
                    <a:bodyPr/>
                    <a:lstStyle/>
                    <a:p>
                      <a:r>
                        <a:rPr sz="1000">
                          <a:solidFill>
                            <a:srgbClr val="1A1A2E"/>
                          </a:solidFill>
                          <a:latin typeface="Calibri"/>
                        </a:rPr>
                        <a:t>3 min</a:t>
                      </a:r>
                    </a:p>
                  </a:txBody>
                  <a:tcPr>
                    <a:solidFill>
                      <a:srgbClr val="FFFFFF"/>
                    </a:solidFill>
                  </a:tcPr>
                </a:tc>
                <a:tc>
                  <a:txBody>
                    <a:bodyPr/>
                    <a:lstStyle/>
                    <a:p>
                      <a:r>
                        <a:rPr sz="1000">
                          <a:solidFill>
                            <a:srgbClr val="1A1A2E"/>
                          </a:solidFill>
                          <a:latin typeface="Calibri"/>
                        </a:rPr>
                        <a:t>7×</a:t>
                      </a:r>
                    </a:p>
                  </a:txBody>
                  <a:tcPr>
                    <a:solidFill>
                      <a:srgbClr val="FFFFFF"/>
                    </a:solidFill>
                  </a:tcPr>
                </a:tc>
              </a:tr>
            </a:tbl>
          </a:graphicData>
        </a:graphic>
      </p:graphicFrame>
      <p:sp>
        <p:nvSpPr>
          <p:cNvPr id="12" name="TextBox 11"/>
          <p:cNvSpPr txBox="1"/>
          <p:nvPr/>
        </p:nvSpPr>
        <p:spPr>
          <a:xfrm>
            <a:off x="502920" y="3803904"/>
            <a:ext cx="6400800" cy="2642616"/>
          </a:xfrm>
          <a:prstGeom prst="rect">
            <a:avLst/>
          </a:prstGeom>
          <a:noFill/>
        </p:spPr>
        <p:txBody>
          <a:bodyPr wrap="square">
            <a:spAutoFit/>
          </a:bodyPr>
          <a:lstStyle/>
          <a:p>
            <a:pPr>
              <a:spcBef>
                <a:spcPts val="300"/>
              </a:spcBef>
              <a:spcAft>
                <a:spcPts val="200"/>
              </a:spcAft>
            </a:pPr>
            <a:r>
              <a:rPr sz="1300" b="1">
                <a:solidFill>
                  <a:srgbClr val="0F3460"/>
                </a:solidFill>
                <a:latin typeface="Calibri"/>
              </a:rPr>
              <a:t>The before/after for business analytics professionals:</a:t>
            </a:r>
          </a:p>
          <a:p>
            <a:pPr>
              <a:spcBef>
                <a:spcPts val="300"/>
              </a:spcBef>
              <a:spcAft>
                <a:spcPts val="200"/>
              </a:spcAft>
            </a:pPr>
            <a:r>
              <a:rPr sz="1200" b="0">
                <a:solidFill>
                  <a:srgbClr val="2D3748"/>
                </a:solidFill>
                <a:latin typeface="Calibri"/>
              </a:rPr>
              <a:t>Before (2022): Write every line manually. Google for syntax. Stack Overflow for debugging. 70% of coding time on boilerplate, lookups, and mechanical fixes.</a:t>
            </a:r>
          </a:p>
          <a:p>
            <a:pPr>
              <a:spcBef>
                <a:spcPts val="300"/>
              </a:spcBef>
              <a:spcAft>
                <a:spcPts val="200"/>
              </a:spcAft>
            </a:pPr>
            <a:r>
              <a:rPr sz="1200" b="0">
                <a:solidFill>
                  <a:srgbClr val="2D3748"/>
                </a:solidFill>
                <a:latin typeface="Calibri"/>
              </a:rPr>
              <a:t>After (2026): Describe what you want. Review and validate what AI produces. Focus on logic, architecture, and business problem framing. AI handles the execution details.</a:t>
            </a:r>
          </a:p>
          <a:p>
            <a:pPr>
              <a:spcBef>
                <a:spcPts val="300"/>
              </a:spcBef>
              <a:spcAft>
                <a:spcPts val="200"/>
              </a:spcAft>
            </a:pPr>
            <a:r>
              <a:rPr sz="1300" b="1">
                <a:solidFill>
                  <a:srgbClr val="0F3460"/>
                </a:solidFill>
                <a:latin typeface="Calibri"/>
              </a:rPr>
              <a:t>What this changes about skills: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234440"/>
          </a:xfrm>
          <a:prstGeom prst="rect">
            <a:avLst/>
          </a:prstGeom>
          <a:solidFill>
            <a:srgbClr val="1621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91440"/>
            <a:ext cx="11368735" cy="658368"/>
          </a:xfrm>
          <a:prstGeom prst="rect">
            <a:avLst/>
          </a:prstGeom>
          <a:noFill/>
        </p:spPr>
        <p:txBody>
          <a:bodyPr wrap="square">
            <a:spAutoFit/>
          </a:bodyPr>
          <a:lstStyle/>
          <a:p>
            <a:r>
              <a:rPr sz="2700" b="1">
                <a:solidFill>
                  <a:srgbClr val="FFFFFF"/>
                </a:solidFill>
                <a:latin typeface="Calibri"/>
              </a:rPr>
              <a:t>Claude Code — The Agentic Terminal</a:t>
            </a:r>
          </a:p>
        </p:txBody>
      </p:sp>
      <p:sp>
        <p:nvSpPr>
          <p:cNvPr id="5" name="TextBox 4"/>
          <p:cNvSpPr txBox="1"/>
          <p:nvPr/>
        </p:nvSpPr>
        <p:spPr>
          <a:xfrm>
            <a:off x="411480" y="749808"/>
            <a:ext cx="11368735" cy="402336"/>
          </a:xfrm>
          <a:prstGeom prst="rect">
            <a:avLst/>
          </a:prstGeom>
          <a:noFill/>
        </p:spPr>
        <p:txBody>
          <a:bodyPr wrap="none">
            <a:spAutoFit/>
          </a:bodyPr>
          <a:lstStyle/>
          <a:p>
            <a:r>
              <a:rPr sz="1500">
                <a:solidFill>
                  <a:srgbClr val="0EA5E9"/>
                </a:solidFill>
                <a:latin typeface="Calibri"/>
              </a:rPr>
              <a:t>Anthropic's CLI Coding Agent</a:t>
            </a:r>
          </a:p>
        </p:txBody>
      </p:sp>
      <p:sp>
        <p:nvSpPr>
          <p:cNvPr id="6" name="Rectangle 5"/>
          <p:cNvSpPr/>
          <p:nvPr/>
        </p:nvSpPr>
        <p:spPr>
          <a:xfrm>
            <a:off x="0" y="1234440"/>
            <a:ext cx="12191695" cy="36576"/>
          </a:xfrm>
          <a:prstGeom prst="rect">
            <a:avLst/>
          </a:prstGeom>
          <a:solidFill>
            <a:srgbClr val="0EA5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1551615" y="6537960"/>
            <a:ext cx="502920" cy="256032"/>
          </a:xfrm>
          <a:prstGeom prst="rect">
            <a:avLst/>
          </a:prstGeom>
          <a:noFill/>
        </p:spPr>
        <p:txBody>
          <a:bodyPr wrap="none">
            <a:spAutoFit/>
          </a:bodyPr>
          <a:lstStyle/>
          <a:p>
            <a:pPr algn="ctr"/>
            <a:r>
              <a:rPr sz="1000">
                <a:solidFill>
                  <a:srgbClr val="AAAABB"/>
                </a:solidFill>
                <a:latin typeface="Calibri"/>
              </a:rPr>
              <a:t>15</a:t>
            </a:r>
          </a:p>
        </p:txBody>
      </p:sp>
      <p:sp>
        <p:nvSpPr>
          <p:cNvPr id="8" name="TextBox 7"/>
          <p:cNvSpPr txBox="1"/>
          <p:nvPr/>
        </p:nvSpPr>
        <p:spPr>
          <a:xfrm>
            <a:off x="502920" y="1353312"/>
            <a:ext cx="11185855" cy="5093208"/>
          </a:xfrm>
          <a:prstGeom prst="rect">
            <a:avLst/>
          </a:prstGeom>
          <a:noFill/>
        </p:spPr>
        <p:txBody>
          <a:bodyPr wrap="square">
            <a:spAutoFit/>
          </a:bodyPr>
          <a:lstStyle/>
          <a:p>
            <a:pPr>
              <a:spcBef>
                <a:spcPts val="300"/>
              </a:spcBef>
              <a:spcAft>
                <a:spcPts val="200"/>
              </a:spcAft>
            </a:pPr>
            <a:r>
              <a:rPr sz="1300" b="1">
                <a:solidFill>
                  <a:srgbClr val="0F3460"/>
                </a:solidFill>
                <a:latin typeface="Calibri"/>
              </a:rPr>
              <a:t>What makes Claude Code fundamentally different from Copilot-style tools:</a:t>
            </a:r>
          </a:p>
        </p:txBody>
      </p:sp>
      <p:graphicFrame>
        <p:nvGraphicFramePr>
          <p:cNvPr id="9" name="Table 8"/>
          <p:cNvGraphicFramePr>
            <a:graphicFrameLocks noGrp="1"/>
          </p:cNvGraphicFramePr>
          <p:nvPr/>
        </p:nvGraphicFramePr>
        <p:xfrm>
          <a:off x="502920" y="1737360"/>
          <a:ext cx="11185855" cy="2304288"/>
        </p:xfrm>
        <a:graphic>
          <a:graphicData uri="http://schemas.openxmlformats.org/drawingml/2006/table">
            <a:tbl>
              <a:tblPr firstRow="1" bandRow="1">
                <a:tableStyleId>{5C22544A-7EE6-4342-B048-85BDC9FD1C3A}</a:tableStyleId>
              </a:tblPr>
              <a:tblGrid>
                <a:gridCol w="3728618"/>
                <a:gridCol w="3728618"/>
                <a:gridCol w="3728619"/>
              </a:tblGrid>
              <a:tr h="329184">
                <a:tc>
                  <a:txBody>
                    <a:bodyPr/>
                    <a:lstStyle/>
                    <a:p>
                      <a:pPr algn="l"/>
                      <a:r>
                        <a:rPr sz="1000" b="1">
                          <a:solidFill>
                            <a:srgbClr val="FFFFFF"/>
                          </a:solidFill>
                          <a:latin typeface="Calibri"/>
                        </a:rPr>
                        <a:t>Dimension</a:t>
                      </a:r>
                    </a:p>
                  </a:txBody>
                  <a:tcPr>
                    <a:solidFill>
                      <a:srgbClr val="16213E"/>
                    </a:solidFill>
                  </a:tcPr>
                </a:tc>
                <a:tc>
                  <a:txBody>
                    <a:bodyPr/>
                    <a:lstStyle/>
                    <a:p>
                      <a:pPr algn="l"/>
                      <a:r>
                        <a:rPr sz="1000" b="1">
                          <a:solidFill>
                            <a:srgbClr val="FFFFFF"/>
                          </a:solidFill>
                          <a:latin typeface="Calibri"/>
                        </a:rPr>
                        <a:t>Claude Code</a:t>
                      </a:r>
                    </a:p>
                  </a:txBody>
                  <a:tcPr>
                    <a:solidFill>
                      <a:srgbClr val="16213E"/>
                    </a:solidFill>
                  </a:tcPr>
                </a:tc>
                <a:tc>
                  <a:txBody>
                    <a:bodyPr/>
                    <a:lstStyle/>
                    <a:p>
                      <a:pPr algn="l"/>
                      <a:r>
                        <a:rPr sz="1000" b="1">
                          <a:solidFill>
                            <a:srgbClr val="FFFFFF"/>
                          </a:solidFill>
                          <a:latin typeface="Calibri"/>
                        </a:rPr>
                        <a:t>IDE Autocomplete Tools</a:t>
                      </a:r>
                    </a:p>
                  </a:txBody>
                  <a:tcPr>
                    <a:solidFill>
                      <a:srgbClr val="16213E"/>
                    </a:solidFill>
                  </a:tcPr>
                </a:tc>
              </a:tr>
              <a:tr h="329184">
                <a:tc>
                  <a:txBody>
                    <a:bodyPr/>
                    <a:lstStyle/>
                    <a:p>
                      <a:r>
                        <a:rPr sz="1000">
                          <a:solidFill>
                            <a:srgbClr val="1A1A2E"/>
                          </a:solidFill>
                          <a:latin typeface="Calibri"/>
                        </a:rPr>
                        <a:t>Interface</a:t>
                      </a:r>
                    </a:p>
                  </a:txBody>
                  <a:tcPr>
                    <a:solidFill>
                      <a:srgbClr val="FFFFFF"/>
                    </a:solidFill>
                  </a:tcPr>
                </a:tc>
                <a:tc>
                  <a:txBody>
                    <a:bodyPr/>
                    <a:lstStyle/>
                    <a:p>
                      <a:r>
                        <a:rPr sz="1000">
                          <a:solidFill>
                            <a:srgbClr val="1A1A2E"/>
                          </a:solidFill>
                          <a:latin typeface="Calibri"/>
                        </a:rPr>
                        <a:t>Terminal CLI — works anywhere</a:t>
                      </a:r>
                    </a:p>
                  </a:txBody>
                  <a:tcPr>
                    <a:solidFill>
                      <a:srgbClr val="FFFFFF"/>
                    </a:solidFill>
                  </a:tcPr>
                </a:tc>
                <a:tc>
                  <a:txBody>
                    <a:bodyPr/>
                    <a:lstStyle/>
                    <a:p>
                      <a:r>
                        <a:rPr sz="1000">
                          <a:solidFill>
                            <a:srgbClr val="1A1A2E"/>
                          </a:solidFill>
                          <a:latin typeface="Calibri"/>
                        </a:rPr>
                        <a:t>IDE plugin — tied to one editor</a:t>
                      </a:r>
                    </a:p>
                  </a:txBody>
                  <a:tcPr>
                    <a:solidFill>
                      <a:srgbClr val="FFFFFF"/>
                    </a:solidFill>
                  </a:tcPr>
                </a:tc>
              </a:tr>
              <a:tr h="329184">
                <a:tc>
                  <a:txBody>
                    <a:bodyPr/>
                    <a:lstStyle/>
                    <a:p>
                      <a:r>
                        <a:rPr sz="1000">
                          <a:solidFill>
                            <a:srgbClr val="1A1A2E"/>
                          </a:solidFill>
                          <a:latin typeface="Calibri"/>
                        </a:rPr>
                        <a:t>Scope of awareness</a:t>
                      </a:r>
                    </a:p>
                  </a:txBody>
                  <a:tcPr>
                    <a:solidFill>
                      <a:srgbClr val="F8F9FF"/>
                    </a:solidFill>
                  </a:tcPr>
                </a:tc>
                <a:tc>
                  <a:txBody>
                    <a:bodyPr/>
                    <a:lstStyle/>
                    <a:p>
                      <a:r>
                        <a:rPr sz="1000">
                          <a:solidFill>
                            <a:srgbClr val="1A1A2E"/>
                          </a:solidFill>
                          <a:latin typeface="Calibri"/>
                        </a:rPr>
                        <a:t>Your entire codebase</a:t>
                      </a:r>
                    </a:p>
                  </a:txBody>
                  <a:tcPr>
                    <a:solidFill>
                      <a:srgbClr val="F8F9FF"/>
                    </a:solidFill>
                  </a:tcPr>
                </a:tc>
                <a:tc>
                  <a:txBody>
                    <a:bodyPr/>
                    <a:lstStyle/>
                    <a:p>
                      <a:r>
                        <a:rPr sz="1000">
                          <a:solidFill>
                            <a:srgbClr val="1A1A2E"/>
                          </a:solidFill>
                          <a:latin typeface="Calibri"/>
                        </a:rPr>
                        <a:t>The file you're editing</a:t>
                      </a:r>
                    </a:p>
                  </a:txBody>
                  <a:tcPr>
                    <a:solidFill>
                      <a:srgbClr val="F8F9FF"/>
                    </a:solidFill>
                  </a:tcPr>
                </a:tc>
              </a:tr>
              <a:tr h="329184">
                <a:tc>
                  <a:txBody>
                    <a:bodyPr/>
                    <a:lstStyle/>
                    <a:p>
                      <a:r>
                        <a:rPr sz="1000">
                          <a:solidFill>
                            <a:srgbClr val="1A1A2E"/>
                          </a:solidFill>
                          <a:latin typeface="Calibri"/>
                        </a:rPr>
                        <a:t>Mode of operation</a:t>
                      </a:r>
                    </a:p>
                  </a:txBody>
                  <a:tcPr>
                    <a:solidFill>
                      <a:srgbClr val="FFFFFF"/>
                    </a:solidFill>
                  </a:tcPr>
                </a:tc>
                <a:tc>
                  <a:txBody>
                    <a:bodyPr/>
                    <a:lstStyle/>
                    <a:p>
                      <a:r>
                        <a:rPr sz="1000">
                          <a:solidFill>
                            <a:srgbClr val="1A1A2E"/>
                          </a:solidFill>
                          <a:latin typeface="Calibri"/>
                        </a:rPr>
                        <a:t>Completes full tasks end-to-end</a:t>
                      </a:r>
                    </a:p>
                  </a:txBody>
                  <a:tcPr>
                    <a:solidFill>
                      <a:srgbClr val="FFFFFF"/>
                    </a:solidFill>
                  </a:tcPr>
                </a:tc>
                <a:tc>
                  <a:txBody>
                    <a:bodyPr/>
                    <a:lstStyle/>
                    <a:p>
                      <a:r>
                        <a:rPr sz="1000">
                          <a:solidFill>
                            <a:srgbClr val="1A1A2E"/>
                          </a:solidFill>
                          <a:latin typeface="Calibri"/>
                        </a:rPr>
                        <a:t>Suggests what to type next</a:t>
                      </a:r>
                    </a:p>
                  </a:txBody>
                  <a:tcPr>
                    <a:solidFill>
                      <a:srgbClr val="FFFFFF"/>
                    </a:solidFill>
                  </a:tcPr>
                </a:tc>
              </a:tr>
              <a:tr h="329184">
                <a:tc>
                  <a:txBody>
                    <a:bodyPr/>
                    <a:lstStyle/>
                    <a:p>
                      <a:r>
                        <a:rPr sz="1000">
                          <a:solidFill>
                            <a:srgbClr val="1A1A2E"/>
                          </a:solidFill>
                          <a:latin typeface="Calibri"/>
                        </a:rPr>
                        <a:t>Actions it can take</a:t>
                      </a:r>
                    </a:p>
                  </a:txBody>
                  <a:tcPr>
                    <a:solidFill>
                      <a:srgbClr val="F8F9FF"/>
                    </a:solidFill>
                  </a:tcPr>
                </a:tc>
                <a:tc>
                  <a:txBody>
                    <a:bodyPr/>
                    <a:lstStyle/>
                    <a:p>
                      <a:r>
                        <a:rPr sz="1000">
                          <a:solidFill>
                            <a:srgbClr val="1A1A2E"/>
                          </a:solidFill>
                          <a:latin typeface="Calibri"/>
                        </a:rPr>
                        <a:t>Read files, write files, run tests, execute commands</a:t>
                      </a:r>
                    </a:p>
                  </a:txBody>
                  <a:tcPr>
                    <a:solidFill>
                      <a:srgbClr val="F8F9FF"/>
                    </a:solidFill>
                  </a:tcPr>
                </a:tc>
                <a:tc>
                  <a:txBody>
                    <a:bodyPr/>
                    <a:lstStyle/>
                    <a:p>
                      <a:r>
                        <a:rPr sz="1000">
                          <a:solidFill>
                            <a:srgbClr val="1A1A2E"/>
                          </a:solidFill>
                          <a:latin typeface="Calibri"/>
                        </a:rPr>
                        <a:t>Insert code suggestions only</a:t>
                      </a:r>
                    </a:p>
                  </a:txBody>
                  <a:tcPr>
                    <a:solidFill>
                      <a:srgbClr val="F8F9FF"/>
                    </a:solidFill>
                  </a:tcPr>
                </a:tc>
              </a:tr>
              <a:tr h="329184">
                <a:tc>
                  <a:txBody>
                    <a:bodyPr/>
                    <a:lstStyle/>
                    <a:p>
                      <a:r>
                        <a:rPr sz="1000">
                          <a:solidFill>
                            <a:srgbClr val="1A1A2E"/>
                          </a:solidFill>
                          <a:latin typeface="Calibri"/>
                        </a:rPr>
                        <a:t>Autonomy level</a:t>
                      </a:r>
                    </a:p>
                  </a:txBody>
                  <a:tcPr>
                    <a:solidFill>
                      <a:srgbClr val="FFFFFF"/>
                    </a:solidFill>
                  </a:tcPr>
                </a:tc>
                <a:tc>
                  <a:txBody>
                    <a:bodyPr/>
                    <a:lstStyle/>
                    <a:p>
                      <a:r>
                        <a:rPr sz="1000">
                          <a:solidFill>
                            <a:srgbClr val="1A1A2E"/>
                          </a:solidFill>
                          <a:latin typeface="Calibri"/>
                        </a:rPr>
                        <a:t>Full agent — plans and executes</a:t>
                      </a:r>
                    </a:p>
                  </a:txBody>
                  <a:tcPr>
                    <a:solidFill>
                      <a:srgbClr val="FFFFFF"/>
                    </a:solidFill>
                  </a:tcPr>
                </a:tc>
                <a:tc>
                  <a:txBody>
                    <a:bodyPr/>
                    <a:lstStyle/>
                    <a:p>
                      <a:r>
                        <a:rPr sz="1000">
                          <a:solidFill>
                            <a:srgbClr val="1A1A2E"/>
                          </a:solidFill>
                          <a:latin typeface="Calibri"/>
                        </a:rPr>
                        <a:t>Copilot — assists and waits</a:t>
                      </a:r>
                    </a:p>
                  </a:txBody>
                  <a:tcPr>
                    <a:solidFill>
                      <a:srgbClr val="FFFFFF"/>
                    </a:solidFill>
                  </a:tcPr>
                </a:tc>
              </a:tr>
              <a:tr h="329184">
                <a:tc>
                  <a:txBody>
                    <a:bodyPr/>
                    <a:lstStyle/>
                    <a:p>
                      <a:r>
                        <a:rPr sz="1000">
                          <a:solidFill>
                            <a:srgbClr val="1A1A2E"/>
                          </a:solidFill>
                          <a:latin typeface="Calibri"/>
                        </a:rPr>
                        <a:t>Best model</a:t>
                      </a:r>
                    </a:p>
                  </a:txBody>
                  <a:tcPr>
                    <a:solidFill>
                      <a:srgbClr val="F8F9FF"/>
                    </a:solidFill>
                  </a:tcPr>
                </a:tc>
                <a:tc>
                  <a:txBody>
                    <a:bodyPr/>
                    <a:lstStyle/>
                    <a:p>
                      <a:r>
                        <a:rPr sz="1000">
                          <a:solidFill>
                            <a:srgbClr val="1A1A2E"/>
                          </a:solidFill>
                          <a:latin typeface="Calibri"/>
                        </a:rPr>
                        <a:t>Claude 3.7 Sonnet (coding benchmark leader)</a:t>
                      </a:r>
                    </a:p>
                  </a:txBody>
                  <a:tcPr>
                    <a:solidFill>
                      <a:srgbClr val="F8F9FF"/>
                    </a:solidFill>
                  </a:tcPr>
                </a:tc>
                <a:tc>
                  <a:txBody>
                    <a:bodyPr/>
                    <a:lstStyle/>
                    <a:p>
                      <a:r>
                        <a:rPr sz="1000">
                          <a:solidFill>
                            <a:srgbClr val="1A1A2E"/>
                          </a:solidFill>
                          <a:latin typeface="Calibri"/>
                        </a:rPr>
                        <a:t>Varies by tool</a:t>
                      </a:r>
                    </a:p>
                  </a:txBody>
                  <a:tcPr>
                    <a:solidFill>
                      <a:srgbClr val="F8F9FF"/>
                    </a:solidFill>
                  </a:tcPr>
                </a:tc>
              </a:tr>
            </a:tbl>
          </a:graphicData>
        </a:graphic>
      </p:graphicFrame>
      <p:sp>
        <p:nvSpPr>
          <p:cNvPr id="10" name="TextBox 9"/>
          <p:cNvSpPr txBox="1"/>
          <p:nvPr/>
        </p:nvSpPr>
        <p:spPr>
          <a:xfrm>
            <a:off x="502920" y="4133088"/>
            <a:ext cx="11185855" cy="2313432"/>
          </a:xfrm>
          <a:prstGeom prst="rect">
            <a:avLst/>
          </a:prstGeom>
          <a:noFill/>
        </p:spPr>
        <p:txBody>
          <a:bodyPr wrap="square">
            <a:spAutoFit/>
          </a:bodyPr>
          <a:lstStyle/>
          <a:p>
            <a:pPr>
              <a:spcBef>
                <a:spcPts val="300"/>
              </a:spcBef>
              <a:spcAft>
                <a:spcPts val="200"/>
              </a:spcAft>
            </a:pPr>
            <a:r>
              <a:rPr sz="1300" b="1">
                <a:solidFill>
                  <a:srgbClr val="0F3460"/>
                </a:solidFill>
                <a:latin typeface="Calibri"/>
              </a:rPr>
              <a:t>How it works in practice:</a:t>
            </a:r>
          </a:p>
          <a:p>
            <a:pPr>
              <a:spcBef>
                <a:spcPts val="300"/>
              </a:spcBef>
              <a:spcAft>
                <a:spcPts val="200"/>
              </a:spcAft>
            </a:pPr>
            <a:r>
              <a:rPr sz="1300" b="1">
                <a:solidFill>
                  <a:srgbClr val="0F3460"/>
                </a:solidFill>
                <a:latin typeface="Calibri"/>
              </a:rPr>
              <a:t>Real task examples Claude Code completes autonomously:</a:t>
            </a:r>
          </a:p>
          <a:p>
            <a:pPr>
              <a:spcBef>
                <a:spcPts val="300"/>
              </a:spcBef>
              <a:spcAft>
                <a:spcPts val="200"/>
              </a:spcAft>
            </a:pPr>
            <a:r>
              <a:rPr sz="1300">
                <a:solidFill>
                  <a:srgbClr val="0EA5E9"/>
                </a:solidFill>
                <a:latin typeface="Calibri"/>
              </a:rPr>
              <a:t>• </a:t>
            </a:r>
            <a:r>
              <a:rPr sz="1300" b="0">
                <a:solidFill>
                  <a:srgbClr val="1A1A2E"/>
                </a:solidFill>
                <a:latin typeface="Calibri"/>
              </a:rPr>
              <a:t>"Add error handling and retry logic to all API calls in the src/api/ directory"</a:t>
            </a:r>
          </a:p>
          <a:p>
            <a:pPr>
              <a:spcBef>
                <a:spcPts val="300"/>
              </a:spcBef>
              <a:spcAft>
                <a:spcPts val="200"/>
              </a:spcAft>
            </a:pPr>
            <a:r>
              <a:rPr sz="1300">
                <a:solidFill>
                  <a:srgbClr val="0EA5E9"/>
                </a:solidFill>
                <a:latin typeface="Calibri"/>
              </a:rPr>
              <a:t>• </a:t>
            </a:r>
            <a:r>
              <a:rPr sz="1300" b="0">
                <a:solidFill>
                  <a:srgbClr val="1A1A2E"/>
                </a:solidFill>
                <a:latin typeface="Calibri"/>
              </a:rPr>
              <a:t>"Write pytest unit tests for the UserService class, covering edge cases"</a:t>
            </a:r>
          </a:p>
          <a:p>
            <a:pPr>
              <a:spcBef>
                <a:spcPts val="300"/>
              </a:spcBef>
              <a:spcAft>
                <a:spcPts val="200"/>
              </a:spcAft>
            </a:pPr>
            <a:r>
              <a:rPr sz="1300">
                <a:solidFill>
                  <a:srgbClr val="0EA5E9"/>
                </a:solidFill>
                <a:latin typeface="Calibri"/>
              </a:rPr>
              <a:t>• </a:t>
            </a:r>
            <a:r>
              <a:rPr sz="1300" b="0">
                <a:solidFill>
                  <a:srgbClr val="1A1A2E"/>
                </a:solidFill>
                <a:latin typeface="Calibri"/>
              </a:rPr>
              <a:t>"Refactor the authentication module to use JWT tokens instead of session cookies"</a:t>
            </a:r>
          </a:p>
          <a:p>
            <a:pPr>
              <a:spcBef>
                <a:spcPts val="300"/>
              </a:spcBef>
              <a:spcAft>
                <a:spcPts val="200"/>
              </a:spcAft>
            </a:pPr>
            <a:r>
              <a:rPr sz="1300">
                <a:solidFill>
                  <a:srgbClr val="0EA5E9"/>
                </a:solidFill>
                <a:latin typeface="Calibri"/>
              </a:rPr>
              <a:t>• </a:t>
            </a:r>
            <a:r>
              <a:rPr sz="1300" b="0">
                <a:solidFill>
                  <a:srgbClr val="1A1A2E"/>
                </a:solidFill>
                <a:latin typeface="Calibri"/>
              </a:rPr>
              <a:t>"There's a bug in checkout.py — the discount isn't applied when cart &gt; $500. Fix it."</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234440"/>
          </a:xfrm>
          <a:prstGeom prst="rect">
            <a:avLst/>
          </a:prstGeom>
          <a:solidFill>
            <a:srgbClr val="1621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91440"/>
            <a:ext cx="11368735" cy="658368"/>
          </a:xfrm>
          <a:prstGeom prst="rect">
            <a:avLst/>
          </a:prstGeom>
          <a:noFill/>
        </p:spPr>
        <p:txBody>
          <a:bodyPr wrap="square">
            <a:spAutoFit/>
          </a:bodyPr>
          <a:lstStyle/>
          <a:p>
            <a:r>
              <a:rPr sz="2700" b="1">
                <a:solidFill>
                  <a:srgbClr val="FFFFFF"/>
                </a:solidFill>
                <a:latin typeface="Calibri"/>
              </a:rPr>
              <a:t>Cursor — The AI-Native IDE</a:t>
            </a:r>
          </a:p>
        </p:txBody>
      </p:sp>
      <p:sp>
        <p:nvSpPr>
          <p:cNvPr id="5" name="TextBox 4"/>
          <p:cNvSpPr txBox="1"/>
          <p:nvPr/>
        </p:nvSpPr>
        <p:spPr>
          <a:xfrm>
            <a:off x="411480" y="749808"/>
            <a:ext cx="11368735" cy="402336"/>
          </a:xfrm>
          <a:prstGeom prst="rect">
            <a:avLst/>
          </a:prstGeom>
          <a:noFill/>
        </p:spPr>
        <p:txBody>
          <a:bodyPr wrap="none">
            <a:spAutoFit/>
          </a:bodyPr>
          <a:lstStyle/>
          <a:p>
            <a:r>
              <a:rPr sz="1500">
                <a:solidFill>
                  <a:srgbClr val="0EA5E9"/>
                </a:solidFill>
                <a:latin typeface="Calibri"/>
              </a:rPr>
              <a:t>VS Code Rebuilt for AI-Assisted Development</a:t>
            </a:r>
          </a:p>
        </p:txBody>
      </p:sp>
      <p:sp>
        <p:nvSpPr>
          <p:cNvPr id="6" name="Rectangle 5"/>
          <p:cNvSpPr/>
          <p:nvPr/>
        </p:nvSpPr>
        <p:spPr>
          <a:xfrm>
            <a:off x="0" y="1234440"/>
            <a:ext cx="12191695" cy="36576"/>
          </a:xfrm>
          <a:prstGeom prst="rect">
            <a:avLst/>
          </a:prstGeom>
          <a:solidFill>
            <a:srgbClr val="0EA5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1551615" y="6537960"/>
            <a:ext cx="502920" cy="256032"/>
          </a:xfrm>
          <a:prstGeom prst="rect">
            <a:avLst/>
          </a:prstGeom>
          <a:noFill/>
        </p:spPr>
        <p:txBody>
          <a:bodyPr wrap="none">
            <a:spAutoFit/>
          </a:bodyPr>
          <a:lstStyle/>
          <a:p>
            <a:pPr algn="ctr"/>
            <a:r>
              <a:rPr sz="1000">
                <a:solidFill>
                  <a:srgbClr val="AAAABB"/>
                </a:solidFill>
                <a:latin typeface="Calibri"/>
              </a:rPr>
              <a:t>16</a:t>
            </a:r>
          </a:p>
        </p:txBody>
      </p:sp>
      <p:sp>
        <p:nvSpPr>
          <p:cNvPr id="8" name="TextBox 7"/>
          <p:cNvSpPr txBox="1"/>
          <p:nvPr/>
        </p:nvSpPr>
        <p:spPr>
          <a:xfrm>
            <a:off x="502920" y="1353312"/>
            <a:ext cx="11185855" cy="5093208"/>
          </a:xfrm>
          <a:prstGeom prst="rect">
            <a:avLst/>
          </a:prstGeom>
          <a:noFill/>
        </p:spPr>
        <p:txBody>
          <a:bodyPr wrap="square">
            <a:spAutoFit/>
          </a:bodyPr>
          <a:lstStyle/>
          <a:p>
            <a:pPr>
              <a:spcBef>
                <a:spcPts val="300"/>
              </a:spcBef>
              <a:spcAft>
                <a:spcPts val="200"/>
              </a:spcAft>
            </a:pPr>
            <a:r>
              <a:rPr sz="1300" b="1">
                <a:solidFill>
                  <a:srgbClr val="0F3460"/>
                </a:solidFill>
                <a:latin typeface="Calibri"/>
              </a:rPr>
              <a:t>Why Cursor is the most popular AI coding tool among professional developers (2025–2026):</a:t>
            </a:r>
          </a:p>
          <a:p>
            <a:pPr>
              <a:spcBef>
                <a:spcPts val="300"/>
              </a:spcBef>
              <a:spcAft>
                <a:spcPts val="200"/>
              </a:spcAft>
            </a:pPr>
            <a:r>
              <a:rPr sz="1200" b="0">
                <a:solidFill>
                  <a:srgbClr val="2D3748"/>
                </a:solidFill>
                <a:latin typeface="Calibri"/>
              </a:rPr>
              <a:t>Cursor didn't bolt AI onto an existing editor — they forked VS Code and rebuilt every layer with AI as a core primitive. The AI has access to your full project structure, open files, terminal output, and git history. This context depth is what separates Cursor from plugins.</a:t>
            </a:r>
          </a:p>
          <a:p>
            <a:pPr>
              <a:spcBef>
                <a:spcPts val="300"/>
              </a:spcBef>
              <a:spcAft>
                <a:spcPts val="200"/>
              </a:spcAft>
            </a:pPr>
            <a:r>
              <a:rPr sz="1300" b="1">
                <a:solidFill>
                  <a:srgbClr val="0F3460"/>
                </a:solidFill>
                <a:latin typeface="Calibri"/>
              </a:rPr>
              <a:t>The four features that matter:</a:t>
            </a:r>
          </a:p>
        </p:txBody>
      </p:sp>
      <p:graphicFrame>
        <p:nvGraphicFramePr>
          <p:cNvPr id="9" name="Table 8"/>
          <p:cNvGraphicFramePr>
            <a:graphicFrameLocks noGrp="1"/>
          </p:cNvGraphicFramePr>
          <p:nvPr/>
        </p:nvGraphicFramePr>
        <p:xfrm>
          <a:off x="502920" y="2322576"/>
          <a:ext cx="11185855" cy="1645920"/>
        </p:xfrm>
        <a:graphic>
          <a:graphicData uri="http://schemas.openxmlformats.org/drawingml/2006/table">
            <a:tbl>
              <a:tblPr firstRow="1" bandRow="1">
                <a:tableStyleId>{5C22544A-7EE6-4342-B048-85BDC9FD1C3A}</a:tableStyleId>
              </a:tblPr>
              <a:tblGrid>
                <a:gridCol w="3728618"/>
                <a:gridCol w="3728618"/>
                <a:gridCol w="3728619"/>
              </a:tblGrid>
              <a:tr h="329184">
                <a:tc>
                  <a:txBody>
                    <a:bodyPr/>
                    <a:lstStyle/>
                    <a:p>
                      <a:pPr algn="l"/>
                      <a:r>
                        <a:rPr sz="1000" b="1">
                          <a:solidFill>
                            <a:srgbClr val="FFFFFF"/>
                          </a:solidFill>
                          <a:latin typeface="Calibri"/>
                        </a:rPr>
                        <a:t>Feature</a:t>
                      </a:r>
                    </a:p>
                  </a:txBody>
                  <a:tcPr>
                    <a:solidFill>
                      <a:srgbClr val="16213E"/>
                    </a:solidFill>
                  </a:tcPr>
                </a:tc>
                <a:tc>
                  <a:txBody>
                    <a:bodyPr/>
                    <a:lstStyle/>
                    <a:p>
                      <a:pPr algn="l"/>
                      <a:r>
                        <a:rPr sz="1000" b="1">
                          <a:solidFill>
                            <a:srgbClr val="FFFFFF"/>
                          </a:solidFill>
                          <a:latin typeface="Calibri"/>
                        </a:rPr>
                        <a:t>How It Works</a:t>
                      </a:r>
                    </a:p>
                  </a:txBody>
                  <a:tcPr>
                    <a:solidFill>
                      <a:srgbClr val="16213E"/>
                    </a:solidFill>
                  </a:tcPr>
                </a:tc>
                <a:tc>
                  <a:txBody>
                    <a:bodyPr/>
                    <a:lstStyle/>
                    <a:p>
                      <a:pPr algn="l"/>
                      <a:r>
                        <a:rPr sz="1000" b="1">
                          <a:solidFill>
                            <a:srgbClr val="FFFFFF"/>
                          </a:solidFill>
                          <a:latin typeface="Calibri"/>
                        </a:rPr>
                        <a:t>What It Unlocks</a:t>
                      </a:r>
                    </a:p>
                  </a:txBody>
                  <a:tcPr>
                    <a:solidFill>
                      <a:srgbClr val="16213E"/>
                    </a:solidFill>
                  </a:tcPr>
                </a:tc>
              </a:tr>
              <a:tr h="329184">
                <a:tc>
                  <a:txBody>
                    <a:bodyPr/>
                    <a:lstStyle/>
                    <a:p>
                      <a:r>
                        <a:rPr sz="1000">
                          <a:solidFill>
                            <a:srgbClr val="1A1A2E"/>
                          </a:solidFill>
                          <a:latin typeface="Calibri"/>
                        </a:rPr>
                        <a:t>Tab Completion</a:t>
                      </a:r>
                    </a:p>
                  </a:txBody>
                  <a:tcPr>
                    <a:solidFill>
                      <a:srgbClr val="FFFFFF"/>
                    </a:solidFill>
                  </a:tcPr>
                </a:tc>
                <a:tc>
                  <a:txBody>
                    <a:bodyPr/>
                    <a:lstStyle/>
                    <a:p>
                      <a:r>
                        <a:rPr sz="1000">
                          <a:solidFill>
                            <a:srgbClr val="1A1A2E"/>
                          </a:solidFill>
                          <a:latin typeface="Calibri"/>
                        </a:rPr>
                        <a:t>Completes entire functions, not just lines. Understands the surrounding code's intent.</a:t>
                      </a:r>
                    </a:p>
                  </a:txBody>
                  <a:tcPr>
                    <a:solidFill>
                      <a:srgbClr val="FFFFFF"/>
                    </a:solidFill>
                  </a:tcPr>
                </a:tc>
                <a:tc>
                  <a:txBody>
                    <a:bodyPr/>
                    <a:lstStyle/>
                    <a:p>
                      <a:r>
                        <a:rPr sz="1000">
                          <a:solidFill>
                            <a:srgbClr val="1A1A2E"/>
                          </a:solidFill>
                          <a:latin typeface="Calibri"/>
                        </a:rPr>
                        <a:t>3–5× faster for function and class writing</a:t>
                      </a:r>
                    </a:p>
                  </a:txBody>
                  <a:tcPr>
                    <a:solidFill>
                      <a:srgbClr val="FFFFFF"/>
                    </a:solidFill>
                  </a:tcPr>
                </a:tc>
              </a:tr>
              <a:tr h="329184">
                <a:tc>
                  <a:txBody>
                    <a:bodyPr/>
                    <a:lstStyle/>
                    <a:p>
                      <a:r>
                        <a:rPr sz="1000">
                          <a:solidFill>
                            <a:srgbClr val="1A1A2E"/>
                          </a:solidFill>
                          <a:latin typeface="Calibri"/>
                        </a:rPr>
                        <a:t>Chat (Ctrl+L)</a:t>
                      </a:r>
                    </a:p>
                  </a:txBody>
                  <a:tcPr>
                    <a:solidFill>
                      <a:srgbClr val="F8F9FF"/>
                    </a:solidFill>
                  </a:tcPr>
                </a:tc>
                <a:tc>
                  <a:txBody>
                    <a:bodyPr/>
                    <a:lstStyle/>
                    <a:p>
                      <a:r>
                        <a:rPr sz="1000">
                          <a:solidFill>
                            <a:srgbClr val="1A1A2E"/>
                          </a:solidFill>
                          <a:latin typeface="Calibri"/>
                        </a:rPr>
                        <a:t>Conversational AI with @-mention context. @UserService pulls that file into context.</a:t>
                      </a:r>
                    </a:p>
                  </a:txBody>
                  <a:tcPr>
                    <a:solidFill>
                      <a:srgbClr val="F8F9FF"/>
                    </a:solidFill>
                  </a:tcPr>
                </a:tc>
                <a:tc>
                  <a:txBody>
                    <a:bodyPr/>
                    <a:lstStyle/>
                    <a:p>
                      <a:r>
                        <a:rPr sz="1000">
                          <a:solidFill>
                            <a:srgbClr val="1A1A2E"/>
                          </a:solidFill>
                          <a:latin typeface="Calibri"/>
                        </a:rPr>
                        <a:t>Navigate and understand large codebases instantly</a:t>
                      </a:r>
                    </a:p>
                  </a:txBody>
                  <a:tcPr>
                    <a:solidFill>
                      <a:srgbClr val="F8F9FF"/>
                    </a:solidFill>
                  </a:tcPr>
                </a:tc>
              </a:tr>
              <a:tr h="329184">
                <a:tc>
                  <a:txBody>
                    <a:bodyPr/>
                    <a:lstStyle/>
                    <a:p>
                      <a:r>
                        <a:rPr sz="1000">
                          <a:solidFill>
                            <a:srgbClr val="1A1A2E"/>
                          </a:solidFill>
                          <a:latin typeface="Calibri"/>
                        </a:rPr>
                        <a:t>Composer / Agent Mode</a:t>
                      </a:r>
                    </a:p>
                  </a:txBody>
                  <a:tcPr>
                    <a:solidFill>
                      <a:srgbClr val="FFFFFF"/>
                    </a:solidFill>
                  </a:tcPr>
                </a:tc>
                <a:tc>
                  <a:txBody>
                    <a:bodyPr/>
                    <a:lstStyle/>
                    <a:p>
                      <a:r>
                        <a:rPr sz="1000">
                          <a:solidFill>
                            <a:srgbClr val="1A1A2E"/>
                          </a:solidFill>
                          <a:latin typeface="Calibri"/>
                        </a:rPr>
                        <a:t>Give a task, not a line. Plans, writes, runs terminal commands, iterates.</a:t>
                      </a:r>
                    </a:p>
                  </a:txBody>
                  <a:tcPr>
                    <a:solidFill>
                      <a:srgbClr val="FFFFFF"/>
                    </a:solidFill>
                  </a:tcPr>
                </a:tc>
                <a:tc>
                  <a:txBody>
                    <a:bodyPr/>
                    <a:lstStyle/>
                    <a:p>
                      <a:r>
                        <a:rPr sz="1000">
                          <a:solidFill>
                            <a:srgbClr val="1A1A2E"/>
                          </a:solidFill>
                          <a:latin typeface="Calibri"/>
                        </a:rPr>
                        <a:t>Autonomous multi-file implementation</a:t>
                      </a:r>
                    </a:p>
                  </a:txBody>
                  <a:tcPr>
                    <a:solidFill>
                      <a:srgbClr val="FFFFFF"/>
                    </a:solidFill>
                  </a:tcPr>
                </a:tc>
              </a:tr>
              <a:tr h="329184">
                <a:tc>
                  <a:txBody>
                    <a:bodyPr/>
                    <a:lstStyle/>
                    <a:p>
                      <a:r>
                        <a:rPr sz="1000">
                          <a:solidFill>
                            <a:srgbClr val="1A1A2E"/>
                          </a:solidFill>
                          <a:latin typeface="Calibri"/>
                        </a:rPr>
                        <a:t>Cursor Rules</a:t>
                      </a:r>
                    </a:p>
                  </a:txBody>
                  <a:tcPr>
                    <a:solidFill>
                      <a:srgbClr val="F8F9FF"/>
                    </a:solidFill>
                  </a:tcPr>
                </a:tc>
                <a:tc>
                  <a:txBody>
                    <a:bodyPr/>
                    <a:lstStyle/>
                    <a:p>
                      <a:r>
                        <a:rPr sz="1000">
                          <a:solidFill>
                            <a:srgbClr val="1A1A2E"/>
                          </a:solidFill>
                          <a:latin typeface="Calibri"/>
                        </a:rPr>
                        <a:t>Project-level instructions: style guides, conventions, framework choices, test requirements.</a:t>
                      </a:r>
                    </a:p>
                  </a:txBody>
                  <a:tcPr>
                    <a:solidFill>
                      <a:srgbClr val="F8F9FF"/>
                    </a:solidFill>
                  </a:tcPr>
                </a:tc>
                <a:tc>
                  <a:txBody>
                    <a:bodyPr/>
                    <a:lstStyle/>
                    <a:p>
                      <a:r>
                        <a:rPr sz="1000">
                          <a:solidFill>
                            <a:srgbClr val="1A1A2E"/>
                          </a:solidFill>
                          <a:latin typeface="Calibri"/>
                        </a:rPr>
                        <a:t>Consistent AI behavior across your whole team</a:t>
                      </a:r>
                    </a:p>
                  </a:txBody>
                  <a:tcPr>
                    <a:solidFill>
                      <a:srgbClr val="F8F9FF"/>
                    </a:solidFill>
                  </a:tcPr>
                </a:tc>
              </a:tr>
            </a:tbl>
          </a:graphicData>
        </a:graphic>
      </p:graphicFrame>
      <p:sp>
        <p:nvSpPr>
          <p:cNvPr id="10" name="TextBox 9"/>
          <p:cNvSpPr txBox="1"/>
          <p:nvPr/>
        </p:nvSpPr>
        <p:spPr>
          <a:xfrm>
            <a:off x="502920" y="4059936"/>
            <a:ext cx="11185855" cy="2386584"/>
          </a:xfrm>
          <a:prstGeom prst="rect">
            <a:avLst/>
          </a:prstGeom>
          <a:noFill/>
        </p:spPr>
        <p:txBody>
          <a:bodyPr wrap="square">
            <a:spAutoFit/>
          </a:bodyPr>
          <a:lstStyle/>
          <a:p>
            <a:pPr>
              <a:spcBef>
                <a:spcPts val="300"/>
              </a:spcBef>
              <a:spcAft>
                <a:spcPts val="200"/>
              </a:spcAft>
            </a:pPr>
            <a:r>
              <a:rPr sz="1300" b="1">
                <a:solidFill>
                  <a:srgbClr val="0F3460"/>
                </a:solidFill>
                <a:latin typeface="Calibri"/>
              </a:rPr>
              <a:t>Pricing tiers:</a:t>
            </a:r>
          </a:p>
          <a:p>
            <a:pPr>
              <a:spcBef>
                <a:spcPts val="300"/>
              </a:spcBef>
              <a:spcAft>
                <a:spcPts val="200"/>
              </a:spcAft>
            </a:pPr>
            <a:r>
              <a:rPr sz="1200" b="0">
                <a:solidFill>
                  <a:srgbClr val="2D3748"/>
                </a:solidFill>
                <a:latin typeface="Calibri"/>
              </a:rPr>
              <a:t>Student recommendation: Pro at $20/month. If you write Python for data work, this pays for itself in the first hour of use.</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234440"/>
          </a:xfrm>
          <a:prstGeom prst="rect">
            <a:avLst/>
          </a:prstGeom>
          <a:solidFill>
            <a:srgbClr val="1621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91440"/>
            <a:ext cx="11368735" cy="658368"/>
          </a:xfrm>
          <a:prstGeom prst="rect">
            <a:avLst/>
          </a:prstGeom>
          <a:noFill/>
        </p:spPr>
        <p:txBody>
          <a:bodyPr wrap="square">
            <a:spAutoFit/>
          </a:bodyPr>
          <a:lstStyle/>
          <a:p>
            <a:r>
              <a:rPr sz="2700" b="1">
                <a:solidFill>
                  <a:srgbClr val="FFFFFF"/>
                </a:solidFill>
                <a:latin typeface="Calibri"/>
              </a:rPr>
              <a:t>Windsurf — The Cascade Agent</a:t>
            </a:r>
          </a:p>
        </p:txBody>
      </p:sp>
      <p:sp>
        <p:nvSpPr>
          <p:cNvPr id="5" name="TextBox 4"/>
          <p:cNvSpPr txBox="1"/>
          <p:nvPr/>
        </p:nvSpPr>
        <p:spPr>
          <a:xfrm>
            <a:off x="411480" y="749808"/>
            <a:ext cx="11368735" cy="402336"/>
          </a:xfrm>
          <a:prstGeom prst="rect">
            <a:avLst/>
          </a:prstGeom>
          <a:noFill/>
        </p:spPr>
        <p:txBody>
          <a:bodyPr wrap="none">
            <a:spAutoFit/>
          </a:bodyPr>
          <a:lstStyle/>
          <a:p>
            <a:r>
              <a:rPr sz="1500">
                <a:solidFill>
                  <a:srgbClr val="0EA5E9"/>
                </a:solidFill>
                <a:latin typeface="Calibri"/>
              </a:rPr>
              <a:t>Long-Horizon Autonomous Coding</a:t>
            </a:r>
          </a:p>
        </p:txBody>
      </p:sp>
      <p:sp>
        <p:nvSpPr>
          <p:cNvPr id="6" name="Rectangle 5"/>
          <p:cNvSpPr/>
          <p:nvPr/>
        </p:nvSpPr>
        <p:spPr>
          <a:xfrm>
            <a:off x="0" y="1234440"/>
            <a:ext cx="12191695" cy="36576"/>
          </a:xfrm>
          <a:prstGeom prst="rect">
            <a:avLst/>
          </a:prstGeom>
          <a:solidFill>
            <a:srgbClr val="0EA5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1551615" y="6537960"/>
            <a:ext cx="502920" cy="256032"/>
          </a:xfrm>
          <a:prstGeom prst="rect">
            <a:avLst/>
          </a:prstGeom>
          <a:noFill/>
        </p:spPr>
        <p:txBody>
          <a:bodyPr wrap="none">
            <a:spAutoFit/>
          </a:bodyPr>
          <a:lstStyle/>
          <a:p>
            <a:pPr algn="ctr"/>
            <a:r>
              <a:rPr sz="1000">
                <a:solidFill>
                  <a:srgbClr val="AAAABB"/>
                </a:solidFill>
                <a:latin typeface="Calibri"/>
              </a:rPr>
              <a:t>17</a:t>
            </a:r>
          </a:p>
        </p:txBody>
      </p:sp>
      <p:sp>
        <p:nvSpPr>
          <p:cNvPr id="8" name="TextBox 7"/>
          <p:cNvSpPr txBox="1"/>
          <p:nvPr/>
        </p:nvSpPr>
        <p:spPr>
          <a:xfrm>
            <a:off x="502920" y="1353312"/>
            <a:ext cx="11185855" cy="5093208"/>
          </a:xfrm>
          <a:prstGeom prst="rect">
            <a:avLst/>
          </a:prstGeom>
          <a:noFill/>
        </p:spPr>
        <p:txBody>
          <a:bodyPr wrap="square">
            <a:spAutoFit/>
          </a:bodyPr>
          <a:lstStyle/>
          <a:p>
            <a:pPr>
              <a:spcBef>
                <a:spcPts val="300"/>
              </a:spcBef>
              <a:spcAft>
                <a:spcPts val="200"/>
              </a:spcAft>
            </a:pPr>
            <a:r>
              <a:rPr sz="1200" b="0">
                <a:solidFill>
                  <a:srgbClr val="2D3748"/>
                </a:solidFill>
                <a:latin typeface="Calibri"/>
              </a:rPr>
              <a:t>Windsurf, built by Codeium, launched in late 2024 with a different philosophy than Cursor: instead of optimizing for how fast you can type, optimize for how complex a task AI can complete without you touching the keyboard.</a:t>
            </a:r>
          </a:p>
          <a:p>
            <a:pPr>
              <a:spcBef>
                <a:spcPts val="300"/>
              </a:spcBef>
              <a:spcAft>
                <a:spcPts val="200"/>
              </a:spcAft>
            </a:pPr>
            <a:r>
              <a:rPr sz="1300" b="1">
                <a:solidFill>
                  <a:srgbClr val="0F3460"/>
                </a:solidFill>
                <a:latin typeface="Calibri"/>
              </a:rPr>
              <a:t>The Cascade Agent — what makes it distinct:</a:t>
            </a:r>
          </a:p>
          <a:p>
            <a:pPr>
              <a:spcBef>
                <a:spcPts val="300"/>
              </a:spcBef>
              <a:spcAft>
                <a:spcPts val="200"/>
              </a:spcAft>
            </a:pPr>
            <a:r>
              <a:rPr sz="1300">
                <a:solidFill>
                  <a:srgbClr val="0EA5E9"/>
                </a:solidFill>
                <a:latin typeface="Calibri"/>
              </a:rPr>
              <a:t>• </a:t>
            </a:r>
            <a:r>
              <a:rPr sz="1300" b="0">
                <a:solidFill>
                  <a:srgbClr val="1A1A2E"/>
                </a:solidFill>
                <a:latin typeface="Calibri"/>
              </a:rPr>
              <a:t>Maintains a coherent understanding of the whole goal across many steps — not just the current task</a:t>
            </a:r>
          </a:p>
          <a:p>
            <a:pPr>
              <a:spcBef>
                <a:spcPts val="300"/>
              </a:spcBef>
              <a:spcAft>
                <a:spcPts val="200"/>
              </a:spcAft>
            </a:pPr>
            <a:r>
              <a:rPr sz="1300">
                <a:solidFill>
                  <a:srgbClr val="0EA5E9"/>
                </a:solidFill>
                <a:latin typeface="Calibri"/>
              </a:rPr>
              <a:t>• </a:t>
            </a:r>
            <a:r>
              <a:rPr sz="1300" b="0">
                <a:solidFill>
                  <a:srgbClr val="1A1A2E"/>
                </a:solidFill>
                <a:latin typeface="Calibri"/>
              </a:rPr>
              <a:t>Decisions made in step 10 are consistent with decisions made in step 2</a:t>
            </a:r>
          </a:p>
          <a:p>
            <a:pPr>
              <a:spcBef>
                <a:spcPts val="300"/>
              </a:spcBef>
              <a:spcAft>
                <a:spcPts val="200"/>
              </a:spcAft>
            </a:pPr>
            <a:r>
              <a:rPr sz="1300">
                <a:solidFill>
                  <a:srgbClr val="0EA5E9"/>
                </a:solidFill>
                <a:latin typeface="Calibri"/>
              </a:rPr>
              <a:t>• </a:t>
            </a:r>
            <a:r>
              <a:rPr sz="1300" b="0">
                <a:solidFill>
                  <a:srgbClr val="1A1A2E"/>
                </a:solidFill>
                <a:latin typeface="Calibri"/>
              </a:rPr>
              <a:t>Rewrites across many files stay architecturally consistent</a:t>
            </a:r>
          </a:p>
          <a:p>
            <a:pPr>
              <a:spcBef>
                <a:spcPts val="300"/>
              </a:spcBef>
              <a:spcAft>
                <a:spcPts val="200"/>
              </a:spcAft>
            </a:pPr>
            <a:r>
              <a:rPr sz="1300">
                <a:solidFill>
                  <a:srgbClr val="0EA5E9"/>
                </a:solidFill>
                <a:latin typeface="Calibri"/>
              </a:rPr>
              <a:t>• </a:t>
            </a:r>
            <a:r>
              <a:rPr sz="1300" b="0">
                <a:solidFill>
                  <a:srgbClr val="1A1A2E"/>
                </a:solidFill>
                <a:latin typeface="Calibri"/>
              </a:rPr>
              <a:t>Better at greenfield builds (starting from scratch) than at incremental edits to existing code</a:t>
            </a:r>
          </a:p>
          <a:p>
            <a:pPr>
              <a:spcBef>
                <a:spcPts val="300"/>
              </a:spcBef>
              <a:spcAft>
                <a:spcPts val="200"/>
              </a:spcAft>
            </a:pPr>
            <a:r>
              <a:rPr sz="1300" b="1">
                <a:solidFill>
                  <a:srgbClr val="0F3460"/>
                </a:solidFill>
                <a:latin typeface="Calibri"/>
              </a:rPr>
              <a:t>Feature comparison:</a:t>
            </a:r>
          </a:p>
        </p:txBody>
      </p:sp>
      <p:graphicFrame>
        <p:nvGraphicFramePr>
          <p:cNvPr id="9" name="Table 8"/>
          <p:cNvGraphicFramePr>
            <a:graphicFrameLocks noGrp="1"/>
          </p:cNvGraphicFramePr>
          <p:nvPr/>
        </p:nvGraphicFramePr>
        <p:xfrm>
          <a:off x="502920" y="3493008"/>
          <a:ext cx="11185855" cy="2633472"/>
        </p:xfrm>
        <a:graphic>
          <a:graphicData uri="http://schemas.openxmlformats.org/drawingml/2006/table">
            <a:tbl>
              <a:tblPr firstRow="1" bandRow="1">
                <a:tableStyleId>{5C22544A-7EE6-4342-B048-85BDC9FD1C3A}</a:tableStyleId>
              </a:tblPr>
              <a:tblGrid>
                <a:gridCol w="3728618"/>
                <a:gridCol w="3728618"/>
                <a:gridCol w="3728619"/>
              </a:tblGrid>
              <a:tr h="329184">
                <a:tc>
                  <a:txBody>
                    <a:bodyPr/>
                    <a:lstStyle/>
                    <a:p>
                      <a:pPr algn="l"/>
                      <a:r>
                        <a:rPr sz="1000" b="1">
                          <a:solidFill>
                            <a:srgbClr val="FFFFFF"/>
                          </a:solidFill>
                          <a:latin typeface="Calibri"/>
                        </a:rPr>
                        <a:t>Feature</a:t>
                      </a:r>
                    </a:p>
                  </a:txBody>
                  <a:tcPr>
                    <a:solidFill>
                      <a:srgbClr val="16213E"/>
                    </a:solidFill>
                  </a:tcPr>
                </a:tc>
                <a:tc>
                  <a:txBody>
                    <a:bodyPr/>
                    <a:lstStyle/>
                    <a:p>
                      <a:pPr algn="l"/>
                      <a:r>
                        <a:rPr sz="1000" b="1">
                          <a:solidFill>
                            <a:srgbClr val="FFFFFF"/>
                          </a:solidFill>
                          <a:latin typeface="Calibri"/>
                        </a:rPr>
                        <a:t>Cursor</a:t>
                      </a:r>
                    </a:p>
                  </a:txBody>
                  <a:tcPr>
                    <a:solidFill>
                      <a:srgbClr val="16213E"/>
                    </a:solidFill>
                  </a:tcPr>
                </a:tc>
                <a:tc>
                  <a:txBody>
                    <a:bodyPr/>
                    <a:lstStyle/>
                    <a:p>
                      <a:pPr algn="l"/>
                      <a:r>
                        <a:rPr sz="1000" b="1">
                          <a:solidFill>
                            <a:srgbClr val="FFFFFF"/>
                          </a:solidFill>
                          <a:latin typeface="Calibri"/>
                        </a:rPr>
                        <a:t>Windsurf</a:t>
                      </a:r>
                    </a:p>
                  </a:txBody>
                  <a:tcPr>
                    <a:solidFill>
                      <a:srgbClr val="16213E"/>
                    </a:solidFill>
                  </a:tcPr>
                </a:tc>
              </a:tr>
              <a:tr h="329184">
                <a:tc>
                  <a:txBody>
                    <a:bodyPr/>
                    <a:lstStyle/>
                    <a:p>
                      <a:r>
                        <a:rPr sz="1000">
                          <a:solidFill>
                            <a:srgbClr val="1A1A2E"/>
                          </a:solidFill>
                          <a:latin typeface="Calibri"/>
                        </a:rPr>
                        <a:t>Base editor</a:t>
                      </a:r>
                    </a:p>
                  </a:txBody>
                  <a:tcPr>
                    <a:solidFill>
                      <a:srgbClr val="FFFFFF"/>
                    </a:solidFill>
                  </a:tcPr>
                </a:tc>
                <a:tc>
                  <a:txBody>
                    <a:bodyPr/>
                    <a:lstStyle/>
                    <a:p>
                      <a:r>
                        <a:rPr sz="1000">
                          <a:solidFill>
                            <a:srgbClr val="1A1A2E"/>
                          </a:solidFill>
                          <a:latin typeface="Calibri"/>
                        </a:rPr>
                        <a:t>VS Code fork</a:t>
                      </a:r>
                    </a:p>
                  </a:txBody>
                  <a:tcPr>
                    <a:solidFill>
                      <a:srgbClr val="FFFFFF"/>
                    </a:solidFill>
                  </a:tcPr>
                </a:tc>
                <a:tc>
                  <a:txBody>
                    <a:bodyPr/>
                    <a:lstStyle/>
                    <a:p>
                      <a:r>
                        <a:rPr sz="1000">
                          <a:solidFill>
                            <a:srgbClr val="1A1A2E"/>
                          </a:solidFill>
                          <a:latin typeface="Calibri"/>
                        </a:rPr>
                        <a:t>VS Code fork</a:t>
                      </a:r>
                    </a:p>
                  </a:txBody>
                  <a:tcPr>
                    <a:solidFill>
                      <a:srgbClr val="FFFFFF"/>
                    </a:solidFill>
                  </a:tcPr>
                </a:tc>
              </a:tr>
              <a:tr h="329184">
                <a:tc>
                  <a:txBody>
                    <a:bodyPr/>
                    <a:lstStyle/>
                    <a:p>
                      <a:r>
                        <a:rPr sz="1000">
                          <a:solidFill>
                            <a:srgbClr val="1A1A2E"/>
                          </a:solidFill>
                          <a:latin typeface="Calibri"/>
                        </a:rPr>
                        <a:t>Agent name</a:t>
                      </a:r>
                    </a:p>
                  </a:txBody>
                  <a:tcPr>
                    <a:solidFill>
                      <a:srgbClr val="F8F9FF"/>
                    </a:solidFill>
                  </a:tcPr>
                </a:tc>
                <a:tc>
                  <a:txBody>
                    <a:bodyPr/>
                    <a:lstStyle/>
                    <a:p>
                      <a:r>
                        <a:rPr sz="1000">
                          <a:solidFill>
                            <a:srgbClr val="1A1A2E"/>
                          </a:solidFill>
                          <a:latin typeface="Calibri"/>
                        </a:rPr>
                        <a:t>Composer</a:t>
                      </a:r>
                    </a:p>
                  </a:txBody>
                  <a:tcPr>
                    <a:solidFill>
                      <a:srgbClr val="F8F9FF"/>
                    </a:solidFill>
                  </a:tcPr>
                </a:tc>
                <a:tc>
                  <a:txBody>
                    <a:bodyPr/>
                    <a:lstStyle/>
                    <a:p>
                      <a:r>
                        <a:rPr sz="1000">
                          <a:solidFill>
                            <a:srgbClr val="1A1A2E"/>
                          </a:solidFill>
                          <a:latin typeface="Calibri"/>
                        </a:rPr>
                        <a:t>Cascade</a:t>
                      </a:r>
                    </a:p>
                  </a:txBody>
                  <a:tcPr>
                    <a:solidFill>
                      <a:srgbClr val="F8F9FF"/>
                    </a:solidFill>
                  </a:tcPr>
                </a:tc>
              </a:tr>
              <a:tr h="329184">
                <a:tc>
                  <a:txBody>
                    <a:bodyPr/>
                    <a:lstStyle/>
                    <a:p>
                      <a:r>
                        <a:rPr sz="1000">
                          <a:solidFill>
                            <a:srgbClr val="1A1A2E"/>
                          </a:solidFill>
                          <a:latin typeface="Calibri"/>
                        </a:rPr>
                        <a:t>Model options</a:t>
                      </a:r>
                    </a:p>
                  </a:txBody>
                  <a:tcPr>
                    <a:solidFill>
                      <a:srgbClr val="FFFFFF"/>
                    </a:solidFill>
                  </a:tcPr>
                </a:tc>
                <a:tc>
                  <a:txBody>
                    <a:bodyPr/>
                    <a:lstStyle/>
                    <a:p>
                      <a:r>
                        <a:rPr sz="1000">
                          <a:solidFill>
                            <a:srgbClr val="1A1A2E"/>
                          </a:solidFill>
                          <a:latin typeface="Calibri"/>
                        </a:rPr>
                        <a:t>GPT-4o, Claude 3.7, Gemini</a:t>
                      </a:r>
                    </a:p>
                  </a:txBody>
                  <a:tcPr>
                    <a:solidFill>
                      <a:srgbClr val="FFFFFF"/>
                    </a:solidFill>
                  </a:tcPr>
                </a:tc>
                <a:tc>
                  <a:txBody>
                    <a:bodyPr/>
                    <a:lstStyle/>
                    <a:p>
                      <a:r>
                        <a:rPr sz="1000">
                          <a:solidFill>
                            <a:srgbClr val="1A1A2E"/>
                          </a:solidFill>
                          <a:latin typeface="Calibri"/>
                        </a:rPr>
                        <a:t>Claude 3.7, GPT-4o, Gemini</a:t>
                      </a:r>
                    </a:p>
                  </a:txBody>
                  <a:tcPr>
                    <a:solidFill>
                      <a:srgbClr val="FFFFFF"/>
                    </a:solidFill>
                  </a:tcPr>
                </a:tc>
              </a:tr>
              <a:tr h="329184">
                <a:tc>
                  <a:txBody>
                    <a:bodyPr/>
                    <a:lstStyle/>
                    <a:p>
                      <a:r>
                        <a:rPr sz="1000">
                          <a:solidFill>
                            <a:srgbClr val="1A1A2E"/>
                          </a:solidFill>
                          <a:latin typeface="Calibri"/>
                        </a:rPr>
                        <a:t>Free tier</a:t>
                      </a:r>
                    </a:p>
                  </a:txBody>
                  <a:tcPr>
                    <a:solidFill>
                      <a:srgbClr val="F8F9FF"/>
                    </a:solidFill>
                  </a:tcPr>
                </a:tc>
                <a:tc>
                  <a:txBody>
                    <a:bodyPr/>
                    <a:lstStyle/>
                    <a:p>
                      <a:r>
                        <a:rPr sz="1000">
                          <a:solidFill>
                            <a:srgbClr val="1A1A2E"/>
                          </a:solidFill>
                          <a:latin typeface="Calibri"/>
                        </a:rPr>
                        <a:t>2,000 completions, limited chat</a:t>
                      </a:r>
                    </a:p>
                  </a:txBody>
                  <a:tcPr>
                    <a:solidFill>
                      <a:srgbClr val="F8F9FF"/>
                    </a:solidFill>
                  </a:tcPr>
                </a:tc>
                <a:tc>
                  <a:txBody>
                    <a:bodyPr/>
                    <a:lstStyle/>
                    <a:p>
                      <a:r>
                        <a:rPr sz="1000">
                          <a:solidFill>
                            <a:srgbClr val="1A1A2E"/>
                          </a:solidFill>
                          <a:latin typeface="Calibri"/>
                        </a:rPr>
                        <a:t>More generous — 5 Cascade flows/day + unlimited autocomplete</a:t>
                      </a:r>
                    </a:p>
                  </a:txBody>
                  <a:tcPr>
                    <a:solidFill>
                      <a:srgbClr val="F8F9FF"/>
                    </a:solidFill>
                  </a:tcPr>
                </a:tc>
              </a:tr>
              <a:tr h="329184">
                <a:tc>
                  <a:txBody>
                    <a:bodyPr/>
                    <a:lstStyle/>
                    <a:p>
                      <a:r>
                        <a:rPr sz="1000">
                          <a:solidFill>
                            <a:srgbClr val="1A1A2E"/>
                          </a:solidFill>
                          <a:latin typeface="Calibri"/>
                        </a:rPr>
                        <a:t>Unique strength</a:t>
                      </a:r>
                    </a:p>
                  </a:txBody>
                  <a:tcPr>
                    <a:solidFill>
                      <a:srgbClr val="FFFFFF"/>
                    </a:solidFill>
                  </a:tcPr>
                </a:tc>
                <a:tc>
                  <a:txBody>
                    <a:bodyPr/>
                    <a:lstStyle/>
                    <a:p>
                      <a:r>
                        <a:rPr sz="1000">
                          <a:solidFill>
                            <a:srgbClr val="1A1A2E"/>
                          </a:solidFill>
                          <a:latin typeface="Calibri"/>
                        </a:rPr>
                        <a:t>Deep context on existing codebases</a:t>
                      </a:r>
                    </a:p>
                  </a:txBody>
                  <a:tcPr>
                    <a:solidFill>
                      <a:srgbClr val="FFFFFF"/>
                    </a:solidFill>
                  </a:tcPr>
                </a:tc>
                <a:tc>
                  <a:txBody>
                    <a:bodyPr/>
                    <a:lstStyle/>
                    <a:p>
                      <a:r>
                        <a:rPr sz="1000">
                          <a:solidFill>
                            <a:srgbClr val="1A1A2E"/>
                          </a:solidFill>
                          <a:latin typeface="Calibri"/>
                        </a:rPr>
                        <a:t>Coherent long-horizon task execution</a:t>
                      </a:r>
                    </a:p>
                  </a:txBody>
                  <a:tcPr>
                    <a:solidFill>
                      <a:srgbClr val="FFFFFF"/>
                    </a:solidFill>
                  </a:tcPr>
                </a:tc>
              </a:tr>
              <a:tr h="329184">
                <a:tc>
                  <a:txBody>
                    <a:bodyPr/>
                    <a:lstStyle/>
                    <a:p>
                      <a:r>
                        <a:rPr sz="1000">
                          <a:solidFill>
                            <a:srgbClr val="1A1A2E"/>
                          </a:solidFill>
                          <a:latin typeface="Calibri"/>
                        </a:rPr>
                        <a:t>Best for</a:t>
                      </a:r>
                    </a:p>
                  </a:txBody>
                  <a:tcPr>
                    <a:solidFill>
                      <a:srgbClr val="F8F9FF"/>
                    </a:solidFill>
                  </a:tcPr>
                </a:tc>
                <a:tc>
                  <a:txBody>
                    <a:bodyPr/>
                    <a:lstStyle/>
                    <a:p>
                      <a:r>
                        <a:rPr sz="1000">
                          <a:solidFill>
                            <a:srgbClr val="1A1A2E"/>
                          </a:solidFill>
                          <a:latin typeface="Calibri"/>
                        </a:rPr>
                        <a:t>Working on mature, complex projects</a:t>
                      </a:r>
                    </a:p>
                  </a:txBody>
                  <a:tcPr>
                    <a:solidFill>
                      <a:srgbClr val="F8F9FF"/>
                    </a:solidFill>
                  </a:tcPr>
                </a:tc>
                <a:tc>
                  <a:txBody>
                    <a:bodyPr/>
                    <a:lstStyle/>
                    <a:p>
                      <a:r>
                        <a:rPr sz="1000">
                          <a:solidFill>
                            <a:srgbClr val="1A1A2E"/>
                          </a:solidFill>
                          <a:latin typeface="Calibri"/>
                        </a:rPr>
                        <a:t>Building new features and services from scratch</a:t>
                      </a:r>
                    </a:p>
                  </a:txBody>
                  <a:tcPr>
                    <a:solidFill>
                      <a:srgbClr val="F8F9FF"/>
                    </a:solidFill>
                  </a:tcPr>
                </a:tc>
              </a:tr>
              <a:tr h="329184">
                <a:tc>
                  <a:txBody>
                    <a:bodyPr/>
                    <a:lstStyle/>
                    <a:p>
                      <a:r>
                        <a:rPr sz="1000">
                          <a:solidFill>
                            <a:srgbClr val="1A1A2E"/>
                          </a:solidFill>
                          <a:latin typeface="Calibri"/>
                        </a:rPr>
                        <a:t>Pricing (Pro)</a:t>
                      </a:r>
                    </a:p>
                  </a:txBody>
                  <a:tcPr>
                    <a:solidFill>
                      <a:srgbClr val="FFFFFF"/>
                    </a:solidFill>
                  </a:tcPr>
                </a:tc>
                <a:tc>
                  <a:txBody>
                    <a:bodyPr/>
                    <a:lstStyle/>
                    <a:p>
                      <a:r>
                        <a:rPr sz="1000">
                          <a:solidFill>
                            <a:srgbClr val="1A1A2E"/>
                          </a:solidFill>
                          <a:latin typeface="Calibri"/>
                        </a:rPr>
                        <a:t>$20/month</a:t>
                      </a:r>
                    </a:p>
                  </a:txBody>
                  <a:tcPr>
                    <a:solidFill>
                      <a:srgbClr val="FFFFFF"/>
                    </a:solidFill>
                  </a:tcPr>
                </a:tc>
                <a:tc>
                  <a:txBody>
                    <a:bodyPr/>
                    <a:lstStyle/>
                    <a:p>
                      <a:r>
                        <a:rPr sz="1000">
                          <a:solidFill>
                            <a:srgbClr val="1A1A2E"/>
                          </a:solidFill>
                          <a:latin typeface="Calibri"/>
                        </a:rPr>
                        <a:t>$15/month</a:t>
                      </a:r>
                    </a:p>
                  </a:txBody>
                  <a:tcPr>
                    <a:solidFill>
                      <a:srgbClr val="FFFFFF"/>
                    </a:solidFill>
                  </a:tcPr>
                </a:tc>
              </a:tr>
            </a:tbl>
          </a:graphicData>
        </a:graphic>
      </p:graphicFrame>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234440"/>
          </a:xfrm>
          <a:prstGeom prst="rect">
            <a:avLst/>
          </a:prstGeom>
          <a:solidFill>
            <a:srgbClr val="1621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91440"/>
            <a:ext cx="11368735" cy="658368"/>
          </a:xfrm>
          <a:prstGeom prst="rect">
            <a:avLst/>
          </a:prstGeom>
          <a:noFill/>
        </p:spPr>
        <p:txBody>
          <a:bodyPr wrap="square">
            <a:spAutoFit/>
          </a:bodyPr>
          <a:lstStyle/>
          <a:p>
            <a:r>
              <a:rPr sz="2700" b="1">
                <a:solidFill>
                  <a:srgbClr val="FFFFFF"/>
                </a:solidFill>
                <a:latin typeface="Calibri"/>
              </a:rPr>
              <a:t>GitHub Copilot and Enterprise AI Coding Tools</a:t>
            </a:r>
          </a:p>
        </p:txBody>
      </p:sp>
      <p:sp>
        <p:nvSpPr>
          <p:cNvPr id="5" name="TextBox 4"/>
          <p:cNvSpPr txBox="1"/>
          <p:nvPr/>
        </p:nvSpPr>
        <p:spPr>
          <a:xfrm>
            <a:off x="411480" y="749808"/>
            <a:ext cx="11368735" cy="402336"/>
          </a:xfrm>
          <a:prstGeom prst="rect">
            <a:avLst/>
          </a:prstGeom>
          <a:noFill/>
        </p:spPr>
        <p:txBody>
          <a:bodyPr wrap="none">
            <a:spAutoFit/>
          </a:bodyPr>
          <a:lstStyle/>
          <a:p>
            <a:r>
              <a:rPr sz="1500">
                <a:solidFill>
                  <a:srgbClr val="0EA5E9"/>
                </a:solidFill>
                <a:latin typeface="Calibri"/>
              </a:rPr>
              <a:t>The Enterprise Standard and the Ecosystem</a:t>
            </a:r>
          </a:p>
        </p:txBody>
      </p:sp>
      <p:sp>
        <p:nvSpPr>
          <p:cNvPr id="6" name="Rectangle 5"/>
          <p:cNvSpPr/>
          <p:nvPr/>
        </p:nvSpPr>
        <p:spPr>
          <a:xfrm>
            <a:off x="0" y="1234440"/>
            <a:ext cx="12191695" cy="36576"/>
          </a:xfrm>
          <a:prstGeom prst="rect">
            <a:avLst/>
          </a:prstGeom>
          <a:solidFill>
            <a:srgbClr val="0EA5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1551615" y="6537960"/>
            <a:ext cx="502920" cy="256032"/>
          </a:xfrm>
          <a:prstGeom prst="rect">
            <a:avLst/>
          </a:prstGeom>
          <a:noFill/>
        </p:spPr>
        <p:txBody>
          <a:bodyPr wrap="none">
            <a:spAutoFit/>
          </a:bodyPr>
          <a:lstStyle/>
          <a:p>
            <a:pPr algn="ctr"/>
            <a:r>
              <a:rPr sz="1000">
                <a:solidFill>
                  <a:srgbClr val="AAAABB"/>
                </a:solidFill>
                <a:latin typeface="Calibri"/>
              </a:rPr>
              <a:t>18</a:t>
            </a:r>
          </a:p>
        </p:txBody>
      </p:sp>
      <p:sp>
        <p:nvSpPr>
          <p:cNvPr id="8" name="TextBox 7"/>
          <p:cNvSpPr txBox="1"/>
          <p:nvPr/>
        </p:nvSpPr>
        <p:spPr>
          <a:xfrm>
            <a:off x="502920" y="1353312"/>
            <a:ext cx="11185855" cy="5093208"/>
          </a:xfrm>
          <a:prstGeom prst="rect">
            <a:avLst/>
          </a:prstGeom>
          <a:noFill/>
        </p:spPr>
        <p:txBody>
          <a:bodyPr wrap="square">
            <a:spAutoFit/>
          </a:bodyPr>
          <a:lstStyle/>
          <a:p>
            <a:pPr>
              <a:spcBef>
                <a:spcPts val="300"/>
              </a:spcBef>
              <a:spcAft>
                <a:spcPts val="200"/>
              </a:spcAft>
            </a:pPr>
            <a:r>
              <a:rPr sz="1300" b="1">
                <a:solidFill>
                  <a:srgbClr val="0F3460"/>
                </a:solidFill>
                <a:latin typeface="Calibri"/>
              </a:rPr>
              <a:t>GitHub Copilot in 2026 — beyond autocomplete:</a:t>
            </a:r>
          </a:p>
        </p:txBody>
      </p:sp>
      <p:graphicFrame>
        <p:nvGraphicFramePr>
          <p:cNvPr id="9" name="Table 8"/>
          <p:cNvGraphicFramePr>
            <a:graphicFrameLocks noGrp="1"/>
          </p:cNvGraphicFramePr>
          <p:nvPr/>
        </p:nvGraphicFramePr>
        <p:xfrm>
          <a:off x="502920" y="1737360"/>
          <a:ext cx="11185855" cy="1975104"/>
        </p:xfrm>
        <a:graphic>
          <a:graphicData uri="http://schemas.openxmlformats.org/drawingml/2006/table">
            <a:tbl>
              <a:tblPr firstRow="1" bandRow="1">
                <a:tableStyleId>{5C22544A-7EE6-4342-B048-85BDC9FD1C3A}</a:tableStyleId>
              </a:tblPr>
              <a:tblGrid>
                <a:gridCol w="3728618"/>
                <a:gridCol w="3728618"/>
                <a:gridCol w="3728619"/>
              </a:tblGrid>
              <a:tr h="329184">
                <a:tc>
                  <a:txBody>
                    <a:bodyPr/>
                    <a:lstStyle/>
                    <a:p>
                      <a:pPr algn="l"/>
                      <a:r>
                        <a:rPr sz="1000" b="1">
                          <a:solidFill>
                            <a:srgbClr val="FFFFFF"/>
                          </a:solidFill>
                          <a:latin typeface="Calibri"/>
                        </a:rPr>
                        <a:t>Feature</a:t>
                      </a:r>
                    </a:p>
                  </a:txBody>
                  <a:tcPr>
                    <a:solidFill>
                      <a:srgbClr val="16213E"/>
                    </a:solidFill>
                  </a:tcPr>
                </a:tc>
                <a:tc>
                  <a:txBody>
                    <a:bodyPr/>
                    <a:lstStyle/>
                    <a:p>
                      <a:pPr algn="l"/>
                      <a:r>
                        <a:rPr sz="1000" b="1">
                          <a:solidFill>
                            <a:srgbClr val="FFFFFF"/>
                          </a:solidFill>
                          <a:latin typeface="Calibri"/>
                        </a:rPr>
                        <a:t>What It Does</a:t>
                      </a:r>
                    </a:p>
                  </a:txBody>
                  <a:tcPr>
                    <a:solidFill>
                      <a:srgbClr val="16213E"/>
                    </a:solidFill>
                  </a:tcPr>
                </a:tc>
                <a:tc>
                  <a:txBody>
                    <a:bodyPr/>
                    <a:lstStyle/>
                    <a:p>
                      <a:pPr algn="l"/>
                      <a:r>
                        <a:rPr sz="1000" b="1">
                          <a:solidFill>
                            <a:srgbClr val="FFFFFF"/>
                          </a:solidFill>
                          <a:latin typeface="Calibri"/>
                        </a:rPr>
                        <a:t>Business Value</a:t>
                      </a:r>
                    </a:p>
                  </a:txBody>
                  <a:tcPr>
                    <a:solidFill>
                      <a:srgbClr val="16213E"/>
                    </a:solidFill>
                  </a:tcPr>
                </a:tc>
              </a:tr>
              <a:tr h="329184">
                <a:tc>
                  <a:txBody>
                    <a:bodyPr/>
                    <a:lstStyle/>
                    <a:p>
                      <a:r>
                        <a:rPr sz="1000">
                          <a:solidFill>
                            <a:srgbClr val="1A1A2E"/>
                          </a:solidFill>
                          <a:latin typeface="Calibri"/>
                        </a:rPr>
                        <a:t>Copilot Autofix</a:t>
                      </a:r>
                    </a:p>
                  </a:txBody>
                  <a:tcPr>
                    <a:solidFill>
                      <a:srgbClr val="FFFFFF"/>
                    </a:solidFill>
                  </a:tcPr>
                </a:tc>
                <a:tc>
                  <a:txBody>
                    <a:bodyPr/>
                    <a:lstStyle/>
                    <a:p>
                      <a:r>
                        <a:rPr sz="1000">
                          <a:solidFill>
                            <a:srgbClr val="1A1A2E"/>
                          </a:solidFill>
                          <a:latin typeface="Calibri"/>
                        </a:rPr>
                        <a:t>Scans code for security vulnerabilities; generates fixes automatically</a:t>
                      </a:r>
                    </a:p>
                  </a:txBody>
                  <a:tcPr>
                    <a:solidFill>
                      <a:srgbClr val="FFFFFF"/>
                    </a:solidFill>
                  </a:tcPr>
                </a:tc>
                <a:tc>
                  <a:txBody>
                    <a:bodyPr/>
                    <a:lstStyle/>
                    <a:p>
                      <a:r>
                        <a:rPr sz="1000">
                          <a:solidFill>
                            <a:srgbClr val="1A1A2E"/>
                          </a:solidFill>
                          <a:latin typeface="Calibri"/>
                        </a:rPr>
                        <a:t>Reduces CVE backlog without dedicated security sprints</a:t>
                      </a:r>
                    </a:p>
                  </a:txBody>
                  <a:tcPr>
                    <a:solidFill>
                      <a:srgbClr val="FFFFFF"/>
                    </a:solidFill>
                  </a:tcPr>
                </a:tc>
              </a:tr>
              <a:tr h="329184">
                <a:tc>
                  <a:txBody>
                    <a:bodyPr/>
                    <a:lstStyle/>
                    <a:p>
                      <a:r>
                        <a:rPr sz="1000">
                          <a:solidFill>
                            <a:srgbClr val="1A1A2E"/>
                          </a:solidFill>
                          <a:latin typeface="Calibri"/>
                        </a:rPr>
                        <a:t>Copilot Workspace</a:t>
                      </a:r>
                    </a:p>
                  </a:txBody>
                  <a:tcPr>
                    <a:solidFill>
                      <a:srgbClr val="F8F9FF"/>
                    </a:solidFill>
                  </a:tcPr>
                </a:tc>
                <a:tc>
                  <a:txBody>
                    <a:bodyPr/>
                    <a:lstStyle/>
                    <a:p>
                      <a:r>
                        <a:rPr sz="1000">
                          <a:solidFill>
                            <a:srgbClr val="1A1A2E"/>
                          </a:solidFill>
                          <a:latin typeface="Calibri"/>
                        </a:rPr>
                        <a:t>Takes a GitHub Issue, plans the implementation, proposes code changes</a:t>
                      </a:r>
                    </a:p>
                  </a:txBody>
                  <a:tcPr>
                    <a:solidFill>
                      <a:srgbClr val="F8F9FF"/>
                    </a:solidFill>
                  </a:tcPr>
                </a:tc>
                <a:tc>
                  <a:txBody>
                    <a:bodyPr/>
                    <a:lstStyle/>
                    <a:p>
                      <a:r>
                        <a:rPr sz="1000">
                          <a:solidFill>
                            <a:srgbClr val="1A1A2E"/>
                          </a:solidFill>
                          <a:latin typeface="Calibri"/>
                        </a:rPr>
                        <a:t>From ticket to PR without opening an IDE</a:t>
                      </a:r>
                    </a:p>
                  </a:txBody>
                  <a:tcPr>
                    <a:solidFill>
                      <a:srgbClr val="F8F9FF"/>
                    </a:solidFill>
                  </a:tcPr>
                </a:tc>
              </a:tr>
              <a:tr h="329184">
                <a:tc>
                  <a:txBody>
                    <a:bodyPr/>
                    <a:lstStyle/>
                    <a:p>
                      <a:r>
                        <a:rPr sz="1000">
                          <a:solidFill>
                            <a:srgbClr val="1A1A2E"/>
                          </a:solidFill>
                          <a:latin typeface="Calibri"/>
                        </a:rPr>
                        <a:t>Copilot in PRs</a:t>
                      </a:r>
                    </a:p>
                  </a:txBody>
                  <a:tcPr>
                    <a:solidFill>
                      <a:srgbClr val="FFFFFF"/>
                    </a:solidFill>
                  </a:tcPr>
                </a:tc>
                <a:tc>
                  <a:txBody>
                    <a:bodyPr/>
                    <a:lstStyle/>
                    <a:p>
                      <a:r>
                        <a:rPr sz="1000">
                          <a:solidFill>
                            <a:srgbClr val="1A1A2E"/>
                          </a:solidFill>
                          <a:latin typeface="Calibri"/>
                        </a:rPr>
                        <a:t>Reviews every pull request, suggests improvements, summarizes changes</a:t>
                      </a:r>
                    </a:p>
                  </a:txBody>
                  <a:tcPr>
                    <a:solidFill>
                      <a:srgbClr val="FFFFFF"/>
                    </a:solidFill>
                  </a:tcPr>
                </a:tc>
                <a:tc>
                  <a:txBody>
                    <a:bodyPr/>
                    <a:lstStyle/>
                    <a:p>
                      <a:r>
                        <a:rPr sz="1000">
                          <a:solidFill>
                            <a:srgbClr val="1A1A2E"/>
                          </a:solidFill>
                          <a:latin typeface="Calibri"/>
                        </a:rPr>
                        <a:t>Every PR gets an AI review pass before human reviewers</a:t>
                      </a:r>
                    </a:p>
                  </a:txBody>
                  <a:tcPr>
                    <a:solidFill>
                      <a:srgbClr val="FFFFFF"/>
                    </a:solidFill>
                  </a:tcPr>
                </a:tc>
              </a:tr>
              <a:tr h="329184">
                <a:tc>
                  <a:txBody>
                    <a:bodyPr/>
                    <a:lstStyle/>
                    <a:p>
                      <a:r>
                        <a:rPr sz="1000">
                          <a:solidFill>
                            <a:srgbClr val="1A1A2E"/>
                          </a:solidFill>
                          <a:latin typeface="Calibri"/>
                        </a:rPr>
                        <a:t>Copilot Chat</a:t>
                      </a:r>
                    </a:p>
                  </a:txBody>
                  <a:tcPr>
                    <a:solidFill>
                      <a:srgbClr val="F8F9FF"/>
                    </a:solidFill>
                  </a:tcPr>
                </a:tc>
                <a:tc>
                  <a:txBody>
                    <a:bodyPr/>
                    <a:lstStyle/>
                    <a:p>
                      <a:r>
                        <a:rPr sz="1000">
                          <a:solidFill>
                            <a:srgbClr val="1A1A2E"/>
                          </a:solidFill>
                          <a:latin typeface="Calibri"/>
                        </a:rPr>
                        <a:t>Conversational AI about any codebase — ask architecture questions, debug issues</a:t>
                      </a:r>
                    </a:p>
                  </a:txBody>
                  <a:tcPr>
                    <a:solidFill>
                      <a:srgbClr val="F8F9FF"/>
                    </a:solidFill>
                  </a:tcPr>
                </a:tc>
                <a:tc>
                  <a:txBody>
                    <a:bodyPr/>
                    <a:lstStyle/>
                    <a:p>
                      <a:r>
                        <a:rPr sz="1000">
                          <a:solidFill>
                            <a:srgbClr val="1A1A2E"/>
                          </a:solidFill>
                          <a:latin typeface="Calibri"/>
                        </a:rPr>
                        <a:t>Junior developers onboard faster; seniors stay in flow</a:t>
                      </a:r>
                    </a:p>
                  </a:txBody>
                  <a:tcPr>
                    <a:solidFill>
                      <a:srgbClr val="F8F9FF"/>
                    </a:solidFill>
                  </a:tcPr>
                </a:tc>
              </a:tr>
              <a:tr h="329184">
                <a:tc>
                  <a:txBody>
                    <a:bodyPr/>
                    <a:lstStyle/>
                    <a:p>
                      <a:r>
                        <a:rPr sz="1000">
                          <a:solidFill>
                            <a:srgbClr val="1A1A2E"/>
                          </a:solidFill>
                          <a:latin typeface="Calibri"/>
                        </a:rPr>
                        <a:t>Copilot Extensions</a:t>
                      </a:r>
                    </a:p>
                  </a:txBody>
                  <a:tcPr>
                    <a:solidFill>
                      <a:srgbClr val="FFFFFF"/>
                    </a:solidFill>
                  </a:tcPr>
                </a:tc>
                <a:tc>
                  <a:txBody>
                    <a:bodyPr/>
                    <a:lstStyle/>
                    <a:p>
                      <a:r>
                        <a:rPr sz="1000">
                          <a:solidFill>
                            <a:srgbClr val="1A1A2E"/>
                          </a:solidFill>
                          <a:latin typeface="Calibri"/>
                        </a:rPr>
                        <a:t>Connect Jira, Datadog, Sentry, and 30+ tools directly into the chat interface</a:t>
                      </a:r>
                    </a:p>
                  </a:txBody>
                  <a:tcPr>
                    <a:solidFill>
                      <a:srgbClr val="FFFFFF"/>
                    </a:solidFill>
                  </a:tcPr>
                </a:tc>
                <a:tc>
                  <a:txBody>
                    <a:bodyPr/>
                    <a:lstStyle/>
                    <a:p>
                      <a:r>
                        <a:rPr sz="1000">
                          <a:solidFill>
                            <a:srgbClr val="1A1A2E"/>
                          </a:solidFill>
                          <a:latin typeface="Calibri"/>
                        </a:rPr>
                        <a:t>One AI interface for your entire toolchain</a:t>
                      </a:r>
                    </a:p>
                  </a:txBody>
                  <a:tcPr>
                    <a:solidFill>
                      <a:srgbClr val="FFFFFF"/>
                    </a:solidFill>
                  </a:tcPr>
                </a:tc>
              </a:tr>
            </a:tbl>
          </a:graphicData>
        </a:graphic>
      </p:graphicFrame>
      <p:sp>
        <p:nvSpPr>
          <p:cNvPr id="10" name="TextBox 9"/>
          <p:cNvSpPr txBox="1"/>
          <p:nvPr/>
        </p:nvSpPr>
        <p:spPr>
          <a:xfrm>
            <a:off x="502920" y="3803904"/>
            <a:ext cx="11185855" cy="2642616"/>
          </a:xfrm>
          <a:prstGeom prst="rect">
            <a:avLst/>
          </a:prstGeom>
          <a:noFill/>
        </p:spPr>
        <p:txBody>
          <a:bodyPr wrap="square">
            <a:spAutoFit/>
          </a:bodyPr>
          <a:lstStyle/>
          <a:p>
            <a:pPr>
              <a:spcBef>
                <a:spcPts val="300"/>
              </a:spcBef>
              <a:spcAft>
                <a:spcPts val="200"/>
              </a:spcAft>
            </a:pPr>
            <a:r>
              <a:rPr sz="1200" b="0">
                <a:solidFill>
                  <a:srgbClr val="2D3748"/>
                </a:solidFill>
                <a:latin typeface="Calibri"/>
              </a:rPr>
              <a:t>Why enterprises choose Copilot: It's not always the most capable agent — it's where the code already lives. GitHub manages the org's entire codebase, PR history, and issue backlog. Copilot integrates there, not alongside it.</a:t>
            </a:r>
          </a:p>
          <a:p>
            <a:pPr>
              <a:spcBef>
                <a:spcPts val="300"/>
              </a:spcBef>
              <a:spcAft>
                <a:spcPts val="200"/>
              </a:spcAft>
            </a:pPr>
            <a:r>
              <a:rPr sz="1300" b="1">
                <a:solidFill>
                  <a:srgbClr val="0F3460"/>
                </a:solidFill>
                <a:latin typeface="Calibri"/>
              </a:rPr>
              <a:t>The broader enterprise AI coding ecosystem:</a:t>
            </a:r>
          </a:p>
          <a:p>
            <a:pPr>
              <a:spcBef>
                <a:spcPts val="300"/>
              </a:spcBef>
              <a:spcAft>
                <a:spcPts val="200"/>
              </a:spcAft>
            </a:pPr>
            <a:r>
              <a:rPr sz="1200" b="0">
                <a:solidFill>
                  <a:srgbClr val="2D3748"/>
                </a:solidFill>
                <a:latin typeface="Calibri"/>
              </a:rPr>
              <a:t>Free access for students: GitHub Copilot Pro is included in the GitHub Student Developer Pack at no cost. Apply at github.com/education with your UTD email.</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234440"/>
          </a:xfrm>
          <a:prstGeom prst="rect">
            <a:avLst/>
          </a:prstGeom>
          <a:solidFill>
            <a:srgbClr val="1621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91440"/>
            <a:ext cx="11368735" cy="658368"/>
          </a:xfrm>
          <a:prstGeom prst="rect">
            <a:avLst/>
          </a:prstGeom>
          <a:noFill/>
        </p:spPr>
        <p:txBody>
          <a:bodyPr wrap="square">
            <a:spAutoFit/>
          </a:bodyPr>
          <a:lstStyle/>
          <a:p>
            <a:r>
              <a:rPr sz="2700" b="1">
                <a:solidFill>
                  <a:srgbClr val="FFFFFF"/>
                </a:solidFill>
                <a:latin typeface="Calibri"/>
              </a:rPr>
              <a:t>AI Coding Tools — Full Comparison and Decision Guide</a:t>
            </a:r>
          </a:p>
        </p:txBody>
      </p:sp>
      <p:sp>
        <p:nvSpPr>
          <p:cNvPr id="5" name="TextBox 4"/>
          <p:cNvSpPr txBox="1"/>
          <p:nvPr/>
        </p:nvSpPr>
        <p:spPr>
          <a:xfrm>
            <a:off x="411480" y="749808"/>
            <a:ext cx="11368735" cy="402336"/>
          </a:xfrm>
          <a:prstGeom prst="rect">
            <a:avLst/>
          </a:prstGeom>
          <a:noFill/>
        </p:spPr>
        <p:txBody>
          <a:bodyPr wrap="none">
            <a:spAutoFit/>
          </a:bodyPr>
          <a:lstStyle/>
          <a:p>
            <a:r>
              <a:rPr sz="1500">
                <a:solidFill>
                  <a:srgbClr val="0EA5E9"/>
                </a:solidFill>
                <a:latin typeface="Calibri"/>
              </a:rPr>
              <a:t>Choosing the Right Tool for Your Work</a:t>
            </a:r>
          </a:p>
        </p:txBody>
      </p:sp>
      <p:sp>
        <p:nvSpPr>
          <p:cNvPr id="6" name="Rectangle 5"/>
          <p:cNvSpPr/>
          <p:nvPr/>
        </p:nvSpPr>
        <p:spPr>
          <a:xfrm>
            <a:off x="0" y="1234440"/>
            <a:ext cx="12191695" cy="36576"/>
          </a:xfrm>
          <a:prstGeom prst="rect">
            <a:avLst/>
          </a:prstGeom>
          <a:solidFill>
            <a:srgbClr val="0EA5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1551615" y="6537960"/>
            <a:ext cx="502920" cy="256032"/>
          </a:xfrm>
          <a:prstGeom prst="rect">
            <a:avLst/>
          </a:prstGeom>
          <a:noFill/>
        </p:spPr>
        <p:txBody>
          <a:bodyPr wrap="none">
            <a:spAutoFit/>
          </a:bodyPr>
          <a:lstStyle/>
          <a:p>
            <a:pPr algn="ctr"/>
            <a:r>
              <a:rPr sz="1000">
                <a:solidFill>
                  <a:srgbClr val="AAAABB"/>
                </a:solidFill>
                <a:latin typeface="Calibri"/>
              </a:rPr>
              <a:t>19</a:t>
            </a:r>
          </a:p>
        </p:txBody>
      </p:sp>
      <p:sp>
        <p:nvSpPr>
          <p:cNvPr id="8" name="TextBox 7"/>
          <p:cNvSpPr txBox="1"/>
          <p:nvPr/>
        </p:nvSpPr>
        <p:spPr>
          <a:xfrm>
            <a:off x="502920" y="1353312"/>
            <a:ext cx="11185855" cy="5093208"/>
          </a:xfrm>
          <a:prstGeom prst="rect">
            <a:avLst/>
          </a:prstGeom>
          <a:noFill/>
        </p:spPr>
        <p:txBody>
          <a:bodyPr wrap="square">
            <a:spAutoFit/>
          </a:bodyPr>
          <a:lstStyle/>
          <a:p>
            <a:pPr>
              <a:spcBef>
                <a:spcPts val="300"/>
              </a:spcBef>
              <a:spcAft>
                <a:spcPts val="200"/>
              </a:spcAft>
            </a:pPr>
            <a:r>
              <a:rPr sz="1300" b="1">
                <a:solidFill>
                  <a:srgbClr val="0F3460"/>
                </a:solidFill>
                <a:latin typeface="Calibri"/>
              </a:rPr>
              <a:t>Head-to-head comparison:</a:t>
            </a:r>
          </a:p>
        </p:txBody>
      </p:sp>
      <p:graphicFrame>
        <p:nvGraphicFramePr>
          <p:cNvPr id="9" name="Table 8"/>
          <p:cNvGraphicFramePr>
            <a:graphicFrameLocks noGrp="1"/>
          </p:cNvGraphicFramePr>
          <p:nvPr/>
        </p:nvGraphicFramePr>
        <p:xfrm>
          <a:off x="502920" y="1737360"/>
          <a:ext cx="11185855" cy="2304288"/>
        </p:xfrm>
        <a:graphic>
          <a:graphicData uri="http://schemas.openxmlformats.org/drawingml/2006/table">
            <a:tbl>
              <a:tblPr firstRow="1" bandRow="1">
                <a:tableStyleId>{5C22544A-7EE6-4342-B048-85BDC9FD1C3A}</a:tableStyleId>
              </a:tblPr>
              <a:tblGrid>
                <a:gridCol w="1597979"/>
                <a:gridCol w="1597979"/>
                <a:gridCol w="1597979"/>
                <a:gridCol w="1597979"/>
                <a:gridCol w="1597979"/>
                <a:gridCol w="1597979"/>
                <a:gridCol w="1597981"/>
              </a:tblGrid>
              <a:tr h="329184">
                <a:tc>
                  <a:txBody>
                    <a:bodyPr/>
                    <a:lstStyle/>
                    <a:p>
                      <a:pPr algn="l"/>
                      <a:r>
                        <a:rPr sz="1000" b="1">
                          <a:solidFill>
                            <a:srgbClr val="FFFFFF"/>
                          </a:solidFill>
                          <a:latin typeface="Calibri"/>
                        </a:rPr>
                        <a:t>Tool</a:t>
                      </a:r>
                    </a:p>
                  </a:txBody>
                  <a:tcPr>
                    <a:solidFill>
                      <a:srgbClr val="16213E"/>
                    </a:solidFill>
                  </a:tcPr>
                </a:tc>
                <a:tc>
                  <a:txBody>
                    <a:bodyPr/>
                    <a:lstStyle/>
                    <a:p>
                      <a:pPr algn="l"/>
                      <a:r>
                        <a:rPr sz="1000" b="1">
                          <a:solidFill>
                            <a:srgbClr val="FFFFFF"/>
                          </a:solidFill>
                          <a:latin typeface="Calibri"/>
                        </a:rPr>
                        <a:t>Interface</a:t>
                      </a:r>
                    </a:p>
                  </a:txBody>
                  <a:tcPr>
                    <a:solidFill>
                      <a:srgbClr val="16213E"/>
                    </a:solidFill>
                  </a:tcPr>
                </a:tc>
                <a:tc>
                  <a:txBody>
                    <a:bodyPr/>
                    <a:lstStyle/>
                    <a:p>
                      <a:pPr algn="l"/>
                      <a:r>
                        <a:rPr sz="1000" b="1">
                          <a:solidFill>
                            <a:srgbClr val="FFFFFF"/>
                          </a:solidFill>
                          <a:latin typeface="Calibri"/>
                        </a:rPr>
                        <a:t>Autonomy</a:t>
                      </a:r>
                    </a:p>
                  </a:txBody>
                  <a:tcPr>
                    <a:solidFill>
                      <a:srgbClr val="16213E"/>
                    </a:solidFill>
                  </a:tcPr>
                </a:tc>
                <a:tc>
                  <a:txBody>
                    <a:bodyPr/>
                    <a:lstStyle/>
                    <a:p>
                      <a:pPr algn="l"/>
                      <a:r>
                        <a:rPr sz="1000" b="1">
                          <a:solidFill>
                            <a:srgbClr val="FFFFFF"/>
                          </a:solidFill>
                          <a:latin typeface="Calibri"/>
                        </a:rPr>
                        <a:t>Model Quality</a:t>
                      </a:r>
                    </a:p>
                  </a:txBody>
                  <a:tcPr>
                    <a:solidFill>
                      <a:srgbClr val="16213E"/>
                    </a:solidFill>
                  </a:tcPr>
                </a:tc>
                <a:tc>
                  <a:txBody>
                    <a:bodyPr/>
                    <a:lstStyle/>
                    <a:p>
                      <a:pPr algn="l"/>
                      <a:r>
                        <a:rPr sz="1000" b="1">
                          <a:solidFill>
                            <a:srgbClr val="FFFFFF"/>
                          </a:solidFill>
                          <a:latin typeface="Calibri"/>
                        </a:rPr>
                        <a:t>Free Tier</a:t>
                      </a:r>
                    </a:p>
                  </a:txBody>
                  <a:tcPr>
                    <a:solidFill>
                      <a:srgbClr val="16213E"/>
                    </a:solidFill>
                  </a:tcPr>
                </a:tc>
                <a:tc>
                  <a:txBody>
                    <a:bodyPr/>
                    <a:lstStyle/>
                    <a:p>
                      <a:pPr algn="l"/>
                      <a:r>
                        <a:rPr sz="1000" b="1">
                          <a:solidFill>
                            <a:srgbClr val="FFFFFF"/>
                          </a:solidFill>
                          <a:latin typeface="Calibri"/>
                        </a:rPr>
                        <a:t>Paid Tier</a:t>
                      </a:r>
                    </a:p>
                  </a:txBody>
                  <a:tcPr>
                    <a:solidFill>
                      <a:srgbClr val="16213E"/>
                    </a:solidFill>
                  </a:tcPr>
                </a:tc>
                <a:tc>
                  <a:txBody>
                    <a:bodyPr/>
                    <a:lstStyle/>
                    <a:p>
                      <a:pPr algn="l"/>
                      <a:r>
                        <a:rPr sz="1000" b="1">
                          <a:solidFill>
                            <a:srgbClr val="FFFFFF"/>
                          </a:solidFill>
                          <a:latin typeface="Calibri"/>
                        </a:rPr>
                        <a:t>Best For</a:t>
                      </a:r>
                    </a:p>
                  </a:txBody>
                  <a:tcPr>
                    <a:solidFill>
                      <a:srgbClr val="16213E"/>
                    </a:solidFill>
                  </a:tcPr>
                </a:tc>
              </a:tr>
              <a:tr h="329184">
                <a:tc>
                  <a:txBody>
                    <a:bodyPr/>
                    <a:lstStyle/>
                    <a:p>
                      <a:r>
                        <a:rPr sz="1000">
                          <a:solidFill>
                            <a:srgbClr val="1A1A2E"/>
                          </a:solidFill>
                          <a:latin typeface="Calibri"/>
                        </a:rPr>
                        <a:t>Claude Code</a:t>
                      </a:r>
                    </a:p>
                  </a:txBody>
                  <a:tcPr>
                    <a:solidFill>
                      <a:srgbClr val="FFFFFF"/>
                    </a:solidFill>
                  </a:tcPr>
                </a:tc>
                <a:tc>
                  <a:txBody>
                    <a:bodyPr/>
                    <a:lstStyle/>
                    <a:p>
                      <a:r>
                        <a:rPr sz="1000">
                          <a:solidFill>
                            <a:srgbClr val="1A1A2E"/>
                          </a:solidFill>
                          <a:latin typeface="Calibri"/>
                        </a:rPr>
                        <a:t>Terminal CLI</a:t>
                      </a:r>
                    </a:p>
                  </a:txBody>
                  <a:tcPr>
                    <a:solidFill>
                      <a:srgbClr val="FFFFFF"/>
                    </a:solidFill>
                  </a:tcPr>
                </a:tc>
                <a:tc>
                  <a:txBody>
                    <a:bodyPr/>
                    <a:lstStyle/>
                    <a:p>
                      <a:r>
                        <a:rPr sz="1000">
                          <a:solidFill>
                            <a:srgbClr val="1A1A2E"/>
                          </a:solidFill>
                          <a:latin typeface="Calibri"/>
                        </a:rPr>
                        <a:t>★★★★★</a:t>
                      </a:r>
                    </a:p>
                  </a:txBody>
                  <a:tcPr>
                    <a:solidFill>
                      <a:srgbClr val="FFFFFF"/>
                    </a:solidFill>
                  </a:tcPr>
                </a:tc>
                <a:tc>
                  <a:txBody>
                    <a:bodyPr/>
                    <a:lstStyle/>
                    <a:p>
                      <a:r>
                        <a:rPr sz="1000">
                          <a:solidFill>
                            <a:srgbClr val="1A1A2E"/>
                          </a:solidFill>
                          <a:latin typeface="Calibri"/>
                        </a:rPr>
                        <a:t>Claude 3.7 (best coder)</a:t>
                      </a:r>
                    </a:p>
                  </a:txBody>
                  <a:tcPr>
                    <a:solidFill>
                      <a:srgbClr val="FFFFFF"/>
                    </a:solidFill>
                  </a:tcPr>
                </a:tc>
                <a:tc>
                  <a:txBody>
                    <a:bodyPr/>
                    <a:lstStyle/>
                    <a:p>
                      <a:r>
                        <a:rPr sz="1000">
                          <a:solidFill>
                            <a:srgbClr val="1A1A2E"/>
                          </a:solidFill>
                          <a:latin typeface="Calibri"/>
                        </a:rPr>
                        <a:t>Pay-as-you-go</a:t>
                      </a:r>
                    </a:p>
                  </a:txBody>
                  <a:tcPr>
                    <a:solidFill>
                      <a:srgbClr val="FFFFFF"/>
                    </a:solidFill>
                  </a:tcPr>
                </a:tc>
                <a:tc>
                  <a:txBody>
                    <a:bodyPr/>
                    <a:lstStyle/>
                    <a:p>
                      <a:r>
                        <a:rPr sz="1000">
                          <a:solidFill>
                            <a:srgbClr val="1A1A2E"/>
                          </a:solidFill>
                          <a:latin typeface="Calibri"/>
                        </a:rPr>
                        <a:t>~$20/mo typical</a:t>
                      </a:r>
                    </a:p>
                  </a:txBody>
                  <a:tcPr>
                    <a:solidFill>
                      <a:srgbClr val="FFFFFF"/>
                    </a:solidFill>
                  </a:tcPr>
                </a:tc>
                <a:tc>
                  <a:txBody>
                    <a:bodyPr/>
                    <a:lstStyle/>
                    <a:p>
                      <a:r>
                        <a:rPr sz="1000">
                          <a:solidFill>
                            <a:srgbClr val="1A1A2E"/>
                          </a:solidFill>
                          <a:latin typeface="Calibri"/>
                        </a:rPr>
                        <a:t>Agentic tasks, multi-file changes</a:t>
                      </a:r>
                    </a:p>
                  </a:txBody>
                  <a:tcPr>
                    <a:solidFill>
                      <a:srgbClr val="FFFFFF"/>
                    </a:solidFill>
                  </a:tcPr>
                </a:tc>
              </a:tr>
              <a:tr h="329184">
                <a:tc>
                  <a:txBody>
                    <a:bodyPr/>
                    <a:lstStyle/>
                    <a:p>
                      <a:r>
                        <a:rPr sz="1000">
                          <a:solidFill>
                            <a:srgbClr val="1A1A2E"/>
                          </a:solidFill>
                          <a:latin typeface="Calibri"/>
                        </a:rPr>
                        <a:t>Cursor</a:t>
                      </a:r>
                    </a:p>
                  </a:txBody>
                  <a:tcPr>
                    <a:solidFill>
                      <a:srgbClr val="F8F9FF"/>
                    </a:solidFill>
                  </a:tcPr>
                </a:tc>
                <a:tc>
                  <a:txBody>
                    <a:bodyPr/>
                    <a:lstStyle/>
                    <a:p>
                      <a:r>
                        <a:rPr sz="1000">
                          <a:solidFill>
                            <a:srgbClr val="1A1A2E"/>
                          </a:solidFill>
                          <a:latin typeface="Calibri"/>
                        </a:rPr>
                        <a:t>IDE (VS Code)</a:t>
                      </a:r>
                    </a:p>
                  </a:txBody>
                  <a:tcPr>
                    <a:solidFill>
                      <a:srgbClr val="F8F9FF"/>
                    </a:solidFill>
                  </a:tcPr>
                </a:tc>
                <a:tc>
                  <a:txBody>
                    <a:bodyPr/>
                    <a:lstStyle/>
                    <a:p>
                      <a:r>
                        <a:rPr sz="1000">
                          <a:solidFill>
                            <a:srgbClr val="1A1A2E"/>
                          </a:solidFill>
                          <a:latin typeface="Calibri"/>
                        </a:rPr>
                        <a:t>★★★★☆</a:t>
                      </a:r>
                    </a:p>
                  </a:txBody>
                  <a:tcPr>
                    <a:solidFill>
                      <a:srgbClr val="F8F9FF"/>
                    </a:solidFill>
                  </a:tcPr>
                </a:tc>
                <a:tc>
                  <a:txBody>
                    <a:bodyPr/>
                    <a:lstStyle/>
                    <a:p>
                      <a:r>
                        <a:rPr sz="1000">
                          <a:solidFill>
                            <a:srgbClr val="1A1A2E"/>
                          </a:solidFill>
                          <a:latin typeface="Calibri"/>
                        </a:rPr>
                        <a:t>GPT-4o, Claude, Gemini</a:t>
                      </a:r>
                    </a:p>
                  </a:txBody>
                  <a:tcPr>
                    <a:solidFill>
                      <a:srgbClr val="F8F9FF"/>
                    </a:solidFill>
                  </a:tcPr>
                </a:tc>
                <a:tc>
                  <a:txBody>
                    <a:bodyPr/>
                    <a:lstStyle/>
                    <a:p>
                      <a:r>
                        <a:rPr sz="1000">
                          <a:solidFill>
                            <a:srgbClr val="1A1A2E"/>
                          </a:solidFill>
                          <a:latin typeface="Calibri"/>
                        </a:rPr>
                        <a:t>2,000 completions</a:t>
                      </a:r>
                    </a:p>
                  </a:txBody>
                  <a:tcPr>
                    <a:solidFill>
                      <a:srgbClr val="F8F9FF"/>
                    </a:solidFill>
                  </a:tcPr>
                </a:tc>
                <a:tc>
                  <a:txBody>
                    <a:bodyPr/>
                    <a:lstStyle/>
                    <a:p>
                      <a:r>
                        <a:rPr sz="1000">
                          <a:solidFill>
                            <a:srgbClr val="1A1A2E"/>
                          </a:solidFill>
                          <a:latin typeface="Calibri"/>
                        </a:rPr>
                        <a:t>$20/mo</a:t>
                      </a:r>
                    </a:p>
                  </a:txBody>
                  <a:tcPr>
                    <a:solidFill>
                      <a:srgbClr val="F8F9FF"/>
                    </a:solidFill>
                  </a:tcPr>
                </a:tc>
                <a:tc>
                  <a:txBody>
                    <a:bodyPr/>
                    <a:lstStyle/>
                    <a:p>
                      <a:r>
                        <a:rPr sz="1000">
                          <a:solidFill>
                            <a:srgbClr val="1A1A2E"/>
                          </a:solidFill>
                          <a:latin typeface="Calibri"/>
                        </a:rPr>
                        <a:t>Daily dev work, large codebases</a:t>
                      </a:r>
                    </a:p>
                  </a:txBody>
                  <a:tcPr>
                    <a:solidFill>
                      <a:srgbClr val="F8F9FF"/>
                    </a:solidFill>
                  </a:tcPr>
                </a:tc>
              </a:tr>
              <a:tr h="329184">
                <a:tc>
                  <a:txBody>
                    <a:bodyPr/>
                    <a:lstStyle/>
                    <a:p>
                      <a:r>
                        <a:rPr sz="1000">
                          <a:solidFill>
                            <a:srgbClr val="1A1A2E"/>
                          </a:solidFill>
                          <a:latin typeface="Calibri"/>
                        </a:rPr>
                        <a:t>Windsurf</a:t>
                      </a:r>
                    </a:p>
                  </a:txBody>
                  <a:tcPr>
                    <a:solidFill>
                      <a:srgbClr val="FFFFFF"/>
                    </a:solidFill>
                  </a:tcPr>
                </a:tc>
                <a:tc>
                  <a:txBody>
                    <a:bodyPr/>
                    <a:lstStyle/>
                    <a:p>
                      <a:r>
                        <a:rPr sz="1000">
                          <a:solidFill>
                            <a:srgbClr val="1A1A2E"/>
                          </a:solidFill>
                          <a:latin typeface="Calibri"/>
                        </a:rPr>
                        <a:t>IDE (VS Code)</a:t>
                      </a:r>
                    </a:p>
                  </a:txBody>
                  <a:tcPr>
                    <a:solidFill>
                      <a:srgbClr val="FFFFFF"/>
                    </a:solidFill>
                  </a:tcPr>
                </a:tc>
                <a:tc>
                  <a:txBody>
                    <a:bodyPr/>
                    <a:lstStyle/>
                    <a:p>
                      <a:r>
                        <a:rPr sz="1000">
                          <a:solidFill>
                            <a:srgbClr val="1A1A2E"/>
                          </a:solidFill>
                          <a:latin typeface="Calibri"/>
                        </a:rPr>
                        <a:t>★★★★☆</a:t>
                      </a:r>
                    </a:p>
                  </a:txBody>
                  <a:tcPr>
                    <a:solidFill>
                      <a:srgbClr val="FFFFFF"/>
                    </a:solidFill>
                  </a:tcPr>
                </a:tc>
                <a:tc>
                  <a:txBody>
                    <a:bodyPr/>
                    <a:lstStyle/>
                    <a:p>
                      <a:r>
                        <a:rPr sz="1000">
                          <a:solidFill>
                            <a:srgbClr val="1A1A2E"/>
                          </a:solidFill>
                          <a:latin typeface="Calibri"/>
                        </a:rPr>
                        <a:t>Claude, GPT-4o</a:t>
                      </a:r>
                    </a:p>
                  </a:txBody>
                  <a:tcPr>
                    <a:solidFill>
                      <a:srgbClr val="FFFFFF"/>
                    </a:solidFill>
                  </a:tcPr>
                </a:tc>
                <a:tc>
                  <a:txBody>
                    <a:bodyPr/>
                    <a:lstStyle/>
                    <a:p>
                      <a:r>
                        <a:rPr sz="1000">
                          <a:solidFill>
                            <a:srgbClr val="1A1A2E"/>
                          </a:solidFill>
                          <a:latin typeface="Calibri"/>
                        </a:rPr>
                        <a:t>5 flows/day</a:t>
                      </a:r>
                    </a:p>
                  </a:txBody>
                  <a:tcPr>
                    <a:solidFill>
                      <a:srgbClr val="FFFFFF"/>
                    </a:solidFill>
                  </a:tcPr>
                </a:tc>
                <a:tc>
                  <a:txBody>
                    <a:bodyPr/>
                    <a:lstStyle/>
                    <a:p>
                      <a:r>
                        <a:rPr sz="1000">
                          <a:solidFill>
                            <a:srgbClr val="1A1A2E"/>
                          </a:solidFill>
                          <a:latin typeface="Calibri"/>
                        </a:rPr>
                        <a:t>$15/mo</a:t>
                      </a:r>
                    </a:p>
                  </a:txBody>
                  <a:tcPr>
                    <a:solidFill>
                      <a:srgbClr val="FFFFFF"/>
                    </a:solidFill>
                  </a:tcPr>
                </a:tc>
                <a:tc>
                  <a:txBody>
                    <a:bodyPr/>
                    <a:lstStyle/>
                    <a:p>
                      <a:r>
                        <a:rPr sz="1000">
                          <a:solidFill>
                            <a:srgbClr val="1A1A2E"/>
                          </a:solidFill>
                          <a:latin typeface="Calibri"/>
                        </a:rPr>
                        <a:t>New features, long tasks</a:t>
                      </a:r>
                    </a:p>
                  </a:txBody>
                  <a:tcPr>
                    <a:solidFill>
                      <a:srgbClr val="FFFFFF"/>
                    </a:solidFill>
                  </a:tcPr>
                </a:tc>
              </a:tr>
              <a:tr h="329184">
                <a:tc>
                  <a:txBody>
                    <a:bodyPr/>
                    <a:lstStyle/>
                    <a:p>
                      <a:r>
                        <a:rPr sz="1000">
                          <a:solidFill>
                            <a:srgbClr val="1A1A2E"/>
                          </a:solidFill>
                          <a:latin typeface="Calibri"/>
                        </a:rPr>
                        <a:t>GitHub Copilot</a:t>
                      </a:r>
                    </a:p>
                  </a:txBody>
                  <a:tcPr>
                    <a:solidFill>
                      <a:srgbClr val="F8F9FF"/>
                    </a:solidFill>
                  </a:tcPr>
                </a:tc>
                <a:tc>
                  <a:txBody>
                    <a:bodyPr/>
                    <a:lstStyle/>
                    <a:p>
                      <a:r>
                        <a:rPr sz="1000">
                          <a:solidFill>
                            <a:srgbClr val="1A1A2E"/>
                          </a:solidFill>
                          <a:latin typeface="Calibri"/>
                        </a:rPr>
                        <a:t>IDE + GitHub</a:t>
                      </a:r>
                    </a:p>
                  </a:txBody>
                  <a:tcPr>
                    <a:solidFill>
                      <a:srgbClr val="F8F9FF"/>
                    </a:solidFill>
                  </a:tcPr>
                </a:tc>
                <a:tc>
                  <a:txBody>
                    <a:bodyPr/>
                    <a:lstStyle/>
                    <a:p>
                      <a:r>
                        <a:rPr sz="1000">
                          <a:solidFill>
                            <a:srgbClr val="1A1A2E"/>
                          </a:solidFill>
                          <a:latin typeface="Calibri"/>
                        </a:rPr>
                        <a:t>★★★☆☆</a:t>
                      </a:r>
                    </a:p>
                  </a:txBody>
                  <a:tcPr>
                    <a:solidFill>
                      <a:srgbClr val="F8F9FF"/>
                    </a:solidFill>
                  </a:tcPr>
                </a:tc>
                <a:tc>
                  <a:txBody>
                    <a:bodyPr/>
                    <a:lstStyle/>
                    <a:p>
                      <a:r>
                        <a:rPr sz="1000">
                          <a:solidFill>
                            <a:srgbClr val="1A1A2E"/>
                          </a:solidFill>
                          <a:latin typeface="Calibri"/>
                        </a:rPr>
                        <a:t>GPT-4o</a:t>
                      </a:r>
                    </a:p>
                  </a:txBody>
                  <a:tcPr>
                    <a:solidFill>
                      <a:srgbClr val="F8F9FF"/>
                    </a:solidFill>
                  </a:tcPr>
                </a:tc>
                <a:tc>
                  <a:txBody>
                    <a:bodyPr/>
                    <a:lstStyle/>
                    <a:p>
                      <a:r>
                        <a:rPr sz="1000">
                          <a:solidFill>
                            <a:srgbClr val="1A1A2E"/>
                          </a:solidFill>
                          <a:latin typeface="Calibri"/>
                        </a:rPr>
                        <a:t>Yes (limited)</a:t>
                      </a:r>
                    </a:p>
                  </a:txBody>
                  <a:tcPr>
                    <a:solidFill>
                      <a:srgbClr val="F8F9FF"/>
                    </a:solidFill>
                  </a:tcPr>
                </a:tc>
                <a:tc>
                  <a:txBody>
                    <a:bodyPr/>
                    <a:lstStyle/>
                    <a:p>
                      <a:r>
                        <a:rPr sz="1000">
                          <a:solidFill>
                            <a:srgbClr val="1A1A2E"/>
                          </a:solidFill>
                          <a:latin typeface="Calibri"/>
                        </a:rPr>
                        <a:t>$19/mo</a:t>
                      </a:r>
                    </a:p>
                  </a:txBody>
                  <a:tcPr>
                    <a:solidFill>
                      <a:srgbClr val="F8F9FF"/>
                    </a:solidFill>
                  </a:tcPr>
                </a:tc>
                <a:tc>
                  <a:txBody>
                    <a:bodyPr/>
                    <a:lstStyle/>
                    <a:p>
                      <a:r>
                        <a:rPr sz="1000">
                          <a:solidFill>
                            <a:srgbClr val="1A1A2E"/>
                          </a:solidFill>
                          <a:latin typeface="Calibri"/>
                        </a:rPr>
                        <a:t>Enterprise, GitHub-integrated teams</a:t>
                      </a:r>
                    </a:p>
                  </a:txBody>
                  <a:tcPr>
                    <a:solidFill>
                      <a:srgbClr val="F8F9FF"/>
                    </a:solidFill>
                  </a:tcPr>
                </a:tc>
              </a:tr>
              <a:tr h="329184">
                <a:tc>
                  <a:txBody>
                    <a:bodyPr/>
                    <a:lstStyle/>
                    <a:p>
                      <a:r>
                        <a:rPr sz="1000">
                          <a:solidFill>
                            <a:srgbClr val="1A1A2E"/>
                          </a:solidFill>
                          <a:latin typeface="Calibri"/>
                        </a:rPr>
                        <a:t>Amazon Q</a:t>
                      </a:r>
                    </a:p>
                  </a:txBody>
                  <a:tcPr>
                    <a:solidFill>
                      <a:srgbClr val="FFFFFF"/>
                    </a:solidFill>
                  </a:tcPr>
                </a:tc>
                <a:tc>
                  <a:txBody>
                    <a:bodyPr/>
                    <a:lstStyle/>
                    <a:p>
                      <a:r>
                        <a:rPr sz="1000">
                          <a:solidFill>
                            <a:srgbClr val="1A1A2E"/>
                          </a:solidFill>
                          <a:latin typeface="Calibri"/>
                        </a:rPr>
                        <a:t>IDE + CLI</a:t>
                      </a:r>
                    </a:p>
                  </a:txBody>
                  <a:tcPr>
                    <a:solidFill>
                      <a:srgbClr val="FFFFFF"/>
                    </a:solidFill>
                  </a:tcPr>
                </a:tc>
                <a:tc>
                  <a:txBody>
                    <a:bodyPr/>
                    <a:lstStyle/>
                    <a:p>
                      <a:r>
                        <a:rPr sz="1000">
                          <a:solidFill>
                            <a:srgbClr val="1A1A2E"/>
                          </a:solidFill>
                          <a:latin typeface="Calibri"/>
                        </a:rPr>
                        <a:t>★★★☆☆</a:t>
                      </a:r>
                    </a:p>
                  </a:txBody>
                  <a:tcPr>
                    <a:solidFill>
                      <a:srgbClr val="FFFFFF"/>
                    </a:solidFill>
                  </a:tcPr>
                </a:tc>
                <a:tc>
                  <a:txBody>
                    <a:bodyPr/>
                    <a:lstStyle/>
                    <a:p>
                      <a:r>
                        <a:rPr sz="1000">
                          <a:solidFill>
                            <a:srgbClr val="1A1A2E"/>
                          </a:solidFill>
                          <a:latin typeface="Calibri"/>
                        </a:rPr>
                        <a:t>Claude-powered</a:t>
                      </a:r>
                    </a:p>
                  </a:txBody>
                  <a:tcPr>
                    <a:solidFill>
                      <a:srgbClr val="FFFFFF"/>
                    </a:solidFill>
                  </a:tcPr>
                </a:tc>
                <a:tc>
                  <a:txBody>
                    <a:bodyPr/>
                    <a:lstStyle/>
                    <a:p>
                      <a:r>
                        <a:rPr sz="1000">
                          <a:solidFill>
                            <a:srgbClr val="1A1A2E"/>
                          </a:solidFill>
                          <a:latin typeface="Calibri"/>
                        </a:rPr>
                        <a:t>Yes</a:t>
                      </a:r>
                    </a:p>
                  </a:txBody>
                  <a:tcPr>
                    <a:solidFill>
                      <a:srgbClr val="FFFFFF"/>
                    </a:solidFill>
                  </a:tcPr>
                </a:tc>
                <a:tc>
                  <a:txBody>
                    <a:bodyPr/>
                    <a:lstStyle/>
                    <a:p>
                      <a:r>
                        <a:rPr sz="1000">
                          <a:solidFill>
                            <a:srgbClr val="1A1A2E"/>
                          </a:solidFill>
                          <a:latin typeface="Calibri"/>
                        </a:rPr>
                        <a:t>$19/mo</a:t>
                      </a:r>
                    </a:p>
                  </a:txBody>
                  <a:tcPr>
                    <a:solidFill>
                      <a:srgbClr val="FFFFFF"/>
                    </a:solidFill>
                  </a:tcPr>
                </a:tc>
                <a:tc>
                  <a:txBody>
                    <a:bodyPr/>
                    <a:lstStyle/>
                    <a:p>
                      <a:r>
                        <a:rPr sz="1000">
                          <a:solidFill>
                            <a:srgbClr val="1A1A2E"/>
                          </a:solidFill>
                          <a:latin typeface="Calibri"/>
                        </a:rPr>
                        <a:t>AWS-native development</a:t>
                      </a:r>
                    </a:p>
                  </a:txBody>
                  <a:tcPr>
                    <a:solidFill>
                      <a:srgbClr val="FFFFFF"/>
                    </a:solidFill>
                  </a:tcPr>
                </a:tc>
              </a:tr>
              <a:tr h="329184">
                <a:tc>
                  <a:txBody>
                    <a:bodyPr/>
                    <a:lstStyle/>
                    <a:p>
                      <a:r>
                        <a:rPr sz="1000">
                          <a:solidFill>
                            <a:srgbClr val="1A1A2E"/>
                          </a:solidFill>
                          <a:latin typeface="Calibri"/>
                        </a:rPr>
                        <a:t>Replit AI</a:t>
                      </a:r>
                    </a:p>
                  </a:txBody>
                  <a:tcPr>
                    <a:solidFill>
                      <a:srgbClr val="F8F9FF"/>
                    </a:solidFill>
                  </a:tcPr>
                </a:tc>
                <a:tc>
                  <a:txBody>
                    <a:bodyPr/>
                    <a:lstStyle/>
                    <a:p>
                      <a:r>
                        <a:rPr sz="1000">
                          <a:solidFill>
                            <a:srgbClr val="1A1A2E"/>
                          </a:solidFill>
                          <a:latin typeface="Calibri"/>
                        </a:rPr>
                        <a:t>Browser</a:t>
                      </a:r>
                    </a:p>
                  </a:txBody>
                  <a:tcPr>
                    <a:solidFill>
                      <a:srgbClr val="F8F9FF"/>
                    </a:solidFill>
                  </a:tcPr>
                </a:tc>
                <a:tc>
                  <a:txBody>
                    <a:bodyPr/>
                    <a:lstStyle/>
                    <a:p>
                      <a:r>
                        <a:rPr sz="1000">
                          <a:solidFill>
                            <a:srgbClr val="1A1A2E"/>
                          </a:solidFill>
                          <a:latin typeface="Calibri"/>
                        </a:rPr>
                        <a:t>★★☆☆☆</a:t>
                      </a:r>
                    </a:p>
                  </a:txBody>
                  <a:tcPr>
                    <a:solidFill>
                      <a:srgbClr val="F8F9FF"/>
                    </a:solidFill>
                  </a:tcPr>
                </a:tc>
                <a:tc>
                  <a:txBody>
                    <a:bodyPr/>
                    <a:lstStyle/>
                    <a:p>
                      <a:r>
                        <a:rPr sz="1000">
                          <a:solidFill>
                            <a:srgbClr val="1A1A2E"/>
                          </a:solidFill>
                          <a:latin typeface="Calibri"/>
                        </a:rPr>
                        <a:t>GPT-4o</a:t>
                      </a:r>
                    </a:p>
                  </a:txBody>
                  <a:tcPr>
                    <a:solidFill>
                      <a:srgbClr val="F8F9FF"/>
                    </a:solidFill>
                  </a:tcPr>
                </a:tc>
                <a:tc>
                  <a:txBody>
                    <a:bodyPr/>
                    <a:lstStyle/>
                    <a:p>
                      <a:r>
                        <a:rPr sz="1000">
                          <a:solidFill>
                            <a:srgbClr val="1A1A2E"/>
                          </a:solidFill>
                          <a:latin typeface="Calibri"/>
                        </a:rPr>
                        <a:t>Yes (limited)</a:t>
                      </a:r>
                    </a:p>
                  </a:txBody>
                  <a:tcPr>
                    <a:solidFill>
                      <a:srgbClr val="F8F9FF"/>
                    </a:solidFill>
                  </a:tcPr>
                </a:tc>
                <a:tc>
                  <a:txBody>
                    <a:bodyPr/>
                    <a:lstStyle/>
                    <a:p>
                      <a:r>
                        <a:rPr sz="1000">
                          <a:solidFill>
                            <a:srgbClr val="1A1A2E"/>
                          </a:solidFill>
                          <a:latin typeface="Calibri"/>
                        </a:rPr>
                        <a:t>$20/mo</a:t>
                      </a:r>
                    </a:p>
                  </a:txBody>
                  <a:tcPr>
                    <a:solidFill>
                      <a:srgbClr val="F8F9FF"/>
                    </a:solidFill>
                  </a:tcPr>
                </a:tc>
                <a:tc>
                  <a:txBody>
                    <a:bodyPr/>
                    <a:lstStyle/>
                    <a:p>
                      <a:r>
                        <a:rPr sz="1000">
                          <a:solidFill>
                            <a:srgbClr val="1A1A2E"/>
                          </a:solidFill>
                          <a:latin typeface="Calibri"/>
                        </a:rPr>
                        <a:t>Learning, no-install prototypes</a:t>
                      </a:r>
                    </a:p>
                  </a:txBody>
                  <a:tcPr>
                    <a:solidFill>
                      <a:srgbClr val="F8F9FF"/>
                    </a:solidFill>
                  </a:tcPr>
                </a:tc>
              </a:tr>
            </a:tbl>
          </a:graphicData>
        </a:graphic>
      </p:graphicFrame>
      <p:sp>
        <p:nvSpPr>
          <p:cNvPr id="10" name="TextBox 9"/>
          <p:cNvSpPr txBox="1"/>
          <p:nvPr/>
        </p:nvSpPr>
        <p:spPr>
          <a:xfrm>
            <a:off x="502920" y="4133088"/>
            <a:ext cx="11185855" cy="2313432"/>
          </a:xfrm>
          <a:prstGeom prst="rect">
            <a:avLst/>
          </a:prstGeom>
          <a:noFill/>
        </p:spPr>
        <p:txBody>
          <a:bodyPr wrap="square">
            <a:spAutoFit/>
          </a:bodyPr>
          <a:lstStyle/>
          <a:p>
            <a:pPr>
              <a:spcBef>
                <a:spcPts val="300"/>
              </a:spcBef>
              <a:spcAft>
                <a:spcPts val="200"/>
              </a:spcAft>
            </a:pPr>
            <a:r>
              <a:rPr sz="1300" b="1">
                <a:solidFill>
                  <a:srgbClr val="0F3460"/>
                </a:solidFill>
                <a:latin typeface="Calibri"/>
              </a:rPr>
              <a:t>Decision guide by situation:</a:t>
            </a:r>
          </a:p>
          <a:p>
            <a:pPr>
              <a:spcBef>
                <a:spcPts val="300"/>
              </a:spcBef>
              <a:spcAft>
                <a:spcPts val="200"/>
              </a:spcAft>
            </a:pPr>
            <a:r>
              <a:rPr sz="1300">
                <a:solidFill>
                  <a:srgbClr val="0EA5E9"/>
                </a:solidFill>
                <a:latin typeface="Calibri"/>
              </a:rPr>
              <a:t>• </a:t>
            </a:r>
            <a:r>
              <a:rPr sz="1300" b="0">
                <a:solidFill>
                  <a:srgbClr val="1A1A2E"/>
                </a:solidFill>
                <a:latin typeface="Calibri"/>
              </a:rPr>
              <a:t>In an enterprise with IT governance requirements → GitHub Copilot (approved vendor, SOC2, audit logs)</a:t>
            </a:r>
          </a:p>
          <a:p>
            <a:pPr>
              <a:spcBef>
                <a:spcPts val="300"/>
              </a:spcBef>
              <a:spcAft>
                <a:spcPts val="200"/>
              </a:spcAft>
            </a:pPr>
            <a:r>
              <a:rPr sz="1300">
                <a:solidFill>
                  <a:srgbClr val="0EA5E9"/>
                </a:solidFill>
                <a:latin typeface="Calibri"/>
              </a:rPr>
              <a:t>• </a:t>
            </a:r>
            <a:r>
              <a:rPr sz="1300" b="0">
                <a:solidFill>
                  <a:srgbClr val="1A1A2E"/>
                </a:solidFill>
                <a:latin typeface="Calibri"/>
              </a:rPr>
              <a:t>Building Python data pipelines and analytics → Cursor or Claude Code</a:t>
            </a:r>
          </a:p>
          <a:p>
            <a:pPr>
              <a:spcBef>
                <a:spcPts val="300"/>
              </a:spcBef>
              <a:spcAft>
                <a:spcPts val="200"/>
              </a:spcAft>
            </a:pPr>
            <a:r>
              <a:rPr sz="1300">
                <a:solidFill>
                  <a:srgbClr val="0EA5E9"/>
                </a:solidFill>
                <a:latin typeface="Calibri"/>
              </a:rPr>
              <a:t>• </a:t>
            </a:r>
            <a:r>
              <a:rPr sz="1300" b="0">
                <a:solidFill>
                  <a:srgbClr val="1A1A2E"/>
                </a:solidFill>
                <a:latin typeface="Calibri"/>
              </a:rPr>
              <a:t>Starting a new project from scratch → Windsurf Cascade for the first build</a:t>
            </a:r>
          </a:p>
          <a:p>
            <a:pPr>
              <a:spcBef>
                <a:spcPts val="300"/>
              </a:spcBef>
              <a:spcAft>
                <a:spcPts val="200"/>
              </a:spcAft>
            </a:pPr>
            <a:r>
              <a:rPr sz="1300">
                <a:solidFill>
                  <a:srgbClr val="0EA5E9"/>
                </a:solidFill>
                <a:latin typeface="Calibri"/>
              </a:rPr>
              <a:t>• </a:t>
            </a:r>
            <a:r>
              <a:rPr sz="1300" b="0">
                <a:solidFill>
                  <a:srgbClr val="1A1A2E"/>
                </a:solidFill>
                <a:latin typeface="Calibri"/>
              </a:rPr>
              <a:t>Want maximum autonomy, hands-off task completion → Claude Code</a:t>
            </a:r>
          </a:p>
          <a:p>
            <a:pPr>
              <a:spcBef>
                <a:spcPts val="300"/>
              </a:spcBef>
              <a:spcAft>
                <a:spcPts val="200"/>
              </a:spcAft>
            </a:pPr>
            <a:r>
              <a:rPr sz="1300">
                <a:solidFill>
                  <a:srgbClr val="0EA5E9"/>
                </a:solidFill>
                <a:latin typeface="Calibri"/>
              </a:rPr>
              <a:t>• </a:t>
            </a:r>
            <a:r>
              <a:rPr sz="1300" b="0">
                <a:solidFill>
                  <a:srgbClr val="1A1A2E"/>
                </a:solidFill>
                <a:latin typeface="Calibri"/>
              </a:rPr>
              <a:t>Student learning to code → Replit AI (browser, no setup) or Windsurf (generous free tier)</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34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926080"/>
            <a:ext cx="12191695" cy="73152"/>
          </a:xfrm>
          <a:prstGeom prst="rect">
            <a:avLst/>
          </a:prstGeom>
          <a:solidFill>
            <a:srgbClr val="0EA5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1920240"/>
            <a:ext cx="10058400" cy="640080"/>
          </a:xfrm>
          <a:prstGeom prst="rect">
            <a:avLst/>
          </a:prstGeom>
          <a:noFill/>
        </p:spPr>
        <p:txBody>
          <a:bodyPr wrap="none">
            <a:spAutoFit/>
          </a:bodyPr>
          <a:lstStyle/>
          <a:p>
            <a:r>
              <a:rPr sz="2200" b="1">
                <a:solidFill>
                  <a:srgbClr val="0EA5E9"/>
                </a:solidFill>
                <a:latin typeface="Calibri"/>
              </a:rPr>
              <a:t>Section 4</a:t>
            </a:r>
          </a:p>
        </p:txBody>
      </p:sp>
      <p:sp>
        <p:nvSpPr>
          <p:cNvPr id="5" name="TextBox 4"/>
          <p:cNvSpPr txBox="1"/>
          <p:nvPr/>
        </p:nvSpPr>
        <p:spPr>
          <a:xfrm>
            <a:off x="914400" y="2606040"/>
            <a:ext cx="10058400" cy="1097280"/>
          </a:xfrm>
          <a:prstGeom prst="rect">
            <a:avLst/>
          </a:prstGeom>
          <a:noFill/>
        </p:spPr>
        <p:txBody>
          <a:bodyPr wrap="none">
            <a:spAutoFit/>
          </a:bodyPr>
          <a:lstStyle/>
          <a:p>
            <a:r>
              <a:rPr sz="3600" b="1">
                <a:solidFill>
                  <a:srgbClr val="FFFFFF"/>
                </a:solidFill>
                <a:latin typeface="Calibri"/>
              </a:rPr>
              <a:t>Business Automation &amp; Multimodal AI</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234440"/>
          </a:xfrm>
          <a:prstGeom prst="rect">
            <a:avLst/>
          </a:prstGeom>
          <a:solidFill>
            <a:srgbClr val="1621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91440"/>
            <a:ext cx="11368735" cy="658368"/>
          </a:xfrm>
          <a:prstGeom prst="rect">
            <a:avLst/>
          </a:prstGeom>
          <a:noFill/>
        </p:spPr>
        <p:txBody>
          <a:bodyPr wrap="square">
            <a:spAutoFit/>
          </a:bodyPr>
          <a:lstStyle/>
          <a:p>
            <a:r>
              <a:rPr sz="2700" b="1">
                <a:solidFill>
                  <a:srgbClr val="FFFFFF"/>
                </a:solidFill>
                <a:latin typeface="Calibri"/>
              </a:rPr>
              <a:t>AI Business Automation — The Convergence</a:t>
            </a:r>
          </a:p>
        </p:txBody>
      </p:sp>
      <p:sp>
        <p:nvSpPr>
          <p:cNvPr id="5" name="TextBox 4"/>
          <p:cNvSpPr txBox="1"/>
          <p:nvPr/>
        </p:nvSpPr>
        <p:spPr>
          <a:xfrm>
            <a:off x="411480" y="749808"/>
            <a:ext cx="11368735" cy="402336"/>
          </a:xfrm>
          <a:prstGeom prst="rect">
            <a:avLst/>
          </a:prstGeom>
          <a:noFill/>
        </p:spPr>
        <p:txBody>
          <a:bodyPr wrap="none">
            <a:spAutoFit/>
          </a:bodyPr>
          <a:lstStyle/>
          <a:p>
            <a:r>
              <a:rPr sz="1500">
                <a:solidFill>
                  <a:srgbClr val="0EA5E9"/>
                </a:solidFill>
                <a:latin typeface="Calibri"/>
              </a:rPr>
              <a:t>When Workflow Automation Meets Intelligence</a:t>
            </a:r>
          </a:p>
        </p:txBody>
      </p:sp>
      <p:sp>
        <p:nvSpPr>
          <p:cNvPr id="6" name="Rectangle 5"/>
          <p:cNvSpPr/>
          <p:nvPr/>
        </p:nvSpPr>
        <p:spPr>
          <a:xfrm>
            <a:off x="0" y="1234440"/>
            <a:ext cx="12191695" cy="36576"/>
          </a:xfrm>
          <a:prstGeom prst="rect">
            <a:avLst/>
          </a:prstGeom>
          <a:solidFill>
            <a:srgbClr val="0EA5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1551615" y="6537960"/>
            <a:ext cx="502920" cy="256032"/>
          </a:xfrm>
          <a:prstGeom prst="rect">
            <a:avLst/>
          </a:prstGeom>
          <a:noFill/>
        </p:spPr>
        <p:txBody>
          <a:bodyPr wrap="none">
            <a:spAutoFit/>
          </a:bodyPr>
          <a:lstStyle/>
          <a:p>
            <a:pPr algn="ctr"/>
            <a:r>
              <a:rPr sz="1000">
                <a:solidFill>
                  <a:srgbClr val="AAAABB"/>
                </a:solidFill>
                <a:latin typeface="Calibri"/>
              </a:rPr>
              <a:t>20</a:t>
            </a:r>
          </a:p>
        </p:txBody>
      </p:sp>
      <p:sp>
        <p:nvSpPr>
          <p:cNvPr id="8" name="Rectangle 7"/>
          <p:cNvSpPr/>
          <p:nvPr/>
        </p:nvSpPr>
        <p:spPr>
          <a:xfrm>
            <a:off x="6949440" y="1353312"/>
            <a:ext cx="18288" cy="5257800"/>
          </a:xfrm>
          <a:prstGeom prst="rect">
            <a:avLst/>
          </a:prstGeom>
          <a:solidFill>
            <a:srgbClr val="DDDD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slide_20_chart.png"/>
          <p:cNvPicPr>
            <a:picLocks noChangeAspect="1"/>
          </p:cNvPicPr>
          <p:nvPr/>
        </p:nvPicPr>
        <p:blipFill>
          <a:blip r:embed="rId2"/>
          <a:stretch>
            <a:fillRect/>
          </a:stretch>
        </p:blipFill>
        <p:spPr>
          <a:xfrm>
            <a:off x="7040880" y="1444752"/>
            <a:ext cx="4663440" cy="5074920"/>
          </a:xfrm>
          <a:prstGeom prst="rect">
            <a:avLst/>
          </a:prstGeom>
        </p:spPr>
      </p:pic>
      <p:sp>
        <p:nvSpPr>
          <p:cNvPr id="10" name="TextBox 9"/>
          <p:cNvSpPr txBox="1"/>
          <p:nvPr/>
        </p:nvSpPr>
        <p:spPr>
          <a:xfrm>
            <a:off x="502920" y="1353312"/>
            <a:ext cx="6400800" cy="5093208"/>
          </a:xfrm>
          <a:prstGeom prst="rect">
            <a:avLst/>
          </a:prstGeom>
          <a:noFill/>
        </p:spPr>
        <p:txBody>
          <a:bodyPr wrap="square">
            <a:spAutoFit/>
          </a:bodyPr>
          <a:lstStyle/>
          <a:p>
            <a:pPr>
              <a:spcBef>
                <a:spcPts val="300"/>
              </a:spcBef>
              <a:spcAft>
                <a:spcPts val="200"/>
              </a:spcAft>
            </a:pPr>
            <a:r>
              <a:rPr sz="1300" b="1">
                <a:solidFill>
                  <a:srgbClr val="0F3460"/>
                </a:solidFill>
                <a:latin typeface="Calibri"/>
              </a:rPr>
              <a:t>Two technologies, each powerful alone — together, transformative:</a:t>
            </a:r>
          </a:p>
        </p:txBody>
      </p:sp>
      <p:graphicFrame>
        <p:nvGraphicFramePr>
          <p:cNvPr id="11" name="Table 10"/>
          <p:cNvGraphicFramePr>
            <a:graphicFrameLocks noGrp="1"/>
          </p:cNvGraphicFramePr>
          <p:nvPr/>
        </p:nvGraphicFramePr>
        <p:xfrm>
          <a:off x="502920" y="1737360"/>
          <a:ext cx="6400800" cy="1975104"/>
        </p:xfrm>
        <a:graphic>
          <a:graphicData uri="http://schemas.openxmlformats.org/drawingml/2006/table">
            <a:tbl>
              <a:tblPr firstRow="1" bandRow="1">
                <a:tableStyleId>{5C22544A-7EE6-4342-B048-85BDC9FD1C3A}</a:tableStyleId>
              </a:tblPr>
              <a:tblGrid>
                <a:gridCol w="3200400"/>
                <a:gridCol w="3200400"/>
              </a:tblGrid>
              <a:tr h="329184">
                <a:tc>
                  <a:txBody>
                    <a:bodyPr/>
                    <a:lstStyle/>
                    <a:p>
                      <a:pPr algn="l"/>
                      <a:r>
                        <a:rPr sz="1000" b="1">
                          <a:solidFill>
                            <a:srgbClr val="FFFFFF"/>
                          </a:solidFill>
                          <a:latin typeface="Calibri"/>
                        </a:rPr>
                        <a:t>Traditional Automation (Zapier/Make/n8n)</a:t>
                      </a:r>
                    </a:p>
                  </a:txBody>
                  <a:tcPr>
                    <a:solidFill>
                      <a:srgbClr val="16213E"/>
                    </a:solidFill>
                  </a:tcPr>
                </a:tc>
                <a:tc>
                  <a:txBody>
                    <a:bodyPr/>
                    <a:lstStyle/>
                    <a:p>
                      <a:pPr algn="l"/>
                      <a:r>
                        <a:rPr sz="1000" b="1">
                          <a:solidFill>
                            <a:srgbClr val="FFFFFF"/>
                          </a:solidFill>
                          <a:latin typeface="Calibri"/>
                        </a:rPr>
                        <a:t>AI (LLMs, Vision, Voice)</a:t>
                      </a:r>
                    </a:p>
                  </a:txBody>
                  <a:tcPr>
                    <a:solidFill>
                      <a:srgbClr val="16213E"/>
                    </a:solidFill>
                  </a:tcPr>
                </a:tc>
              </a:tr>
              <a:tr h="329184">
                <a:tc>
                  <a:txBody>
                    <a:bodyPr/>
                    <a:lstStyle/>
                    <a:p>
                      <a:r>
                        <a:rPr sz="1000">
                          <a:solidFill>
                            <a:srgbClr val="1A1A2E"/>
                          </a:solidFill>
                          <a:latin typeface="Calibri"/>
                        </a:rPr>
                        <a:t>Rule-based: if X then Y</a:t>
                      </a:r>
                    </a:p>
                  </a:txBody>
                  <a:tcPr>
                    <a:solidFill>
                      <a:srgbClr val="FFFFFF"/>
                    </a:solidFill>
                  </a:tcPr>
                </a:tc>
                <a:tc>
                  <a:txBody>
                    <a:bodyPr/>
                    <a:lstStyle/>
                    <a:p>
                      <a:r>
                        <a:rPr sz="1000">
                          <a:solidFill>
                            <a:srgbClr val="1A1A2E"/>
                          </a:solidFill>
                          <a:latin typeface="Calibri"/>
                        </a:rPr>
                        <a:t>Judgment-based: understand X, decide Y</a:t>
                      </a:r>
                    </a:p>
                  </a:txBody>
                  <a:tcPr>
                    <a:solidFill>
                      <a:srgbClr val="FFFFFF"/>
                    </a:solidFill>
                  </a:tcPr>
                </a:tc>
              </a:tr>
              <a:tr h="329184">
                <a:tc>
                  <a:txBody>
                    <a:bodyPr/>
                    <a:lstStyle/>
                    <a:p>
                      <a:r>
                        <a:rPr sz="1000">
                          <a:solidFill>
                            <a:srgbClr val="1A1A2E"/>
                          </a:solidFill>
                          <a:latin typeface="Calibri"/>
                        </a:rPr>
                        <a:t>Only handles structured data</a:t>
                      </a:r>
                    </a:p>
                  </a:txBody>
                  <a:tcPr>
                    <a:solidFill>
                      <a:srgbClr val="F8F9FF"/>
                    </a:solidFill>
                  </a:tcPr>
                </a:tc>
                <a:tc>
                  <a:txBody>
                    <a:bodyPr/>
                    <a:lstStyle/>
                    <a:p>
                      <a:r>
                        <a:rPr sz="1000">
                          <a:solidFill>
                            <a:srgbClr val="1A1A2E"/>
                          </a:solidFill>
                          <a:latin typeface="Calibri"/>
                        </a:rPr>
                        <a:t>Handles text, images, audio, documents</a:t>
                      </a:r>
                    </a:p>
                  </a:txBody>
                  <a:tcPr>
                    <a:solidFill>
                      <a:srgbClr val="F8F9FF"/>
                    </a:solidFill>
                  </a:tcPr>
                </a:tc>
              </a:tr>
              <a:tr h="329184">
                <a:tc>
                  <a:txBody>
                    <a:bodyPr/>
                    <a:lstStyle/>
                    <a:p>
                      <a:r>
                        <a:rPr sz="1000">
                          <a:solidFill>
                            <a:srgbClr val="1A1A2E"/>
                          </a:solidFill>
                          <a:latin typeface="Calibri"/>
                        </a:rPr>
                        <a:t>Brittle — breaks on edge cases</a:t>
                      </a:r>
                    </a:p>
                  </a:txBody>
                  <a:tcPr>
                    <a:solidFill>
                      <a:srgbClr val="FFFFFF"/>
                    </a:solidFill>
                  </a:tcPr>
                </a:tc>
                <a:tc>
                  <a:txBody>
                    <a:bodyPr/>
                    <a:lstStyle/>
                    <a:p>
                      <a:r>
                        <a:rPr sz="1000">
                          <a:solidFill>
                            <a:srgbClr val="1A1A2E"/>
                          </a:solidFill>
                          <a:latin typeface="Calibri"/>
                        </a:rPr>
                        <a:t>Adaptive — handles variation and ambiguity</a:t>
                      </a:r>
                    </a:p>
                  </a:txBody>
                  <a:tcPr>
                    <a:solidFill>
                      <a:srgbClr val="FFFFFF"/>
                    </a:solidFill>
                  </a:tcPr>
                </a:tc>
              </a:tr>
              <a:tr h="329184">
                <a:tc>
                  <a:txBody>
                    <a:bodyPr/>
                    <a:lstStyle/>
                    <a:p>
                      <a:r>
                        <a:rPr sz="1000">
                          <a:solidFill>
                            <a:srgbClr val="1A1A2E"/>
                          </a:solidFill>
                          <a:latin typeface="Calibri"/>
                        </a:rPr>
                        <a:t>"If email arrives → create ticket"</a:t>
                      </a:r>
                    </a:p>
                  </a:txBody>
                  <a:tcPr>
                    <a:solidFill>
                      <a:srgbClr val="F8F9FF"/>
                    </a:solidFill>
                  </a:tcPr>
                </a:tc>
                <a:tc>
                  <a:txBody>
                    <a:bodyPr/>
                    <a:lstStyle/>
                    <a:p>
                      <a:r>
                        <a:rPr sz="1000">
                          <a:solidFill>
                            <a:srgbClr val="1A1A2E"/>
                          </a:solidFill>
                          <a:latin typeface="Calibri"/>
                        </a:rPr>
                        <a:t>"Read email, understand intent, draft reply, route to right team"</a:t>
                      </a:r>
                    </a:p>
                  </a:txBody>
                  <a:tcPr>
                    <a:solidFill>
                      <a:srgbClr val="F8F9FF"/>
                    </a:solidFill>
                  </a:tcPr>
                </a:tc>
              </a:tr>
              <a:tr h="329184">
                <a:tc>
                  <a:txBody>
                    <a:bodyPr/>
                    <a:lstStyle/>
                    <a:p>
                      <a:r>
                        <a:rPr sz="1000">
                          <a:solidFill>
                            <a:srgbClr val="1A1A2E"/>
                          </a:solidFill>
                          <a:latin typeface="Calibri"/>
                        </a:rPr>
                        <a:t>Replaces mechanical steps</a:t>
                      </a:r>
                    </a:p>
                  </a:txBody>
                  <a:tcPr>
                    <a:solidFill>
                      <a:srgbClr val="FFFFFF"/>
                    </a:solidFill>
                  </a:tcPr>
                </a:tc>
                <a:tc>
                  <a:txBody>
                    <a:bodyPr/>
                    <a:lstStyle/>
                    <a:p>
                      <a:r>
                        <a:rPr sz="1000">
                          <a:solidFill>
                            <a:srgbClr val="1A1A2E"/>
                          </a:solidFill>
                          <a:latin typeface="Calibri"/>
                        </a:rPr>
                        <a:t>Replaces judgment steps</a:t>
                      </a:r>
                    </a:p>
                  </a:txBody>
                  <a:tcPr>
                    <a:solidFill>
                      <a:srgbClr val="FFFFFF"/>
                    </a:solidFill>
                  </a:tcPr>
                </a:tc>
              </a:tr>
            </a:tbl>
          </a:graphicData>
        </a:graphic>
      </p:graphicFrame>
      <p:sp>
        <p:nvSpPr>
          <p:cNvPr id="12" name="TextBox 11"/>
          <p:cNvSpPr txBox="1"/>
          <p:nvPr/>
        </p:nvSpPr>
        <p:spPr>
          <a:xfrm>
            <a:off x="502920" y="3803904"/>
            <a:ext cx="6400800" cy="2642616"/>
          </a:xfrm>
          <a:prstGeom prst="rect">
            <a:avLst/>
          </a:prstGeom>
          <a:noFill/>
        </p:spPr>
        <p:txBody>
          <a:bodyPr wrap="square">
            <a:spAutoFit/>
          </a:bodyPr>
          <a:lstStyle/>
          <a:p>
            <a:pPr>
              <a:spcBef>
                <a:spcPts val="300"/>
              </a:spcBef>
              <a:spcAft>
                <a:spcPts val="200"/>
              </a:spcAft>
            </a:pPr>
            <a:r>
              <a:rPr sz="1300" b="1">
                <a:solidFill>
                  <a:srgbClr val="0F3460"/>
                </a:solidFill>
                <a:latin typeface="Calibri"/>
              </a:rPr>
              <a:t>The resulting productivity impact — measured across 2025–2026 deployments:</a:t>
            </a:r>
          </a:p>
          <a:p>
            <a:pPr>
              <a:spcBef>
                <a:spcPts val="300"/>
              </a:spcBef>
              <a:spcAft>
                <a:spcPts val="200"/>
              </a:spcAft>
            </a:pPr>
            <a:r>
              <a:rPr sz="1200" b="0">
                <a:solidFill>
                  <a:srgbClr val="2D3748"/>
                </a:solidFill>
                <a:latin typeface="Calibri"/>
              </a:rPr>
              <a:t>The shift in what humans do: Professionals stop spending 70% of their time on gathering, extracting, formatting, and routing — and spend it instead on judgment calls, client relationships, and strategy. The work becomes higher-leverage, not just faster.</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234440"/>
          </a:xfrm>
          <a:prstGeom prst="rect">
            <a:avLst/>
          </a:prstGeom>
          <a:solidFill>
            <a:srgbClr val="1621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91440"/>
            <a:ext cx="11368735" cy="658368"/>
          </a:xfrm>
          <a:prstGeom prst="rect">
            <a:avLst/>
          </a:prstGeom>
          <a:noFill/>
        </p:spPr>
        <p:txBody>
          <a:bodyPr wrap="square">
            <a:spAutoFit/>
          </a:bodyPr>
          <a:lstStyle/>
          <a:p>
            <a:r>
              <a:rPr sz="2700" b="1">
                <a:solidFill>
                  <a:srgbClr val="FFFFFF"/>
                </a:solidFill>
                <a:latin typeface="Calibri"/>
              </a:rPr>
              <a:t>n8n — Open Source AI Automation</a:t>
            </a:r>
          </a:p>
        </p:txBody>
      </p:sp>
      <p:sp>
        <p:nvSpPr>
          <p:cNvPr id="5" name="TextBox 4"/>
          <p:cNvSpPr txBox="1"/>
          <p:nvPr/>
        </p:nvSpPr>
        <p:spPr>
          <a:xfrm>
            <a:off x="411480" y="749808"/>
            <a:ext cx="11368735" cy="402336"/>
          </a:xfrm>
          <a:prstGeom prst="rect">
            <a:avLst/>
          </a:prstGeom>
          <a:noFill/>
        </p:spPr>
        <p:txBody>
          <a:bodyPr wrap="none">
            <a:spAutoFit/>
          </a:bodyPr>
          <a:lstStyle/>
          <a:p>
            <a:r>
              <a:rPr sz="1500">
                <a:solidFill>
                  <a:srgbClr val="0EA5E9"/>
                </a:solidFill>
                <a:latin typeface="Calibri"/>
              </a:rPr>
              <a:t>When Privacy and Flexibility Matter</a:t>
            </a:r>
          </a:p>
        </p:txBody>
      </p:sp>
      <p:sp>
        <p:nvSpPr>
          <p:cNvPr id="6" name="Rectangle 5"/>
          <p:cNvSpPr/>
          <p:nvPr/>
        </p:nvSpPr>
        <p:spPr>
          <a:xfrm>
            <a:off x="0" y="1234440"/>
            <a:ext cx="12191695" cy="36576"/>
          </a:xfrm>
          <a:prstGeom prst="rect">
            <a:avLst/>
          </a:prstGeom>
          <a:solidFill>
            <a:srgbClr val="0EA5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1551615" y="6537960"/>
            <a:ext cx="502920" cy="256032"/>
          </a:xfrm>
          <a:prstGeom prst="rect">
            <a:avLst/>
          </a:prstGeom>
          <a:noFill/>
        </p:spPr>
        <p:txBody>
          <a:bodyPr wrap="none">
            <a:spAutoFit/>
          </a:bodyPr>
          <a:lstStyle/>
          <a:p>
            <a:pPr algn="ctr"/>
            <a:r>
              <a:rPr sz="1000">
                <a:solidFill>
                  <a:srgbClr val="AAAABB"/>
                </a:solidFill>
                <a:latin typeface="Calibri"/>
              </a:rPr>
              <a:t>21</a:t>
            </a:r>
          </a:p>
        </p:txBody>
      </p:sp>
      <p:sp>
        <p:nvSpPr>
          <p:cNvPr id="8" name="TextBox 7"/>
          <p:cNvSpPr txBox="1"/>
          <p:nvPr/>
        </p:nvSpPr>
        <p:spPr>
          <a:xfrm>
            <a:off x="502920" y="1353312"/>
            <a:ext cx="11185855" cy="5093208"/>
          </a:xfrm>
          <a:prstGeom prst="rect">
            <a:avLst/>
          </a:prstGeom>
          <a:noFill/>
        </p:spPr>
        <p:txBody>
          <a:bodyPr wrap="square">
            <a:spAutoFit/>
          </a:bodyPr>
          <a:lstStyle/>
          <a:p>
            <a:pPr>
              <a:spcBef>
                <a:spcPts val="300"/>
              </a:spcBef>
              <a:spcAft>
                <a:spcPts val="200"/>
              </a:spcAft>
            </a:pPr>
            <a:r>
              <a:rPr sz="1200" b="0">
                <a:solidFill>
                  <a:srgbClr val="2D3748"/>
                </a:solidFill>
                <a:latin typeface="Calibri"/>
              </a:rPr>
              <a:t>n8n (pronounced "nodemation") is the open-source alternative to Zapier — self-hostable, developer-extensible, and with native AI integration built for production workloads.</a:t>
            </a:r>
          </a:p>
          <a:p>
            <a:pPr>
              <a:spcBef>
                <a:spcPts val="300"/>
              </a:spcBef>
              <a:spcAft>
                <a:spcPts val="200"/>
              </a:spcAft>
            </a:pPr>
            <a:r>
              <a:rPr sz="1300" b="1">
                <a:solidFill>
                  <a:srgbClr val="0F3460"/>
                </a:solidFill>
                <a:latin typeface="Calibri"/>
              </a:rPr>
              <a:t>Why organizations choose n8n over Zapier for AI workflows:</a:t>
            </a:r>
          </a:p>
        </p:txBody>
      </p:sp>
      <p:graphicFrame>
        <p:nvGraphicFramePr>
          <p:cNvPr id="9" name="Table 8"/>
          <p:cNvGraphicFramePr>
            <a:graphicFrameLocks noGrp="1"/>
          </p:cNvGraphicFramePr>
          <p:nvPr/>
        </p:nvGraphicFramePr>
        <p:xfrm>
          <a:off x="502920" y="2029968"/>
          <a:ext cx="11185855" cy="2304288"/>
        </p:xfrm>
        <a:graphic>
          <a:graphicData uri="http://schemas.openxmlformats.org/drawingml/2006/table">
            <a:tbl>
              <a:tblPr firstRow="1" bandRow="1">
                <a:tableStyleId>{5C22544A-7EE6-4342-B048-85BDC9FD1C3A}</a:tableStyleId>
              </a:tblPr>
              <a:tblGrid>
                <a:gridCol w="3728618"/>
                <a:gridCol w="3728618"/>
                <a:gridCol w="3728619"/>
              </a:tblGrid>
              <a:tr h="329184">
                <a:tc>
                  <a:txBody>
                    <a:bodyPr/>
                    <a:lstStyle/>
                    <a:p>
                      <a:pPr algn="l"/>
                      <a:r>
                        <a:rPr sz="1000" b="1">
                          <a:solidFill>
                            <a:srgbClr val="FFFFFF"/>
                          </a:solidFill>
                          <a:latin typeface="Calibri"/>
                        </a:rPr>
                        <a:t>Criterion</a:t>
                      </a:r>
                    </a:p>
                  </a:txBody>
                  <a:tcPr>
                    <a:solidFill>
                      <a:srgbClr val="16213E"/>
                    </a:solidFill>
                  </a:tcPr>
                </a:tc>
                <a:tc>
                  <a:txBody>
                    <a:bodyPr/>
                    <a:lstStyle/>
                    <a:p>
                      <a:pPr algn="l"/>
                      <a:r>
                        <a:rPr sz="1000" b="1">
                          <a:solidFill>
                            <a:srgbClr val="FFFFFF"/>
                          </a:solidFill>
                          <a:latin typeface="Calibri"/>
                        </a:rPr>
                        <a:t>n8n</a:t>
                      </a:r>
                    </a:p>
                  </a:txBody>
                  <a:tcPr>
                    <a:solidFill>
                      <a:srgbClr val="16213E"/>
                    </a:solidFill>
                  </a:tcPr>
                </a:tc>
                <a:tc>
                  <a:txBody>
                    <a:bodyPr/>
                    <a:lstStyle/>
                    <a:p>
                      <a:pPr algn="l"/>
                      <a:r>
                        <a:rPr sz="1000" b="1">
                          <a:solidFill>
                            <a:srgbClr val="FFFFFF"/>
                          </a:solidFill>
                          <a:latin typeface="Calibri"/>
                        </a:rPr>
                        <a:t>Zapier</a:t>
                      </a:r>
                    </a:p>
                  </a:txBody>
                  <a:tcPr>
                    <a:solidFill>
                      <a:srgbClr val="16213E"/>
                    </a:solidFill>
                  </a:tcPr>
                </a:tc>
              </a:tr>
              <a:tr h="329184">
                <a:tc>
                  <a:txBody>
                    <a:bodyPr/>
                    <a:lstStyle/>
                    <a:p>
                      <a:r>
                        <a:rPr sz="1000">
                          <a:solidFill>
                            <a:srgbClr val="1A1A2E"/>
                          </a:solidFill>
                          <a:latin typeface="Calibri"/>
                        </a:rPr>
                        <a:t>Data hosting</a:t>
                      </a:r>
                    </a:p>
                  </a:txBody>
                  <a:tcPr>
                    <a:solidFill>
                      <a:srgbClr val="FFFFFF"/>
                    </a:solidFill>
                  </a:tcPr>
                </a:tc>
                <a:tc>
                  <a:txBody>
                    <a:bodyPr/>
                    <a:lstStyle/>
                    <a:p>
                      <a:r>
                        <a:rPr sz="1000">
                          <a:solidFill>
                            <a:srgbClr val="1A1A2E"/>
                          </a:solidFill>
                          <a:latin typeface="Calibri"/>
                        </a:rPr>
                        <a:t>Self-hosted on your servers — data never leaves</a:t>
                      </a:r>
                    </a:p>
                  </a:txBody>
                  <a:tcPr>
                    <a:solidFill>
                      <a:srgbClr val="FFFFFF"/>
                    </a:solidFill>
                  </a:tcPr>
                </a:tc>
                <a:tc>
                  <a:txBody>
                    <a:bodyPr/>
                    <a:lstStyle/>
                    <a:p>
                      <a:r>
                        <a:rPr sz="1000">
                          <a:solidFill>
                            <a:srgbClr val="1A1A2E"/>
                          </a:solidFill>
                          <a:latin typeface="Calibri"/>
                        </a:rPr>
                        <a:t>All data flows through Zapier's US cloud</a:t>
                      </a:r>
                    </a:p>
                  </a:txBody>
                  <a:tcPr>
                    <a:solidFill>
                      <a:srgbClr val="FFFFFF"/>
                    </a:solidFill>
                  </a:tcPr>
                </a:tc>
              </a:tr>
              <a:tr h="329184">
                <a:tc>
                  <a:txBody>
                    <a:bodyPr/>
                    <a:lstStyle/>
                    <a:p>
                      <a:r>
                        <a:rPr sz="1000">
                          <a:solidFill>
                            <a:srgbClr val="1A1A2E"/>
                          </a:solidFill>
                          <a:latin typeface="Calibri"/>
                        </a:rPr>
                        <a:t>AI model support</a:t>
                      </a:r>
                    </a:p>
                  </a:txBody>
                  <a:tcPr>
                    <a:solidFill>
                      <a:srgbClr val="F8F9FF"/>
                    </a:solidFill>
                  </a:tcPr>
                </a:tc>
                <a:tc>
                  <a:txBody>
                    <a:bodyPr/>
                    <a:lstStyle/>
                    <a:p>
                      <a:r>
                        <a:rPr sz="1000">
                          <a:solidFill>
                            <a:srgbClr val="1A1A2E"/>
                          </a:solidFill>
                          <a:latin typeface="Calibri"/>
                        </a:rPr>
                        <a:t>Claude, GPT, Gemini, Ollama (local) — full choice</a:t>
                      </a:r>
                    </a:p>
                  </a:txBody>
                  <a:tcPr>
                    <a:solidFill>
                      <a:srgbClr val="F8F9FF"/>
                    </a:solidFill>
                  </a:tcPr>
                </a:tc>
                <a:tc>
                  <a:txBody>
                    <a:bodyPr/>
                    <a:lstStyle/>
                    <a:p>
                      <a:r>
                        <a:rPr sz="1000">
                          <a:solidFill>
                            <a:srgbClr val="1A1A2E"/>
                          </a:solidFill>
                          <a:latin typeface="Calibri"/>
                        </a:rPr>
                        <a:t>OpenAI + limited others</a:t>
                      </a:r>
                    </a:p>
                  </a:txBody>
                  <a:tcPr>
                    <a:solidFill>
                      <a:srgbClr val="F8F9FF"/>
                    </a:solidFill>
                  </a:tcPr>
                </a:tc>
              </a:tr>
              <a:tr h="329184">
                <a:tc>
                  <a:txBody>
                    <a:bodyPr/>
                    <a:lstStyle/>
                    <a:p>
                      <a:r>
                        <a:rPr sz="1000">
                          <a:solidFill>
                            <a:srgbClr val="1A1A2E"/>
                          </a:solidFill>
                          <a:latin typeface="Calibri"/>
                        </a:rPr>
                        <a:t>Cost at scale</a:t>
                      </a:r>
                    </a:p>
                  </a:txBody>
                  <a:tcPr>
                    <a:solidFill>
                      <a:srgbClr val="FFFFFF"/>
                    </a:solidFill>
                  </a:tcPr>
                </a:tc>
                <a:tc>
                  <a:txBody>
                    <a:bodyPr/>
                    <a:lstStyle/>
                    <a:p>
                      <a:r>
                        <a:rPr sz="1000">
                          <a:solidFill>
                            <a:srgbClr val="1A1A2E"/>
                          </a:solidFill>
                          <a:latin typeface="Calibri"/>
                        </a:rPr>
                        <a:t>Fixed server cost — unlimited operations</a:t>
                      </a:r>
                    </a:p>
                  </a:txBody>
                  <a:tcPr>
                    <a:solidFill>
                      <a:srgbClr val="FFFFFF"/>
                    </a:solidFill>
                  </a:tcPr>
                </a:tc>
                <a:tc>
                  <a:txBody>
                    <a:bodyPr/>
                    <a:lstStyle/>
                    <a:p>
                      <a:r>
                        <a:rPr sz="1000">
                          <a:solidFill>
                            <a:srgbClr val="1A1A2E"/>
                          </a:solidFill>
                          <a:latin typeface="Calibri"/>
                        </a:rPr>
                        <a:t>Per-operation pricing, expensive at scale</a:t>
                      </a:r>
                    </a:p>
                  </a:txBody>
                  <a:tcPr>
                    <a:solidFill>
                      <a:srgbClr val="FFFFFF"/>
                    </a:solidFill>
                  </a:tcPr>
                </a:tc>
              </a:tr>
              <a:tr h="329184">
                <a:tc>
                  <a:txBody>
                    <a:bodyPr/>
                    <a:lstStyle/>
                    <a:p>
                      <a:r>
                        <a:rPr sz="1000">
                          <a:solidFill>
                            <a:srgbClr val="1A1A2E"/>
                          </a:solidFill>
                          <a:latin typeface="Calibri"/>
                        </a:rPr>
                        <a:t>Customization</a:t>
                      </a:r>
                    </a:p>
                  </a:txBody>
                  <a:tcPr>
                    <a:solidFill>
                      <a:srgbClr val="F8F9FF"/>
                    </a:solidFill>
                  </a:tcPr>
                </a:tc>
                <a:tc>
                  <a:txBody>
                    <a:bodyPr/>
                    <a:lstStyle/>
                    <a:p>
                      <a:r>
                        <a:rPr sz="1000">
                          <a:solidFill>
                            <a:srgbClr val="1A1A2E"/>
                          </a:solidFill>
                          <a:latin typeface="Calibri"/>
                        </a:rPr>
                        <a:t>Full JavaScript/Python custom nodes</a:t>
                      </a:r>
                    </a:p>
                  </a:txBody>
                  <a:tcPr>
                    <a:solidFill>
                      <a:srgbClr val="F8F9FF"/>
                    </a:solidFill>
                  </a:tcPr>
                </a:tc>
                <a:tc>
                  <a:txBody>
                    <a:bodyPr/>
                    <a:lstStyle/>
                    <a:p>
                      <a:r>
                        <a:rPr sz="1000">
                          <a:solidFill>
                            <a:srgbClr val="1A1A2E"/>
                          </a:solidFill>
                          <a:latin typeface="Calibri"/>
                        </a:rPr>
                        <a:t>Limited to available integrations</a:t>
                      </a:r>
                    </a:p>
                  </a:txBody>
                  <a:tcPr>
                    <a:solidFill>
                      <a:srgbClr val="F8F9FF"/>
                    </a:solidFill>
                  </a:tcPr>
                </a:tc>
              </a:tr>
              <a:tr h="329184">
                <a:tc>
                  <a:txBody>
                    <a:bodyPr/>
                    <a:lstStyle/>
                    <a:p>
                      <a:r>
                        <a:rPr sz="1000">
                          <a:solidFill>
                            <a:srgbClr val="1A1A2E"/>
                          </a:solidFill>
                          <a:latin typeface="Calibri"/>
                        </a:rPr>
                        <a:t>Open source</a:t>
                      </a:r>
                    </a:p>
                  </a:txBody>
                  <a:tcPr>
                    <a:solidFill>
                      <a:srgbClr val="FFFFFF"/>
                    </a:solidFill>
                  </a:tcPr>
                </a:tc>
                <a:tc>
                  <a:txBody>
                    <a:bodyPr/>
                    <a:lstStyle/>
                    <a:p>
                      <a:r>
                        <a:rPr sz="1000">
                          <a:solidFill>
                            <a:srgbClr val="1A1A2E"/>
                          </a:solidFill>
                          <a:latin typeface="Calibri"/>
                        </a:rPr>
                        <a:t>Yes — auditable, forkable, extensible</a:t>
                      </a:r>
                    </a:p>
                  </a:txBody>
                  <a:tcPr>
                    <a:solidFill>
                      <a:srgbClr val="FFFFFF"/>
                    </a:solidFill>
                  </a:tcPr>
                </a:tc>
                <a:tc>
                  <a:txBody>
                    <a:bodyPr/>
                    <a:lstStyle/>
                    <a:p>
                      <a:r>
                        <a:rPr sz="1000">
                          <a:solidFill>
                            <a:srgbClr val="1A1A2E"/>
                          </a:solidFill>
                          <a:latin typeface="Calibri"/>
                        </a:rPr>
                        <a:t>No</a:t>
                      </a:r>
                    </a:p>
                  </a:txBody>
                  <a:tcPr>
                    <a:solidFill>
                      <a:srgbClr val="FFFFFF"/>
                    </a:solidFill>
                  </a:tcPr>
                </a:tc>
              </a:tr>
              <a:tr h="329184">
                <a:tc>
                  <a:txBody>
                    <a:bodyPr/>
                    <a:lstStyle/>
                    <a:p>
                      <a:r>
                        <a:rPr sz="1000">
                          <a:solidFill>
                            <a:srgbClr val="1A1A2E"/>
                          </a:solidFill>
                          <a:latin typeface="Calibri"/>
                        </a:rPr>
                        <a:t>Setup complexity</a:t>
                      </a:r>
                    </a:p>
                  </a:txBody>
                  <a:tcPr>
                    <a:solidFill>
                      <a:srgbClr val="F8F9FF"/>
                    </a:solidFill>
                  </a:tcPr>
                </a:tc>
                <a:tc>
                  <a:txBody>
                    <a:bodyPr/>
                    <a:lstStyle/>
                    <a:p>
                      <a:r>
                        <a:rPr sz="1000">
                          <a:solidFill>
                            <a:srgbClr val="1A1A2E"/>
                          </a:solidFill>
                          <a:latin typeface="Calibri"/>
                        </a:rPr>
                        <a:t>Medium (Docker, 30 minutes)</a:t>
                      </a:r>
                    </a:p>
                  </a:txBody>
                  <a:tcPr>
                    <a:solidFill>
                      <a:srgbClr val="F8F9FF"/>
                    </a:solidFill>
                  </a:tcPr>
                </a:tc>
                <a:tc>
                  <a:txBody>
                    <a:bodyPr/>
                    <a:lstStyle/>
                    <a:p>
                      <a:r>
                        <a:rPr sz="1000">
                          <a:solidFill>
                            <a:srgbClr val="1A1A2E"/>
                          </a:solidFill>
                          <a:latin typeface="Calibri"/>
                        </a:rPr>
                        <a:t>Low (browser, 5 minutes)</a:t>
                      </a:r>
                    </a:p>
                  </a:txBody>
                  <a:tcPr>
                    <a:solidFill>
                      <a:srgbClr val="F8F9FF"/>
                    </a:solidFill>
                  </a:tcPr>
                </a:tc>
              </a:tr>
            </a:tbl>
          </a:graphicData>
        </a:graphic>
      </p:graphicFrame>
      <p:sp>
        <p:nvSpPr>
          <p:cNvPr id="10" name="TextBox 9"/>
          <p:cNvSpPr txBox="1"/>
          <p:nvPr/>
        </p:nvSpPr>
        <p:spPr>
          <a:xfrm>
            <a:off x="502920" y="4425696"/>
            <a:ext cx="11185855" cy="2020824"/>
          </a:xfrm>
          <a:prstGeom prst="rect">
            <a:avLst/>
          </a:prstGeom>
          <a:noFill/>
        </p:spPr>
        <p:txBody>
          <a:bodyPr wrap="square">
            <a:spAutoFit/>
          </a:bodyPr>
          <a:lstStyle/>
          <a:p>
            <a:pPr>
              <a:spcBef>
                <a:spcPts val="300"/>
              </a:spcBef>
              <a:spcAft>
                <a:spcPts val="200"/>
              </a:spcAft>
            </a:pPr>
            <a:r>
              <a:rPr sz="1300" b="1">
                <a:solidFill>
                  <a:srgbClr val="0F3460"/>
                </a:solidFill>
                <a:latin typeface="Calibri"/>
              </a:rPr>
              <a:t>A production AI workflow in n8n — intelligent email routing:</a:t>
            </a:r>
          </a:p>
          <a:p>
            <a:pPr>
              <a:spcBef>
                <a:spcPts val="300"/>
              </a:spcBef>
              <a:spcAft>
                <a:spcPts val="200"/>
              </a:spcAft>
            </a:pPr>
            <a:r>
              <a:rPr sz="1300">
                <a:solidFill>
                  <a:srgbClr val="0EA5E9"/>
                </a:solidFill>
                <a:latin typeface="Calibri"/>
              </a:rPr>
              <a:t>• </a:t>
            </a:r>
            <a:r>
              <a:rPr sz="1300" b="0">
                <a:solidFill>
                  <a:srgbClr val="1A1A2E"/>
                </a:solidFill>
                <a:latin typeface="Calibri"/>
              </a:rPr>
              <a:t>Trigger: New email arrives (Gmail / Outlook webhook)</a:t>
            </a:r>
          </a:p>
          <a:p>
            <a:pPr>
              <a:spcBef>
                <a:spcPts val="300"/>
              </a:spcBef>
              <a:spcAft>
                <a:spcPts val="200"/>
              </a:spcAft>
            </a:pPr>
            <a:r>
              <a:rPr sz="1300">
                <a:solidFill>
                  <a:srgbClr val="0EA5E9"/>
                </a:solidFill>
                <a:latin typeface="Calibri"/>
              </a:rPr>
              <a:t>• </a:t>
            </a:r>
            <a:r>
              <a:rPr sz="1300" b="0">
                <a:solidFill>
                  <a:srgbClr val="1A1A2E"/>
                </a:solidFill>
                <a:latin typeface="Calibri"/>
              </a:rPr>
              <a:t>AI Agent Node (Claude): Read full email → classify as [Sales / Support / Billing / Internal / Spam] → extract key information (sender intent, urgency, required action, deadline)</a:t>
            </a:r>
          </a:p>
          <a:p>
            <a:pPr>
              <a:spcBef>
                <a:spcPts val="300"/>
              </a:spcBef>
              <a:spcAft>
                <a:spcPts val="200"/>
              </a:spcAft>
            </a:pPr>
            <a:r>
              <a:rPr sz="1300">
                <a:solidFill>
                  <a:srgbClr val="0EA5E9"/>
                </a:solidFill>
                <a:latin typeface="Calibri"/>
              </a:rPr>
              <a:t>• </a:t>
            </a:r>
            <a:r>
              <a:rPr sz="1300" b="0">
                <a:solidFill>
                  <a:srgbClr val="1A1A2E"/>
                </a:solidFill>
                <a:latin typeface="Calibri"/>
              </a:rPr>
              <a:t>Branch by classification:</a:t>
            </a:r>
          </a:p>
          <a:p>
            <a:pPr lvl="1">
              <a:spcBef>
                <a:spcPts val="300"/>
              </a:spcBef>
              <a:spcAft>
                <a:spcPts val="200"/>
              </a:spcAft>
            </a:pPr>
            <a:r>
              <a:rPr sz="1100">
                <a:solidFill>
                  <a:srgbClr val="0EA5E9"/>
                </a:solidFill>
                <a:latin typeface="Calibri"/>
              </a:rPr>
              <a:t>› </a:t>
            </a:r>
            <a:r>
              <a:rPr sz="1100" b="0">
                <a:solidFill>
                  <a:srgbClr val="2D3748"/>
                </a:solidFill>
                <a:latin typeface="Calibri"/>
              </a:rPr>
              <a:t>Sales → Create HubSpot lead → Notify sales channel in Slack with AI summary</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234440"/>
          </a:xfrm>
          <a:prstGeom prst="rect">
            <a:avLst/>
          </a:prstGeom>
          <a:solidFill>
            <a:srgbClr val="1621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91440"/>
            <a:ext cx="11368735" cy="658368"/>
          </a:xfrm>
          <a:prstGeom prst="rect">
            <a:avLst/>
          </a:prstGeom>
          <a:noFill/>
        </p:spPr>
        <p:txBody>
          <a:bodyPr wrap="square">
            <a:spAutoFit/>
          </a:bodyPr>
          <a:lstStyle/>
          <a:p>
            <a:r>
              <a:rPr sz="2700" b="1">
                <a:solidFill>
                  <a:srgbClr val="FFFFFF"/>
                </a:solidFill>
                <a:latin typeface="Calibri"/>
              </a:rPr>
              <a:t>Make and Zapier — No-Code AI Automation</a:t>
            </a:r>
          </a:p>
        </p:txBody>
      </p:sp>
      <p:sp>
        <p:nvSpPr>
          <p:cNvPr id="5" name="TextBox 4"/>
          <p:cNvSpPr txBox="1"/>
          <p:nvPr/>
        </p:nvSpPr>
        <p:spPr>
          <a:xfrm>
            <a:off x="411480" y="749808"/>
            <a:ext cx="11368735" cy="402336"/>
          </a:xfrm>
          <a:prstGeom prst="rect">
            <a:avLst/>
          </a:prstGeom>
          <a:noFill/>
        </p:spPr>
        <p:txBody>
          <a:bodyPr wrap="none">
            <a:spAutoFit/>
          </a:bodyPr>
          <a:lstStyle/>
          <a:p>
            <a:r>
              <a:rPr sz="1500">
                <a:solidFill>
                  <a:srgbClr val="0EA5E9"/>
                </a:solidFill>
                <a:latin typeface="Calibri"/>
              </a:rPr>
              <a:t>The Tools Your Non-Technical Colleagues Are Already Using</a:t>
            </a:r>
          </a:p>
        </p:txBody>
      </p:sp>
      <p:sp>
        <p:nvSpPr>
          <p:cNvPr id="6" name="Rectangle 5"/>
          <p:cNvSpPr/>
          <p:nvPr/>
        </p:nvSpPr>
        <p:spPr>
          <a:xfrm>
            <a:off x="0" y="1234440"/>
            <a:ext cx="12191695" cy="36576"/>
          </a:xfrm>
          <a:prstGeom prst="rect">
            <a:avLst/>
          </a:prstGeom>
          <a:solidFill>
            <a:srgbClr val="0EA5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1551615" y="6537960"/>
            <a:ext cx="502920" cy="256032"/>
          </a:xfrm>
          <a:prstGeom prst="rect">
            <a:avLst/>
          </a:prstGeom>
          <a:noFill/>
        </p:spPr>
        <p:txBody>
          <a:bodyPr wrap="none">
            <a:spAutoFit/>
          </a:bodyPr>
          <a:lstStyle/>
          <a:p>
            <a:pPr algn="ctr"/>
            <a:r>
              <a:rPr sz="1000">
                <a:solidFill>
                  <a:srgbClr val="AAAABB"/>
                </a:solidFill>
                <a:latin typeface="Calibri"/>
              </a:rPr>
              <a:t>22</a:t>
            </a:r>
          </a:p>
        </p:txBody>
      </p:sp>
      <p:sp>
        <p:nvSpPr>
          <p:cNvPr id="8" name="TextBox 7"/>
          <p:cNvSpPr txBox="1"/>
          <p:nvPr/>
        </p:nvSpPr>
        <p:spPr>
          <a:xfrm>
            <a:off x="502920" y="1353312"/>
            <a:ext cx="11185855" cy="5093208"/>
          </a:xfrm>
          <a:prstGeom prst="rect">
            <a:avLst/>
          </a:prstGeom>
          <a:noFill/>
        </p:spPr>
        <p:txBody>
          <a:bodyPr wrap="square">
            <a:spAutoFit/>
          </a:bodyPr>
          <a:lstStyle/>
          <a:p>
            <a:pPr>
              <a:spcBef>
                <a:spcPts val="300"/>
              </a:spcBef>
              <a:spcAft>
                <a:spcPts val="200"/>
              </a:spcAft>
            </a:pPr>
            <a:r>
              <a:rPr sz="1200" b="0">
                <a:solidFill>
                  <a:srgbClr val="2D3748"/>
                </a:solidFill>
                <a:latin typeface="Calibri"/>
              </a:rPr>
              <a:t>Make (formerly Integromat) — Visual, Flexible, Powerful</a:t>
            </a:r>
          </a:p>
          <a:p>
            <a:pPr>
              <a:spcBef>
                <a:spcPts val="300"/>
              </a:spcBef>
              <a:spcAft>
                <a:spcPts val="200"/>
              </a:spcAft>
            </a:pPr>
            <a:r>
              <a:rPr sz="1200" b="0">
                <a:solidFill>
                  <a:srgbClr val="2D3748"/>
                </a:solidFill>
                <a:latin typeface="Calibri"/>
              </a:rPr>
              <a:t>Make's scenario builder is a visual flowchart: modules are connected with wires, data flows are visible, and branching logic is explicit. It occupies the middle ground between Zapier's simplicity and n8n's technical depth.</a:t>
            </a:r>
          </a:p>
          <a:p>
            <a:pPr>
              <a:spcBef>
                <a:spcPts val="300"/>
              </a:spcBef>
              <a:spcAft>
                <a:spcPts val="200"/>
              </a:spcAft>
            </a:pPr>
            <a:r>
              <a:rPr sz="1300" b="1">
                <a:solidFill>
                  <a:srgbClr val="0F3460"/>
                </a:solidFill>
                <a:latin typeface="Calibri"/>
              </a:rPr>
              <a:t>Make AI features added in 2025:</a:t>
            </a:r>
          </a:p>
        </p:txBody>
      </p:sp>
      <p:graphicFrame>
        <p:nvGraphicFramePr>
          <p:cNvPr id="9" name="Table 8"/>
          <p:cNvGraphicFramePr>
            <a:graphicFrameLocks noGrp="1"/>
          </p:cNvGraphicFramePr>
          <p:nvPr/>
        </p:nvGraphicFramePr>
        <p:xfrm>
          <a:off x="502920" y="2322576"/>
          <a:ext cx="11185855" cy="1645920"/>
        </p:xfrm>
        <a:graphic>
          <a:graphicData uri="http://schemas.openxmlformats.org/drawingml/2006/table">
            <a:tbl>
              <a:tblPr firstRow="1" bandRow="1">
                <a:tableStyleId>{5C22544A-7EE6-4342-B048-85BDC9FD1C3A}</a:tableStyleId>
              </a:tblPr>
              <a:tblGrid>
                <a:gridCol w="3728618"/>
                <a:gridCol w="3728618"/>
                <a:gridCol w="3728619"/>
              </a:tblGrid>
              <a:tr h="329184">
                <a:tc>
                  <a:txBody>
                    <a:bodyPr/>
                    <a:lstStyle/>
                    <a:p>
                      <a:pPr algn="l"/>
                      <a:r>
                        <a:rPr sz="1000" b="1">
                          <a:solidFill>
                            <a:srgbClr val="FFFFFF"/>
                          </a:solidFill>
                          <a:latin typeface="Calibri"/>
                        </a:rPr>
                        <a:t>Feature</a:t>
                      </a:r>
                    </a:p>
                  </a:txBody>
                  <a:tcPr>
                    <a:solidFill>
                      <a:srgbClr val="16213E"/>
                    </a:solidFill>
                  </a:tcPr>
                </a:tc>
                <a:tc>
                  <a:txBody>
                    <a:bodyPr/>
                    <a:lstStyle/>
                    <a:p>
                      <a:pPr algn="l"/>
                      <a:r>
                        <a:rPr sz="1000" b="1">
                          <a:solidFill>
                            <a:srgbClr val="FFFFFF"/>
                          </a:solidFill>
                          <a:latin typeface="Calibri"/>
                        </a:rPr>
                        <a:t>What It Does</a:t>
                      </a:r>
                    </a:p>
                  </a:txBody>
                  <a:tcPr>
                    <a:solidFill>
                      <a:srgbClr val="16213E"/>
                    </a:solidFill>
                  </a:tcPr>
                </a:tc>
                <a:tc>
                  <a:txBody>
                    <a:bodyPr/>
                    <a:lstStyle/>
                    <a:p>
                      <a:pPr algn="l"/>
                      <a:r>
                        <a:rPr sz="1000" b="1">
                          <a:solidFill>
                            <a:srgbClr val="FFFFFF"/>
                          </a:solidFill>
                          <a:latin typeface="Calibri"/>
                        </a:rPr>
                        <a:t>Business Example</a:t>
                      </a:r>
                    </a:p>
                  </a:txBody>
                  <a:tcPr>
                    <a:solidFill>
                      <a:srgbClr val="16213E"/>
                    </a:solidFill>
                  </a:tcPr>
                </a:tc>
              </a:tr>
              <a:tr h="329184">
                <a:tc>
                  <a:txBody>
                    <a:bodyPr/>
                    <a:lstStyle/>
                    <a:p>
                      <a:r>
                        <a:rPr sz="1000">
                          <a:solidFill>
                            <a:srgbClr val="1A1A2E"/>
                          </a:solidFill>
                          <a:latin typeface="Calibri"/>
                        </a:rPr>
                        <a:t>AI Scenario Builder</a:t>
                      </a:r>
                    </a:p>
                  </a:txBody>
                  <a:tcPr>
                    <a:solidFill>
                      <a:srgbClr val="FFFFFF"/>
                    </a:solidFill>
                  </a:tcPr>
                </a:tc>
                <a:tc>
                  <a:txBody>
                    <a:bodyPr/>
                    <a:lstStyle/>
                    <a:p>
                      <a:r>
                        <a:rPr sz="1000">
                          <a:solidFill>
                            <a:srgbClr val="1A1A2E"/>
                          </a:solidFill>
                          <a:latin typeface="Calibri"/>
                        </a:rPr>
                        <a:t>Describe what you want in natural language → Make builds first draft</a:t>
                      </a:r>
                    </a:p>
                  </a:txBody>
                  <a:tcPr>
                    <a:solidFill>
                      <a:srgbClr val="FFFFFF"/>
                    </a:solidFill>
                  </a:tcPr>
                </a:tc>
                <a:tc>
                  <a:txBody>
                    <a:bodyPr/>
                    <a:lstStyle/>
                    <a:p>
                      <a:r>
                        <a:rPr sz="1000">
                          <a:solidFill>
                            <a:srgbClr val="1A1A2E"/>
                          </a:solidFill>
                          <a:latin typeface="Calibri"/>
                        </a:rPr>
                        <a:t>"When a form is submitted, classify it and email the right department"</a:t>
                      </a:r>
                    </a:p>
                  </a:txBody>
                  <a:tcPr>
                    <a:solidFill>
                      <a:srgbClr val="FFFFFF"/>
                    </a:solidFill>
                  </a:tcPr>
                </a:tc>
              </a:tr>
              <a:tr h="329184">
                <a:tc>
                  <a:txBody>
                    <a:bodyPr/>
                    <a:lstStyle/>
                    <a:p>
                      <a:r>
                        <a:rPr sz="1000">
                          <a:solidFill>
                            <a:srgbClr val="1A1A2E"/>
                          </a:solidFill>
                          <a:latin typeface="Calibri"/>
                        </a:rPr>
                        <a:t>OpenAI / Claude Module</a:t>
                      </a:r>
                    </a:p>
                  </a:txBody>
                  <a:tcPr>
                    <a:solidFill>
                      <a:srgbClr val="F8F9FF"/>
                    </a:solidFill>
                  </a:tcPr>
                </a:tc>
                <a:tc>
                  <a:txBody>
                    <a:bodyPr/>
                    <a:lstStyle/>
                    <a:p>
                      <a:r>
                        <a:rPr sz="1000">
                          <a:solidFill>
                            <a:srgbClr val="1A1A2E"/>
                          </a:solidFill>
                          <a:latin typeface="Calibri"/>
                        </a:rPr>
                        <a:t>LLM step in any scenario</a:t>
                      </a:r>
                    </a:p>
                  </a:txBody>
                  <a:tcPr>
                    <a:solidFill>
                      <a:srgbClr val="F8F9FF"/>
                    </a:solidFill>
                  </a:tcPr>
                </a:tc>
                <a:tc>
                  <a:txBody>
                    <a:bodyPr/>
                    <a:lstStyle/>
                    <a:p>
                      <a:r>
                        <a:rPr sz="1000">
                          <a:solidFill>
                            <a:srgbClr val="1A1A2E"/>
                          </a:solidFill>
                          <a:latin typeface="Calibri"/>
                        </a:rPr>
                        <a:t>Summarize, classify, extract, generate — anywhere in the flow</a:t>
                      </a:r>
                    </a:p>
                  </a:txBody>
                  <a:tcPr>
                    <a:solidFill>
                      <a:srgbClr val="F8F9FF"/>
                    </a:solidFill>
                  </a:tcPr>
                </a:tc>
              </a:tr>
              <a:tr h="329184">
                <a:tc>
                  <a:txBody>
                    <a:bodyPr/>
                    <a:lstStyle/>
                    <a:p>
                      <a:r>
                        <a:rPr sz="1000">
                          <a:solidFill>
                            <a:srgbClr val="1A1A2E"/>
                          </a:solidFill>
                          <a:latin typeface="Calibri"/>
                        </a:rPr>
                        <a:t>AI Data Transform</a:t>
                      </a:r>
                    </a:p>
                  </a:txBody>
                  <a:tcPr>
                    <a:solidFill>
                      <a:srgbClr val="FFFFFF"/>
                    </a:solidFill>
                  </a:tcPr>
                </a:tc>
                <a:tc>
                  <a:txBody>
                    <a:bodyPr/>
                    <a:lstStyle/>
                    <a:p>
                      <a:r>
                        <a:rPr sz="1000">
                          <a:solidFill>
                            <a:srgbClr val="1A1A2E"/>
                          </a:solidFill>
                          <a:latin typeface="Calibri"/>
                        </a:rPr>
                        <a:t>"Convert this messy incoming JSON to this clean format" — no regex needed</a:t>
                      </a:r>
                    </a:p>
                  </a:txBody>
                  <a:tcPr>
                    <a:solidFill>
                      <a:srgbClr val="FFFFFF"/>
                    </a:solidFill>
                  </a:tcPr>
                </a:tc>
                <a:tc>
                  <a:txBody>
                    <a:bodyPr/>
                    <a:lstStyle/>
                    <a:p>
                      <a:r>
                        <a:rPr sz="1000">
                          <a:solidFill>
                            <a:srgbClr val="1A1A2E"/>
                          </a:solidFill>
                          <a:latin typeface="Calibri"/>
                        </a:rPr>
                        <a:t>Normalize data from 5 different vendors into one schema</a:t>
                      </a:r>
                    </a:p>
                  </a:txBody>
                  <a:tcPr>
                    <a:solidFill>
                      <a:srgbClr val="FFFFFF"/>
                    </a:solidFill>
                  </a:tcPr>
                </a:tc>
              </a:tr>
              <a:tr h="329184">
                <a:tc>
                  <a:txBody>
                    <a:bodyPr/>
                    <a:lstStyle/>
                    <a:p>
                      <a:r>
                        <a:rPr sz="1000">
                          <a:solidFill>
                            <a:srgbClr val="1A1A2E"/>
                          </a:solidFill>
                          <a:latin typeface="Calibri"/>
                        </a:rPr>
                        <a:t>Make AI Chat</a:t>
                      </a:r>
                    </a:p>
                  </a:txBody>
                  <a:tcPr>
                    <a:solidFill>
                      <a:srgbClr val="F8F9FF"/>
                    </a:solidFill>
                  </a:tcPr>
                </a:tc>
                <a:tc>
                  <a:txBody>
                    <a:bodyPr/>
                    <a:lstStyle/>
                    <a:p>
                      <a:r>
                        <a:rPr sz="1000">
                          <a:solidFill>
                            <a:srgbClr val="1A1A2E"/>
                          </a:solidFill>
                          <a:latin typeface="Calibri"/>
                        </a:rPr>
                        <a:t>Conversational debugging — "Why did this scenario fail?"</a:t>
                      </a:r>
                    </a:p>
                  </a:txBody>
                  <a:tcPr>
                    <a:solidFill>
                      <a:srgbClr val="F8F9FF"/>
                    </a:solidFill>
                  </a:tcPr>
                </a:tc>
                <a:tc>
                  <a:txBody>
                    <a:bodyPr/>
                    <a:lstStyle/>
                    <a:p>
                      <a:r>
                        <a:rPr sz="1000">
                          <a:solidFill>
                            <a:srgbClr val="1A1A2E"/>
                          </a:solidFill>
                          <a:latin typeface="Calibri"/>
                        </a:rPr>
                        <a:t>Reduce troubleshooting time from hours to minutes</a:t>
                      </a:r>
                    </a:p>
                  </a:txBody>
                  <a:tcPr>
                    <a:solidFill>
                      <a:srgbClr val="F8F9FF"/>
                    </a:solidFill>
                  </a:tcPr>
                </a:tc>
              </a:tr>
            </a:tbl>
          </a:graphicData>
        </a:graphic>
      </p:graphicFrame>
      <p:sp>
        <p:nvSpPr>
          <p:cNvPr id="10" name="TextBox 9"/>
          <p:cNvSpPr txBox="1"/>
          <p:nvPr/>
        </p:nvSpPr>
        <p:spPr>
          <a:xfrm>
            <a:off x="502920" y="4059936"/>
            <a:ext cx="11185855" cy="2386584"/>
          </a:xfrm>
          <a:prstGeom prst="rect">
            <a:avLst/>
          </a:prstGeom>
          <a:noFill/>
        </p:spPr>
        <p:txBody>
          <a:bodyPr wrap="square">
            <a:spAutoFit/>
          </a:bodyPr>
          <a:lstStyle/>
          <a:p>
            <a:pPr>
              <a:spcBef>
                <a:spcPts val="300"/>
              </a:spcBef>
              <a:spcAft>
                <a:spcPts val="200"/>
              </a:spcAft>
            </a:pPr>
            <a:r>
              <a:rPr sz="1200" b="0">
                <a:solidFill>
                  <a:srgbClr val="2D3748"/>
                </a:solidFill>
                <a:latin typeface="Calibri"/>
              </a:rPr>
              <a:t>Pricing: Free (1,000 ops/mo) · Basic $9/mo · Pro $16/mo · Teams $29/mo</a:t>
            </a:r>
          </a:p>
          <a:p>
            <a:pPr>
              <a:spcBef>
                <a:spcPts val="300"/>
              </a:spcBef>
              <a:spcAft>
                <a:spcPts val="200"/>
              </a:spcAft>
            </a:pPr>
            <a:r>
              <a:rPr sz="1200" b="0">
                <a:solidFill>
                  <a:srgbClr val="2D3748"/>
                </a:solidFill>
                <a:latin typeface="Calibri"/>
              </a:rPr>
              <a:t>Zapier — The Largest Integration Ecosystem</a:t>
            </a:r>
          </a:p>
          <a:p>
            <a:pPr>
              <a:spcBef>
                <a:spcPts val="300"/>
              </a:spcBef>
              <a:spcAft>
                <a:spcPts val="200"/>
              </a:spcAft>
            </a:pPr>
            <a:r>
              <a:rPr sz="1200" b="0">
                <a:solidFill>
                  <a:srgbClr val="2D3748"/>
                </a:solidFill>
                <a:latin typeface="Calibri"/>
              </a:rPr>
              <a:t>7,000+ app integrations. The easiest setup. The most non-technical-friendly interface. And in 2024–2025, Zapier added AI across the entire platform:</a:t>
            </a:r>
          </a:p>
          <a:p>
            <a:pPr>
              <a:spcBef>
                <a:spcPts val="300"/>
              </a:spcBef>
              <a:spcAft>
                <a:spcPts val="200"/>
              </a:spcAft>
            </a:pPr>
            <a:r>
              <a:rPr sz="1300" b="1">
                <a:solidFill>
                  <a:srgbClr val="0F3460"/>
                </a:solidFill>
                <a:latin typeface="Calibri"/>
              </a:rPr>
              <a:t>Tool selection guide:</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234440"/>
          </a:xfrm>
          <a:prstGeom prst="rect">
            <a:avLst/>
          </a:prstGeom>
          <a:solidFill>
            <a:srgbClr val="1621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91440"/>
            <a:ext cx="11368735" cy="658368"/>
          </a:xfrm>
          <a:prstGeom prst="rect">
            <a:avLst/>
          </a:prstGeom>
          <a:noFill/>
        </p:spPr>
        <p:txBody>
          <a:bodyPr wrap="square">
            <a:spAutoFit/>
          </a:bodyPr>
          <a:lstStyle/>
          <a:p>
            <a:r>
              <a:rPr sz="2700" b="1">
                <a:solidFill>
                  <a:srgbClr val="FFFFFF"/>
                </a:solidFill>
                <a:latin typeface="Calibri"/>
              </a:rPr>
              <a:t>Multimodal AI — Vision and Audio in Business</a:t>
            </a:r>
          </a:p>
        </p:txBody>
      </p:sp>
      <p:sp>
        <p:nvSpPr>
          <p:cNvPr id="5" name="TextBox 4"/>
          <p:cNvSpPr txBox="1"/>
          <p:nvPr/>
        </p:nvSpPr>
        <p:spPr>
          <a:xfrm>
            <a:off x="411480" y="749808"/>
            <a:ext cx="11368735" cy="402336"/>
          </a:xfrm>
          <a:prstGeom prst="rect">
            <a:avLst/>
          </a:prstGeom>
          <a:noFill/>
        </p:spPr>
        <p:txBody>
          <a:bodyPr wrap="none">
            <a:spAutoFit/>
          </a:bodyPr>
          <a:lstStyle/>
          <a:p>
            <a:r>
              <a:rPr sz="1500">
                <a:solidFill>
                  <a:srgbClr val="0EA5E9"/>
                </a:solidFill>
                <a:latin typeface="Calibri"/>
              </a:rPr>
              <a:t>The Business Data That Wasn't Accessible — Now Is</a:t>
            </a:r>
          </a:p>
        </p:txBody>
      </p:sp>
      <p:sp>
        <p:nvSpPr>
          <p:cNvPr id="6" name="Rectangle 5"/>
          <p:cNvSpPr/>
          <p:nvPr/>
        </p:nvSpPr>
        <p:spPr>
          <a:xfrm>
            <a:off x="0" y="1234440"/>
            <a:ext cx="12191695" cy="36576"/>
          </a:xfrm>
          <a:prstGeom prst="rect">
            <a:avLst/>
          </a:prstGeom>
          <a:solidFill>
            <a:srgbClr val="0EA5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1551615" y="6537960"/>
            <a:ext cx="502920" cy="256032"/>
          </a:xfrm>
          <a:prstGeom prst="rect">
            <a:avLst/>
          </a:prstGeom>
          <a:noFill/>
        </p:spPr>
        <p:txBody>
          <a:bodyPr wrap="none">
            <a:spAutoFit/>
          </a:bodyPr>
          <a:lstStyle/>
          <a:p>
            <a:pPr algn="ctr"/>
            <a:r>
              <a:rPr sz="1000">
                <a:solidFill>
                  <a:srgbClr val="AAAABB"/>
                </a:solidFill>
                <a:latin typeface="Calibri"/>
              </a:rPr>
              <a:t>23</a:t>
            </a:r>
          </a:p>
        </p:txBody>
      </p:sp>
      <p:sp>
        <p:nvSpPr>
          <p:cNvPr id="8" name="TextBox 7"/>
          <p:cNvSpPr txBox="1"/>
          <p:nvPr/>
        </p:nvSpPr>
        <p:spPr>
          <a:xfrm>
            <a:off x="502920" y="1353312"/>
            <a:ext cx="11185855" cy="5093208"/>
          </a:xfrm>
          <a:prstGeom prst="rect">
            <a:avLst/>
          </a:prstGeom>
          <a:noFill/>
        </p:spPr>
        <p:txBody>
          <a:bodyPr wrap="square">
            <a:spAutoFit/>
          </a:bodyPr>
          <a:lstStyle/>
          <a:p>
            <a:pPr>
              <a:spcBef>
                <a:spcPts val="300"/>
              </a:spcBef>
              <a:spcAft>
                <a:spcPts val="200"/>
              </a:spcAft>
            </a:pPr>
            <a:r>
              <a:rPr sz="1200" b="0">
                <a:solidFill>
                  <a:srgbClr val="2D3748"/>
                </a:solidFill>
                <a:latin typeface="Calibri"/>
              </a:rPr>
              <a:t>The shift: In 2022, AI worked on text. By 2026, leading models natively process text, images, PDFs, audio, and video in a single API call. This unlocks enormous amounts of previously inaccessible business data.</a:t>
            </a:r>
          </a:p>
          <a:p>
            <a:pPr>
              <a:spcBef>
                <a:spcPts val="300"/>
              </a:spcBef>
              <a:spcAft>
                <a:spcPts val="200"/>
              </a:spcAft>
            </a:pPr>
            <a:r>
              <a:rPr sz="1300" b="1">
                <a:solidFill>
                  <a:srgbClr val="0F3460"/>
                </a:solidFill>
                <a:latin typeface="Calibri"/>
              </a:rPr>
              <a:t>Vision AI — what's production-ready today:</a:t>
            </a:r>
          </a:p>
        </p:txBody>
      </p:sp>
      <p:graphicFrame>
        <p:nvGraphicFramePr>
          <p:cNvPr id="9" name="Table 8"/>
          <p:cNvGraphicFramePr>
            <a:graphicFrameLocks noGrp="1"/>
          </p:cNvGraphicFramePr>
          <p:nvPr/>
        </p:nvGraphicFramePr>
        <p:xfrm>
          <a:off x="502920" y="2029968"/>
          <a:ext cx="11185855" cy="1975104"/>
        </p:xfrm>
        <a:graphic>
          <a:graphicData uri="http://schemas.openxmlformats.org/drawingml/2006/table">
            <a:tbl>
              <a:tblPr firstRow="1" bandRow="1">
                <a:tableStyleId>{5C22544A-7EE6-4342-B048-85BDC9FD1C3A}</a:tableStyleId>
              </a:tblPr>
              <a:tblGrid>
                <a:gridCol w="2796463"/>
                <a:gridCol w="2796463"/>
                <a:gridCol w="2796463"/>
                <a:gridCol w="2796466"/>
              </a:tblGrid>
              <a:tr h="329184">
                <a:tc>
                  <a:txBody>
                    <a:bodyPr/>
                    <a:lstStyle/>
                    <a:p>
                      <a:pPr algn="l"/>
                      <a:r>
                        <a:rPr sz="1000" b="1">
                          <a:solidFill>
                            <a:srgbClr val="FFFFFF"/>
                          </a:solidFill>
                          <a:latin typeface="Calibri"/>
                        </a:rPr>
                        <a:t>Capability</a:t>
                      </a:r>
                    </a:p>
                  </a:txBody>
                  <a:tcPr>
                    <a:solidFill>
                      <a:srgbClr val="16213E"/>
                    </a:solidFill>
                  </a:tcPr>
                </a:tc>
                <a:tc>
                  <a:txBody>
                    <a:bodyPr/>
                    <a:lstStyle/>
                    <a:p>
                      <a:pPr algn="l"/>
                      <a:r>
                        <a:rPr sz="1000" b="1">
                          <a:solidFill>
                            <a:srgbClr val="FFFFFF"/>
                          </a:solidFill>
                          <a:latin typeface="Calibri"/>
                        </a:rPr>
                        <a:t>Best Model</a:t>
                      </a:r>
                    </a:p>
                  </a:txBody>
                  <a:tcPr>
                    <a:solidFill>
                      <a:srgbClr val="16213E"/>
                    </a:solidFill>
                  </a:tcPr>
                </a:tc>
                <a:tc>
                  <a:txBody>
                    <a:bodyPr/>
                    <a:lstStyle/>
                    <a:p>
                      <a:pPr algn="l"/>
                      <a:r>
                        <a:rPr sz="1000" b="1">
                          <a:solidFill>
                            <a:srgbClr val="FFFFFF"/>
                          </a:solidFill>
                          <a:latin typeface="Calibri"/>
                        </a:rPr>
                        <a:t>Business Application</a:t>
                      </a:r>
                    </a:p>
                  </a:txBody>
                  <a:tcPr>
                    <a:solidFill>
                      <a:srgbClr val="16213E"/>
                    </a:solidFill>
                  </a:tcPr>
                </a:tc>
                <a:tc>
                  <a:txBody>
                    <a:bodyPr/>
                    <a:lstStyle/>
                    <a:p>
                      <a:pPr algn="l"/>
                      <a:r>
                        <a:rPr sz="1000" b="1">
                          <a:solidFill>
                            <a:srgbClr val="FFFFFF"/>
                          </a:solidFill>
                          <a:latin typeface="Calibri"/>
                        </a:rPr>
                        <a:t>Accuracy Level</a:t>
                      </a:r>
                    </a:p>
                  </a:txBody>
                  <a:tcPr>
                    <a:solidFill>
                      <a:srgbClr val="16213E"/>
                    </a:solidFill>
                  </a:tcPr>
                </a:tc>
              </a:tr>
              <a:tr h="329184">
                <a:tc>
                  <a:txBody>
                    <a:bodyPr/>
                    <a:lstStyle/>
                    <a:p>
                      <a:r>
                        <a:rPr sz="1000">
                          <a:solidFill>
                            <a:srgbClr val="1A1A2E"/>
                          </a:solidFill>
                          <a:latin typeface="Calibri"/>
                        </a:rPr>
                        <a:t>Invoice / receipt extraction</a:t>
                      </a:r>
                    </a:p>
                  </a:txBody>
                  <a:tcPr>
                    <a:solidFill>
                      <a:srgbClr val="FFFFFF"/>
                    </a:solidFill>
                  </a:tcPr>
                </a:tc>
                <a:tc>
                  <a:txBody>
                    <a:bodyPr/>
                    <a:lstStyle/>
                    <a:p>
                      <a:r>
                        <a:rPr sz="1000">
                          <a:solidFill>
                            <a:srgbClr val="1A1A2E"/>
                          </a:solidFill>
                          <a:latin typeface="Calibri"/>
                        </a:rPr>
                        <a:t>GPT-4o, Claude 3.7</a:t>
                      </a:r>
                    </a:p>
                  </a:txBody>
                  <a:tcPr>
                    <a:solidFill>
                      <a:srgbClr val="FFFFFF"/>
                    </a:solidFill>
                  </a:tcPr>
                </a:tc>
                <a:tc>
                  <a:txBody>
                    <a:bodyPr/>
                    <a:lstStyle/>
                    <a:p>
                      <a:r>
                        <a:rPr sz="1000">
                          <a:solidFill>
                            <a:srgbClr val="1A1A2E"/>
                          </a:solidFill>
                          <a:latin typeface="Calibri"/>
                        </a:rPr>
                        <a:t>Extract vendor, amount, date, line items → structured JSON</a:t>
                      </a:r>
                    </a:p>
                  </a:txBody>
                  <a:tcPr>
                    <a:solidFill>
                      <a:srgbClr val="FFFFFF"/>
                    </a:solidFill>
                  </a:tcPr>
                </a:tc>
                <a:tc>
                  <a:txBody>
                    <a:bodyPr/>
                    <a:lstStyle/>
                    <a:p>
                      <a:r>
                        <a:rPr sz="1000">
                          <a:solidFill>
                            <a:srgbClr val="1A1A2E"/>
                          </a:solidFill>
                          <a:latin typeface="Calibri"/>
                        </a:rPr>
                        <a:t>95–98% on clean scans</a:t>
                      </a:r>
                    </a:p>
                  </a:txBody>
                  <a:tcPr>
                    <a:solidFill>
                      <a:srgbClr val="FFFFFF"/>
                    </a:solidFill>
                  </a:tcPr>
                </a:tc>
              </a:tr>
              <a:tr h="329184">
                <a:tc>
                  <a:txBody>
                    <a:bodyPr/>
                    <a:lstStyle/>
                    <a:p>
                      <a:r>
                        <a:rPr sz="1000">
                          <a:solidFill>
                            <a:srgbClr val="1A1A2E"/>
                          </a:solidFill>
                          <a:latin typeface="Calibri"/>
                        </a:rPr>
                        <a:t>Contract / legal document review</a:t>
                      </a:r>
                    </a:p>
                  </a:txBody>
                  <a:tcPr>
                    <a:solidFill>
                      <a:srgbClr val="F8F9FF"/>
                    </a:solidFill>
                  </a:tcPr>
                </a:tc>
                <a:tc>
                  <a:txBody>
                    <a:bodyPr/>
                    <a:lstStyle/>
                    <a:p>
                      <a:r>
                        <a:rPr sz="1000">
                          <a:solidFill>
                            <a:srgbClr val="1A1A2E"/>
                          </a:solidFill>
                          <a:latin typeface="Calibri"/>
                        </a:rPr>
                        <a:t>Claude 3.7 (200K ctx)</a:t>
                      </a:r>
                    </a:p>
                  </a:txBody>
                  <a:tcPr>
                    <a:solidFill>
                      <a:srgbClr val="F8F9FF"/>
                    </a:solidFill>
                  </a:tcPr>
                </a:tc>
                <a:tc>
                  <a:txBody>
                    <a:bodyPr/>
                    <a:lstStyle/>
                    <a:p>
                      <a:r>
                        <a:rPr sz="1000">
                          <a:solidFill>
                            <a:srgbClr val="1A1A2E"/>
                          </a:solidFill>
                          <a:latin typeface="Calibri"/>
                        </a:rPr>
                        <a:t>Flag risky clauses, extract dates, obligations</a:t>
                      </a:r>
                    </a:p>
                  </a:txBody>
                  <a:tcPr>
                    <a:solidFill>
                      <a:srgbClr val="F8F9FF"/>
                    </a:solidFill>
                  </a:tcPr>
                </a:tc>
                <a:tc>
                  <a:txBody>
                    <a:bodyPr/>
                    <a:lstStyle/>
                    <a:p>
                      <a:r>
                        <a:rPr sz="1000">
                          <a:solidFill>
                            <a:srgbClr val="1A1A2E"/>
                          </a:solidFill>
                          <a:latin typeface="Calibri"/>
                        </a:rPr>
                        <a:t>Strong — needs human review for legal decisions</a:t>
                      </a:r>
                    </a:p>
                  </a:txBody>
                  <a:tcPr>
                    <a:solidFill>
                      <a:srgbClr val="F8F9FF"/>
                    </a:solidFill>
                  </a:tcPr>
                </a:tc>
              </a:tr>
              <a:tr h="329184">
                <a:tc>
                  <a:txBody>
                    <a:bodyPr/>
                    <a:lstStyle/>
                    <a:p>
                      <a:r>
                        <a:rPr sz="1000">
                          <a:solidFill>
                            <a:srgbClr val="1A1A2E"/>
                          </a:solidFill>
                          <a:latin typeface="Calibri"/>
                        </a:rPr>
                        <a:t>Dashboard / chart reading</a:t>
                      </a:r>
                    </a:p>
                  </a:txBody>
                  <a:tcPr>
                    <a:solidFill>
                      <a:srgbClr val="FFFFFF"/>
                    </a:solidFill>
                  </a:tcPr>
                </a:tc>
                <a:tc>
                  <a:txBody>
                    <a:bodyPr/>
                    <a:lstStyle/>
                    <a:p>
                      <a:r>
                        <a:rPr sz="1000">
                          <a:solidFill>
                            <a:srgbClr val="1A1A2E"/>
                          </a:solidFill>
                          <a:latin typeface="Calibri"/>
                        </a:rPr>
                        <a:t>Gemini 2.5, GPT-4o</a:t>
                      </a:r>
                    </a:p>
                  </a:txBody>
                  <a:tcPr>
                    <a:solidFill>
                      <a:srgbClr val="FFFFFF"/>
                    </a:solidFill>
                  </a:tcPr>
                </a:tc>
                <a:tc>
                  <a:txBody>
                    <a:bodyPr/>
                    <a:lstStyle/>
                    <a:p>
                      <a:r>
                        <a:rPr sz="1000">
                          <a:solidFill>
                            <a:srgbClr val="1A1A2E"/>
                          </a:solidFill>
                          <a:latin typeface="Calibri"/>
                        </a:rPr>
                        <a:t>"What does this chart tell us? What's the trend?"</a:t>
                      </a:r>
                    </a:p>
                  </a:txBody>
                  <a:tcPr>
                    <a:solidFill>
                      <a:srgbClr val="FFFFFF"/>
                    </a:solidFill>
                  </a:tcPr>
                </a:tc>
                <a:tc>
                  <a:txBody>
                    <a:bodyPr/>
                    <a:lstStyle/>
                    <a:p>
                      <a:r>
                        <a:rPr sz="1000">
                          <a:solidFill>
                            <a:srgbClr val="1A1A2E"/>
                          </a:solidFill>
                          <a:latin typeface="Calibri"/>
                        </a:rPr>
                        <a:t>Very good on standard chart types</a:t>
                      </a:r>
                    </a:p>
                  </a:txBody>
                  <a:tcPr>
                    <a:solidFill>
                      <a:srgbClr val="FFFFFF"/>
                    </a:solidFill>
                  </a:tcPr>
                </a:tc>
              </a:tr>
              <a:tr h="329184">
                <a:tc>
                  <a:txBody>
                    <a:bodyPr/>
                    <a:lstStyle/>
                    <a:p>
                      <a:r>
                        <a:rPr sz="1000">
                          <a:solidFill>
                            <a:srgbClr val="1A1A2E"/>
                          </a:solidFill>
                          <a:latin typeface="Calibri"/>
                        </a:rPr>
                        <a:t>Product photo QA</a:t>
                      </a:r>
                    </a:p>
                  </a:txBody>
                  <a:tcPr>
                    <a:solidFill>
                      <a:srgbClr val="F8F9FF"/>
                    </a:solidFill>
                  </a:tcPr>
                </a:tc>
                <a:tc>
                  <a:txBody>
                    <a:bodyPr/>
                    <a:lstStyle/>
                    <a:p>
                      <a:r>
                        <a:rPr sz="1000">
                          <a:solidFill>
                            <a:srgbClr val="1A1A2E"/>
                          </a:solidFill>
                          <a:latin typeface="Calibri"/>
                        </a:rPr>
                        <a:t>Gemini 2.5 Pro</a:t>
                      </a:r>
                    </a:p>
                  </a:txBody>
                  <a:tcPr>
                    <a:solidFill>
                      <a:srgbClr val="F8F9FF"/>
                    </a:solidFill>
                  </a:tcPr>
                </a:tc>
                <a:tc>
                  <a:txBody>
                    <a:bodyPr/>
                    <a:lstStyle/>
                    <a:p>
                      <a:r>
                        <a:rPr sz="1000">
                          <a:solidFill>
                            <a:srgbClr val="1A1A2E"/>
                          </a:solidFill>
                          <a:latin typeface="Calibri"/>
                        </a:rPr>
                        <a:t>Flag defects, verify packaging, check planogram compliance</a:t>
                      </a:r>
                    </a:p>
                  </a:txBody>
                  <a:tcPr>
                    <a:solidFill>
                      <a:srgbClr val="F8F9FF"/>
                    </a:solidFill>
                  </a:tcPr>
                </a:tc>
                <a:tc>
                  <a:txBody>
                    <a:bodyPr/>
                    <a:lstStyle/>
                    <a:p>
                      <a:r>
                        <a:rPr sz="1000">
                          <a:solidFill>
                            <a:srgbClr val="1A1A2E"/>
                          </a:solidFill>
                          <a:latin typeface="Calibri"/>
                        </a:rPr>
                        <a:t>Varies by defect complexity</a:t>
                      </a:r>
                    </a:p>
                  </a:txBody>
                  <a:tcPr>
                    <a:solidFill>
                      <a:srgbClr val="F8F9FF"/>
                    </a:solidFill>
                  </a:tcPr>
                </a:tc>
              </a:tr>
              <a:tr h="329184">
                <a:tc>
                  <a:txBody>
                    <a:bodyPr/>
                    <a:lstStyle/>
                    <a:p>
                      <a:r>
                        <a:rPr sz="1000">
                          <a:solidFill>
                            <a:srgbClr val="1A1A2E"/>
                          </a:solidFill>
                          <a:latin typeface="Calibri"/>
                        </a:rPr>
                        <a:t>Screen / UI automation</a:t>
                      </a:r>
                    </a:p>
                  </a:txBody>
                  <a:tcPr>
                    <a:solidFill>
                      <a:srgbClr val="FFFFFF"/>
                    </a:solidFill>
                  </a:tcPr>
                </a:tc>
                <a:tc>
                  <a:txBody>
                    <a:bodyPr/>
                    <a:lstStyle/>
                    <a:p>
                      <a:r>
                        <a:rPr sz="1000">
                          <a:solidFill>
                            <a:srgbClr val="1A1A2E"/>
                          </a:solidFill>
                          <a:latin typeface="Calibri"/>
                        </a:rPr>
                        <a:t>Claude Computer Use</a:t>
                      </a:r>
                    </a:p>
                  </a:txBody>
                  <a:tcPr>
                    <a:solidFill>
                      <a:srgbClr val="FFFFFF"/>
                    </a:solidFill>
                  </a:tcPr>
                </a:tc>
                <a:tc>
                  <a:txBody>
                    <a:bodyPr/>
                    <a:lstStyle/>
                    <a:p>
                      <a:r>
                        <a:rPr sz="1000">
                          <a:solidFill>
                            <a:srgbClr val="1A1A2E"/>
                          </a:solidFill>
                          <a:latin typeface="Calibri"/>
                        </a:rPr>
                        <a:t>Click through any application, fill forms, extract data from GUIs</a:t>
                      </a:r>
                    </a:p>
                  </a:txBody>
                  <a:tcPr>
                    <a:solidFill>
                      <a:srgbClr val="FFFFFF"/>
                    </a:solidFill>
                  </a:tcPr>
                </a:tc>
                <a:tc>
                  <a:txBody>
                    <a:bodyPr/>
                    <a:lstStyle/>
                    <a:p>
                      <a:r>
                        <a:rPr sz="1000">
                          <a:solidFill>
                            <a:srgbClr val="1A1A2E"/>
                          </a:solidFill>
                          <a:latin typeface="Calibri"/>
                        </a:rPr>
                        <a:t>Production-ready for structured UIs</a:t>
                      </a:r>
                    </a:p>
                  </a:txBody>
                  <a:tcPr>
                    <a:solidFill>
                      <a:srgbClr val="FFFFFF"/>
                    </a:solidFill>
                  </a:tcPr>
                </a:tc>
              </a:tr>
            </a:tbl>
          </a:graphicData>
        </a:graphic>
      </p:graphicFrame>
      <p:sp>
        <p:nvSpPr>
          <p:cNvPr id="10" name="TextBox 9"/>
          <p:cNvSpPr txBox="1"/>
          <p:nvPr/>
        </p:nvSpPr>
        <p:spPr>
          <a:xfrm>
            <a:off x="502920" y="4096512"/>
            <a:ext cx="11185855" cy="2350008"/>
          </a:xfrm>
          <a:prstGeom prst="rect">
            <a:avLst/>
          </a:prstGeom>
          <a:noFill/>
        </p:spPr>
        <p:txBody>
          <a:bodyPr wrap="square">
            <a:spAutoFit/>
          </a:bodyPr>
          <a:lstStyle/>
          <a:p>
            <a:pPr>
              <a:spcBef>
                <a:spcPts val="300"/>
              </a:spcBef>
              <a:spcAft>
                <a:spcPts val="200"/>
              </a:spcAft>
            </a:pPr>
            <a:r>
              <a:rPr sz="1300" b="1">
                <a:solidFill>
                  <a:srgbClr val="0F3460"/>
                </a:solidFill>
                <a:latin typeface="Calibri"/>
              </a:rPr>
              <a:t>Audio AI — what's production-ready today:</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234440"/>
          </a:xfrm>
          <a:prstGeom prst="rect">
            <a:avLst/>
          </a:prstGeom>
          <a:solidFill>
            <a:srgbClr val="1621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91440"/>
            <a:ext cx="11368735" cy="658368"/>
          </a:xfrm>
          <a:prstGeom prst="rect">
            <a:avLst/>
          </a:prstGeom>
          <a:noFill/>
        </p:spPr>
        <p:txBody>
          <a:bodyPr wrap="square">
            <a:spAutoFit/>
          </a:bodyPr>
          <a:lstStyle/>
          <a:p>
            <a:r>
              <a:rPr sz="2700" b="1">
                <a:solidFill>
                  <a:srgbClr val="FFFFFF"/>
                </a:solidFill>
                <a:latin typeface="Calibri"/>
              </a:rPr>
              <a:t>Video Generation — Where Business Use Is Ready</a:t>
            </a:r>
          </a:p>
        </p:txBody>
      </p:sp>
      <p:sp>
        <p:nvSpPr>
          <p:cNvPr id="5" name="TextBox 4"/>
          <p:cNvSpPr txBox="1"/>
          <p:nvPr/>
        </p:nvSpPr>
        <p:spPr>
          <a:xfrm>
            <a:off x="411480" y="749808"/>
            <a:ext cx="11368735" cy="402336"/>
          </a:xfrm>
          <a:prstGeom prst="rect">
            <a:avLst/>
          </a:prstGeom>
          <a:noFill/>
        </p:spPr>
        <p:txBody>
          <a:bodyPr wrap="none">
            <a:spAutoFit/>
          </a:bodyPr>
          <a:lstStyle/>
          <a:p>
            <a:r>
              <a:rPr sz="1500">
                <a:solidFill>
                  <a:srgbClr val="0EA5E9"/>
                </a:solidFill>
                <a:latin typeface="Calibri"/>
              </a:rPr>
              <a:t>What's Production-Ready vs. What Still Has Limitations</a:t>
            </a:r>
          </a:p>
        </p:txBody>
      </p:sp>
      <p:sp>
        <p:nvSpPr>
          <p:cNvPr id="6" name="Rectangle 5"/>
          <p:cNvSpPr/>
          <p:nvPr/>
        </p:nvSpPr>
        <p:spPr>
          <a:xfrm>
            <a:off x="0" y="1234440"/>
            <a:ext cx="12191695" cy="36576"/>
          </a:xfrm>
          <a:prstGeom prst="rect">
            <a:avLst/>
          </a:prstGeom>
          <a:solidFill>
            <a:srgbClr val="0EA5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1551615" y="6537960"/>
            <a:ext cx="502920" cy="256032"/>
          </a:xfrm>
          <a:prstGeom prst="rect">
            <a:avLst/>
          </a:prstGeom>
          <a:noFill/>
        </p:spPr>
        <p:txBody>
          <a:bodyPr wrap="none">
            <a:spAutoFit/>
          </a:bodyPr>
          <a:lstStyle/>
          <a:p>
            <a:pPr algn="ctr"/>
            <a:r>
              <a:rPr sz="1000">
                <a:solidFill>
                  <a:srgbClr val="AAAABB"/>
                </a:solidFill>
                <a:latin typeface="Calibri"/>
              </a:rPr>
              <a:t>24</a:t>
            </a:r>
          </a:p>
        </p:txBody>
      </p:sp>
      <p:sp>
        <p:nvSpPr>
          <p:cNvPr id="8" name="TextBox 7"/>
          <p:cNvSpPr txBox="1"/>
          <p:nvPr/>
        </p:nvSpPr>
        <p:spPr>
          <a:xfrm>
            <a:off x="502920" y="1353312"/>
            <a:ext cx="11185855" cy="5093208"/>
          </a:xfrm>
          <a:prstGeom prst="rect">
            <a:avLst/>
          </a:prstGeom>
          <a:noFill/>
        </p:spPr>
        <p:txBody>
          <a:bodyPr wrap="square">
            <a:spAutoFit/>
          </a:bodyPr>
          <a:lstStyle/>
          <a:p>
            <a:pPr>
              <a:spcBef>
                <a:spcPts val="300"/>
              </a:spcBef>
              <a:spcAft>
                <a:spcPts val="200"/>
              </a:spcAft>
            </a:pPr>
            <a:r>
              <a:rPr sz="1300" b="1">
                <a:solidFill>
                  <a:srgbClr val="0F3460"/>
                </a:solidFill>
                <a:latin typeface="Calibri"/>
              </a:rPr>
              <a:t>The 2026 state of AI video — platform comparison:</a:t>
            </a:r>
          </a:p>
        </p:txBody>
      </p:sp>
      <p:graphicFrame>
        <p:nvGraphicFramePr>
          <p:cNvPr id="9" name="Table 8"/>
          <p:cNvGraphicFramePr>
            <a:graphicFrameLocks noGrp="1"/>
          </p:cNvGraphicFramePr>
          <p:nvPr/>
        </p:nvGraphicFramePr>
        <p:xfrm>
          <a:off x="502920" y="1737360"/>
          <a:ext cx="11185855" cy="2304288"/>
        </p:xfrm>
        <a:graphic>
          <a:graphicData uri="http://schemas.openxmlformats.org/drawingml/2006/table">
            <a:tbl>
              <a:tblPr firstRow="1" bandRow="1">
                <a:tableStyleId>{5C22544A-7EE6-4342-B048-85BDC9FD1C3A}</a:tableStyleId>
              </a:tblPr>
              <a:tblGrid>
                <a:gridCol w="1864309"/>
                <a:gridCol w="1864309"/>
                <a:gridCol w="1864309"/>
                <a:gridCol w="1864309"/>
                <a:gridCol w="1864309"/>
                <a:gridCol w="1864310"/>
              </a:tblGrid>
              <a:tr h="329184">
                <a:tc>
                  <a:txBody>
                    <a:bodyPr/>
                    <a:lstStyle/>
                    <a:p>
                      <a:pPr algn="l"/>
                      <a:r>
                        <a:rPr sz="1000" b="1">
                          <a:solidFill>
                            <a:srgbClr val="FFFFFF"/>
                          </a:solidFill>
                          <a:latin typeface="Calibri"/>
                        </a:rPr>
                        <a:t>Platform</a:t>
                      </a:r>
                    </a:p>
                  </a:txBody>
                  <a:tcPr>
                    <a:solidFill>
                      <a:srgbClr val="16213E"/>
                    </a:solidFill>
                  </a:tcPr>
                </a:tc>
                <a:tc>
                  <a:txBody>
                    <a:bodyPr/>
                    <a:lstStyle/>
                    <a:p>
                      <a:pPr algn="l"/>
                      <a:r>
                        <a:rPr sz="1000" b="1">
                          <a:solidFill>
                            <a:srgbClr val="FFFFFF"/>
                          </a:solidFill>
                          <a:latin typeface="Calibri"/>
                        </a:rPr>
                        <a:t>Creator</a:t>
                      </a:r>
                    </a:p>
                  </a:txBody>
                  <a:tcPr>
                    <a:solidFill>
                      <a:srgbClr val="16213E"/>
                    </a:solidFill>
                  </a:tcPr>
                </a:tc>
                <a:tc>
                  <a:txBody>
                    <a:bodyPr/>
                    <a:lstStyle/>
                    <a:p>
                      <a:pPr algn="l"/>
                      <a:r>
                        <a:rPr sz="1000" b="1">
                          <a:solidFill>
                            <a:srgbClr val="FFFFFF"/>
                          </a:solidFill>
                          <a:latin typeface="Calibri"/>
                        </a:rPr>
                        <a:t>Max Length</a:t>
                      </a:r>
                    </a:p>
                  </a:txBody>
                  <a:tcPr>
                    <a:solidFill>
                      <a:srgbClr val="16213E"/>
                    </a:solidFill>
                  </a:tcPr>
                </a:tc>
                <a:tc>
                  <a:txBody>
                    <a:bodyPr/>
                    <a:lstStyle/>
                    <a:p>
                      <a:pPr algn="l"/>
                      <a:r>
                        <a:rPr sz="1000" b="1">
                          <a:solidFill>
                            <a:srgbClr val="FFFFFF"/>
                          </a:solidFill>
                          <a:latin typeface="Calibri"/>
                        </a:rPr>
                        <a:t>Strengths</a:t>
                      </a:r>
                    </a:p>
                  </a:txBody>
                  <a:tcPr>
                    <a:solidFill>
                      <a:srgbClr val="16213E"/>
                    </a:solidFill>
                  </a:tcPr>
                </a:tc>
                <a:tc>
                  <a:txBody>
                    <a:bodyPr/>
                    <a:lstStyle/>
                    <a:p>
                      <a:pPr algn="l"/>
                      <a:r>
                        <a:rPr sz="1000" b="1">
                          <a:solidFill>
                            <a:srgbClr val="FFFFFF"/>
                          </a:solidFill>
                          <a:latin typeface="Calibri"/>
                        </a:rPr>
                        <a:t>Weaknesses</a:t>
                      </a:r>
                    </a:p>
                  </a:txBody>
                  <a:tcPr>
                    <a:solidFill>
                      <a:srgbClr val="16213E"/>
                    </a:solidFill>
                  </a:tcPr>
                </a:tc>
                <a:tc>
                  <a:txBody>
                    <a:bodyPr/>
                    <a:lstStyle/>
                    <a:p>
                      <a:pPr algn="l"/>
                      <a:r>
                        <a:rPr sz="1000" b="1">
                          <a:solidFill>
                            <a:srgbClr val="FFFFFF"/>
                          </a:solidFill>
                          <a:latin typeface="Calibri"/>
                        </a:rPr>
                        <a:t>Best Business Use</a:t>
                      </a:r>
                    </a:p>
                  </a:txBody>
                  <a:tcPr>
                    <a:solidFill>
                      <a:srgbClr val="16213E"/>
                    </a:solidFill>
                  </a:tcPr>
                </a:tc>
              </a:tr>
              <a:tr h="329184">
                <a:tc>
                  <a:txBody>
                    <a:bodyPr/>
                    <a:lstStyle/>
                    <a:p>
                      <a:r>
                        <a:rPr sz="1000">
                          <a:solidFill>
                            <a:srgbClr val="1A1A2E"/>
                          </a:solidFill>
                          <a:latin typeface="Calibri"/>
                        </a:rPr>
                        <a:t>Sora</a:t>
                      </a:r>
                    </a:p>
                  </a:txBody>
                  <a:tcPr>
                    <a:solidFill>
                      <a:srgbClr val="FFFFFF"/>
                    </a:solidFill>
                  </a:tcPr>
                </a:tc>
                <a:tc>
                  <a:txBody>
                    <a:bodyPr/>
                    <a:lstStyle/>
                    <a:p>
                      <a:r>
                        <a:rPr sz="1000">
                          <a:solidFill>
                            <a:srgbClr val="1A1A2E"/>
                          </a:solidFill>
                          <a:latin typeface="Calibri"/>
                        </a:rPr>
                        <a:t>OpenAI</a:t>
                      </a:r>
                    </a:p>
                  </a:txBody>
                  <a:tcPr>
                    <a:solidFill>
                      <a:srgbClr val="FFFFFF"/>
                    </a:solidFill>
                  </a:tcPr>
                </a:tc>
                <a:tc>
                  <a:txBody>
                    <a:bodyPr/>
                    <a:lstStyle/>
                    <a:p>
                      <a:r>
                        <a:rPr sz="1000">
                          <a:solidFill>
                            <a:srgbClr val="1A1A2E"/>
                          </a:solidFill>
                          <a:latin typeface="Calibri"/>
                        </a:rPr>
                        <a:t>~1 min</a:t>
                      </a:r>
                    </a:p>
                  </a:txBody>
                  <a:tcPr>
                    <a:solidFill>
                      <a:srgbClr val="FFFFFF"/>
                    </a:solidFill>
                  </a:tcPr>
                </a:tc>
                <a:tc>
                  <a:txBody>
                    <a:bodyPr/>
                    <a:lstStyle/>
                    <a:p>
                      <a:r>
                        <a:rPr sz="1000">
                          <a:solidFill>
                            <a:srgbClr val="1A1A2E"/>
                          </a:solidFill>
                          <a:latin typeface="Calibri"/>
                        </a:rPr>
                        <a:t>Highest photorealism, strong scene consistency</a:t>
                      </a:r>
                    </a:p>
                  </a:txBody>
                  <a:tcPr>
                    <a:solidFill>
                      <a:srgbClr val="FFFFFF"/>
                    </a:solidFill>
                  </a:tcPr>
                </a:tc>
                <a:tc>
                  <a:txBody>
                    <a:bodyPr/>
                    <a:lstStyle/>
                    <a:p>
                      <a:r>
                        <a:rPr sz="1000">
                          <a:solidFill>
                            <a:srgbClr val="1A1A2E"/>
                          </a:solidFill>
                          <a:latin typeface="Calibri"/>
                        </a:rPr>
                        <a:t>Expensive ($200/mo), limited control</a:t>
                      </a:r>
                    </a:p>
                  </a:txBody>
                  <a:tcPr>
                    <a:solidFill>
                      <a:srgbClr val="FFFFFF"/>
                    </a:solidFill>
                  </a:tcPr>
                </a:tc>
                <a:tc>
                  <a:txBody>
                    <a:bodyPr/>
                    <a:lstStyle/>
                    <a:p>
                      <a:r>
                        <a:rPr sz="1000">
                          <a:solidFill>
                            <a:srgbClr val="1A1A2E"/>
                          </a:solidFill>
                          <a:latin typeface="Calibri"/>
                        </a:rPr>
                        <a:t>Premium marketing, brand films</a:t>
                      </a:r>
                    </a:p>
                  </a:txBody>
                  <a:tcPr>
                    <a:solidFill>
                      <a:srgbClr val="FFFFFF"/>
                    </a:solidFill>
                  </a:tcPr>
                </a:tc>
              </a:tr>
              <a:tr h="329184">
                <a:tc>
                  <a:txBody>
                    <a:bodyPr/>
                    <a:lstStyle/>
                    <a:p>
                      <a:r>
                        <a:rPr sz="1000">
                          <a:solidFill>
                            <a:srgbClr val="1A1A2E"/>
                          </a:solidFill>
                          <a:latin typeface="Calibri"/>
                        </a:rPr>
                        <a:t>Runway Gen-3</a:t>
                      </a:r>
                    </a:p>
                  </a:txBody>
                  <a:tcPr>
                    <a:solidFill>
                      <a:srgbClr val="F8F9FF"/>
                    </a:solidFill>
                  </a:tcPr>
                </a:tc>
                <a:tc>
                  <a:txBody>
                    <a:bodyPr/>
                    <a:lstStyle/>
                    <a:p>
                      <a:r>
                        <a:rPr sz="1000">
                          <a:solidFill>
                            <a:srgbClr val="1A1A2E"/>
                          </a:solidFill>
                          <a:latin typeface="Calibri"/>
                        </a:rPr>
                        <a:t>Runway</a:t>
                      </a:r>
                    </a:p>
                  </a:txBody>
                  <a:tcPr>
                    <a:solidFill>
                      <a:srgbClr val="F8F9FF"/>
                    </a:solidFill>
                  </a:tcPr>
                </a:tc>
                <a:tc>
                  <a:txBody>
                    <a:bodyPr/>
                    <a:lstStyle/>
                    <a:p>
                      <a:r>
                        <a:rPr sz="1000">
                          <a:solidFill>
                            <a:srgbClr val="1A1A2E"/>
                          </a:solidFill>
                          <a:latin typeface="Calibri"/>
                        </a:rPr>
                        <a:t>10–30 sec</a:t>
                      </a:r>
                    </a:p>
                  </a:txBody>
                  <a:tcPr>
                    <a:solidFill>
                      <a:srgbClr val="F8F9FF"/>
                    </a:solidFill>
                  </a:tcPr>
                </a:tc>
                <a:tc>
                  <a:txBody>
                    <a:bodyPr/>
                    <a:lstStyle/>
                    <a:p>
                      <a:r>
                        <a:rPr sz="1000">
                          <a:solidFill>
                            <a:srgbClr val="1A1A2E"/>
                          </a:solidFill>
                          <a:latin typeface="Calibri"/>
                        </a:rPr>
                        <a:t>Film-quality, fine camera control, good motion</a:t>
                      </a:r>
                    </a:p>
                  </a:txBody>
                  <a:tcPr>
                    <a:solidFill>
                      <a:srgbClr val="F8F9FF"/>
                    </a:solidFill>
                  </a:tcPr>
                </a:tc>
                <a:tc>
                  <a:txBody>
                    <a:bodyPr/>
                    <a:lstStyle/>
                    <a:p>
                      <a:r>
                        <a:rPr sz="1000">
                          <a:solidFill>
                            <a:srgbClr val="1A1A2E"/>
                          </a:solidFill>
                          <a:latin typeface="Calibri"/>
                        </a:rPr>
                        <a:t>Short clips only</a:t>
                      </a:r>
                    </a:p>
                  </a:txBody>
                  <a:tcPr>
                    <a:solidFill>
                      <a:srgbClr val="F8F9FF"/>
                    </a:solidFill>
                  </a:tcPr>
                </a:tc>
                <a:tc>
                  <a:txBody>
                    <a:bodyPr/>
                    <a:lstStyle/>
                    <a:p>
                      <a:r>
                        <a:rPr sz="1000">
                          <a:solidFill>
                            <a:srgbClr val="1A1A2E"/>
                          </a:solidFill>
                          <a:latin typeface="Calibri"/>
                        </a:rPr>
                        <a:t>High-end social content</a:t>
                      </a:r>
                    </a:p>
                  </a:txBody>
                  <a:tcPr>
                    <a:solidFill>
                      <a:srgbClr val="F8F9FF"/>
                    </a:solidFill>
                  </a:tcPr>
                </a:tc>
              </a:tr>
              <a:tr h="329184">
                <a:tc>
                  <a:txBody>
                    <a:bodyPr/>
                    <a:lstStyle/>
                    <a:p>
                      <a:r>
                        <a:rPr sz="1000">
                          <a:solidFill>
                            <a:srgbClr val="1A1A2E"/>
                          </a:solidFill>
                          <a:latin typeface="Calibri"/>
                        </a:rPr>
                        <a:t>Google Veo 2</a:t>
                      </a:r>
                    </a:p>
                  </a:txBody>
                  <a:tcPr>
                    <a:solidFill>
                      <a:srgbClr val="FFFFFF"/>
                    </a:solidFill>
                  </a:tcPr>
                </a:tc>
                <a:tc>
                  <a:txBody>
                    <a:bodyPr/>
                    <a:lstStyle/>
                    <a:p>
                      <a:r>
                        <a:rPr sz="1000">
                          <a:solidFill>
                            <a:srgbClr val="1A1A2E"/>
                          </a:solidFill>
                          <a:latin typeface="Calibri"/>
                        </a:rPr>
                        <a:t>Google</a:t>
                      </a:r>
                    </a:p>
                  </a:txBody>
                  <a:tcPr>
                    <a:solidFill>
                      <a:srgbClr val="FFFFFF"/>
                    </a:solidFill>
                  </a:tcPr>
                </a:tc>
                <a:tc>
                  <a:txBody>
                    <a:bodyPr/>
                    <a:lstStyle/>
                    <a:p>
                      <a:r>
                        <a:rPr sz="1000">
                          <a:solidFill>
                            <a:srgbClr val="1A1A2E"/>
                          </a:solidFill>
                          <a:latin typeface="Calibri"/>
                        </a:rPr>
                        <a:t>Several min</a:t>
                      </a:r>
                    </a:p>
                  </a:txBody>
                  <a:tcPr>
                    <a:solidFill>
                      <a:srgbClr val="FFFFFF"/>
                    </a:solidFill>
                  </a:tcPr>
                </a:tc>
                <a:tc>
                  <a:txBody>
                    <a:bodyPr/>
                    <a:lstStyle/>
                    <a:p>
                      <a:r>
                        <a:rPr sz="1000">
                          <a:solidFill>
                            <a:srgbClr val="1A1A2E"/>
                          </a:solidFill>
                          <a:latin typeface="Calibri"/>
                        </a:rPr>
                        <a:t>Long clips, photorealistic, API access</a:t>
                      </a:r>
                    </a:p>
                  </a:txBody>
                  <a:tcPr>
                    <a:solidFill>
                      <a:srgbClr val="FFFFFF"/>
                    </a:solidFill>
                  </a:tcPr>
                </a:tc>
                <a:tc>
                  <a:txBody>
                    <a:bodyPr/>
                    <a:lstStyle/>
                    <a:p>
                      <a:r>
                        <a:rPr sz="1000">
                          <a:solidFill>
                            <a:srgbClr val="1A1A2E"/>
                          </a:solidFill>
                          <a:latin typeface="Calibri"/>
                        </a:rPr>
                        <a:t>Limited availability</a:t>
                      </a:r>
                    </a:p>
                  </a:txBody>
                  <a:tcPr>
                    <a:solidFill>
                      <a:srgbClr val="FFFFFF"/>
                    </a:solidFill>
                  </a:tcPr>
                </a:tc>
                <a:tc>
                  <a:txBody>
                    <a:bodyPr/>
                    <a:lstStyle/>
                    <a:p>
                      <a:r>
                        <a:rPr sz="1000">
                          <a:solidFill>
                            <a:srgbClr val="1A1A2E"/>
                          </a:solidFill>
                          <a:latin typeface="Calibri"/>
                        </a:rPr>
                        <a:t>Enterprise video at scale</a:t>
                      </a:r>
                    </a:p>
                  </a:txBody>
                  <a:tcPr>
                    <a:solidFill>
                      <a:srgbClr val="FFFFFF"/>
                    </a:solidFill>
                  </a:tcPr>
                </a:tc>
              </a:tr>
              <a:tr h="329184">
                <a:tc>
                  <a:txBody>
                    <a:bodyPr/>
                    <a:lstStyle/>
                    <a:p>
                      <a:r>
                        <a:rPr sz="1000">
                          <a:solidFill>
                            <a:srgbClr val="1A1A2E"/>
                          </a:solidFill>
                          <a:latin typeface="Calibri"/>
                        </a:rPr>
                        <a:t>Kling 2.0</a:t>
                      </a:r>
                    </a:p>
                  </a:txBody>
                  <a:tcPr>
                    <a:solidFill>
                      <a:srgbClr val="F8F9FF"/>
                    </a:solidFill>
                  </a:tcPr>
                </a:tc>
                <a:tc>
                  <a:txBody>
                    <a:bodyPr/>
                    <a:lstStyle/>
                    <a:p>
                      <a:r>
                        <a:rPr sz="1000">
                          <a:solidFill>
                            <a:srgbClr val="1A1A2E"/>
                          </a:solidFill>
                          <a:latin typeface="Calibri"/>
                        </a:rPr>
                        <a:t>Kuaishou</a:t>
                      </a:r>
                    </a:p>
                  </a:txBody>
                  <a:tcPr>
                    <a:solidFill>
                      <a:srgbClr val="F8F9FF"/>
                    </a:solidFill>
                  </a:tcPr>
                </a:tc>
                <a:tc>
                  <a:txBody>
                    <a:bodyPr/>
                    <a:lstStyle/>
                    <a:p>
                      <a:r>
                        <a:rPr sz="1000">
                          <a:solidFill>
                            <a:srgbClr val="1A1A2E"/>
                          </a:solidFill>
                          <a:latin typeface="Calibri"/>
                        </a:rPr>
                        <a:t>2–3 min</a:t>
                      </a:r>
                    </a:p>
                  </a:txBody>
                  <a:tcPr>
                    <a:solidFill>
                      <a:srgbClr val="F8F9FF"/>
                    </a:solidFill>
                  </a:tcPr>
                </a:tc>
                <a:tc>
                  <a:txBody>
                    <a:bodyPr/>
                    <a:lstStyle/>
                    <a:p>
                      <a:r>
                        <a:rPr sz="1000">
                          <a:solidFill>
                            <a:srgbClr val="1A1A2E"/>
                          </a:solidFill>
                          <a:latin typeface="Calibri"/>
                        </a:rPr>
                        <a:t>Fast, good quality, generous free tier</a:t>
                      </a:r>
                    </a:p>
                  </a:txBody>
                  <a:tcPr>
                    <a:solidFill>
                      <a:srgbClr val="F8F9FF"/>
                    </a:solidFill>
                  </a:tcPr>
                </a:tc>
                <a:tc>
                  <a:txBody>
                    <a:bodyPr/>
                    <a:lstStyle/>
                    <a:p>
                      <a:r>
                        <a:rPr sz="1000">
                          <a:solidFill>
                            <a:srgbClr val="1A1A2E"/>
                          </a:solidFill>
                          <a:latin typeface="Calibri"/>
                        </a:rPr>
                        <a:t>Occasional consistency issues</a:t>
                      </a:r>
                    </a:p>
                  </a:txBody>
                  <a:tcPr>
                    <a:solidFill>
                      <a:srgbClr val="F8F9FF"/>
                    </a:solidFill>
                  </a:tcPr>
                </a:tc>
                <a:tc>
                  <a:txBody>
                    <a:bodyPr/>
                    <a:lstStyle/>
                    <a:p>
                      <a:r>
                        <a:rPr sz="1000">
                          <a:solidFill>
                            <a:srgbClr val="1A1A2E"/>
                          </a:solidFill>
                          <a:latin typeface="Calibri"/>
                        </a:rPr>
                        <a:t>Social media, product demos</a:t>
                      </a:r>
                    </a:p>
                  </a:txBody>
                  <a:tcPr>
                    <a:solidFill>
                      <a:srgbClr val="F8F9FF"/>
                    </a:solidFill>
                  </a:tcPr>
                </a:tc>
              </a:tr>
              <a:tr h="329184">
                <a:tc>
                  <a:txBody>
                    <a:bodyPr/>
                    <a:lstStyle/>
                    <a:p>
                      <a:r>
                        <a:rPr sz="1000">
                          <a:solidFill>
                            <a:srgbClr val="1A1A2E"/>
                          </a:solidFill>
                          <a:latin typeface="Calibri"/>
                        </a:rPr>
                        <a:t>HeyGen</a:t>
                      </a:r>
                    </a:p>
                  </a:txBody>
                  <a:tcPr>
                    <a:solidFill>
                      <a:srgbClr val="FFFFFF"/>
                    </a:solidFill>
                  </a:tcPr>
                </a:tc>
                <a:tc>
                  <a:txBody>
                    <a:bodyPr/>
                    <a:lstStyle/>
                    <a:p>
                      <a:r>
                        <a:rPr sz="1000">
                          <a:solidFill>
                            <a:srgbClr val="1A1A2E"/>
                          </a:solidFill>
                          <a:latin typeface="Calibri"/>
                        </a:rPr>
                        <a:t>HeyGen</a:t>
                      </a:r>
                    </a:p>
                  </a:txBody>
                  <a:tcPr>
                    <a:solidFill>
                      <a:srgbClr val="FFFFFF"/>
                    </a:solidFill>
                  </a:tcPr>
                </a:tc>
                <a:tc>
                  <a:txBody>
                    <a:bodyPr/>
                    <a:lstStyle/>
                    <a:p>
                      <a:r>
                        <a:rPr sz="1000">
                          <a:solidFill>
                            <a:srgbClr val="1A1A2E"/>
                          </a:solidFill>
                          <a:latin typeface="Calibri"/>
                        </a:rPr>
                        <a:t>Unlimited</a:t>
                      </a:r>
                    </a:p>
                  </a:txBody>
                  <a:tcPr>
                    <a:solidFill>
                      <a:srgbClr val="FFFFFF"/>
                    </a:solidFill>
                  </a:tcPr>
                </a:tc>
                <a:tc>
                  <a:txBody>
                    <a:bodyPr/>
                    <a:lstStyle/>
                    <a:p>
                      <a:r>
                        <a:rPr sz="1000">
                          <a:solidFill>
                            <a:srgbClr val="1A1A2E"/>
                          </a:solidFill>
                          <a:latin typeface="Calibri"/>
                        </a:rPr>
                        <a:t>AI talking-head avatars, multilingual</a:t>
                      </a:r>
                    </a:p>
                  </a:txBody>
                  <a:tcPr>
                    <a:solidFill>
                      <a:srgbClr val="FFFFFF"/>
                    </a:solidFill>
                  </a:tcPr>
                </a:tc>
                <a:tc>
                  <a:txBody>
                    <a:bodyPr/>
                    <a:lstStyle/>
                    <a:p>
                      <a:r>
                        <a:rPr sz="1000">
                          <a:solidFill>
                            <a:srgbClr val="1A1A2E"/>
                          </a:solidFill>
                          <a:latin typeface="Calibri"/>
                        </a:rPr>
                        <a:t>Presenters only, no scene generation</a:t>
                      </a:r>
                    </a:p>
                  </a:txBody>
                  <a:tcPr>
                    <a:solidFill>
                      <a:srgbClr val="FFFFFF"/>
                    </a:solidFill>
                  </a:tcPr>
                </a:tc>
                <a:tc>
                  <a:txBody>
                    <a:bodyPr/>
                    <a:lstStyle/>
                    <a:p>
                      <a:r>
                        <a:rPr sz="1000">
                          <a:solidFill>
                            <a:srgbClr val="1A1A2E"/>
                          </a:solidFill>
                          <a:latin typeface="Calibri"/>
                        </a:rPr>
                        <a:t>Training, onboarding, explainer videos</a:t>
                      </a:r>
                    </a:p>
                  </a:txBody>
                  <a:tcPr>
                    <a:solidFill>
                      <a:srgbClr val="FFFFFF"/>
                    </a:solidFill>
                  </a:tcPr>
                </a:tc>
              </a:tr>
              <a:tr h="329184">
                <a:tc>
                  <a:txBody>
                    <a:bodyPr/>
                    <a:lstStyle/>
                    <a:p>
                      <a:r>
                        <a:rPr sz="1000">
                          <a:solidFill>
                            <a:srgbClr val="1A1A2E"/>
                          </a:solidFill>
                          <a:latin typeface="Calibri"/>
                        </a:rPr>
                        <a:t>Synthesia</a:t>
                      </a:r>
                    </a:p>
                  </a:txBody>
                  <a:tcPr>
                    <a:solidFill>
                      <a:srgbClr val="F8F9FF"/>
                    </a:solidFill>
                  </a:tcPr>
                </a:tc>
                <a:tc>
                  <a:txBody>
                    <a:bodyPr/>
                    <a:lstStyle/>
                    <a:p>
                      <a:r>
                        <a:rPr sz="1000">
                          <a:solidFill>
                            <a:srgbClr val="1A1A2E"/>
                          </a:solidFill>
                          <a:latin typeface="Calibri"/>
                        </a:rPr>
                        <a:t>Synthesia</a:t>
                      </a:r>
                    </a:p>
                  </a:txBody>
                  <a:tcPr>
                    <a:solidFill>
                      <a:srgbClr val="F8F9FF"/>
                    </a:solidFill>
                  </a:tcPr>
                </a:tc>
                <a:tc>
                  <a:txBody>
                    <a:bodyPr/>
                    <a:lstStyle/>
                    <a:p>
                      <a:r>
                        <a:rPr sz="1000">
                          <a:solidFill>
                            <a:srgbClr val="1A1A2E"/>
                          </a:solidFill>
                          <a:latin typeface="Calibri"/>
                        </a:rPr>
                        <a:t>Unlimited</a:t>
                      </a:r>
                    </a:p>
                  </a:txBody>
                  <a:tcPr>
                    <a:solidFill>
                      <a:srgbClr val="F8F9FF"/>
                    </a:solidFill>
                  </a:tcPr>
                </a:tc>
                <a:tc>
                  <a:txBody>
                    <a:bodyPr/>
                    <a:lstStyle/>
                    <a:p>
                      <a:r>
                        <a:rPr sz="1000">
                          <a:solidFill>
                            <a:srgbClr val="1A1A2E"/>
                          </a:solidFill>
                          <a:latin typeface="Calibri"/>
                        </a:rPr>
                        <a:t>Enterprise-grade, 140+ languages, compliance</a:t>
                      </a:r>
                    </a:p>
                  </a:txBody>
                  <a:tcPr>
                    <a:solidFill>
                      <a:srgbClr val="F8F9FF"/>
                    </a:solidFill>
                  </a:tcPr>
                </a:tc>
                <a:tc>
                  <a:txBody>
                    <a:bodyPr/>
                    <a:lstStyle/>
                    <a:p>
                      <a:r>
                        <a:rPr sz="1000">
                          <a:solidFill>
                            <a:srgbClr val="1A1A2E"/>
                          </a:solidFill>
                          <a:latin typeface="Calibri"/>
                        </a:rPr>
                        <a:t>Template-based, less creative flexibility</a:t>
                      </a:r>
                    </a:p>
                  </a:txBody>
                  <a:tcPr>
                    <a:solidFill>
                      <a:srgbClr val="F8F9FF"/>
                    </a:solidFill>
                  </a:tcPr>
                </a:tc>
                <a:tc>
                  <a:txBody>
                    <a:bodyPr/>
                    <a:lstStyle/>
                    <a:p>
                      <a:r>
                        <a:rPr sz="1000">
                          <a:solidFill>
                            <a:srgbClr val="1A1A2E"/>
                          </a:solidFill>
                          <a:latin typeface="Calibri"/>
                        </a:rPr>
                        <a:t>Corporate training, L&amp;D</a:t>
                      </a:r>
                    </a:p>
                  </a:txBody>
                  <a:tcPr>
                    <a:solidFill>
                      <a:srgbClr val="F8F9FF"/>
                    </a:solidFill>
                  </a:tcPr>
                </a:tc>
              </a:tr>
            </a:tbl>
          </a:graphicData>
        </a:graphic>
      </p:graphicFrame>
      <p:sp>
        <p:nvSpPr>
          <p:cNvPr id="10" name="TextBox 9"/>
          <p:cNvSpPr txBox="1"/>
          <p:nvPr/>
        </p:nvSpPr>
        <p:spPr>
          <a:xfrm>
            <a:off x="502920" y="4133088"/>
            <a:ext cx="11185855" cy="2313432"/>
          </a:xfrm>
          <a:prstGeom prst="rect">
            <a:avLst/>
          </a:prstGeom>
          <a:noFill/>
        </p:spPr>
        <p:txBody>
          <a:bodyPr wrap="square">
            <a:spAutoFit/>
          </a:bodyPr>
          <a:lstStyle/>
          <a:p>
            <a:pPr>
              <a:spcBef>
                <a:spcPts val="300"/>
              </a:spcBef>
              <a:spcAft>
                <a:spcPts val="200"/>
              </a:spcAft>
            </a:pPr>
            <a:r>
              <a:rPr sz="1300" b="1">
                <a:solidFill>
                  <a:srgbClr val="0F3460"/>
                </a:solidFill>
                <a:latin typeface="Calibri"/>
              </a:rPr>
              <a:t>What's genuinely production-ready for business in 2026:</a:t>
            </a:r>
          </a:p>
          <a:p>
            <a:pPr>
              <a:spcBef>
                <a:spcPts val="300"/>
              </a:spcBef>
              <a:spcAft>
                <a:spcPts val="200"/>
              </a:spcAft>
            </a:pPr>
            <a:r>
              <a:rPr sz="1300">
                <a:solidFill>
                  <a:srgbClr val="0EA5E9"/>
                </a:solidFill>
                <a:latin typeface="Calibri"/>
              </a:rPr>
              <a:t>• </a:t>
            </a:r>
            <a:r>
              <a:rPr sz="1300" b="0">
                <a:solidFill>
                  <a:srgbClr val="1A1A2E"/>
                </a:solidFill>
                <a:latin typeface="Calibri"/>
              </a:rPr>
              <a:t>Training and onboarding videos (HeyGen / Synthesia): AI avatar presents content. Update the script → instantly regenerate. Translate to 30 languages at no added cost. Proven ROI: companies report 60–80% reduction in L&amp;D video production time.</a:t>
            </a:r>
          </a:p>
          <a:p>
            <a:pPr>
              <a:spcBef>
                <a:spcPts val="300"/>
              </a:spcBef>
              <a:spcAft>
                <a:spcPts val="200"/>
              </a:spcAft>
            </a:pPr>
            <a:r>
              <a:rPr sz="1300">
                <a:solidFill>
                  <a:srgbClr val="0EA5E9"/>
                </a:solidFill>
                <a:latin typeface="Calibri"/>
              </a:rPr>
              <a:t>• </a:t>
            </a:r>
            <a:r>
              <a:rPr sz="1300" b="0">
                <a:solidFill>
                  <a:srgbClr val="1A1A2E"/>
                </a:solidFill>
                <a:latin typeface="Calibri"/>
              </a:rPr>
              <a:t>Short-form marketing content: 15–30 second product clips, social media visuals, ad creative variants. Generate 20 variants in an hour for A/B testing. Cost: $0.50–$2.00 per clip.</a:t>
            </a:r>
          </a:p>
          <a:p>
            <a:pPr>
              <a:spcBef>
                <a:spcPts val="300"/>
              </a:spcBef>
              <a:spcAft>
                <a:spcPts val="200"/>
              </a:spcAft>
            </a:pPr>
            <a:r>
              <a:rPr sz="1300">
                <a:solidFill>
                  <a:srgbClr val="0EA5E9"/>
                </a:solidFill>
                <a:latin typeface="Calibri"/>
              </a:rPr>
              <a:t>• </a:t>
            </a:r>
            <a:r>
              <a:rPr sz="1300" b="0">
                <a:solidFill>
                  <a:srgbClr val="1A1A2E"/>
                </a:solidFill>
                <a:latin typeface="Calibri"/>
              </a:rPr>
              <a:t>Product demonstration videos: Walk through software UI or product features. No reshooting when features change — regenerate from updated screenshots.</a:t>
            </a:r>
          </a:p>
          <a:p>
            <a:pPr>
              <a:spcBef>
                <a:spcPts val="300"/>
              </a:spcBef>
              <a:spcAft>
                <a:spcPts val="200"/>
              </a:spcAft>
            </a:pPr>
            <a:r>
              <a:rPr sz="1300" b="1">
                <a:solidFill>
                  <a:srgbClr val="0F3460"/>
                </a:solidFill>
                <a:latin typeface="Calibri"/>
              </a:rPr>
              <a:t>Current limitations (be honest with stakeholders):</a:t>
            </a:r>
          </a:p>
          <a:p>
            <a:pPr>
              <a:spcBef>
                <a:spcPts val="300"/>
              </a:spcBef>
              <a:spcAft>
                <a:spcPts val="200"/>
              </a:spcAft>
            </a:pPr>
            <a:r>
              <a:rPr sz="1300">
                <a:solidFill>
                  <a:srgbClr val="0EA5E9"/>
                </a:solidFill>
                <a:latin typeface="Calibri"/>
              </a:rPr>
              <a:t>• </a:t>
            </a:r>
            <a:r>
              <a:rPr sz="1300" b="0">
                <a:solidFill>
                  <a:srgbClr val="1A1A2E"/>
                </a:solidFill>
                <a:latin typeface="Calibri"/>
              </a:rPr>
              <a:t>Clips longer than 2 minutes often have consistency issues</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234440"/>
          </a:xfrm>
          <a:prstGeom prst="rect">
            <a:avLst/>
          </a:prstGeom>
          <a:solidFill>
            <a:srgbClr val="1621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91440"/>
            <a:ext cx="11368735" cy="658368"/>
          </a:xfrm>
          <a:prstGeom prst="rect">
            <a:avLst/>
          </a:prstGeom>
          <a:noFill/>
        </p:spPr>
        <p:txBody>
          <a:bodyPr wrap="square">
            <a:spAutoFit/>
          </a:bodyPr>
          <a:lstStyle/>
          <a:p>
            <a:r>
              <a:rPr sz="2700" b="1">
                <a:solidFill>
                  <a:srgbClr val="FFFFFF"/>
                </a:solidFill>
                <a:latin typeface="Calibri"/>
              </a:rPr>
              <a:t>Industry Applications — Where AI Is Creating Measurable Value</a:t>
            </a:r>
          </a:p>
        </p:txBody>
      </p:sp>
      <p:sp>
        <p:nvSpPr>
          <p:cNvPr id="5" name="TextBox 4"/>
          <p:cNvSpPr txBox="1"/>
          <p:nvPr/>
        </p:nvSpPr>
        <p:spPr>
          <a:xfrm>
            <a:off x="411480" y="749808"/>
            <a:ext cx="11368735" cy="402336"/>
          </a:xfrm>
          <a:prstGeom prst="rect">
            <a:avLst/>
          </a:prstGeom>
          <a:noFill/>
        </p:spPr>
        <p:txBody>
          <a:bodyPr wrap="none">
            <a:spAutoFit/>
          </a:bodyPr>
          <a:lstStyle/>
          <a:p>
            <a:r>
              <a:rPr sz="1500">
                <a:solidFill>
                  <a:srgbClr val="0EA5E9"/>
                </a:solidFill>
                <a:latin typeface="Calibri"/>
              </a:rPr>
              <a:t>Real Deployments, Real Numbers</a:t>
            </a:r>
          </a:p>
        </p:txBody>
      </p:sp>
      <p:sp>
        <p:nvSpPr>
          <p:cNvPr id="6" name="Rectangle 5"/>
          <p:cNvSpPr/>
          <p:nvPr/>
        </p:nvSpPr>
        <p:spPr>
          <a:xfrm>
            <a:off x="0" y="1234440"/>
            <a:ext cx="12191695" cy="36576"/>
          </a:xfrm>
          <a:prstGeom prst="rect">
            <a:avLst/>
          </a:prstGeom>
          <a:solidFill>
            <a:srgbClr val="0EA5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1551615" y="6537960"/>
            <a:ext cx="502920" cy="256032"/>
          </a:xfrm>
          <a:prstGeom prst="rect">
            <a:avLst/>
          </a:prstGeom>
          <a:noFill/>
        </p:spPr>
        <p:txBody>
          <a:bodyPr wrap="none">
            <a:spAutoFit/>
          </a:bodyPr>
          <a:lstStyle/>
          <a:p>
            <a:pPr algn="ctr"/>
            <a:r>
              <a:rPr sz="1000">
                <a:solidFill>
                  <a:srgbClr val="AAAABB"/>
                </a:solidFill>
                <a:latin typeface="Calibri"/>
              </a:rPr>
              <a:t>25</a:t>
            </a:r>
          </a:p>
        </p:txBody>
      </p:sp>
      <p:sp>
        <p:nvSpPr>
          <p:cNvPr id="8" name="Rectangle 7"/>
          <p:cNvSpPr/>
          <p:nvPr/>
        </p:nvSpPr>
        <p:spPr>
          <a:xfrm>
            <a:off x="6949440" y="1353312"/>
            <a:ext cx="18288" cy="5257800"/>
          </a:xfrm>
          <a:prstGeom prst="rect">
            <a:avLst/>
          </a:prstGeom>
          <a:solidFill>
            <a:srgbClr val="DDDD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slide_25_chart.png"/>
          <p:cNvPicPr>
            <a:picLocks noChangeAspect="1"/>
          </p:cNvPicPr>
          <p:nvPr/>
        </p:nvPicPr>
        <p:blipFill>
          <a:blip r:embed="rId2"/>
          <a:stretch>
            <a:fillRect/>
          </a:stretch>
        </p:blipFill>
        <p:spPr>
          <a:xfrm>
            <a:off x="7040880" y="1444752"/>
            <a:ext cx="4663440" cy="5074920"/>
          </a:xfrm>
          <a:prstGeom prst="rect">
            <a:avLst/>
          </a:prstGeom>
        </p:spPr>
      </p:pic>
      <p:sp>
        <p:nvSpPr>
          <p:cNvPr id="10" name="TextBox 9"/>
          <p:cNvSpPr txBox="1"/>
          <p:nvPr/>
        </p:nvSpPr>
        <p:spPr>
          <a:xfrm>
            <a:off x="502920" y="1353312"/>
            <a:ext cx="6400800" cy="5093208"/>
          </a:xfrm>
          <a:prstGeom prst="rect">
            <a:avLst/>
          </a:prstGeom>
          <a:noFill/>
        </p:spPr>
        <p:txBody>
          <a:bodyPr wrap="square">
            <a:spAutoFit/>
          </a:bodyPr>
          <a:lstStyle/>
          <a:p>
            <a:pPr>
              <a:spcBef>
                <a:spcPts val="300"/>
              </a:spcBef>
              <a:spcAft>
                <a:spcPts val="200"/>
              </a:spcAft>
            </a:pPr>
            <a:r>
              <a:rPr sz="1200" b="0">
                <a:solidFill>
                  <a:srgbClr val="2D3748"/>
                </a:solidFill>
                <a:latin typeface="Calibri"/>
              </a:rPr>
              <a:t>Finance and Banking</a:t>
            </a:r>
          </a:p>
        </p:txBody>
      </p:sp>
      <p:graphicFrame>
        <p:nvGraphicFramePr>
          <p:cNvPr id="11" name="Table 10"/>
          <p:cNvGraphicFramePr>
            <a:graphicFrameLocks noGrp="1"/>
          </p:cNvGraphicFramePr>
          <p:nvPr/>
        </p:nvGraphicFramePr>
        <p:xfrm>
          <a:off x="502920" y="1737360"/>
          <a:ext cx="6400800" cy="1645920"/>
        </p:xfrm>
        <a:graphic>
          <a:graphicData uri="http://schemas.openxmlformats.org/drawingml/2006/table">
            <a:tbl>
              <a:tblPr firstRow="1" bandRow="1">
                <a:tableStyleId>{5C22544A-7EE6-4342-B048-85BDC9FD1C3A}</a:tableStyleId>
              </a:tblPr>
              <a:tblGrid>
                <a:gridCol w="2133600"/>
                <a:gridCol w="2133600"/>
                <a:gridCol w="2133600"/>
              </a:tblGrid>
              <a:tr h="329184">
                <a:tc>
                  <a:txBody>
                    <a:bodyPr/>
                    <a:lstStyle/>
                    <a:p>
                      <a:pPr algn="l"/>
                      <a:r>
                        <a:rPr sz="1000" b="1">
                          <a:solidFill>
                            <a:srgbClr val="FFFFFF"/>
                          </a:solidFill>
                          <a:latin typeface="Calibri"/>
                        </a:rPr>
                        <a:t>Application</a:t>
                      </a:r>
                    </a:p>
                  </a:txBody>
                  <a:tcPr>
                    <a:solidFill>
                      <a:srgbClr val="16213E"/>
                    </a:solidFill>
                  </a:tcPr>
                </a:tc>
                <a:tc>
                  <a:txBody>
                    <a:bodyPr/>
                    <a:lstStyle/>
                    <a:p>
                      <a:pPr algn="l"/>
                      <a:r>
                        <a:rPr sz="1000" b="1">
                          <a:solidFill>
                            <a:srgbClr val="FFFFFF"/>
                          </a:solidFill>
                          <a:latin typeface="Calibri"/>
                        </a:rPr>
                        <a:t>AI Tools</a:t>
                      </a:r>
                    </a:p>
                  </a:txBody>
                  <a:tcPr>
                    <a:solidFill>
                      <a:srgbClr val="16213E"/>
                    </a:solidFill>
                  </a:tcPr>
                </a:tc>
                <a:tc>
                  <a:txBody>
                    <a:bodyPr/>
                    <a:lstStyle/>
                    <a:p>
                      <a:pPr algn="l"/>
                      <a:r>
                        <a:rPr sz="1000" b="1">
                          <a:solidFill>
                            <a:srgbClr val="FFFFFF"/>
                          </a:solidFill>
                          <a:latin typeface="Calibri"/>
                        </a:rPr>
                        <a:t>Measured Impact</a:t>
                      </a:r>
                    </a:p>
                  </a:txBody>
                  <a:tcPr>
                    <a:solidFill>
                      <a:srgbClr val="16213E"/>
                    </a:solidFill>
                  </a:tcPr>
                </a:tc>
              </a:tr>
              <a:tr h="329184">
                <a:tc>
                  <a:txBody>
                    <a:bodyPr/>
                    <a:lstStyle/>
                    <a:p>
                      <a:r>
                        <a:rPr sz="1000">
                          <a:solidFill>
                            <a:srgbClr val="1A1A2E"/>
                          </a:solidFill>
                          <a:latin typeface="Calibri"/>
                        </a:rPr>
                        <a:t>Earnings call analysis and Q&amp;A</a:t>
                      </a:r>
                    </a:p>
                  </a:txBody>
                  <a:tcPr>
                    <a:solidFill>
                      <a:srgbClr val="FFFFFF"/>
                    </a:solidFill>
                  </a:tcPr>
                </a:tc>
                <a:tc>
                  <a:txBody>
                    <a:bodyPr/>
                    <a:lstStyle/>
                    <a:p>
                      <a:r>
                        <a:rPr sz="1000">
                          <a:solidFill>
                            <a:srgbClr val="1A1A2E"/>
                          </a:solidFill>
                          <a:latin typeface="Calibri"/>
                        </a:rPr>
                        <a:t>Claude 3.7, GPT-4o</a:t>
                      </a:r>
                    </a:p>
                  </a:txBody>
                  <a:tcPr>
                    <a:solidFill>
                      <a:srgbClr val="FFFFFF"/>
                    </a:solidFill>
                  </a:tcPr>
                </a:tc>
                <a:tc>
                  <a:txBody>
                    <a:bodyPr/>
                    <a:lstStyle/>
                    <a:p>
                      <a:r>
                        <a:rPr sz="1000">
                          <a:solidFill>
                            <a:srgbClr val="1A1A2E"/>
                          </a:solidFill>
                          <a:latin typeface="Calibri"/>
                        </a:rPr>
                        <a:t>Analyst prep time: 2 hours → 8 minutes</a:t>
                      </a:r>
                    </a:p>
                  </a:txBody>
                  <a:tcPr>
                    <a:solidFill>
                      <a:srgbClr val="FFFFFF"/>
                    </a:solidFill>
                  </a:tcPr>
                </a:tc>
              </a:tr>
              <a:tr h="329184">
                <a:tc>
                  <a:txBody>
                    <a:bodyPr/>
                    <a:lstStyle/>
                    <a:p>
                      <a:r>
                        <a:rPr sz="1000">
                          <a:solidFill>
                            <a:srgbClr val="1A1A2E"/>
                          </a:solidFill>
                          <a:latin typeface="Calibri"/>
                        </a:rPr>
                        <a:t>Credit risk narrative generation</a:t>
                      </a:r>
                    </a:p>
                  </a:txBody>
                  <a:tcPr>
                    <a:solidFill>
                      <a:srgbClr val="F8F9FF"/>
                    </a:solidFill>
                  </a:tcPr>
                </a:tc>
                <a:tc>
                  <a:txBody>
                    <a:bodyPr/>
                    <a:lstStyle/>
                    <a:p>
                      <a:r>
                        <a:rPr sz="1000">
                          <a:solidFill>
                            <a:srgbClr val="1A1A2E"/>
                          </a:solidFill>
                          <a:latin typeface="Calibri"/>
                        </a:rPr>
                        <a:t>Fine-tuned LLM + RAG</a:t>
                      </a:r>
                    </a:p>
                  </a:txBody>
                  <a:tcPr>
                    <a:solidFill>
                      <a:srgbClr val="F8F9FF"/>
                    </a:solidFill>
                  </a:tcPr>
                </a:tc>
                <a:tc>
                  <a:txBody>
                    <a:bodyPr/>
                    <a:lstStyle/>
                    <a:p>
                      <a:r>
                        <a:rPr sz="1000">
                          <a:solidFill>
                            <a:srgbClr val="1A1A2E"/>
                          </a:solidFill>
                          <a:latin typeface="Calibri"/>
                        </a:rPr>
                        <a:t>Decision documentation: 40% faster</a:t>
                      </a:r>
                    </a:p>
                  </a:txBody>
                  <a:tcPr>
                    <a:solidFill>
                      <a:srgbClr val="F8F9FF"/>
                    </a:solidFill>
                  </a:tcPr>
                </a:tc>
              </a:tr>
              <a:tr h="329184">
                <a:tc>
                  <a:txBody>
                    <a:bodyPr/>
                    <a:lstStyle/>
                    <a:p>
                      <a:r>
                        <a:rPr sz="1000">
                          <a:solidFill>
                            <a:srgbClr val="1A1A2E"/>
                          </a:solidFill>
                          <a:latin typeface="Calibri"/>
                        </a:rPr>
                        <a:t>Regulatory gap analysis</a:t>
                      </a:r>
                    </a:p>
                  </a:txBody>
                  <a:tcPr>
                    <a:solidFill>
                      <a:srgbClr val="FFFFFF"/>
                    </a:solidFill>
                  </a:tcPr>
                </a:tc>
                <a:tc>
                  <a:txBody>
                    <a:bodyPr/>
                    <a:lstStyle/>
                    <a:p>
                      <a:r>
                        <a:rPr sz="1000">
                          <a:solidFill>
                            <a:srgbClr val="1A1A2E"/>
                          </a:solidFill>
                          <a:latin typeface="Calibri"/>
                        </a:rPr>
                        <a:t>Claude (200K context)</a:t>
                      </a:r>
                    </a:p>
                  </a:txBody>
                  <a:tcPr>
                    <a:solidFill>
                      <a:srgbClr val="FFFFFF"/>
                    </a:solidFill>
                  </a:tcPr>
                </a:tc>
                <a:tc>
                  <a:txBody>
                    <a:bodyPr/>
                    <a:lstStyle/>
                    <a:p>
                      <a:r>
                        <a:rPr sz="1000">
                          <a:solidFill>
                            <a:srgbClr val="1A1A2E"/>
                          </a:solidFill>
                          <a:latin typeface="Calibri"/>
                        </a:rPr>
                        <a:t>Compliance review: days → hours</a:t>
                      </a:r>
                    </a:p>
                  </a:txBody>
                  <a:tcPr>
                    <a:solidFill>
                      <a:srgbClr val="FFFFFF"/>
                    </a:solidFill>
                  </a:tcPr>
                </a:tc>
              </a:tr>
              <a:tr h="329184">
                <a:tc>
                  <a:txBody>
                    <a:bodyPr/>
                    <a:lstStyle/>
                    <a:p>
                      <a:r>
                        <a:rPr sz="1000">
                          <a:solidFill>
                            <a:srgbClr val="1A1A2E"/>
                          </a:solidFill>
                          <a:latin typeface="Calibri"/>
                        </a:rPr>
                        <a:t>Trade surveillance reports</a:t>
                      </a:r>
                    </a:p>
                  </a:txBody>
                  <a:tcPr>
                    <a:solidFill>
                      <a:srgbClr val="F8F9FF"/>
                    </a:solidFill>
                  </a:tcPr>
                </a:tc>
                <a:tc>
                  <a:txBody>
                    <a:bodyPr/>
                    <a:lstStyle/>
                    <a:p>
                      <a:r>
                        <a:rPr sz="1000">
                          <a:solidFill>
                            <a:srgbClr val="1A1A2E"/>
                          </a:solidFill>
                          <a:latin typeface="Calibri"/>
                        </a:rPr>
                        <a:t>LLM + structured ML</a:t>
                      </a:r>
                    </a:p>
                  </a:txBody>
                  <a:tcPr>
                    <a:solidFill>
                      <a:srgbClr val="F8F9FF"/>
                    </a:solidFill>
                  </a:tcPr>
                </a:tc>
                <a:tc>
                  <a:txBody>
                    <a:bodyPr/>
                    <a:lstStyle/>
                    <a:p>
                      <a:r>
                        <a:rPr sz="1000">
                          <a:solidFill>
                            <a:srgbClr val="1A1A2E"/>
                          </a:solidFill>
                          <a:latin typeface="Calibri"/>
                        </a:rPr>
                        <a:t>Alert investigation: 50% faster triage</a:t>
                      </a:r>
                    </a:p>
                  </a:txBody>
                  <a:tcPr>
                    <a:solidFill>
                      <a:srgbClr val="F8F9FF"/>
                    </a:solidFill>
                  </a:tcPr>
                </a:tc>
              </a:tr>
            </a:tbl>
          </a:graphicData>
        </a:graphic>
      </p:graphicFrame>
      <p:sp>
        <p:nvSpPr>
          <p:cNvPr id="12" name="TextBox 11"/>
          <p:cNvSpPr txBox="1"/>
          <p:nvPr/>
        </p:nvSpPr>
        <p:spPr>
          <a:xfrm>
            <a:off x="502920" y="3474720"/>
            <a:ext cx="6400800" cy="2971800"/>
          </a:xfrm>
          <a:prstGeom prst="rect">
            <a:avLst/>
          </a:prstGeom>
          <a:noFill/>
        </p:spPr>
        <p:txBody>
          <a:bodyPr wrap="square">
            <a:spAutoFit/>
          </a:bodyPr>
          <a:lstStyle/>
          <a:p>
            <a:pPr>
              <a:spcBef>
                <a:spcPts val="300"/>
              </a:spcBef>
              <a:spcAft>
                <a:spcPts val="200"/>
              </a:spcAft>
            </a:pPr>
            <a:r>
              <a:rPr sz="1200" b="0">
                <a:solidFill>
                  <a:srgbClr val="2D3748"/>
                </a:solidFill>
                <a:latin typeface="Calibri"/>
              </a:rPr>
              <a:t>Healthcare and Life Sciences</a:t>
            </a:r>
          </a:p>
          <a:p>
            <a:pPr>
              <a:spcBef>
                <a:spcPts val="300"/>
              </a:spcBef>
              <a:spcAft>
                <a:spcPts val="200"/>
              </a:spcAft>
            </a:pPr>
            <a:r>
              <a:rPr sz="1200" b="0">
                <a:solidFill>
                  <a:srgbClr val="2D3748"/>
                </a:solidFill>
                <a:latin typeface="Calibri"/>
              </a:rPr>
              <a:t>Retail and E-commerce</a:t>
            </a:r>
          </a:p>
          <a:p>
            <a:pPr>
              <a:spcBef>
                <a:spcPts val="300"/>
              </a:spcBef>
              <a:spcAft>
                <a:spcPts val="200"/>
              </a:spcAft>
            </a:pPr>
            <a:r>
              <a:rPr sz="1200" b="0">
                <a:solidFill>
                  <a:srgbClr val="2D3748"/>
                </a:solidFill>
                <a:latin typeface="Calibri"/>
              </a:rPr>
              <a:t>Consulting and Professional Services</a:t>
            </a:r>
          </a:p>
        </p:txBody>
      </p:sp>
      <p:sp>
        <p:nvSpPr>
          <p:cNvPr id="13" name="Rectangle 12"/>
          <p:cNvSpPr/>
          <p:nvPr/>
        </p:nvSpPr>
        <p:spPr>
          <a:xfrm>
            <a:off x="502920" y="4443984"/>
            <a:ext cx="54864" cy="498896"/>
          </a:xfrm>
          <a:prstGeom prst="rect">
            <a:avLst/>
          </a:prstGeom>
          <a:solidFill>
            <a:srgbClr val="53348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67512" y="4443984"/>
            <a:ext cx="6236208" cy="566928"/>
          </a:xfrm>
          <a:prstGeom prst="rect">
            <a:avLst/>
          </a:prstGeom>
          <a:noFill/>
        </p:spPr>
        <p:txBody>
          <a:bodyPr wrap="square">
            <a:spAutoFit/>
          </a:bodyPr>
          <a:lstStyle/>
          <a:p>
            <a:r>
              <a:rPr sz="1300" i="1">
                <a:solidFill>
                  <a:srgbClr val="0F3460"/>
                </a:solidFill>
                <a:latin typeface="Calibri"/>
              </a:rPr>
              <a:t>The consistent pattern: AI absorbs 60–80% of the information-gathering and drafting work. Professionals shift their time to judgment, relationships, and quality control — higher-leverage activities. The job isn't eliminated; it's upgraded.</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34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926080"/>
            <a:ext cx="12191695" cy="73152"/>
          </a:xfrm>
          <a:prstGeom prst="rect">
            <a:avLst/>
          </a:prstGeom>
          <a:solidFill>
            <a:srgbClr val="0EA5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1920240"/>
            <a:ext cx="10058400" cy="640080"/>
          </a:xfrm>
          <a:prstGeom prst="rect">
            <a:avLst/>
          </a:prstGeom>
          <a:noFill/>
        </p:spPr>
        <p:txBody>
          <a:bodyPr wrap="none">
            <a:spAutoFit/>
          </a:bodyPr>
          <a:lstStyle/>
          <a:p>
            <a:r>
              <a:rPr sz="2200" b="1">
                <a:solidFill>
                  <a:srgbClr val="0EA5E9"/>
                </a:solidFill>
                <a:latin typeface="Calibri"/>
              </a:rPr>
              <a:t>Section 5</a:t>
            </a:r>
          </a:p>
        </p:txBody>
      </p:sp>
      <p:sp>
        <p:nvSpPr>
          <p:cNvPr id="5" name="TextBox 4"/>
          <p:cNvSpPr txBox="1"/>
          <p:nvPr/>
        </p:nvSpPr>
        <p:spPr>
          <a:xfrm>
            <a:off x="914400" y="2606040"/>
            <a:ext cx="10058400" cy="1097280"/>
          </a:xfrm>
          <a:prstGeom prst="rect">
            <a:avLst/>
          </a:prstGeom>
          <a:noFill/>
        </p:spPr>
        <p:txBody>
          <a:bodyPr wrap="none">
            <a:spAutoFit/>
          </a:bodyPr>
          <a:lstStyle/>
          <a:p>
            <a:r>
              <a:rPr sz="3600" b="1">
                <a:solidFill>
                  <a:srgbClr val="FFFFFF"/>
                </a:solidFill>
                <a:latin typeface="Calibri"/>
              </a:rPr>
              <a:t>Key Trends &amp; Strategic Outlook</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234440"/>
          </a:xfrm>
          <a:prstGeom prst="rect">
            <a:avLst/>
          </a:prstGeom>
          <a:solidFill>
            <a:srgbClr val="1621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91440"/>
            <a:ext cx="11368735" cy="658368"/>
          </a:xfrm>
          <a:prstGeom prst="rect">
            <a:avLst/>
          </a:prstGeom>
          <a:noFill/>
        </p:spPr>
        <p:txBody>
          <a:bodyPr wrap="square">
            <a:spAutoFit/>
          </a:bodyPr>
          <a:lstStyle/>
          <a:p>
            <a:r>
              <a:rPr sz="2700" b="1">
                <a:solidFill>
                  <a:srgbClr val="FFFFFF"/>
                </a:solidFill>
                <a:latin typeface="Calibri"/>
              </a:rPr>
              <a:t>RAG in 2026 — Beyond Basic Retrieval</a:t>
            </a:r>
          </a:p>
        </p:txBody>
      </p:sp>
      <p:sp>
        <p:nvSpPr>
          <p:cNvPr id="5" name="TextBox 4"/>
          <p:cNvSpPr txBox="1"/>
          <p:nvPr/>
        </p:nvSpPr>
        <p:spPr>
          <a:xfrm>
            <a:off x="411480" y="749808"/>
            <a:ext cx="11368735" cy="402336"/>
          </a:xfrm>
          <a:prstGeom prst="rect">
            <a:avLst/>
          </a:prstGeom>
          <a:noFill/>
        </p:spPr>
        <p:txBody>
          <a:bodyPr wrap="none">
            <a:spAutoFit/>
          </a:bodyPr>
          <a:lstStyle/>
          <a:p>
            <a:r>
              <a:rPr sz="1500">
                <a:solidFill>
                  <a:srgbClr val="0EA5E9"/>
                </a:solidFill>
                <a:latin typeface="Calibri"/>
              </a:rPr>
              <a:t>From Prototype to Production-Grade Knowledge Systems</a:t>
            </a:r>
          </a:p>
        </p:txBody>
      </p:sp>
      <p:sp>
        <p:nvSpPr>
          <p:cNvPr id="6" name="Rectangle 5"/>
          <p:cNvSpPr/>
          <p:nvPr/>
        </p:nvSpPr>
        <p:spPr>
          <a:xfrm>
            <a:off x="0" y="1234440"/>
            <a:ext cx="12191695" cy="36576"/>
          </a:xfrm>
          <a:prstGeom prst="rect">
            <a:avLst/>
          </a:prstGeom>
          <a:solidFill>
            <a:srgbClr val="0EA5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1551615" y="6537960"/>
            <a:ext cx="502920" cy="256032"/>
          </a:xfrm>
          <a:prstGeom prst="rect">
            <a:avLst/>
          </a:prstGeom>
          <a:noFill/>
        </p:spPr>
        <p:txBody>
          <a:bodyPr wrap="none">
            <a:spAutoFit/>
          </a:bodyPr>
          <a:lstStyle/>
          <a:p>
            <a:pPr algn="ctr"/>
            <a:r>
              <a:rPr sz="1000">
                <a:solidFill>
                  <a:srgbClr val="AAAABB"/>
                </a:solidFill>
                <a:latin typeface="Calibri"/>
              </a:rPr>
              <a:t>26</a:t>
            </a:r>
          </a:p>
        </p:txBody>
      </p:sp>
      <p:sp>
        <p:nvSpPr>
          <p:cNvPr id="8" name="TextBox 7"/>
          <p:cNvSpPr txBox="1"/>
          <p:nvPr/>
        </p:nvSpPr>
        <p:spPr>
          <a:xfrm>
            <a:off x="502920" y="1353312"/>
            <a:ext cx="11185855" cy="5093208"/>
          </a:xfrm>
          <a:prstGeom prst="rect">
            <a:avLst/>
          </a:prstGeom>
          <a:noFill/>
        </p:spPr>
        <p:txBody>
          <a:bodyPr wrap="square">
            <a:spAutoFit/>
          </a:bodyPr>
          <a:lstStyle/>
          <a:p>
            <a:pPr>
              <a:spcBef>
                <a:spcPts val="300"/>
              </a:spcBef>
              <a:spcAft>
                <a:spcPts val="200"/>
              </a:spcAft>
            </a:pPr>
            <a:r>
              <a:rPr sz="1200" b="0">
                <a:solidFill>
                  <a:srgbClr val="2D3748"/>
                </a:solidFill>
                <a:latin typeface="Calibri"/>
              </a:rPr>
              <a:t>What RAG does: Connects an LLM to your proprietary data so it answers questions grounded in your knowledge — policies, products, client history, research — not just its training data.</a:t>
            </a:r>
          </a:p>
          <a:p>
            <a:pPr>
              <a:spcBef>
                <a:spcPts val="300"/>
              </a:spcBef>
              <a:spcAft>
                <a:spcPts val="200"/>
              </a:spcAft>
            </a:pPr>
            <a:r>
              <a:rPr sz="1300" b="1">
                <a:solidFill>
                  <a:srgbClr val="0F3460"/>
                </a:solidFill>
                <a:latin typeface="Calibri"/>
              </a:rPr>
              <a:t>Why RAG beats fine-tuning for most knowledge use cases:</a:t>
            </a:r>
          </a:p>
        </p:txBody>
      </p:sp>
      <p:graphicFrame>
        <p:nvGraphicFramePr>
          <p:cNvPr id="9" name="Table 8"/>
          <p:cNvGraphicFramePr>
            <a:graphicFrameLocks noGrp="1"/>
          </p:cNvGraphicFramePr>
          <p:nvPr/>
        </p:nvGraphicFramePr>
        <p:xfrm>
          <a:off x="502920" y="2029968"/>
          <a:ext cx="11185855" cy="2304288"/>
        </p:xfrm>
        <a:graphic>
          <a:graphicData uri="http://schemas.openxmlformats.org/drawingml/2006/table">
            <a:tbl>
              <a:tblPr firstRow="1" bandRow="1">
                <a:tableStyleId>{5C22544A-7EE6-4342-B048-85BDC9FD1C3A}</a:tableStyleId>
              </a:tblPr>
              <a:tblGrid>
                <a:gridCol w="3728618"/>
                <a:gridCol w="3728618"/>
                <a:gridCol w="3728619"/>
              </a:tblGrid>
              <a:tr h="329184">
                <a:tc>
                  <a:txBody>
                    <a:bodyPr/>
                    <a:lstStyle/>
                    <a:p>
                      <a:pPr algn="l"/>
                      <a:r>
                        <a:rPr sz="1000" b="1">
                          <a:solidFill>
                            <a:srgbClr val="FFFFFF"/>
                          </a:solidFill>
                          <a:latin typeface="Calibri"/>
                        </a:rPr>
                        <a:t>Criterion</a:t>
                      </a:r>
                    </a:p>
                  </a:txBody>
                  <a:tcPr>
                    <a:solidFill>
                      <a:srgbClr val="16213E"/>
                    </a:solidFill>
                  </a:tcPr>
                </a:tc>
                <a:tc>
                  <a:txBody>
                    <a:bodyPr/>
                    <a:lstStyle/>
                    <a:p>
                      <a:pPr algn="l"/>
                      <a:r>
                        <a:rPr sz="1000" b="1">
                          <a:solidFill>
                            <a:srgbClr val="FFFFFF"/>
                          </a:solidFill>
                          <a:latin typeface="Calibri"/>
                        </a:rPr>
                        <a:t>RAG</a:t>
                      </a:r>
                    </a:p>
                  </a:txBody>
                  <a:tcPr>
                    <a:solidFill>
                      <a:srgbClr val="16213E"/>
                    </a:solidFill>
                  </a:tcPr>
                </a:tc>
                <a:tc>
                  <a:txBody>
                    <a:bodyPr/>
                    <a:lstStyle/>
                    <a:p>
                      <a:pPr algn="l"/>
                      <a:r>
                        <a:rPr sz="1000" b="1">
                          <a:solidFill>
                            <a:srgbClr val="FFFFFF"/>
                          </a:solidFill>
                          <a:latin typeface="Calibri"/>
                        </a:rPr>
                        <a:t>Fine-tuning</a:t>
                      </a:r>
                    </a:p>
                  </a:txBody>
                  <a:tcPr>
                    <a:solidFill>
                      <a:srgbClr val="16213E"/>
                    </a:solidFill>
                  </a:tcPr>
                </a:tc>
              </a:tr>
              <a:tr h="329184">
                <a:tc>
                  <a:txBody>
                    <a:bodyPr/>
                    <a:lstStyle/>
                    <a:p>
                      <a:r>
                        <a:rPr sz="1000">
                          <a:solidFill>
                            <a:srgbClr val="1A1A2E"/>
                          </a:solidFill>
                          <a:latin typeface="Calibri"/>
                        </a:rPr>
                        <a:t>Updates when data changes</a:t>
                      </a:r>
                    </a:p>
                  </a:txBody>
                  <a:tcPr>
                    <a:solidFill>
                      <a:srgbClr val="FFFFFF"/>
                    </a:solidFill>
                  </a:tcPr>
                </a:tc>
                <a:tc>
                  <a:txBody>
                    <a:bodyPr/>
                    <a:lstStyle/>
                    <a:p>
                      <a:r>
                        <a:rPr sz="1000">
                          <a:solidFill>
                            <a:srgbClr val="1A1A2E"/>
                          </a:solidFill>
                          <a:latin typeface="Calibri"/>
                        </a:rPr>
                        <a:t>Yes — re-index the new document</a:t>
                      </a:r>
                    </a:p>
                  </a:txBody>
                  <a:tcPr>
                    <a:solidFill>
                      <a:srgbClr val="FFFFFF"/>
                    </a:solidFill>
                  </a:tcPr>
                </a:tc>
                <a:tc>
                  <a:txBody>
                    <a:bodyPr/>
                    <a:lstStyle/>
                    <a:p>
                      <a:r>
                        <a:rPr sz="1000">
                          <a:solidFill>
                            <a:srgbClr val="1A1A2E"/>
                          </a:solidFill>
                          <a:latin typeface="Calibri"/>
                        </a:rPr>
                        <a:t>No — requires retraining</a:t>
                      </a:r>
                    </a:p>
                  </a:txBody>
                  <a:tcPr>
                    <a:solidFill>
                      <a:srgbClr val="FFFFFF"/>
                    </a:solidFill>
                  </a:tcPr>
                </a:tc>
              </a:tr>
              <a:tr h="329184">
                <a:tc>
                  <a:txBody>
                    <a:bodyPr/>
                    <a:lstStyle/>
                    <a:p>
                      <a:r>
                        <a:rPr sz="1000">
                          <a:solidFill>
                            <a:srgbClr val="1A1A2E"/>
                          </a:solidFill>
                          <a:latin typeface="Calibri"/>
                        </a:rPr>
                        <a:t>Cites sources</a:t>
                      </a:r>
                    </a:p>
                  </a:txBody>
                  <a:tcPr>
                    <a:solidFill>
                      <a:srgbClr val="F8F9FF"/>
                    </a:solidFill>
                  </a:tcPr>
                </a:tc>
                <a:tc>
                  <a:txBody>
                    <a:bodyPr/>
                    <a:lstStyle/>
                    <a:p>
                      <a:r>
                        <a:rPr sz="1000">
                          <a:solidFill>
                            <a:srgbClr val="1A1A2E"/>
                          </a:solidFill>
                          <a:latin typeface="Calibri"/>
                        </a:rPr>
                        <a:t>Yes — provenance is built in</a:t>
                      </a:r>
                    </a:p>
                  </a:txBody>
                  <a:tcPr>
                    <a:solidFill>
                      <a:srgbClr val="F8F9FF"/>
                    </a:solidFill>
                  </a:tcPr>
                </a:tc>
                <a:tc>
                  <a:txBody>
                    <a:bodyPr/>
                    <a:lstStyle/>
                    <a:p>
                      <a:r>
                        <a:rPr sz="1000">
                          <a:solidFill>
                            <a:srgbClr val="1A1A2E"/>
                          </a:solidFill>
                          <a:latin typeface="Calibri"/>
                        </a:rPr>
                        <a:t>No — model "knows" it but can't cite</a:t>
                      </a:r>
                    </a:p>
                  </a:txBody>
                  <a:tcPr>
                    <a:solidFill>
                      <a:srgbClr val="F8F9FF"/>
                    </a:solidFill>
                  </a:tcPr>
                </a:tc>
              </a:tr>
              <a:tr h="329184">
                <a:tc>
                  <a:txBody>
                    <a:bodyPr/>
                    <a:lstStyle/>
                    <a:p>
                      <a:r>
                        <a:rPr sz="1000">
                          <a:solidFill>
                            <a:srgbClr val="1A1A2E"/>
                          </a:solidFill>
                          <a:latin typeface="Calibri"/>
                        </a:rPr>
                        <a:t>Cost to implement</a:t>
                      </a:r>
                    </a:p>
                  </a:txBody>
                  <a:tcPr>
                    <a:solidFill>
                      <a:srgbClr val="FFFFFF"/>
                    </a:solidFill>
                  </a:tcPr>
                </a:tc>
                <a:tc>
                  <a:txBody>
                    <a:bodyPr/>
                    <a:lstStyle/>
                    <a:p>
                      <a:r>
                        <a:rPr sz="1000">
                          <a:solidFill>
                            <a:srgbClr val="1A1A2E"/>
                          </a:solidFill>
                          <a:latin typeface="Calibri"/>
                        </a:rPr>
                        <a:t>Low to medium</a:t>
                      </a:r>
                    </a:p>
                  </a:txBody>
                  <a:tcPr>
                    <a:solidFill>
                      <a:srgbClr val="FFFFFF"/>
                    </a:solidFill>
                  </a:tcPr>
                </a:tc>
                <a:tc>
                  <a:txBody>
                    <a:bodyPr/>
                    <a:lstStyle/>
                    <a:p>
                      <a:r>
                        <a:rPr sz="1000">
                          <a:solidFill>
                            <a:srgbClr val="1A1A2E"/>
                          </a:solidFill>
                          <a:latin typeface="Calibri"/>
                        </a:rPr>
                        <a:t>High</a:t>
                      </a:r>
                    </a:p>
                  </a:txBody>
                  <a:tcPr>
                    <a:solidFill>
                      <a:srgbClr val="FFFFFF"/>
                    </a:solidFill>
                  </a:tcPr>
                </a:tc>
              </a:tr>
              <a:tr h="329184">
                <a:tc>
                  <a:txBody>
                    <a:bodyPr/>
                    <a:lstStyle/>
                    <a:p>
                      <a:r>
                        <a:rPr sz="1000">
                          <a:solidFill>
                            <a:srgbClr val="1A1A2E"/>
                          </a:solidFill>
                          <a:latin typeface="Calibri"/>
                        </a:rPr>
                        <a:t>Time to production</a:t>
                      </a:r>
                    </a:p>
                  </a:txBody>
                  <a:tcPr>
                    <a:solidFill>
                      <a:srgbClr val="F8F9FF"/>
                    </a:solidFill>
                  </a:tcPr>
                </a:tc>
                <a:tc>
                  <a:txBody>
                    <a:bodyPr/>
                    <a:lstStyle/>
                    <a:p>
                      <a:r>
                        <a:rPr sz="1000">
                          <a:solidFill>
                            <a:srgbClr val="1A1A2E"/>
                          </a:solidFill>
                          <a:latin typeface="Calibri"/>
                        </a:rPr>
                        <a:t>Days to weeks</a:t>
                      </a:r>
                    </a:p>
                  </a:txBody>
                  <a:tcPr>
                    <a:solidFill>
                      <a:srgbClr val="F8F9FF"/>
                    </a:solidFill>
                  </a:tcPr>
                </a:tc>
                <a:tc>
                  <a:txBody>
                    <a:bodyPr/>
                    <a:lstStyle/>
                    <a:p>
                      <a:r>
                        <a:rPr sz="1000">
                          <a:solidFill>
                            <a:srgbClr val="1A1A2E"/>
                          </a:solidFill>
                          <a:latin typeface="Calibri"/>
                        </a:rPr>
                        <a:t>Weeks to months</a:t>
                      </a:r>
                    </a:p>
                  </a:txBody>
                  <a:tcPr>
                    <a:solidFill>
                      <a:srgbClr val="F8F9FF"/>
                    </a:solidFill>
                  </a:tcPr>
                </a:tc>
              </a:tr>
              <a:tr h="329184">
                <a:tc>
                  <a:txBody>
                    <a:bodyPr/>
                    <a:lstStyle/>
                    <a:p>
                      <a:r>
                        <a:rPr sz="1000">
                          <a:solidFill>
                            <a:srgbClr val="1A1A2E"/>
                          </a:solidFill>
                          <a:latin typeface="Calibri"/>
                        </a:rPr>
                        <a:t>Handles proprietary facts</a:t>
                      </a:r>
                    </a:p>
                  </a:txBody>
                  <a:tcPr>
                    <a:solidFill>
                      <a:srgbClr val="FFFFFF"/>
                    </a:solidFill>
                  </a:tcPr>
                </a:tc>
                <a:tc>
                  <a:txBody>
                    <a:bodyPr/>
                    <a:lstStyle/>
                    <a:p>
                      <a:r>
                        <a:rPr sz="1000">
                          <a:solidFill>
                            <a:srgbClr val="1A1A2E"/>
                          </a:solidFill>
                          <a:latin typeface="Calibri"/>
                        </a:rPr>
                        <a:t>Yes</a:t>
                      </a:r>
                    </a:p>
                  </a:txBody>
                  <a:tcPr>
                    <a:solidFill>
                      <a:srgbClr val="FFFFFF"/>
                    </a:solidFill>
                  </a:tcPr>
                </a:tc>
                <a:tc>
                  <a:txBody>
                    <a:bodyPr/>
                    <a:lstStyle/>
                    <a:p>
                      <a:r>
                        <a:rPr sz="1000">
                          <a:solidFill>
                            <a:srgbClr val="1A1A2E"/>
                          </a:solidFill>
                          <a:latin typeface="Calibri"/>
                        </a:rPr>
                        <a:t>Yes</a:t>
                      </a:r>
                    </a:p>
                  </a:txBody>
                  <a:tcPr>
                    <a:solidFill>
                      <a:srgbClr val="FFFFFF"/>
                    </a:solidFill>
                  </a:tcPr>
                </a:tc>
              </a:tr>
              <a:tr h="329184">
                <a:tc>
                  <a:txBody>
                    <a:bodyPr/>
                    <a:lstStyle/>
                    <a:p>
                      <a:r>
                        <a:rPr sz="1000">
                          <a:solidFill>
                            <a:srgbClr val="1A1A2E"/>
                          </a:solidFill>
                          <a:latin typeface="Calibri"/>
                        </a:rPr>
                        <a:t>Requires ML expertise</a:t>
                      </a:r>
                    </a:p>
                  </a:txBody>
                  <a:tcPr>
                    <a:solidFill>
                      <a:srgbClr val="F8F9FF"/>
                    </a:solidFill>
                  </a:tcPr>
                </a:tc>
                <a:tc>
                  <a:txBody>
                    <a:bodyPr/>
                    <a:lstStyle/>
                    <a:p>
                      <a:r>
                        <a:rPr sz="1000">
                          <a:solidFill>
                            <a:srgbClr val="1A1A2E"/>
                          </a:solidFill>
                          <a:latin typeface="Calibri"/>
                        </a:rPr>
                        <a:t>No</a:t>
                      </a:r>
                    </a:p>
                  </a:txBody>
                  <a:tcPr>
                    <a:solidFill>
                      <a:srgbClr val="F8F9FF"/>
                    </a:solidFill>
                  </a:tcPr>
                </a:tc>
                <a:tc>
                  <a:txBody>
                    <a:bodyPr/>
                    <a:lstStyle/>
                    <a:p>
                      <a:r>
                        <a:rPr sz="1000">
                          <a:solidFill>
                            <a:srgbClr val="1A1A2E"/>
                          </a:solidFill>
                          <a:latin typeface="Calibri"/>
                        </a:rPr>
                        <a:t>Yes</a:t>
                      </a:r>
                    </a:p>
                  </a:txBody>
                  <a:tcPr>
                    <a:solidFill>
                      <a:srgbClr val="F8F9FF"/>
                    </a:solidFill>
                  </a:tcPr>
                </a:tc>
              </a:tr>
            </a:tbl>
          </a:graphicData>
        </a:graphic>
      </p:graphicFrame>
      <p:sp>
        <p:nvSpPr>
          <p:cNvPr id="10" name="TextBox 9"/>
          <p:cNvSpPr txBox="1"/>
          <p:nvPr/>
        </p:nvSpPr>
        <p:spPr>
          <a:xfrm>
            <a:off x="502920" y="4425696"/>
            <a:ext cx="11185855" cy="2020824"/>
          </a:xfrm>
          <a:prstGeom prst="rect">
            <a:avLst/>
          </a:prstGeom>
          <a:noFill/>
        </p:spPr>
        <p:txBody>
          <a:bodyPr wrap="square">
            <a:spAutoFit/>
          </a:bodyPr>
          <a:lstStyle/>
          <a:p>
            <a:pPr>
              <a:spcBef>
                <a:spcPts val="300"/>
              </a:spcBef>
              <a:spcAft>
                <a:spcPts val="200"/>
              </a:spcAft>
            </a:pPr>
            <a:r>
              <a:rPr sz="1300" b="1">
                <a:solidFill>
                  <a:srgbClr val="0F3460"/>
                </a:solidFill>
                <a:latin typeface="Calibri"/>
              </a:rPr>
              <a:t>The 2025–2026 RAG improvements that matter for production:</a:t>
            </a:r>
          </a:p>
          <a:p>
            <a:pPr>
              <a:spcBef>
                <a:spcPts val="300"/>
              </a:spcBef>
              <a:spcAft>
                <a:spcPts val="200"/>
              </a:spcAft>
            </a:pPr>
            <a:r>
              <a:rPr sz="1300" b="1">
                <a:solidFill>
                  <a:srgbClr val="0F3460"/>
                </a:solidFill>
                <a:latin typeface="Calibri"/>
              </a:rPr>
              <a:t>Minimal production RAG stack (2026):</a:t>
            </a:r>
          </a:p>
          <a:p>
            <a:pPr>
              <a:spcBef>
                <a:spcPts val="300"/>
              </a:spcBef>
              <a:spcAft>
                <a:spcPts val="200"/>
              </a:spcAft>
            </a:pPr>
            <a:r>
              <a:rPr sz="1200" b="0">
                <a:solidFill>
                  <a:srgbClr val="2D3748"/>
                </a:solidFill>
                <a:latin typeface="Calibri"/>
              </a:rPr>
              <a:t>Cost benchmark: Indexing 1,000 documents ≈ $0.50. Answering a query ≈ $0.02–$0.10.</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234440"/>
          </a:xfrm>
          <a:prstGeom prst="rect">
            <a:avLst/>
          </a:prstGeom>
          <a:solidFill>
            <a:srgbClr val="1621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91440"/>
            <a:ext cx="11368735" cy="658368"/>
          </a:xfrm>
          <a:prstGeom prst="rect">
            <a:avLst/>
          </a:prstGeom>
          <a:noFill/>
        </p:spPr>
        <p:txBody>
          <a:bodyPr wrap="square">
            <a:spAutoFit/>
          </a:bodyPr>
          <a:lstStyle/>
          <a:p>
            <a:r>
              <a:rPr sz="2700" b="1">
                <a:solidFill>
                  <a:srgbClr val="FFFFFF"/>
                </a:solidFill>
                <a:latin typeface="Calibri"/>
              </a:rPr>
              <a:t>Fine-Tuning Accessibility in 2026</a:t>
            </a:r>
          </a:p>
        </p:txBody>
      </p:sp>
      <p:sp>
        <p:nvSpPr>
          <p:cNvPr id="5" name="TextBox 4"/>
          <p:cNvSpPr txBox="1"/>
          <p:nvPr/>
        </p:nvSpPr>
        <p:spPr>
          <a:xfrm>
            <a:off x="411480" y="749808"/>
            <a:ext cx="11368735" cy="402336"/>
          </a:xfrm>
          <a:prstGeom prst="rect">
            <a:avLst/>
          </a:prstGeom>
          <a:noFill/>
        </p:spPr>
        <p:txBody>
          <a:bodyPr wrap="none">
            <a:spAutoFit/>
          </a:bodyPr>
          <a:lstStyle/>
          <a:p>
            <a:r>
              <a:rPr sz="1500">
                <a:solidFill>
                  <a:srgbClr val="0EA5E9"/>
                </a:solidFill>
                <a:latin typeface="Calibri"/>
              </a:rPr>
              <a:t>From Research Lab to Business Tool</a:t>
            </a:r>
          </a:p>
        </p:txBody>
      </p:sp>
      <p:sp>
        <p:nvSpPr>
          <p:cNvPr id="6" name="Rectangle 5"/>
          <p:cNvSpPr/>
          <p:nvPr/>
        </p:nvSpPr>
        <p:spPr>
          <a:xfrm>
            <a:off x="0" y="1234440"/>
            <a:ext cx="12191695" cy="36576"/>
          </a:xfrm>
          <a:prstGeom prst="rect">
            <a:avLst/>
          </a:prstGeom>
          <a:solidFill>
            <a:srgbClr val="0EA5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1551615" y="6537960"/>
            <a:ext cx="502920" cy="256032"/>
          </a:xfrm>
          <a:prstGeom prst="rect">
            <a:avLst/>
          </a:prstGeom>
          <a:noFill/>
        </p:spPr>
        <p:txBody>
          <a:bodyPr wrap="none">
            <a:spAutoFit/>
          </a:bodyPr>
          <a:lstStyle/>
          <a:p>
            <a:pPr algn="ctr"/>
            <a:r>
              <a:rPr sz="1000">
                <a:solidFill>
                  <a:srgbClr val="AAAABB"/>
                </a:solidFill>
                <a:latin typeface="Calibri"/>
              </a:rPr>
              <a:t>27</a:t>
            </a:r>
          </a:p>
        </p:txBody>
      </p:sp>
      <p:sp>
        <p:nvSpPr>
          <p:cNvPr id="8" name="TextBox 7"/>
          <p:cNvSpPr txBox="1"/>
          <p:nvPr/>
        </p:nvSpPr>
        <p:spPr>
          <a:xfrm>
            <a:off x="502920" y="1353312"/>
            <a:ext cx="11185855" cy="5093208"/>
          </a:xfrm>
          <a:prstGeom prst="rect">
            <a:avLst/>
          </a:prstGeom>
          <a:noFill/>
        </p:spPr>
        <p:txBody>
          <a:bodyPr wrap="square">
            <a:spAutoFit/>
          </a:bodyPr>
          <a:lstStyle/>
          <a:p>
            <a:pPr>
              <a:spcBef>
                <a:spcPts val="300"/>
              </a:spcBef>
              <a:spcAft>
                <a:spcPts val="200"/>
              </a:spcAft>
            </a:pPr>
            <a:r>
              <a:rPr sz="1200" b="0">
                <a:solidFill>
                  <a:srgbClr val="2D3748"/>
                </a:solidFill>
                <a:latin typeface="Calibri"/>
              </a:rPr>
              <a:t>Fine-tuning definition: Continue training a pre-trained model on your specific data — producing a model that reflects your domain language, output style, and task requirements.</a:t>
            </a:r>
          </a:p>
          <a:p>
            <a:pPr>
              <a:spcBef>
                <a:spcPts val="300"/>
              </a:spcBef>
              <a:spcAft>
                <a:spcPts val="200"/>
              </a:spcAft>
            </a:pPr>
            <a:r>
              <a:rPr sz="1300" b="1">
                <a:solidFill>
                  <a:srgbClr val="0F3460"/>
                </a:solidFill>
                <a:latin typeface="Calibri"/>
              </a:rPr>
              <a:t>When fine-tuning is the right answer (and when it isn't):</a:t>
            </a:r>
          </a:p>
        </p:txBody>
      </p:sp>
      <p:graphicFrame>
        <p:nvGraphicFramePr>
          <p:cNvPr id="9" name="Table 8"/>
          <p:cNvGraphicFramePr>
            <a:graphicFrameLocks noGrp="1"/>
          </p:cNvGraphicFramePr>
          <p:nvPr/>
        </p:nvGraphicFramePr>
        <p:xfrm>
          <a:off x="502920" y="2029968"/>
          <a:ext cx="11185855" cy="1975104"/>
        </p:xfrm>
        <a:graphic>
          <a:graphicData uri="http://schemas.openxmlformats.org/drawingml/2006/table">
            <a:tbl>
              <a:tblPr firstRow="1" bandRow="1">
                <a:tableStyleId>{5C22544A-7EE6-4342-B048-85BDC9FD1C3A}</a:tableStyleId>
              </a:tblPr>
              <a:tblGrid>
                <a:gridCol w="3728618"/>
                <a:gridCol w="3728618"/>
                <a:gridCol w="3728619"/>
              </a:tblGrid>
              <a:tr h="329184">
                <a:tc>
                  <a:txBody>
                    <a:bodyPr/>
                    <a:lstStyle/>
                    <a:p>
                      <a:pPr algn="l"/>
                      <a:r>
                        <a:rPr sz="1000" b="1">
                          <a:solidFill>
                            <a:srgbClr val="FFFFFF"/>
                          </a:solidFill>
                          <a:latin typeface="Calibri"/>
                        </a:rPr>
                        <a:t>Scenario</a:t>
                      </a:r>
                    </a:p>
                  </a:txBody>
                  <a:tcPr>
                    <a:solidFill>
                      <a:srgbClr val="16213E"/>
                    </a:solidFill>
                  </a:tcPr>
                </a:tc>
                <a:tc>
                  <a:txBody>
                    <a:bodyPr/>
                    <a:lstStyle/>
                    <a:p>
                      <a:pPr algn="l"/>
                      <a:r>
                        <a:rPr sz="1000" b="1">
                          <a:solidFill>
                            <a:srgbClr val="FFFFFF"/>
                          </a:solidFill>
                          <a:latin typeface="Calibri"/>
                        </a:rPr>
                        <a:t>Best Approach</a:t>
                      </a:r>
                    </a:p>
                  </a:txBody>
                  <a:tcPr>
                    <a:solidFill>
                      <a:srgbClr val="16213E"/>
                    </a:solidFill>
                  </a:tcPr>
                </a:tc>
                <a:tc>
                  <a:txBody>
                    <a:bodyPr/>
                    <a:lstStyle/>
                    <a:p>
                      <a:pPr algn="l"/>
                      <a:r>
                        <a:rPr sz="1000" b="1">
                          <a:solidFill>
                            <a:srgbClr val="FFFFFF"/>
                          </a:solidFill>
                          <a:latin typeface="Calibri"/>
                        </a:rPr>
                        <a:t>Why</a:t>
                      </a:r>
                    </a:p>
                  </a:txBody>
                  <a:tcPr>
                    <a:solidFill>
                      <a:srgbClr val="16213E"/>
                    </a:solidFill>
                  </a:tcPr>
                </a:tc>
              </a:tr>
              <a:tr h="329184">
                <a:tc>
                  <a:txBody>
                    <a:bodyPr/>
                    <a:lstStyle/>
                    <a:p>
                      <a:r>
                        <a:rPr sz="1000">
                          <a:solidFill>
                            <a:srgbClr val="1A1A2E"/>
                          </a:solidFill>
                          <a:latin typeface="Calibri"/>
                        </a:rPr>
                        <a:t>Need factual knowledge from your documents</a:t>
                      </a:r>
                    </a:p>
                  </a:txBody>
                  <a:tcPr>
                    <a:solidFill>
                      <a:srgbClr val="FFFFFF"/>
                    </a:solidFill>
                  </a:tcPr>
                </a:tc>
                <a:tc>
                  <a:txBody>
                    <a:bodyPr/>
                    <a:lstStyle/>
                    <a:p>
                      <a:r>
                        <a:rPr sz="1000">
                          <a:solidFill>
                            <a:srgbClr val="1A1A2E"/>
                          </a:solidFill>
                          <a:latin typeface="Calibri"/>
                        </a:rPr>
                        <a:t>RAG</a:t>
                      </a:r>
                    </a:p>
                  </a:txBody>
                  <a:tcPr>
                    <a:solidFill>
                      <a:srgbClr val="FFFFFF"/>
                    </a:solidFill>
                  </a:tcPr>
                </a:tc>
                <a:tc>
                  <a:txBody>
                    <a:bodyPr/>
                    <a:lstStyle/>
                    <a:p>
                      <a:r>
                        <a:rPr sz="1000">
                          <a:solidFill>
                            <a:srgbClr val="1A1A2E"/>
                          </a:solidFill>
                          <a:latin typeface="Calibri"/>
                        </a:rPr>
                        <a:t>Fine-tuning doesn't reliably memorize facts</a:t>
                      </a:r>
                    </a:p>
                  </a:txBody>
                  <a:tcPr>
                    <a:solidFill>
                      <a:srgbClr val="FFFFFF"/>
                    </a:solidFill>
                  </a:tcPr>
                </a:tc>
              </a:tr>
              <a:tr h="329184">
                <a:tc>
                  <a:txBody>
                    <a:bodyPr/>
                    <a:lstStyle/>
                    <a:p>
                      <a:r>
                        <a:rPr sz="1000">
                          <a:solidFill>
                            <a:srgbClr val="1A1A2E"/>
                          </a:solidFill>
                          <a:latin typeface="Calibri"/>
                        </a:rPr>
                        <a:t>Need consistent output format or writing style</a:t>
                      </a:r>
                    </a:p>
                  </a:txBody>
                  <a:tcPr>
                    <a:solidFill>
                      <a:srgbClr val="F8F9FF"/>
                    </a:solidFill>
                  </a:tcPr>
                </a:tc>
                <a:tc>
                  <a:txBody>
                    <a:bodyPr/>
                    <a:lstStyle/>
                    <a:p>
                      <a:r>
                        <a:rPr sz="1000">
                          <a:solidFill>
                            <a:srgbClr val="1A1A2E"/>
                          </a:solidFill>
                          <a:latin typeface="Calibri"/>
                        </a:rPr>
                        <a:t>Fine-tuning</a:t>
                      </a:r>
                    </a:p>
                  </a:txBody>
                  <a:tcPr>
                    <a:solidFill>
                      <a:srgbClr val="F8F9FF"/>
                    </a:solidFill>
                  </a:tcPr>
                </a:tc>
                <a:tc>
                  <a:txBody>
                    <a:bodyPr/>
                    <a:lstStyle/>
                    <a:p>
                      <a:r>
                        <a:rPr sz="1000">
                          <a:solidFill>
                            <a:srgbClr val="1A1A2E"/>
                          </a:solidFill>
                          <a:latin typeface="Calibri"/>
                        </a:rPr>
                        <a:t>Style is baked in — no per-call prompting needed</a:t>
                      </a:r>
                    </a:p>
                  </a:txBody>
                  <a:tcPr>
                    <a:solidFill>
                      <a:srgbClr val="F8F9FF"/>
                    </a:solidFill>
                  </a:tcPr>
                </a:tc>
              </a:tr>
              <a:tr h="329184">
                <a:tc>
                  <a:txBody>
                    <a:bodyPr/>
                    <a:lstStyle/>
                    <a:p>
                      <a:r>
                        <a:rPr sz="1000">
                          <a:solidFill>
                            <a:srgbClr val="1A1A2E"/>
                          </a:solidFill>
                          <a:latin typeface="Calibri"/>
                        </a:rPr>
                        <a:t>Domain-specific terminology and reasoning</a:t>
                      </a:r>
                    </a:p>
                  </a:txBody>
                  <a:tcPr>
                    <a:solidFill>
                      <a:srgbClr val="FFFFFF"/>
                    </a:solidFill>
                  </a:tcPr>
                </a:tc>
                <a:tc>
                  <a:txBody>
                    <a:bodyPr/>
                    <a:lstStyle/>
                    <a:p>
                      <a:r>
                        <a:rPr sz="1000">
                          <a:solidFill>
                            <a:srgbClr val="1A1A2E"/>
                          </a:solidFill>
                          <a:latin typeface="Calibri"/>
                        </a:rPr>
                        <a:t>Fine-tuning</a:t>
                      </a:r>
                    </a:p>
                  </a:txBody>
                  <a:tcPr>
                    <a:solidFill>
                      <a:srgbClr val="FFFFFF"/>
                    </a:solidFill>
                  </a:tcPr>
                </a:tc>
                <a:tc>
                  <a:txBody>
                    <a:bodyPr/>
                    <a:lstStyle/>
                    <a:p>
                      <a:r>
                        <a:rPr sz="1000">
                          <a:solidFill>
                            <a:srgbClr val="1A1A2E"/>
                          </a:solidFill>
                          <a:latin typeface="Calibri"/>
                        </a:rPr>
                        <a:t>Model learns your language, not just your content</a:t>
                      </a:r>
                    </a:p>
                  </a:txBody>
                  <a:tcPr>
                    <a:solidFill>
                      <a:srgbClr val="FFFFFF"/>
                    </a:solidFill>
                  </a:tcPr>
                </a:tc>
              </a:tr>
              <a:tr h="329184">
                <a:tc>
                  <a:txBody>
                    <a:bodyPr/>
                    <a:lstStyle/>
                    <a:p>
                      <a:r>
                        <a:rPr sz="1000">
                          <a:solidFill>
                            <a:srgbClr val="1A1A2E"/>
                          </a:solidFill>
                          <a:latin typeface="Calibri"/>
                        </a:rPr>
                        <a:t>Running 10M+ calls/month, cost is critical</a:t>
                      </a:r>
                    </a:p>
                  </a:txBody>
                  <a:tcPr>
                    <a:solidFill>
                      <a:srgbClr val="F8F9FF"/>
                    </a:solidFill>
                  </a:tcPr>
                </a:tc>
                <a:tc>
                  <a:txBody>
                    <a:bodyPr/>
                    <a:lstStyle/>
                    <a:p>
                      <a:r>
                        <a:rPr sz="1000">
                          <a:solidFill>
                            <a:srgbClr val="1A1A2E"/>
                          </a:solidFill>
                          <a:latin typeface="Calibri"/>
                        </a:rPr>
                        <a:t>Fine-tuning on a small model</a:t>
                      </a:r>
                    </a:p>
                  </a:txBody>
                  <a:tcPr>
                    <a:solidFill>
                      <a:srgbClr val="F8F9FF"/>
                    </a:solidFill>
                  </a:tcPr>
                </a:tc>
                <a:tc>
                  <a:txBody>
                    <a:bodyPr/>
                    <a:lstStyle/>
                    <a:p>
                      <a:r>
                        <a:rPr sz="1000">
                          <a:solidFill>
                            <a:srgbClr val="1A1A2E"/>
                          </a:solidFill>
                          <a:latin typeface="Calibri"/>
                        </a:rPr>
                        <a:t>Fine-tuned small model outperforms large model on your task at 1/10th the cost</a:t>
                      </a:r>
                    </a:p>
                  </a:txBody>
                  <a:tcPr>
                    <a:solidFill>
                      <a:srgbClr val="F8F9FF"/>
                    </a:solidFill>
                  </a:tcPr>
                </a:tc>
              </a:tr>
              <a:tr h="329184">
                <a:tc>
                  <a:txBody>
                    <a:bodyPr/>
                    <a:lstStyle/>
                    <a:p>
                      <a:r>
                        <a:rPr sz="1000">
                          <a:solidFill>
                            <a:srgbClr val="1A1A2E"/>
                          </a:solidFill>
                          <a:latin typeface="Calibri"/>
                        </a:rPr>
                        <a:t>Data is fresh / changes frequently</a:t>
                      </a:r>
                    </a:p>
                  </a:txBody>
                  <a:tcPr>
                    <a:solidFill>
                      <a:srgbClr val="FFFFFF"/>
                    </a:solidFill>
                  </a:tcPr>
                </a:tc>
                <a:tc>
                  <a:txBody>
                    <a:bodyPr/>
                    <a:lstStyle/>
                    <a:p>
                      <a:r>
                        <a:rPr sz="1000">
                          <a:solidFill>
                            <a:srgbClr val="1A1A2E"/>
                          </a:solidFill>
                          <a:latin typeface="Calibri"/>
                        </a:rPr>
                        <a:t>RAG</a:t>
                      </a:r>
                    </a:p>
                  </a:txBody>
                  <a:tcPr>
                    <a:solidFill>
                      <a:srgbClr val="FFFFFF"/>
                    </a:solidFill>
                  </a:tcPr>
                </a:tc>
                <a:tc>
                  <a:txBody>
                    <a:bodyPr/>
                    <a:lstStyle/>
                    <a:p>
                      <a:r>
                        <a:rPr sz="1000">
                          <a:solidFill>
                            <a:srgbClr val="1A1A2E"/>
                          </a:solidFill>
                          <a:latin typeface="Calibri"/>
                        </a:rPr>
                        <a:t>Re-indexing is instant; retraining is slow</a:t>
                      </a:r>
                    </a:p>
                  </a:txBody>
                  <a:tcPr>
                    <a:solidFill>
                      <a:srgbClr val="FFFFFF"/>
                    </a:solidFill>
                  </a:tcPr>
                </a:tc>
              </a:tr>
            </a:tbl>
          </a:graphicData>
        </a:graphic>
      </p:graphicFrame>
      <p:sp>
        <p:nvSpPr>
          <p:cNvPr id="10" name="TextBox 9"/>
          <p:cNvSpPr txBox="1"/>
          <p:nvPr/>
        </p:nvSpPr>
        <p:spPr>
          <a:xfrm>
            <a:off x="502920" y="4096512"/>
            <a:ext cx="11185855" cy="2350008"/>
          </a:xfrm>
          <a:prstGeom prst="rect">
            <a:avLst/>
          </a:prstGeom>
          <a:noFill/>
        </p:spPr>
        <p:txBody>
          <a:bodyPr wrap="square">
            <a:spAutoFit/>
          </a:bodyPr>
          <a:lstStyle/>
          <a:p>
            <a:pPr>
              <a:spcBef>
                <a:spcPts val="300"/>
              </a:spcBef>
              <a:spcAft>
                <a:spcPts val="200"/>
              </a:spcAft>
            </a:pPr>
            <a:r>
              <a:rPr sz="1300" b="1">
                <a:solidFill>
                  <a:srgbClr val="0F3460"/>
                </a:solidFill>
                <a:latin typeface="Calibri"/>
              </a:rPr>
              <a:t>What's accessible in 2026 — no PhD required:</a:t>
            </a:r>
          </a:p>
          <a:p>
            <a:pPr>
              <a:spcBef>
                <a:spcPts val="300"/>
              </a:spcBef>
              <a:spcAft>
                <a:spcPts val="200"/>
              </a:spcAft>
            </a:pPr>
            <a:r>
              <a:rPr sz="1300" b="1">
                <a:solidFill>
                  <a:srgbClr val="0F3460"/>
                </a:solidFill>
                <a:latin typeface="Calibri"/>
              </a:rPr>
              <a:t>OpenAI Fine-Tuning API (cloud):</a:t>
            </a:r>
          </a:p>
          <a:p>
            <a:pPr>
              <a:spcBef>
                <a:spcPts val="300"/>
              </a:spcBef>
              <a:spcAft>
                <a:spcPts val="200"/>
              </a:spcAft>
            </a:pPr>
            <a:r>
              <a:rPr sz="1300" b="1">
                <a:solidFill>
                  <a:srgbClr val="0F3460"/>
                </a:solidFill>
                <a:latin typeface="Calibri"/>
              </a:rPr>
              <a:t>LoRA / QLoRA (local, open source):</a:t>
            </a:r>
          </a:p>
          <a:p>
            <a:pPr>
              <a:spcBef>
                <a:spcPts val="300"/>
              </a:spcBef>
              <a:spcAft>
                <a:spcPts val="200"/>
              </a:spcAft>
            </a:pPr>
            <a:r>
              <a:rPr sz="1300">
                <a:solidFill>
                  <a:srgbClr val="0EA5E9"/>
                </a:solidFill>
                <a:latin typeface="Calibri"/>
              </a:rPr>
              <a:t>• </a:t>
            </a:r>
            <a:r>
              <a:rPr sz="1300" b="0">
                <a:solidFill>
                  <a:srgbClr val="1A1A2E"/>
                </a:solidFill>
                <a:latin typeface="Calibri"/>
              </a:rPr>
              <a:t>LoRA: Trains a small adapter on top of frozen base weights — 90% fewer trainable parameters, same quality improvement</a:t>
            </a:r>
          </a:p>
          <a:p>
            <a:pPr>
              <a:spcBef>
                <a:spcPts val="300"/>
              </a:spcBef>
              <a:spcAft>
                <a:spcPts val="200"/>
              </a:spcAft>
            </a:pPr>
            <a:r>
              <a:rPr sz="1300">
                <a:solidFill>
                  <a:srgbClr val="0EA5E9"/>
                </a:solidFill>
                <a:latin typeface="Calibri"/>
              </a:rPr>
              <a:t>• </a:t>
            </a:r>
            <a:r>
              <a:rPr sz="1300" b="0">
                <a:solidFill>
                  <a:srgbClr val="1A1A2E"/>
                </a:solidFill>
                <a:latin typeface="Calibri"/>
              </a:rPr>
              <a:t>QLoRA: LoRA + 4-bit quantization — fine-tune a 7B model on a single consumer GPU in 1–3 hours</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234440"/>
          </a:xfrm>
          <a:prstGeom prst="rect">
            <a:avLst/>
          </a:prstGeom>
          <a:solidFill>
            <a:srgbClr val="1621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91440"/>
            <a:ext cx="11368735" cy="658368"/>
          </a:xfrm>
          <a:prstGeom prst="rect">
            <a:avLst/>
          </a:prstGeom>
          <a:noFill/>
        </p:spPr>
        <p:txBody>
          <a:bodyPr wrap="square">
            <a:spAutoFit/>
          </a:bodyPr>
          <a:lstStyle/>
          <a:p>
            <a:r>
              <a:rPr sz="2700" b="1">
                <a:solidFill>
                  <a:srgbClr val="FFFFFF"/>
                </a:solidFill>
                <a:latin typeface="Calibri"/>
              </a:rPr>
              <a:t>Building Your AI Stack — A Tiered Roadmap</a:t>
            </a:r>
          </a:p>
        </p:txBody>
      </p:sp>
      <p:sp>
        <p:nvSpPr>
          <p:cNvPr id="5" name="TextBox 4"/>
          <p:cNvSpPr txBox="1"/>
          <p:nvPr/>
        </p:nvSpPr>
        <p:spPr>
          <a:xfrm>
            <a:off x="411480" y="749808"/>
            <a:ext cx="11368735" cy="402336"/>
          </a:xfrm>
          <a:prstGeom prst="rect">
            <a:avLst/>
          </a:prstGeom>
          <a:noFill/>
        </p:spPr>
        <p:txBody>
          <a:bodyPr wrap="none">
            <a:spAutoFit/>
          </a:bodyPr>
          <a:lstStyle/>
          <a:p>
            <a:r>
              <a:rPr sz="1500">
                <a:solidFill>
                  <a:srgbClr val="0EA5E9"/>
                </a:solidFill>
                <a:latin typeface="Calibri"/>
              </a:rPr>
              <a:t>From Individual Tools to Enterprise AI in 5 Steps</a:t>
            </a:r>
          </a:p>
        </p:txBody>
      </p:sp>
      <p:sp>
        <p:nvSpPr>
          <p:cNvPr id="6" name="Rectangle 5"/>
          <p:cNvSpPr/>
          <p:nvPr/>
        </p:nvSpPr>
        <p:spPr>
          <a:xfrm>
            <a:off x="0" y="1234440"/>
            <a:ext cx="12191695" cy="36576"/>
          </a:xfrm>
          <a:prstGeom prst="rect">
            <a:avLst/>
          </a:prstGeom>
          <a:solidFill>
            <a:srgbClr val="0EA5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1551615" y="6537960"/>
            <a:ext cx="502920" cy="256032"/>
          </a:xfrm>
          <a:prstGeom prst="rect">
            <a:avLst/>
          </a:prstGeom>
          <a:noFill/>
        </p:spPr>
        <p:txBody>
          <a:bodyPr wrap="none">
            <a:spAutoFit/>
          </a:bodyPr>
          <a:lstStyle/>
          <a:p>
            <a:pPr algn="ctr"/>
            <a:r>
              <a:rPr sz="1000">
                <a:solidFill>
                  <a:srgbClr val="AAAABB"/>
                </a:solidFill>
                <a:latin typeface="Calibri"/>
              </a:rPr>
              <a:t>28</a:t>
            </a:r>
          </a:p>
        </p:txBody>
      </p:sp>
      <p:sp>
        <p:nvSpPr>
          <p:cNvPr id="8" name="Rectangle 7"/>
          <p:cNvSpPr/>
          <p:nvPr/>
        </p:nvSpPr>
        <p:spPr>
          <a:xfrm>
            <a:off x="6949440" y="1353312"/>
            <a:ext cx="18288" cy="5257800"/>
          </a:xfrm>
          <a:prstGeom prst="rect">
            <a:avLst/>
          </a:prstGeom>
          <a:solidFill>
            <a:srgbClr val="DDDD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slide_28_chart.png"/>
          <p:cNvPicPr>
            <a:picLocks noChangeAspect="1"/>
          </p:cNvPicPr>
          <p:nvPr/>
        </p:nvPicPr>
        <p:blipFill>
          <a:blip r:embed="rId2"/>
          <a:stretch>
            <a:fillRect/>
          </a:stretch>
        </p:blipFill>
        <p:spPr>
          <a:xfrm>
            <a:off x="7040880" y="1444752"/>
            <a:ext cx="4663440" cy="5074920"/>
          </a:xfrm>
          <a:prstGeom prst="rect">
            <a:avLst/>
          </a:prstGeom>
        </p:spPr>
      </p:pic>
      <p:sp>
        <p:nvSpPr>
          <p:cNvPr id="10" name="TextBox 9"/>
          <p:cNvSpPr txBox="1"/>
          <p:nvPr/>
        </p:nvSpPr>
        <p:spPr>
          <a:xfrm>
            <a:off x="502920" y="1353312"/>
            <a:ext cx="6400800" cy="5093208"/>
          </a:xfrm>
          <a:prstGeom prst="rect">
            <a:avLst/>
          </a:prstGeom>
          <a:noFill/>
        </p:spPr>
        <p:txBody>
          <a:bodyPr wrap="square">
            <a:spAutoFit/>
          </a:bodyPr>
          <a:lstStyle/>
          <a:p>
            <a:pPr>
              <a:spcBef>
                <a:spcPts val="300"/>
              </a:spcBef>
              <a:spcAft>
                <a:spcPts val="200"/>
              </a:spcAft>
            </a:pPr>
            <a:r>
              <a:rPr sz="1300" b="1">
                <a:solidFill>
                  <a:srgbClr val="0F3460"/>
                </a:solidFill>
                <a:latin typeface="Calibri"/>
              </a:rPr>
              <a:t>The three-tier maturity model:</a:t>
            </a:r>
          </a:p>
        </p:txBody>
      </p:sp>
      <p:graphicFrame>
        <p:nvGraphicFramePr>
          <p:cNvPr id="11" name="Table 10"/>
          <p:cNvGraphicFramePr>
            <a:graphicFrameLocks noGrp="1"/>
          </p:cNvGraphicFramePr>
          <p:nvPr/>
        </p:nvGraphicFramePr>
        <p:xfrm>
          <a:off x="502920" y="1737360"/>
          <a:ext cx="6400800" cy="1316736"/>
        </p:xfrm>
        <a:graphic>
          <a:graphicData uri="http://schemas.openxmlformats.org/drawingml/2006/table">
            <a:tbl>
              <a:tblPr firstRow="1" bandRow="1">
                <a:tableStyleId>{5C22544A-7EE6-4342-B048-85BDC9FD1C3A}</a:tableStyleId>
              </a:tblPr>
              <a:tblGrid>
                <a:gridCol w="1280160"/>
                <a:gridCol w="1280160"/>
                <a:gridCol w="1280160"/>
                <a:gridCol w="1280160"/>
                <a:gridCol w="1280160"/>
              </a:tblGrid>
              <a:tr h="329184">
                <a:tc>
                  <a:txBody>
                    <a:bodyPr/>
                    <a:lstStyle/>
                    <a:p>
                      <a:pPr algn="l"/>
                      <a:r>
                        <a:rPr sz="1000" b="1">
                          <a:solidFill>
                            <a:srgbClr val="FFFFFF"/>
                          </a:solidFill>
                          <a:latin typeface="Calibri"/>
                        </a:rPr>
                        <a:t>Tier</a:t>
                      </a:r>
                    </a:p>
                  </a:txBody>
                  <a:tcPr>
                    <a:solidFill>
                      <a:srgbClr val="16213E"/>
                    </a:solidFill>
                  </a:tcPr>
                </a:tc>
                <a:tc>
                  <a:txBody>
                    <a:bodyPr/>
                    <a:lstStyle/>
                    <a:p>
                      <a:pPr algn="l"/>
                      <a:r>
                        <a:rPr sz="1000" b="1">
                          <a:solidFill>
                            <a:srgbClr val="FFFFFF"/>
                          </a:solidFill>
                          <a:latin typeface="Calibri"/>
                        </a:rPr>
                        <a:t>What You Build</a:t>
                      </a:r>
                    </a:p>
                  </a:txBody>
                  <a:tcPr>
                    <a:solidFill>
                      <a:srgbClr val="16213E"/>
                    </a:solidFill>
                  </a:tcPr>
                </a:tc>
                <a:tc>
                  <a:txBody>
                    <a:bodyPr/>
                    <a:lstStyle/>
                    <a:p>
                      <a:pPr algn="l"/>
                      <a:r>
                        <a:rPr sz="1000" b="1">
                          <a:solidFill>
                            <a:srgbClr val="FFFFFF"/>
                          </a:solidFill>
                          <a:latin typeface="Calibri"/>
                        </a:rPr>
                        <a:t>Tools</a:t>
                      </a:r>
                    </a:p>
                  </a:txBody>
                  <a:tcPr>
                    <a:solidFill>
                      <a:srgbClr val="16213E"/>
                    </a:solidFill>
                  </a:tcPr>
                </a:tc>
                <a:tc>
                  <a:txBody>
                    <a:bodyPr/>
                    <a:lstStyle/>
                    <a:p>
                      <a:pPr algn="l"/>
                      <a:r>
                        <a:rPr sz="1000" b="1">
                          <a:solidFill>
                            <a:srgbClr val="FFFFFF"/>
                          </a:solidFill>
                          <a:latin typeface="Calibri"/>
                        </a:rPr>
                        <a:t>Monthly Cost</a:t>
                      </a:r>
                    </a:p>
                  </a:txBody>
                  <a:tcPr>
                    <a:solidFill>
                      <a:srgbClr val="16213E"/>
                    </a:solidFill>
                  </a:tcPr>
                </a:tc>
                <a:tc>
                  <a:txBody>
                    <a:bodyPr/>
                    <a:lstStyle/>
                    <a:p>
                      <a:pPr algn="l"/>
                      <a:r>
                        <a:rPr sz="1000" b="1">
                          <a:solidFill>
                            <a:srgbClr val="FFFFFF"/>
                          </a:solidFill>
                          <a:latin typeface="Calibri"/>
                        </a:rPr>
                        <a:t>Timeline</a:t>
                      </a:r>
                    </a:p>
                  </a:txBody>
                  <a:tcPr>
                    <a:solidFill>
                      <a:srgbClr val="16213E"/>
                    </a:solidFill>
                  </a:tcPr>
                </a:tc>
              </a:tr>
              <a:tr h="329184">
                <a:tc>
                  <a:txBody>
                    <a:bodyPr/>
                    <a:lstStyle/>
                    <a:p>
                      <a:r>
                        <a:rPr sz="1000">
                          <a:solidFill>
                            <a:srgbClr val="1A1A2E"/>
                          </a:solidFill>
                          <a:latin typeface="Calibri"/>
                        </a:rPr>
                        <a:t>Tier 1: Individual Productivity</a:t>
                      </a:r>
                    </a:p>
                  </a:txBody>
                  <a:tcPr>
                    <a:solidFill>
                      <a:srgbClr val="FFFFFF"/>
                    </a:solidFill>
                  </a:tcPr>
                </a:tc>
                <a:tc>
                  <a:txBody>
                    <a:bodyPr/>
                    <a:lstStyle/>
                    <a:p>
                      <a:r>
                        <a:rPr sz="1000">
                          <a:solidFill>
                            <a:srgbClr val="1A1A2E"/>
                          </a:solidFill>
                          <a:latin typeface="Calibri"/>
                        </a:rPr>
                        <a:t>Personal AI assistants for daily work</a:t>
                      </a:r>
                    </a:p>
                  </a:txBody>
                  <a:tcPr>
                    <a:solidFill>
                      <a:srgbClr val="FFFFFF"/>
                    </a:solidFill>
                  </a:tcPr>
                </a:tc>
                <a:tc>
                  <a:txBody>
                    <a:bodyPr/>
                    <a:lstStyle/>
                    <a:p>
                      <a:r>
                        <a:rPr sz="1000">
                          <a:solidFill>
                            <a:srgbClr val="1A1A2E"/>
                          </a:solidFill>
                          <a:latin typeface="Calibri"/>
                        </a:rPr>
                        <a:t>Claude/ChatGPT/Gemini, Cursor/Copilot, Perplexity</a:t>
                      </a:r>
                    </a:p>
                  </a:txBody>
                  <a:tcPr>
                    <a:solidFill>
                      <a:srgbClr val="FFFFFF"/>
                    </a:solidFill>
                  </a:tcPr>
                </a:tc>
                <a:tc>
                  <a:txBody>
                    <a:bodyPr/>
                    <a:lstStyle/>
                    <a:p>
                      <a:r>
                        <a:rPr sz="1000">
                          <a:solidFill>
                            <a:srgbClr val="1A1A2E"/>
                          </a:solidFill>
                          <a:latin typeface="Calibri"/>
                        </a:rPr>
                        <a:t>$0–$50/person</a:t>
                      </a:r>
                    </a:p>
                  </a:txBody>
                  <a:tcPr>
                    <a:solidFill>
                      <a:srgbClr val="FFFFFF"/>
                    </a:solidFill>
                  </a:tcPr>
                </a:tc>
                <a:tc>
                  <a:txBody>
                    <a:bodyPr/>
                    <a:lstStyle/>
                    <a:p>
                      <a:r>
                        <a:rPr sz="1000">
                          <a:solidFill>
                            <a:srgbClr val="1A1A2E"/>
                          </a:solidFill>
                          <a:latin typeface="Calibri"/>
                        </a:rPr>
                        <a:t>Start now</a:t>
                      </a:r>
                    </a:p>
                  </a:txBody>
                  <a:tcPr>
                    <a:solidFill>
                      <a:srgbClr val="FFFFFF"/>
                    </a:solidFill>
                  </a:tcPr>
                </a:tc>
              </a:tr>
              <a:tr h="329184">
                <a:tc>
                  <a:txBody>
                    <a:bodyPr/>
                    <a:lstStyle/>
                    <a:p>
                      <a:r>
                        <a:rPr sz="1000">
                          <a:solidFill>
                            <a:srgbClr val="1A1A2E"/>
                          </a:solidFill>
                          <a:latin typeface="Calibri"/>
                        </a:rPr>
                        <a:t>Tier 2: Team Workflows</a:t>
                      </a:r>
                    </a:p>
                  </a:txBody>
                  <a:tcPr>
                    <a:solidFill>
                      <a:srgbClr val="F8F9FF"/>
                    </a:solidFill>
                  </a:tcPr>
                </a:tc>
                <a:tc>
                  <a:txBody>
                    <a:bodyPr/>
                    <a:lstStyle/>
                    <a:p>
                      <a:r>
                        <a:rPr sz="1000">
                          <a:solidFill>
                            <a:srgbClr val="1A1A2E"/>
                          </a:solidFill>
                          <a:latin typeface="Calibri"/>
                        </a:rPr>
                        <a:t>Automated processes shared across the team</a:t>
                      </a:r>
                    </a:p>
                  </a:txBody>
                  <a:tcPr>
                    <a:solidFill>
                      <a:srgbClr val="F8F9FF"/>
                    </a:solidFill>
                  </a:tcPr>
                </a:tc>
                <a:tc>
                  <a:txBody>
                    <a:bodyPr/>
                    <a:lstStyle/>
                    <a:p>
                      <a:r>
                        <a:rPr sz="1000">
                          <a:solidFill>
                            <a:srgbClr val="1A1A2E"/>
                          </a:solidFill>
                          <a:latin typeface="Calibri"/>
                        </a:rPr>
                        <a:t>Zapier/Make/n8n, NotebookLM, RAG chatbot on your docs</a:t>
                      </a:r>
                    </a:p>
                  </a:txBody>
                  <a:tcPr>
                    <a:solidFill>
                      <a:srgbClr val="F8F9FF"/>
                    </a:solidFill>
                  </a:tcPr>
                </a:tc>
                <a:tc>
                  <a:txBody>
                    <a:bodyPr/>
                    <a:lstStyle/>
                    <a:p>
                      <a:r>
                        <a:rPr sz="1000">
                          <a:solidFill>
                            <a:srgbClr val="1A1A2E"/>
                          </a:solidFill>
                          <a:latin typeface="Calibri"/>
                        </a:rPr>
                        <a:t>$100–$1,000/month</a:t>
                      </a:r>
                    </a:p>
                  </a:txBody>
                  <a:tcPr>
                    <a:solidFill>
                      <a:srgbClr val="F8F9FF"/>
                    </a:solidFill>
                  </a:tcPr>
                </a:tc>
                <a:tc>
                  <a:txBody>
                    <a:bodyPr/>
                    <a:lstStyle/>
                    <a:p>
                      <a:r>
                        <a:rPr sz="1000">
                          <a:solidFill>
                            <a:srgbClr val="1A1A2E"/>
                          </a:solidFill>
                          <a:latin typeface="Calibri"/>
                        </a:rPr>
                        <a:t>Months 1–6</a:t>
                      </a:r>
                    </a:p>
                  </a:txBody>
                  <a:tcPr>
                    <a:solidFill>
                      <a:srgbClr val="F8F9FF"/>
                    </a:solidFill>
                  </a:tcPr>
                </a:tc>
              </a:tr>
              <a:tr h="329184">
                <a:tc>
                  <a:txBody>
                    <a:bodyPr/>
                    <a:lstStyle/>
                    <a:p>
                      <a:r>
                        <a:rPr sz="1000">
                          <a:solidFill>
                            <a:srgbClr val="1A1A2E"/>
                          </a:solidFill>
                          <a:latin typeface="Calibri"/>
                        </a:rPr>
                        <a:t>Tier 3: Enterprise AI</a:t>
                      </a:r>
                    </a:p>
                  </a:txBody>
                  <a:tcPr>
                    <a:solidFill>
                      <a:srgbClr val="FFFFFF"/>
                    </a:solidFill>
                  </a:tcPr>
                </a:tc>
                <a:tc>
                  <a:txBody>
                    <a:bodyPr/>
                    <a:lstStyle/>
                    <a:p>
                      <a:r>
                        <a:rPr sz="1000">
                          <a:solidFill>
                            <a:srgbClr val="1A1A2E"/>
                          </a:solidFill>
                          <a:latin typeface="Calibri"/>
                        </a:rPr>
                        <a:t>AI-native products and internal platforms</a:t>
                      </a:r>
                    </a:p>
                  </a:txBody>
                  <a:tcPr>
                    <a:solidFill>
                      <a:srgbClr val="FFFFFF"/>
                    </a:solidFill>
                  </a:tcPr>
                </a:tc>
                <a:tc>
                  <a:txBody>
                    <a:bodyPr/>
                    <a:lstStyle/>
                    <a:p>
                      <a:r>
                        <a:rPr sz="1000">
                          <a:solidFill>
                            <a:srgbClr val="1A1A2E"/>
                          </a:solidFill>
                          <a:latin typeface="Calibri"/>
                        </a:rPr>
                        <a:t>Fine-tuned models, multi-agent systems, AI-embedded products</a:t>
                      </a:r>
                    </a:p>
                  </a:txBody>
                  <a:tcPr>
                    <a:solidFill>
                      <a:srgbClr val="FFFFFF"/>
                    </a:solidFill>
                  </a:tcPr>
                </a:tc>
                <a:tc>
                  <a:txBody>
                    <a:bodyPr/>
                    <a:lstStyle/>
                    <a:p>
                      <a:r>
                        <a:rPr sz="1000">
                          <a:solidFill>
                            <a:srgbClr val="1A1A2E"/>
                          </a:solidFill>
                          <a:latin typeface="Calibri"/>
                        </a:rPr>
                        <a:t>$10,000+/month</a:t>
                      </a:r>
                    </a:p>
                  </a:txBody>
                  <a:tcPr>
                    <a:solidFill>
                      <a:srgbClr val="FFFFFF"/>
                    </a:solidFill>
                  </a:tcPr>
                </a:tc>
                <a:tc>
                  <a:txBody>
                    <a:bodyPr/>
                    <a:lstStyle/>
                    <a:p>
                      <a:r>
                        <a:rPr sz="1000">
                          <a:solidFill>
                            <a:srgbClr val="1A1A2E"/>
                          </a:solidFill>
                          <a:latin typeface="Calibri"/>
                        </a:rPr>
                        <a:t>Months 6–18</a:t>
                      </a:r>
                    </a:p>
                  </a:txBody>
                  <a:tcPr>
                    <a:solidFill>
                      <a:srgbClr val="FFFFFF"/>
                    </a:solidFill>
                  </a:tcPr>
                </a:tc>
              </a:tr>
            </a:tbl>
          </a:graphicData>
        </a:graphic>
      </p:graphicFrame>
      <p:sp>
        <p:nvSpPr>
          <p:cNvPr id="12" name="TextBox 11"/>
          <p:cNvSpPr txBox="1"/>
          <p:nvPr/>
        </p:nvSpPr>
        <p:spPr>
          <a:xfrm>
            <a:off x="502920" y="3145536"/>
            <a:ext cx="6400800" cy="3300984"/>
          </a:xfrm>
          <a:prstGeom prst="rect">
            <a:avLst/>
          </a:prstGeom>
          <a:noFill/>
        </p:spPr>
        <p:txBody>
          <a:bodyPr wrap="square">
            <a:spAutoFit/>
          </a:bodyPr>
          <a:lstStyle/>
          <a:p>
            <a:pPr>
              <a:spcBef>
                <a:spcPts val="300"/>
              </a:spcBef>
              <a:spcAft>
                <a:spcPts val="200"/>
              </a:spcAft>
            </a:pPr>
            <a:r>
              <a:rPr sz="1300" b="1">
                <a:solidFill>
                  <a:srgbClr val="0F3460"/>
                </a:solidFill>
                <a:latin typeface="Calibri"/>
              </a:rPr>
              <a:t>The five-step adoption playbook:</a:t>
            </a:r>
          </a:p>
          <a:p>
            <a:pPr>
              <a:spcBef>
                <a:spcPts val="300"/>
              </a:spcBef>
              <a:spcAft>
                <a:spcPts val="200"/>
              </a:spcAft>
            </a:pPr>
            <a:r>
              <a:rPr sz="1300">
                <a:solidFill>
                  <a:srgbClr val="0EA5E9"/>
                </a:solidFill>
                <a:latin typeface="Calibri"/>
              </a:rPr>
              <a:t>• </a:t>
            </a:r>
            <a:r>
              <a:rPr sz="1300" b="0">
                <a:solidFill>
                  <a:srgbClr val="1A1A2E"/>
                </a:solidFill>
                <a:latin typeface="Calibri"/>
              </a:rPr>
              <a:t>Map: List your 10 most time-consuming, low-judgment repetitive tasks. These are automation candidates.</a:t>
            </a:r>
          </a:p>
          <a:p>
            <a:pPr>
              <a:spcBef>
                <a:spcPts val="300"/>
              </a:spcBef>
              <a:spcAft>
                <a:spcPts val="200"/>
              </a:spcAft>
            </a:pPr>
            <a:r>
              <a:rPr sz="1300">
                <a:solidFill>
                  <a:srgbClr val="0EA5E9"/>
                </a:solidFill>
                <a:latin typeface="Calibri"/>
              </a:rPr>
              <a:t>• </a:t>
            </a:r>
            <a:r>
              <a:rPr sz="1300" b="0">
                <a:solidFill>
                  <a:srgbClr val="1A1A2E"/>
                </a:solidFill>
                <a:latin typeface="Calibri"/>
              </a:rPr>
              <a:t>Pilot: Pick 2–3. Use existing AI tools ($0 incremental cost) to assist with them for 2 weeks.</a:t>
            </a:r>
          </a:p>
          <a:p>
            <a:pPr>
              <a:spcBef>
                <a:spcPts val="300"/>
              </a:spcBef>
              <a:spcAft>
                <a:spcPts val="200"/>
              </a:spcAft>
            </a:pPr>
            <a:r>
              <a:rPr sz="1300">
                <a:solidFill>
                  <a:srgbClr val="0EA5E9"/>
                </a:solidFill>
                <a:latin typeface="Calibri"/>
              </a:rPr>
              <a:t>• </a:t>
            </a:r>
            <a:r>
              <a:rPr sz="1300" b="0">
                <a:solidFill>
                  <a:srgbClr val="1A1A2E"/>
                </a:solidFill>
                <a:latin typeface="Calibri"/>
              </a:rPr>
              <a:t>Measure: Quantify time saved per task. Calculate weekly/monthly hours. Document quality differences.</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234440"/>
          </a:xfrm>
          <a:prstGeom prst="rect">
            <a:avLst/>
          </a:prstGeom>
          <a:solidFill>
            <a:srgbClr val="1621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91440"/>
            <a:ext cx="11368735" cy="658368"/>
          </a:xfrm>
          <a:prstGeom prst="rect">
            <a:avLst/>
          </a:prstGeom>
          <a:noFill/>
        </p:spPr>
        <p:txBody>
          <a:bodyPr wrap="square">
            <a:spAutoFit/>
          </a:bodyPr>
          <a:lstStyle/>
          <a:p>
            <a:r>
              <a:rPr sz="2700" b="1">
                <a:solidFill>
                  <a:srgbClr val="FFFFFF"/>
                </a:solidFill>
                <a:latin typeface="Calibri"/>
              </a:rPr>
              <a:t>Six Trends Reshaping Business AI — 2026 and Beyond</a:t>
            </a:r>
          </a:p>
        </p:txBody>
      </p:sp>
      <p:sp>
        <p:nvSpPr>
          <p:cNvPr id="5" name="TextBox 4"/>
          <p:cNvSpPr txBox="1"/>
          <p:nvPr/>
        </p:nvSpPr>
        <p:spPr>
          <a:xfrm>
            <a:off x="411480" y="749808"/>
            <a:ext cx="11368735" cy="402336"/>
          </a:xfrm>
          <a:prstGeom prst="rect">
            <a:avLst/>
          </a:prstGeom>
          <a:noFill/>
        </p:spPr>
        <p:txBody>
          <a:bodyPr wrap="none">
            <a:spAutoFit/>
          </a:bodyPr>
          <a:lstStyle/>
          <a:p>
            <a:r>
              <a:rPr sz="1500">
                <a:solidFill>
                  <a:srgbClr val="0EA5E9"/>
                </a:solidFill>
                <a:latin typeface="Calibri"/>
              </a:rPr>
              <a:t>What to Watch, What It Means for You</a:t>
            </a:r>
          </a:p>
        </p:txBody>
      </p:sp>
      <p:sp>
        <p:nvSpPr>
          <p:cNvPr id="6" name="Rectangle 5"/>
          <p:cNvSpPr/>
          <p:nvPr/>
        </p:nvSpPr>
        <p:spPr>
          <a:xfrm>
            <a:off x="0" y="1234440"/>
            <a:ext cx="12191695" cy="36576"/>
          </a:xfrm>
          <a:prstGeom prst="rect">
            <a:avLst/>
          </a:prstGeom>
          <a:solidFill>
            <a:srgbClr val="0EA5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1551615" y="6537960"/>
            <a:ext cx="502920" cy="256032"/>
          </a:xfrm>
          <a:prstGeom prst="rect">
            <a:avLst/>
          </a:prstGeom>
          <a:noFill/>
        </p:spPr>
        <p:txBody>
          <a:bodyPr wrap="none">
            <a:spAutoFit/>
          </a:bodyPr>
          <a:lstStyle/>
          <a:p>
            <a:pPr algn="ctr"/>
            <a:r>
              <a:rPr sz="1000">
                <a:solidFill>
                  <a:srgbClr val="AAAABB"/>
                </a:solidFill>
                <a:latin typeface="Calibri"/>
              </a:rPr>
              <a:t>29</a:t>
            </a:r>
          </a:p>
        </p:txBody>
      </p:sp>
      <p:sp>
        <p:nvSpPr>
          <p:cNvPr id="8" name="Rectangle 7"/>
          <p:cNvSpPr/>
          <p:nvPr/>
        </p:nvSpPr>
        <p:spPr>
          <a:xfrm>
            <a:off x="6949440" y="1353312"/>
            <a:ext cx="18288" cy="5257800"/>
          </a:xfrm>
          <a:prstGeom prst="rect">
            <a:avLst/>
          </a:prstGeom>
          <a:solidFill>
            <a:srgbClr val="DDDD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slide_29_chart.png"/>
          <p:cNvPicPr>
            <a:picLocks noChangeAspect="1"/>
          </p:cNvPicPr>
          <p:nvPr/>
        </p:nvPicPr>
        <p:blipFill>
          <a:blip r:embed="rId2"/>
          <a:stretch>
            <a:fillRect/>
          </a:stretch>
        </p:blipFill>
        <p:spPr>
          <a:xfrm>
            <a:off x="7040880" y="1444752"/>
            <a:ext cx="4663440" cy="5074920"/>
          </a:xfrm>
          <a:prstGeom prst="rect">
            <a:avLst/>
          </a:prstGeom>
        </p:spPr>
      </p:pic>
      <p:sp>
        <p:nvSpPr>
          <p:cNvPr id="10" name="TextBox 9"/>
          <p:cNvSpPr txBox="1"/>
          <p:nvPr/>
        </p:nvSpPr>
        <p:spPr>
          <a:xfrm>
            <a:off x="502920" y="1353312"/>
            <a:ext cx="6400800" cy="5093208"/>
          </a:xfrm>
          <a:prstGeom prst="rect">
            <a:avLst/>
          </a:prstGeom>
          <a:noFill/>
        </p:spPr>
        <p:txBody>
          <a:bodyPr wrap="square">
            <a:spAutoFit/>
          </a:bodyPr>
          <a:lstStyle/>
          <a:p>
            <a:pPr>
              <a:spcBef>
                <a:spcPts val="300"/>
              </a:spcBef>
              <a:spcAft>
                <a:spcPts val="200"/>
              </a:spcAft>
            </a:pPr>
            <a:r>
              <a:rPr sz="1200" b="0">
                <a:solidFill>
                  <a:srgbClr val="2D3748"/>
                </a:solidFill>
                <a:latin typeface="Calibri"/>
              </a:rPr>
              <a:t>Trend 1: Intelligence cost collapses toward zero</a:t>
            </a:r>
          </a:p>
          <a:p>
            <a:pPr>
              <a:spcBef>
                <a:spcPts val="300"/>
              </a:spcBef>
              <a:spcAft>
                <a:spcPts val="200"/>
              </a:spcAft>
            </a:pPr>
            <a:r>
              <a:rPr sz="1300">
                <a:solidFill>
                  <a:srgbClr val="0EA5E9"/>
                </a:solidFill>
                <a:latin typeface="Calibri"/>
              </a:rPr>
              <a:t>• </a:t>
            </a:r>
            <a:r>
              <a:rPr sz="1300" b="0">
                <a:solidFill>
                  <a:srgbClr val="1A1A2E"/>
                </a:solidFill>
                <a:latin typeface="Calibri"/>
              </a:rPr>
              <a:t>GPT-4 level in 2023: $60/million tokens → Today: $0.50–$2.00 → Projection 2027: $0.10 or less</a:t>
            </a:r>
          </a:p>
          <a:p>
            <a:pPr>
              <a:spcBef>
                <a:spcPts val="300"/>
              </a:spcBef>
              <a:spcAft>
                <a:spcPts val="200"/>
              </a:spcAft>
            </a:pPr>
            <a:r>
              <a:rPr sz="1300">
                <a:solidFill>
                  <a:srgbClr val="0EA5E9"/>
                </a:solidFill>
                <a:latin typeface="Calibri"/>
              </a:rPr>
              <a:t>• </a:t>
            </a:r>
            <a:r>
              <a:rPr sz="1300" b="0">
                <a:solidFill>
                  <a:srgbClr val="1A1A2E"/>
                </a:solidFill>
                <a:latin typeface="Calibri"/>
              </a:rPr>
              <a:t>Implication: Cost is no longer the barrier to AI deployment — trust, integration, and governance are</a:t>
            </a:r>
          </a:p>
          <a:p>
            <a:pPr>
              <a:spcBef>
                <a:spcPts val="300"/>
              </a:spcBef>
              <a:spcAft>
                <a:spcPts val="200"/>
              </a:spcAft>
            </a:pPr>
            <a:r>
              <a:rPr sz="1200" b="0">
                <a:solidFill>
                  <a:srgbClr val="2D3748"/>
                </a:solidFill>
                <a:latin typeface="Calibri"/>
              </a:rPr>
              <a:t>Trend 2: Agentic AI moves from demo to production</a:t>
            </a:r>
          </a:p>
          <a:p>
            <a:pPr>
              <a:spcBef>
                <a:spcPts val="300"/>
              </a:spcBef>
              <a:spcAft>
                <a:spcPts val="200"/>
              </a:spcAft>
            </a:pPr>
            <a:r>
              <a:rPr sz="1300">
                <a:solidFill>
                  <a:srgbClr val="0EA5E9"/>
                </a:solidFill>
                <a:latin typeface="Calibri"/>
              </a:rPr>
              <a:t>• </a:t>
            </a:r>
            <a:r>
              <a:rPr sz="1300" b="0">
                <a:solidFill>
                  <a:srgbClr val="1A1A2E"/>
                </a:solidFill>
                <a:latin typeface="Calibri"/>
              </a:rPr>
              <a:t>2024: Impressive demos. 2025: Pilots. 2026: Production at scale at companies like Klarna, JPMorgan, Salesforce</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234440"/>
          </a:xfrm>
          <a:prstGeom prst="rect">
            <a:avLst/>
          </a:prstGeom>
          <a:solidFill>
            <a:srgbClr val="1621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91440"/>
            <a:ext cx="11368735" cy="658368"/>
          </a:xfrm>
          <a:prstGeom prst="rect">
            <a:avLst/>
          </a:prstGeom>
          <a:noFill/>
        </p:spPr>
        <p:txBody>
          <a:bodyPr wrap="square">
            <a:spAutoFit/>
          </a:bodyPr>
          <a:lstStyle/>
          <a:p>
            <a:r>
              <a:rPr sz="2700" b="1">
                <a:solidFill>
                  <a:srgbClr val="FFFFFF"/>
                </a:solidFill>
                <a:latin typeface="Calibri"/>
              </a:rPr>
              <a:t>Career Opportunities in the AI Era</a:t>
            </a:r>
          </a:p>
        </p:txBody>
      </p:sp>
      <p:sp>
        <p:nvSpPr>
          <p:cNvPr id="5" name="TextBox 4"/>
          <p:cNvSpPr txBox="1"/>
          <p:nvPr/>
        </p:nvSpPr>
        <p:spPr>
          <a:xfrm>
            <a:off x="411480" y="749808"/>
            <a:ext cx="11368735" cy="402336"/>
          </a:xfrm>
          <a:prstGeom prst="rect">
            <a:avLst/>
          </a:prstGeom>
          <a:noFill/>
        </p:spPr>
        <p:txBody>
          <a:bodyPr wrap="none">
            <a:spAutoFit/>
          </a:bodyPr>
          <a:lstStyle/>
          <a:p>
            <a:r>
              <a:rPr sz="1500">
                <a:solidFill>
                  <a:srgbClr val="0EA5E9"/>
                </a:solidFill>
                <a:latin typeface="Calibri"/>
              </a:rPr>
              <a:t>Where Business Analytics Students Fit in 2026</a:t>
            </a:r>
          </a:p>
        </p:txBody>
      </p:sp>
      <p:sp>
        <p:nvSpPr>
          <p:cNvPr id="6" name="Rectangle 5"/>
          <p:cNvSpPr/>
          <p:nvPr/>
        </p:nvSpPr>
        <p:spPr>
          <a:xfrm>
            <a:off x="0" y="1234440"/>
            <a:ext cx="12191695" cy="36576"/>
          </a:xfrm>
          <a:prstGeom prst="rect">
            <a:avLst/>
          </a:prstGeom>
          <a:solidFill>
            <a:srgbClr val="0EA5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1551615" y="6537960"/>
            <a:ext cx="502920" cy="256032"/>
          </a:xfrm>
          <a:prstGeom prst="rect">
            <a:avLst/>
          </a:prstGeom>
          <a:noFill/>
        </p:spPr>
        <p:txBody>
          <a:bodyPr wrap="none">
            <a:spAutoFit/>
          </a:bodyPr>
          <a:lstStyle/>
          <a:p>
            <a:pPr algn="ctr"/>
            <a:r>
              <a:rPr sz="1000">
                <a:solidFill>
                  <a:srgbClr val="AAAABB"/>
                </a:solidFill>
                <a:latin typeface="Calibri"/>
              </a:rPr>
              <a:t>30</a:t>
            </a:r>
          </a:p>
        </p:txBody>
      </p:sp>
      <p:sp>
        <p:nvSpPr>
          <p:cNvPr id="8" name="Rectangle 7"/>
          <p:cNvSpPr/>
          <p:nvPr/>
        </p:nvSpPr>
        <p:spPr>
          <a:xfrm>
            <a:off x="6949440" y="1353312"/>
            <a:ext cx="18288" cy="5257800"/>
          </a:xfrm>
          <a:prstGeom prst="rect">
            <a:avLst/>
          </a:prstGeom>
          <a:solidFill>
            <a:srgbClr val="DDDD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slide_30_chart.png"/>
          <p:cNvPicPr>
            <a:picLocks noChangeAspect="1"/>
          </p:cNvPicPr>
          <p:nvPr/>
        </p:nvPicPr>
        <p:blipFill>
          <a:blip r:embed="rId2"/>
          <a:stretch>
            <a:fillRect/>
          </a:stretch>
        </p:blipFill>
        <p:spPr>
          <a:xfrm>
            <a:off x="7040880" y="1444752"/>
            <a:ext cx="4663440" cy="5074920"/>
          </a:xfrm>
          <a:prstGeom prst="rect">
            <a:avLst/>
          </a:prstGeom>
        </p:spPr>
      </p:pic>
      <p:sp>
        <p:nvSpPr>
          <p:cNvPr id="10" name="TextBox 9"/>
          <p:cNvSpPr txBox="1"/>
          <p:nvPr/>
        </p:nvSpPr>
        <p:spPr>
          <a:xfrm>
            <a:off x="502920" y="1353312"/>
            <a:ext cx="6400800" cy="5093208"/>
          </a:xfrm>
          <a:prstGeom prst="rect">
            <a:avLst/>
          </a:prstGeom>
          <a:noFill/>
        </p:spPr>
        <p:txBody>
          <a:bodyPr wrap="square">
            <a:spAutoFit/>
          </a:bodyPr>
          <a:lstStyle/>
          <a:p>
            <a:pPr>
              <a:spcBef>
                <a:spcPts val="300"/>
              </a:spcBef>
              <a:spcAft>
                <a:spcPts val="200"/>
              </a:spcAft>
            </a:pPr>
            <a:r>
              <a:rPr sz="1300" b="1">
                <a:solidFill>
                  <a:srgbClr val="0F3460"/>
                </a:solidFill>
                <a:latin typeface="Calibri"/>
              </a:rPr>
              <a:t>Roles that barely existed in 2022 — and are now in high demand:</a:t>
            </a:r>
          </a:p>
        </p:txBody>
      </p:sp>
      <p:graphicFrame>
        <p:nvGraphicFramePr>
          <p:cNvPr id="11" name="Table 10"/>
          <p:cNvGraphicFramePr>
            <a:graphicFrameLocks noGrp="1"/>
          </p:cNvGraphicFramePr>
          <p:nvPr/>
        </p:nvGraphicFramePr>
        <p:xfrm>
          <a:off x="502920" y="1737360"/>
          <a:ext cx="6400800" cy="1975104"/>
        </p:xfrm>
        <a:graphic>
          <a:graphicData uri="http://schemas.openxmlformats.org/drawingml/2006/table">
            <a:tbl>
              <a:tblPr firstRow="1" bandRow="1">
                <a:tableStyleId>{5C22544A-7EE6-4342-B048-85BDC9FD1C3A}</a:tableStyleId>
              </a:tblPr>
              <a:tblGrid>
                <a:gridCol w="1600200"/>
                <a:gridCol w="1600200"/>
                <a:gridCol w="1600200"/>
                <a:gridCol w="1600200"/>
              </a:tblGrid>
              <a:tr h="329184">
                <a:tc>
                  <a:txBody>
                    <a:bodyPr/>
                    <a:lstStyle/>
                    <a:p>
                      <a:pPr algn="l"/>
                      <a:r>
                        <a:rPr sz="1000" b="1">
                          <a:solidFill>
                            <a:srgbClr val="FFFFFF"/>
                          </a:solidFill>
                          <a:latin typeface="Calibri"/>
                        </a:rPr>
                        <a:t>Role</a:t>
                      </a:r>
                    </a:p>
                  </a:txBody>
                  <a:tcPr>
                    <a:solidFill>
                      <a:srgbClr val="16213E"/>
                    </a:solidFill>
                  </a:tcPr>
                </a:tc>
                <a:tc>
                  <a:txBody>
                    <a:bodyPr/>
                    <a:lstStyle/>
                    <a:p>
                      <a:pPr algn="l"/>
                      <a:r>
                        <a:rPr sz="1000" b="1">
                          <a:solidFill>
                            <a:srgbClr val="FFFFFF"/>
                          </a:solidFill>
                          <a:latin typeface="Calibri"/>
                        </a:rPr>
                        <a:t>What They Do Day-to-Day</a:t>
                      </a:r>
                    </a:p>
                  </a:txBody>
                  <a:tcPr>
                    <a:solidFill>
                      <a:srgbClr val="16213E"/>
                    </a:solidFill>
                  </a:tcPr>
                </a:tc>
                <a:tc>
                  <a:txBody>
                    <a:bodyPr/>
                    <a:lstStyle/>
                    <a:p>
                      <a:pPr algn="l"/>
                      <a:r>
                        <a:rPr sz="1000" b="1">
                          <a:solidFill>
                            <a:srgbClr val="FFFFFF"/>
                          </a:solidFill>
                          <a:latin typeface="Calibri"/>
                        </a:rPr>
                        <a:t>Salary Range (US)</a:t>
                      </a:r>
                    </a:p>
                  </a:txBody>
                  <a:tcPr>
                    <a:solidFill>
                      <a:srgbClr val="16213E"/>
                    </a:solidFill>
                  </a:tcPr>
                </a:tc>
                <a:tc>
                  <a:txBody>
                    <a:bodyPr/>
                    <a:lstStyle/>
                    <a:p>
                      <a:pPr algn="l"/>
                      <a:r>
                        <a:rPr sz="1000" b="1">
                          <a:solidFill>
                            <a:srgbClr val="FFFFFF"/>
                          </a:solidFill>
                          <a:latin typeface="Calibri"/>
                        </a:rPr>
                        <a:t>Key Skill Stack</a:t>
                      </a:r>
                    </a:p>
                  </a:txBody>
                  <a:tcPr>
                    <a:solidFill>
                      <a:srgbClr val="16213E"/>
                    </a:solidFill>
                  </a:tcPr>
                </a:tc>
              </a:tr>
              <a:tr h="329184">
                <a:tc>
                  <a:txBody>
                    <a:bodyPr/>
                    <a:lstStyle/>
                    <a:p>
                      <a:r>
                        <a:rPr sz="1000">
                          <a:solidFill>
                            <a:srgbClr val="1A1A2E"/>
                          </a:solidFill>
                          <a:latin typeface="Calibri"/>
                        </a:rPr>
                        <a:t>AI Product Manager</a:t>
                      </a:r>
                    </a:p>
                  </a:txBody>
                  <a:tcPr>
                    <a:solidFill>
                      <a:srgbClr val="FFFFFF"/>
                    </a:solidFill>
                  </a:tcPr>
                </a:tc>
                <a:tc>
                  <a:txBody>
                    <a:bodyPr/>
                    <a:lstStyle/>
                    <a:p>
                      <a:r>
                        <a:rPr sz="1000">
                          <a:solidFill>
                            <a:srgbClr val="1A1A2E"/>
                          </a:solidFill>
                          <a:latin typeface="Calibri"/>
                        </a:rPr>
                        <a:t>Define AI features, manage LLM-based products, write evals</a:t>
                      </a:r>
                    </a:p>
                  </a:txBody>
                  <a:tcPr>
                    <a:solidFill>
                      <a:srgbClr val="FFFFFF"/>
                    </a:solidFill>
                  </a:tcPr>
                </a:tc>
                <a:tc>
                  <a:txBody>
                    <a:bodyPr/>
                    <a:lstStyle/>
                    <a:p>
                      <a:r>
                        <a:rPr sz="1000">
                          <a:solidFill>
                            <a:srgbClr val="1A1A2E"/>
                          </a:solidFill>
                          <a:latin typeface="Calibri"/>
                        </a:rPr>
                        <a:t>$140–$210K</a:t>
                      </a:r>
                    </a:p>
                  </a:txBody>
                  <a:tcPr>
                    <a:solidFill>
                      <a:srgbClr val="FFFFFF"/>
                    </a:solidFill>
                  </a:tcPr>
                </a:tc>
                <a:tc>
                  <a:txBody>
                    <a:bodyPr/>
                    <a:lstStyle/>
                    <a:p>
                      <a:r>
                        <a:rPr sz="1000">
                          <a:solidFill>
                            <a:srgbClr val="1A1A2E"/>
                          </a:solidFill>
                          <a:latin typeface="Calibri"/>
                        </a:rPr>
                        <a:t>Product instinct + LLM behavior understanding</a:t>
                      </a:r>
                    </a:p>
                  </a:txBody>
                  <a:tcPr>
                    <a:solidFill>
                      <a:srgbClr val="FFFFFF"/>
                    </a:solidFill>
                  </a:tcPr>
                </a:tc>
              </a:tr>
              <a:tr h="329184">
                <a:tc>
                  <a:txBody>
                    <a:bodyPr/>
                    <a:lstStyle/>
                    <a:p>
                      <a:r>
                        <a:rPr sz="1000">
                          <a:solidFill>
                            <a:srgbClr val="1A1A2E"/>
                          </a:solidFill>
                          <a:latin typeface="Calibri"/>
                        </a:rPr>
                        <a:t>AI Automation Engineer</a:t>
                      </a:r>
                    </a:p>
                  </a:txBody>
                  <a:tcPr>
                    <a:solidFill>
                      <a:srgbClr val="F8F9FF"/>
                    </a:solidFill>
                  </a:tcPr>
                </a:tc>
                <a:tc>
                  <a:txBody>
                    <a:bodyPr/>
                    <a:lstStyle/>
                    <a:p>
                      <a:r>
                        <a:rPr sz="1000">
                          <a:solidFill>
                            <a:srgbClr val="1A1A2E"/>
                          </a:solidFill>
                          <a:latin typeface="Calibri"/>
                        </a:rPr>
                        <a:t>Build agent workflows, connect LLMs to business systems</a:t>
                      </a:r>
                    </a:p>
                  </a:txBody>
                  <a:tcPr>
                    <a:solidFill>
                      <a:srgbClr val="F8F9FF"/>
                    </a:solidFill>
                  </a:tcPr>
                </a:tc>
                <a:tc>
                  <a:txBody>
                    <a:bodyPr/>
                    <a:lstStyle/>
                    <a:p>
                      <a:r>
                        <a:rPr sz="1000">
                          <a:solidFill>
                            <a:srgbClr val="1A1A2E"/>
                          </a:solidFill>
                          <a:latin typeface="Calibri"/>
                        </a:rPr>
                        <a:t>$100–$165K</a:t>
                      </a:r>
                    </a:p>
                  </a:txBody>
                  <a:tcPr>
                    <a:solidFill>
                      <a:srgbClr val="F8F9FF"/>
                    </a:solidFill>
                  </a:tcPr>
                </a:tc>
                <a:tc>
                  <a:txBody>
                    <a:bodyPr/>
                    <a:lstStyle/>
                    <a:p>
                      <a:r>
                        <a:rPr sz="1000">
                          <a:solidFill>
                            <a:srgbClr val="1A1A2E"/>
                          </a:solidFill>
                          <a:latin typeface="Calibri"/>
                        </a:rPr>
                        <a:t>Python, LangChain/n8n, REST APIs, cloud</a:t>
                      </a:r>
                    </a:p>
                  </a:txBody>
                  <a:tcPr>
                    <a:solidFill>
                      <a:srgbClr val="F8F9FF"/>
                    </a:solidFill>
                  </a:tcPr>
                </a:tc>
              </a:tr>
              <a:tr h="329184">
                <a:tc>
                  <a:txBody>
                    <a:bodyPr/>
                    <a:lstStyle/>
                    <a:p>
                      <a:r>
                        <a:rPr sz="1000">
                          <a:solidFill>
                            <a:srgbClr val="1A1A2E"/>
                          </a:solidFill>
                          <a:latin typeface="Calibri"/>
                        </a:rPr>
                        <a:t>Prompt Engineer / LLM Engineer</a:t>
                      </a:r>
                    </a:p>
                  </a:txBody>
                  <a:tcPr>
                    <a:solidFill>
                      <a:srgbClr val="FFFFFF"/>
                    </a:solidFill>
                  </a:tcPr>
                </a:tc>
                <a:tc>
                  <a:txBody>
                    <a:bodyPr/>
                    <a:lstStyle/>
                    <a:p>
                      <a:r>
                        <a:rPr sz="1000">
                          <a:solidFill>
                            <a:srgbClr val="1A1A2E"/>
                          </a:solidFill>
                          <a:latin typeface="Calibri"/>
                        </a:rPr>
                        <a:t>Design prompts, build evals, optimize model behavior</a:t>
                      </a:r>
                    </a:p>
                  </a:txBody>
                  <a:tcPr>
                    <a:solidFill>
                      <a:srgbClr val="FFFFFF"/>
                    </a:solidFill>
                  </a:tcPr>
                </a:tc>
                <a:tc>
                  <a:txBody>
                    <a:bodyPr/>
                    <a:lstStyle/>
                    <a:p>
                      <a:r>
                        <a:rPr sz="1000">
                          <a:solidFill>
                            <a:srgbClr val="1A1A2E"/>
                          </a:solidFill>
                          <a:latin typeface="Calibri"/>
                        </a:rPr>
                        <a:t>$90–$155K</a:t>
                      </a:r>
                    </a:p>
                  </a:txBody>
                  <a:tcPr>
                    <a:solidFill>
                      <a:srgbClr val="FFFFFF"/>
                    </a:solidFill>
                  </a:tcPr>
                </a:tc>
                <a:tc>
                  <a:txBody>
                    <a:bodyPr/>
                    <a:lstStyle/>
                    <a:p>
                      <a:r>
                        <a:rPr sz="1000">
                          <a:solidFill>
                            <a:srgbClr val="1A1A2E"/>
                          </a:solidFill>
                          <a:latin typeface="Calibri"/>
                        </a:rPr>
                        <a:t>LLM internals, eval frameworks, domain expertise</a:t>
                      </a:r>
                    </a:p>
                  </a:txBody>
                  <a:tcPr>
                    <a:solidFill>
                      <a:srgbClr val="FFFFFF"/>
                    </a:solidFill>
                  </a:tcPr>
                </a:tc>
              </a:tr>
              <a:tr h="329184">
                <a:tc>
                  <a:txBody>
                    <a:bodyPr/>
                    <a:lstStyle/>
                    <a:p>
                      <a:r>
                        <a:rPr sz="1000">
                          <a:solidFill>
                            <a:srgbClr val="1A1A2E"/>
                          </a:solidFill>
                          <a:latin typeface="Calibri"/>
                        </a:rPr>
                        <a:t>AI Data Curator</a:t>
                      </a:r>
                    </a:p>
                  </a:txBody>
                  <a:tcPr>
                    <a:solidFill>
                      <a:srgbClr val="F8F9FF"/>
                    </a:solidFill>
                  </a:tcPr>
                </a:tc>
                <a:tc>
                  <a:txBody>
                    <a:bodyPr/>
                    <a:lstStyle/>
                    <a:p>
                      <a:r>
                        <a:rPr sz="1000">
                          <a:solidFill>
                            <a:srgbClr val="1A1A2E"/>
                          </a:solidFill>
                          <a:latin typeface="Calibri"/>
                        </a:rPr>
                        <a:t>Build training and evaluation datasets for fine-tuning</a:t>
                      </a:r>
                    </a:p>
                  </a:txBody>
                  <a:tcPr>
                    <a:solidFill>
                      <a:srgbClr val="F8F9FF"/>
                    </a:solidFill>
                  </a:tcPr>
                </a:tc>
                <a:tc>
                  <a:txBody>
                    <a:bodyPr/>
                    <a:lstStyle/>
                    <a:p>
                      <a:r>
                        <a:rPr sz="1000">
                          <a:solidFill>
                            <a:srgbClr val="1A1A2E"/>
                          </a:solidFill>
                          <a:latin typeface="Calibri"/>
                        </a:rPr>
                        <a:t>$80–$135K</a:t>
                      </a:r>
                    </a:p>
                  </a:txBody>
                  <a:tcPr>
                    <a:solidFill>
                      <a:srgbClr val="F8F9FF"/>
                    </a:solidFill>
                  </a:tcPr>
                </a:tc>
                <a:tc>
                  <a:txBody>
                    <a:bodyPr/>
                    <a:lstStyle/>
                    <a:p>
                      <a:r>
                        <a:rPr sz="1000">
                          <a:solidFill>
                            <a:srgbClr val="1A1A2E"/>
                          </a:solidFill>
                          <a:latin typeface="Calibri"/>
                        </a:rPr>
                        <a:t>Domain expertise + annotation tooling + quality metrics</a:t>
                      </a:r>
                    </a:p>
                  </a:txBody>
                  <a:tcPr>
                    <a:solidFill>
                      <a:srgbClr val="F8F9FF"/>
                    </a:solidFill>
                  </a:tcPr>
                </a:tc>
              </a:tr>
              <a:tr h="329184">
                <a:tc>
                  <a:txBody>
                    <a:bodyPr/>
                    <a:lstStyle/>
                    <a:p>
                      <a:r>
                        <a:rPr sz="1000">
                          <a:solidFill>
                            <a:srgbClr val="1A1A2E"/>
                          </a:solidFill>
                          <a:latin typeface="Calibri"/>
                        </a:rPr>
                        <a:t>ML Ops / AI Ops Engineer</a:t>
                      </a:r>
                    </a:p>
                  </a:txBody>
                  <a:tcPr>
                    <a:solidFill>
                      <a:srgbClr val="FFFFFF"/>
                    </a:solidFill>
                  </a:tcPr>
                </a:tc>
                <a:tc>
                  <a:txBody>
                    <a:bodyPr/>
                    <a:lstStyle/>
                    <a:p>
                      <a:r>
                        <a:rPr sz="1000">
                          <a:solidFill>
                            <a:srgbClr val="1A1A2E"/>
                          </a:solidFill>
                          <a:latin typeface="Calibri"/>
                        </a:rPr>
                        <a:t>Deploy, monitor, and maintain production AI systems</a:t>
                      </a:r>
                    </a:p>
                  </a:txBody>
                  <a:tcPr>
                    <a:solidFill>
                      <a:srgbClr val="FFFFFF"/>
                    </a:solidFill>
                  </a:tcPr>
                </a:tc>
                <a:tc>
                  <a:txBody>
                    <a:bodyPr/>
                    <a:lstStyle/>
                    <a:p>
                      <a:r>
                        <a:rPr sz="1000">
                          <a:solidFill>
                            <a:srgbClr val="1A1A2E"/>
                          </a:solidFill>
                          <a:latin typeface="Calibri"/>
                        </a:rPr>
                        <a:t>$130–$185K</a:t>
                      </a:r>
                    </a:p>
                  </a:txBody>
                  <a:tcPr>
                    <a:solidFill>
                      <a:srgbClr val="FFFFFF"/>
                    </a:solidFill>
                  </a:tcPr>
                </a:tc>
                <a:tc>
                  <a:txBody>
                    <a:bodyPr/>
                    <a:lstStyle/>
                    <a:p>
                      <a:r>
                        <a:rPr sz="1000">
                          <a:solidFill>
                            <a:srgbClr val="1A1A2E"/>
                          </a:solidFill>
                          <a:latin typeface="Calibri"/>
                        </a:rPr>
                        <a:t>Cloud, MLflow, monitoring, cost optimization</a:t>
                      </a:r>
                    </a:p>
                  </a:txBody>
                  <a:tcPr>
                    <a:solidFill>
                      <a:srgbClr val="FFFFFF"/>
                    </a:solidFill>
                  </a:tcPr>
                </a:tc>
              </a:tr>
            </a:tbl>
          </a:graphicData>
        </a:graphic>
      </p:graphicFrame>
      <p:sp>
        <p:nvSpPr>
          <p:cNvPr id="12" name="TextBox 11"/>
          <p:cNvSpPr txBox="1"/>
          <p:nvPr/>
        </p:nvSpPr>
        <p:spPr>
          <a:xfrm>
            <a:off x="502920" y="3803904"/>
            <a:ext cx="6400800" cy="2642616"/>
          </a:xfrm>
          <a:prstGeom prst="rect">
            <a:avLst/>
          </a:prstGeom>
          <a:noFill/>
        </p:spPr>
        <p:txBody>
          <a:bodyPr wrap="square">
            <a:spAutoFit/>
          </a:bodyPr>
          <a:lstStyle/>
          <a:p>
            <a:pPr>
              <a:spcBef>
                <a:spcPts val="300"/>
              </a:spcBef>
              <a:spcAft>
                <a:spcPts val="200"/>
              </a:spcAft>
            </a:pPr>
            <a:r>
              <a:rPr sz="1300" b="1">
                <a:solidFill>
                  <a:srgbClr val="0F3460"/>
                </a:solidFill>
                <a:latin typeface="Calibri"/>
              </a:rPr>
              <a:t>The five skills that compound most in this market:</a:t>
            </a:r>
          </a:p>
          <a:p>
            <a:pPr>
              <a:spcBef>
                <a:spcPts val="300"/>
              </a:spcBef>
              <a:spcAft>
                <a:spcPts val="200"/>
              </a:spcAft>
            </a:pPr>
            <a:r>
              <a:rPr sz="1300">
                <a:solidFill>
                  <a:srgbClr val="0EA5E9"/>
                </a:solidFill>
                <a:latin typeface="Calibri"/>
              </a:rPr>
              <a:t>• </a:t>
            </a:r>
            <a:r>
              <a:rPr sz="1300" b="0">
                <a:solidFill>
                  <a:srgbClr val="1A1A2E"/>
                </a:solidFill>
                <a:latin typeface="Calibri"/>
              </a:rPr>
              <a:t>Python + API integration — the LLM API call is the fundamental unit of AI product development; everything builds on this</a:t>
            </a:r>
          </a:p>
          <a:p>
            <a:pPr>
              <a:spcBef>
                <a:spcPts val="300"/>
              </a:spcBef>
              <a:spcAft>
                <a:spcPts val="200"/>
              </a:spcAft>
            </a:pPr>
            <a:r>
              <a:rPr sz="1300">
                <a:solidFill>
                  <a:srgbClr val="0EA5E9"/>
                </a:solidFill>
                <a:latin typeface="Calibri"/>
              </a:rPr>
              <a:t>• </a:t>
            </a:r>
            <a:r>
              <a:rPr sz="1300" b="0">
                <a:solidFill>
                  <a:srgbClr val="1A1A2E"/>
                </a:solidFill>
                <a:latin typeface="Calibri"/>
              </a:rPr>
              <a:t>RAG and vector databases — the backbone of every enterprise AI deployment; LlamaIndex, LangChain, ChromaDB, Pinecone</a:t>
            </a:r>
          </a:p>
          <a:p>
            <a:pPr>
              <a:spcBef>
                <a:spcPts val="300"/>
              </a:spcBef>
              <a:spcAft>
                <a:spcPts val="200"/>
              </a:spcAft>
            </a:pPr>
            <a:r>
              <a:rPr sz="1300">
                <a:solidFill>
                  <a:srgbClr val="0EA5E9"/>
                </a:solidFill>
                <a:latin typeface="Calibri"/>
              </a:rPr>
              <a:t>• </a:t>
            </a:r>
            <a:r>
              <a:rPr sz="1300" b="0">
                <a:solidFill>
                  <a:srgbClr val="1A1A2E"/>
                </a:solidFill>
                <a:latin typeface="Calibri"/>
              </a:rPr>
              <a:t>Prompt design + evaluation — systematic, measurable approach to getting consistent AI outputs; not art, it's engineering</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234440"/>
          </a:xfrm>
          <a:prstGeom prst="rect">
            <a:avLst/>
          </a:prstGeom>
          <a:solidFill>
            <a:srgbClr val="1621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91440"/>
            <a:ext cx="11368735" cy="658368"/>
          </a:xfrm>
          <a:prstGeom prst="rect">
            <a:avLst/>
          </a:prstGeom>
          <a:noFill/>
        </p:spPr>
        <p:txBody>
          <a:bodyPr wrap="square">
            <a:spAutoFit/>
          </a:bodyPr>
          <a:lstStyle/>
          <a:p>
            <a:r>
              <a:rPr sz="2700" b="1">
                <a:solidFill>
                  <a:srgbClr val="FFFFFF"/>
                </a:solidFill>
                <a:latin typeface="Calibri"/>
              </a:rPr>
              <a:t>Class Wrap-Up — Your AI Landscape Map</a:t>
            </a:r>
          </a:p>
        </p:txBody>
      </p:sp>
      <p:sp>
        <p:nvSpPr>
          <p:cNvPr id="5" name="TextBox 4"/>
          <p:cNvSpPr txBox="1"/>
          <p:nvPr/>
        </p:nvSpPr>
        <p:spPr>
          <a:xfrm>
            <a:off x="411480" y="749808"/>
            <a:ext cx="11368735" cy="402336"/>
          </a:xfrm>
          <a:prstGeom prst="rect">
            <a:avLst/>
          </a:prstGeom>
          <a:noFill/>
        </p:spPr>
        <p:txBody>
          <a:bodyPr wrap="none">
            <a:spAutoFit/>
          </a:bodyPr>
          <a:lstStyle/>
          <a:p>
            <a:r>
              <a:rPr sz="1500">
                <a:solidFill>
                  <a:srgbClr val="0EA5E9"/>
                </a:solidFill>
                <a:latin typeface="Calibri"/>
              </a:rPr>
              <a:t>Six Things to Walk Away Knowing</a:t>
            </a:r>
          </a:p>
        </p:txBody>
      </p:sp>
      <p:sp>
        <p:nvSpPr>
          <p:cNvPr id="6" name="Rectangle 5"/>
          <p:cNvSpPr/>
          <p:nvPr/>
        </p:nvSpPr>
        <p:spPr>
          <a:xfrm>
            <a:off x="0" y="1234440"/>
            <a:ext cx="12191695" cy="36576"/>
          </a:xfrm>
          <a:prstGeom prst="rect">
            <a:avLst/>
          </a:prstGeom>
          <a:solidFill>
            <a:srgbClr val="0EA5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1551615" y="6537960"/>
            <a:ext cx="502920" cy="256032"/>
          </a:xfrm>
          <a:prstGeom prst="rect">
            <a:avLst/>
          </a:prstGeom>
          <a:noFill/>
        </p:spPr>
        <p:txBody>
          <a:bodyPr wrap="none">
            <a:spAutoFit/>
          </a:bodyPr>
          <a:lstStyle/>
          <a:p>
            <a:pPr algn="ctr"/>
            <a:r>
              <a:rPr sz="1000">
                <a:solidFill>
                  <a:srgbClr val="AAAABB"/>
                </a:solidFill>
                <a:latin typeface="Calibri"/>
              </a:rPr>
              <a:t>31</a:t>
            </a:r>
          </a:p>
        </p:txBody>
      </p:sp>
      <p:sp>
        <p:nvSpPr>
          <p:cNvPr id="8" name="TextBox 7"/>
          <p:cNvSpPr txBox="1"/>
          <p:nvPr/>
        </p:nvSpPr>
        <p:spPr>
          <a:xfrm>
            <a:off x="502920" y="1353312"/>
            <a:ext cx="11185855" cy="5093208"/>
          </a:xfrm>
          <a:prstGeom prst="rect">
            <a:avLst/>
          </a:prstGeom>
          <a:noFill/>
        </p:spPr>
        <p:txBody>
          <a:bodyPr wrap="square">
            <a:spAutoFit/>
          </a:bodyPr>
          <a:lstStyle/>
          <a:p>
            <a:pPr>
              <a:spcBef>
                <a:spcPts val="300"/>
              </a:spcBef>
              <a:spcAft>
                <a:spcPts val="200"/>
              </a:spcAft>
            </a:pPr>
            <a:r>
              <a:rPr sz="1300" b="1">
                <a:solidFill>
                  <a:srgbClr val="0F3460"/>
                </a:solidFill>
                <a:latin typeface="Calibri"/>
              </a:rPr>
              <a:t>What today's class gave you:</a:t>
            </a:r>
          </a:p>
          <a:p>
            <a:pPr>
              <a:spcBef>
                <a:spcPts val="300"/>
              </a:spcBef>
              <a:spcAft>
                <a:spcPts val="200"/>
              </a:spcAft>
            </a:pPr>
            <a:r>
              <a:rPr sz="1200" b="0">
                <a:solidFill>
                  <a:srgbClr val="2D3748"/>
                </a:solidFill>
                <a:latin typeface="Calibri"/>
              </a:rPr>
              <a:t>1. The model landscape is rich, competitive, and fast-moving</a:t>
            </a:r>
          </a:p>
          <a:p>
            <a:pPr>
              <a:spcBef>
                <a:spcPts val="300"/>
              </a:spcBef>
              <a:spcAft>
                <a:spcPts val="200"/>
              </a:spcAft>
            </a:pPr>
            <a:r>
              <a:rPr sz="1200" b="0">
                <a:solidFill>
                  <a:srgbClr val="2D3748"/>
                </a:solidFill>
                <a:latin typeface="Calibri"/>
              </a:rPr>
              <a:t>GPT-4.1, Claude 3.7, Gemini 2.5, and open-source models like Llama 4 and DeepSeek all compete at the frontier. Choose by use case, data requirements, and cost — not by brand loyalty. The best model changes every 3–6 months.</a:t>
            </a:r>
          </a:p>
          <a:p>
            <a:pPr>
              <a:spcBef>
                <a:spcPts val="300"/>
              </a:spcBef>
              <a:spcAft>
                <a:spcPts val="200"/>
              </a:spcAft>
            </a:pPr>
            <a:r>
              <a:rPr sz="1200" b="0">
                <a:solidFill>
                  <a:srgbClr val="2D3748"/>
                </a:solidFill>
                <a:latin typeface="Calibri"/>
              </a:rPr>
              <a:t>2. Agents are the most important architectural shift since ChatGPT</a:t>
            </a:r>
          </a:p>
          <a:p>
            <a:pPr>
              <a:spcBef>
                <a:spcPts val="300"/>
              </a:spcBef>
              <a:spcAft>
                <a:spcPts val="200"/>
              </a:spcAft>
            </a:pPr>
            <a:r>
              <a:rPr sz="1200" b="0">
                <a:solidFill>
                  <a:srgbClr val="2D3748"/>
                </a:solidFill>
                <a:latin typeface="Calibri"/>
              </a:rPr>
              <a:t>Claude SDK, OpenAI Agents SDK, LangGraph, and CrewAI let you build AI that takes actions. MCP standardizes how agents connect to every tool in your stack. This is the category where the most value is being created right now.</a:t>
            </a:r>
          </a:p>
          <a:p>
            <a:pPr>
              <a:spcBef>
                <a:spcPts val="300"/>
              </a:spcBef>
              <a:spcAft>
                <a:spcPts val="200"/>
              </a:spcAft>
            </a:pPr>
            <a:r>
              <a:rPr sz="1200" b="0">
                <a:solidFill>
                  <a:srgbClr val="2D3748"/>
                </a:solidFill>
                <a:latin typeface="Calibri"/>
              </a:rPr>
              <a:t>3. AI coding tools are no longer optional for anyone who writes code</a:t>
            </a:r>
          </a:p>
          <a:p>
            <a:pPr>
              <a:spcBef>
                <a:spcPts val="300"/>
              </a:spcBef>
              <a:spcAft>
                <a:spcPts val="200"/>
              </a:spcAft>
            </a:pPr>
            <a:r>
              <a:rPr sz="1200" b="0">
                <a:solidFill>
                  <a:srgbClr val="2D3748"/>
                </a:solidFill>
                <a:latin typeface="Calibri"/>
              </a:rPr>
              <a:t>Claude Code, Cursor, Windsurf, and GitHub Copilot have moved from productivity boosters to competitive necessities. Writing code without AI assistance is increasingly a disadvantage, not a preference.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