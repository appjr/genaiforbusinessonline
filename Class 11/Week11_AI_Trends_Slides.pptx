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27432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47472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0789920" cy="1463040"/>
          </a:xfrm>
          <a:prstGeom prst="rect">
            <a:avLst/>
          </a:prstGeom>
          <a:noFill/>
        </p:spPr>
        <p:txBody>
          <a:bodyPr wrap="none">
            <a:spAutoFit/>
          </a:bodyPr>
          <a:lstStyle/>
          <a:p>
            <a:r>
              <a:rPr sz="4200" b="1">
                <a:solidFill>
                  <a:srgbClr val="FFFFFF"/>
                </a:solidFill>
                <a:latin typeface="Calibri"/>
              </a:rPr>
              <a:t>Week 11: New AI Tools and Trends</a:t>
            </a:r>
          </a:p>
        </p:txBody>
      </p:sp>
      <p:sp>
        <p:nvSpPr>
          <p:cNvPr id="6" name="TextBox 5"/>
          <p:cNvSpPr txBox="1"/>
          <p:nvPr/>
        </p:nvSpPr>
        <p:spPr>
          <a:xfrm>
            <a:off x="731520" y="2697480"/>
            <a:ext cx="10789920" cy="731520"/>
          </a:xfrm>
          <a:prstGeom prst="rect">
            <a:avLst/>
          </a:prstGeom>
          <a:noFill/>
        </p:spPr>
        <p:txBody>
          <a:bodyPr wrap="none">
            <a:spAutoFit/>
          </a:bodyPr>
          <a:lstStyle/>
          <a:p>
            <a:r>
              <a:rPr sz="1900">
                <a:solidFill>
                  <a:srgbClr val="0EA5E9"/>
                </a:solidFill>
                <a:latin typeface="Calibri"/>
              </a:rPr>
              <a:t>The Full 2026 AI Landscape — Models · Agents · Coding Tools · Automation · Strategy</a:t>
            </a:r>
          </a:p>
        </p:txBody>
      </p:sp>
      <p:sp>
        <p:nvSpPr>
          <p:cNvPr id="7" name="TextBox 6"/>
          <p:cNvSpPr txBox="1"/>
          <p:nvPr/>
        </p:nvSpPr>
        <p:spPr>
          <a:xfrm>
            <a:off x="731520" y="4572000"/>
            <a:ext cx="10789920" cy="1645920"/>
          </a:xfrm>
          <a:prstGeom prst="rect">
            <a:avLst/>
          </a:prstGeom>
          <a:noFill/>
        </p:spPr>
        <p:txBody>
          <a:bodyPr wrap="none">
            <a:spAutoFit/>
          </a:bodyPr>
          <a:lstStyle/>
          <a:p>
            <a:pPr>
              <a:spcBef>
                <a:spcPts val="400"/>
              </a:spcBef>
            </a:pPr>
            <a:r>
              <a:rPr sz="1600" b="0">
                <a:solidFill>
                  <a:srgbClr val="FFFFFF"/>
                </a:solidFill>
                <a:latin typeface="Calibri"/>
              </a:rPr>
              <a:t>BUAN 6v99 — Generative AI for Business</a:t>
            </a:r>
          </a:p>
          <a:p>
            <a:pPr>
              <a:spcBef>
                <a:spcPts val="400"/>
              </a:spcBef>
            </a:pPr>
            <a:r>
              <a:rPr sz="1400" b="0">
                <a:solidFill>
                  <a:srgbClr val="AABBDD"/>
                </a:solidFill>
                <a:latin typeface="Calibri"/>
              </a:rPr>
              <a:t>University of Texas at Dallas  |  Spring 2026</a:t>
            </a:r>
          </a:p>
          <a:p>
            <a:pPr>
              <a:spcBef>
                <a:spcPts val="400"/>
              </a:spcBef>
            </a:pPr>
            <a:r>
              <a:rPr sz="1400" b="0">
                <a:solidFill>
                  <a:srgbClr val="AABBDD"/>
                </a:solidFill>
                <a:latin typeface="Calibri"/>
              </a:rPr>
              <a:t>April 8, 2026  |  Professor Antonio de Pádua Paes Jr.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New AI Tools and Trends</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BUAN 6v99 — Generative AI for Business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600" b="1">
                <a:solidFill>
                  <a:srgbClr val="533483"/>
                </a:solidFill>
                <a:latin typeface="Calibri"/>
              </a:rPr>
              <a:t>Class 11 | University of Texas at Dallas | Spring 2026</a:t>
            </a:r>
          </a:p>
          <a:p>
            <a:pPr>
              <a:spcBef>
                <a:spcPts val="200"/>
              </a:spcBef>
              <a:spcAft>
                <a:spcPts val="100"/>
              </a:spcAft>
            </a:pPr>
            <a:r>
              <a:rPr sz="1200" b="0">
                <a:solidFill>
                  <a:srgbClr val="2D3748"/>
                </a:solidFill>
                <a:latin typeface="Calibri"/>
              </a:rPr>
              <a:t>Professor: Antonio de Pádua Paes Jr.</a:t>
            </a:r>
          </a:p>
        </p:txBody>
      </p:sp>
      <p:sp>
        <p:nvSpPr>
          <p:cNvPr id="9" name="Rectangle 8"/>
          <p:cNvSpPr/>
          <p:nvPr/>
        </p:nvSpPr>
        <p:spPr>
          <a:xfrm>
            <a:off x="457200" y="1874520"/>
            <a:ext cx="54864" cy="502920"/>
          </a:xfrm>
          <a:prstGeom prst="rect">
            <a:avLst/>
          </a:prstGeom>
          <a:solidFill>
            <a:srgbClr val="53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874520"/>
            <a:ext cx="11112703" cy="548640"/>
          </a:xfrm>
          <a:prstGeom prst="rect">
            <a:avLst/>
          </a:prstGeom>
          <a:noFill/>
        </p:spPr>
        <p:txBody>
          <a:bodyPr wrap="square">
            <a:spAutoFit/>
          </a:bodyPr>
          <a:lstStyle/>
          <a:p>
            <a:r>
              <a:rPr sz="1300" i="1">
                <a:solidFill>
                  <a:srgbClr val="0F3460"/>
                </a:solidFill>
                <a:latin typeface="Calibri"/>
              </a:rPr>
              <a:t>"We are not in a period of gradual improvement. We are in a period of compounding transformation — where every month rewrites what's possible."</a:t>
            </a:r>
          </a:p>
        </p:txBody>
      </p:sp>
      <p:sp>
        <p:nvSpPr>
          <p:cNvPr id="11" name="TextBox 10"/>
          <p:cNvSpPr txBox="1"/>
          <p:nvPr/>
        </p:nvSpPr>
        <p:spPr>
          <a:xfrm>
            <a:off x="457200" y="2468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Today we cover five sections:</a:t>
            </a:r>
          </a:p>
          <a:p>
            <a:pPr>
              <a:spcBef>
                <a:spcPts val="200"/>
              </a:spcBef>
              <a:spcAft>
                <a:spcPts val="100"/>
              </a:spcAft>
            </a:pPr>
            <a:r>
              <a:rPr sz="1300">
                <a:solidFill>
                  <a:srgbClr val="0EA5E9"/>
                </a:solidFill>
                <a:latin typeface="Calibri"/>
              </a:rPr>
              <a:t>• </a:t>
            </a:r>
            <a:r>
              <a:rPr sz="1300" b="0">
                <a:solidFill>
                  <a:srgbClr val="1A1A2E"/>
                </a:solidFill>
                <a:latin typeface="Calibri"/>
              </a:rPr>
              <a:t>The AI model landscape in early 2026 — who's leading and why</a:t>
            </a:r>
          </a:p>
          <a:p>
            <a:pPr>
              <a:spcBef>
                <a:spcPts val="200"/>
              </a:spcBef>
              <a:spcAft>
                <a:spcPts val="100"/>
              </a:spcAft>
            </a:pPr>
            <a:r>
              <a:rPr sz="1300">
                <a:solidFill>
                  <a:srgbClr val="0EA5E9"/>
                </a:solidFill>
                <a:latin typeface="Calibri"/>
              </a:rPr>
              <a:t>• </a:t>
            </a:r>
            <a:r>
              <a:rPr sz="1300" b="0">
                <a:solidFill>
                  <a:srgbClr val="1A1A2E"/>
                </a:solidFill>
                <a:latin typeface="Calibri"/>
              </a:rPr>
              <a:t>AI agent frameworks — how AI now takes actions, not just answers questions</a:t>
            </a:r>
          </a:p>
          <a:p>
            <a:pPr>
              <a:spcBef>
                <a:spcPts val="200"/>
              </a:spcBef>
              <a:spcAft>
                <a:spcPts val="100"/>
              </a:spcAft>
            </a:pPr>
            <a:r>
              <a:rPr sz="1300">
                <a:solidFill>
                  <a:srgbClr val="0EA5E9"/>
                </a:solidFill>
                <a:latin typeface="Calibri"/>
              </a:rPr>
              <a:t>• </a:t>
            </a:r>
            <a:r>
              <a:rPr sz="1300" b="0">
                <a:solidFill>
                  <a:srgbClr val="1A1A2E"/>
                </a:solidFill>
                <a:latin typeface="Calibri"/>
              </a:rPr>
              <a:t>AI coding tools — Claude Code, Cursor, Copilot, Windsurf compared</a:t>
            </a:r>
          </a:p>
          <a:p>
            <a:pPr>
              <a:spcBef>
                <a:spcPts val="200"/>
              </a:spcBef>
              <a:spcAft>
                <a:spcPts val="100"/>
              </a:spcAft>
            </a:pPr>
            <a:r>
              <a:rPr sz="1300">
                <a:solidFill>
                  <a:srgbClr val="0EA5E9"/>
                </a:solidFill>
                <a:latin typeface="Calibri"/>
              </a:rPr>
              <a:t>• </a:t>
            </a:r>
            <a:r>
              <a:rPr sz="1300" b="0">
                <a:solidFill>
                  <a:srgbClr val="1A1A2E"/>
                </a:solidFill>
                <a:latin typeface="Calibri"/>
              </a:rPr>
              <a:t>Business automation and multimodal AI — n8n, Make, Zapier, video generation</a:t>
            </a:r>
          </a:p>
          <a:p>
            <a:pPr>
              <a:spcBef>
                <a:spcPts val="200"/>
              </a:spcBef>
              <a:spcAft>
                <a:spcPts val="100"/>
              </a:spcAft>
            </a:pPr>
            <a:r>
              <a:rPr sz="1300">
                <a:solidFill>
                  <a:srgbClr val="0EA5E9"/>
                </a:solidFill>
                <a:latin typeface="Calibri"/>
              </a:rPr>
              <a:t>• </a:t>
            </a:r>
            <a:r>
              <a:rPr sz="1300" b="0">
                <a:solidFill>
                  <a:srgbClr val="1A1A2E"/>
                </a:solidFill>
                <a:latin typeface="Calibri"/>
              </a:rPr>
              <a:t>Key trends — RAG, fine-tuning, building your AI stack, career outlook</a:t>
            </a:r>
          </a:p>
          <a:p>
            <a:pPr>
              <a:spcBef>
                <a:spcPts val="200"/>
              </a:spcBef>
              <a:spcAft>
                <a:spcPts val="100"/>
              </a:spcAft>
            </a:pPr>
            <a:r>
              <a:rPr sz="1200" b="0">
                <a:solidFill>
                  <a:srgbClr val="2D3748"/>
                </a:solidFill>
                <a:latin typeface="Calibri"/>
              </a:rPr>
              <a:t>The goal: Leave with a complete, actionable map of the 2026 AI ecosystem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Today's Agenda</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Class Overview — 2 Hours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a:t>
            </a:r>
          </a:p>
        </p:txBody>
      </p:sp>
      <p:graphicFrame>
        <p:nvGraphicFramePr>
          <p:cNvPr id="8" name="Table 7"/>
          <p:cNvGraphicFramePr>
            <a:graphicFrameLocks noGrp="1"/>
          </p:cNvGraphicFramePr>
          <p:nvPr/>
        </p:nvGraphicFramePr>
        <p:xfrm>
          <a:off x="457200" y="1325880"/>
          <a:ext cx="11277295" cy="208483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algn="l"/>
                      <a:r>
                        <a:rPr sz="1100" b="1">
                          <a:solidFill>
                            <a:srgbClr val="FFFFFF"/>
                          </a:solidFill>
                          <a:latin typeface="Calibri"/>
                        </a:rPr>
                        <a:t>#</a:t>
                      </a:r>
                    </a:p>
                  </a:txBody>
                  <a:tcPr>
                    <a:solidFill>
                      <a:srgbClr val="16213E"/>
                    </a:solidFill>
                  </a:tcPr>
                </a:tc>
                <a:tc>
                  <a:txBody>
                    <a:bodyPr/>
                    <a:lstStyle/>
                    <a:p>
                      <a:pPr algn="l"/>
                      <a:r>
                        <a:rPr sz="1100" b="1">
                          <a:solidFill>
                            <a:srgbClr val="FFFFFF"/>
                          </a:solidFill>
                          <a:latin typeface="Calibri"/>
                        </a:rPr>
                        <a:t>Section</a:t>
                      </a:r>
                    </a:p>
                  </a:txBody>
                  <a:tcPr>
                    <a:solidFill>
                      <a:srgbClr val="16213E"/>
                    </a:solidFill>
                  </a:tcPr>
                </a:tc>
                <a:tc>
                  <a:txBody>
                    <a:bodyPr/>
                    <a:lstStyle/>
                    <a:p>
                      <a:pPr algn="l"/>
                      <a:r>
                        <a:rPr sz="1100" b="1">
                          <a:solidFill>
                            <a:srgbClr val="FFFFFF"/>
                          </a:solidFill>
                          <a:latin typeface="Calibri"/>
                        </a:rPr>
                        <a:t>Topics</a:t>
                      </a:r>
                    </a:p>
                  </a:txBody>
                  <a:tcPr>
                    <a:solidFill>
                      <a:srgbClr val="16213E"/>
                    </a:solidFill>
                  </a:tcPr>
                </a:tc>
                <a:tc>
                  <a:txBody>
                    <a:bodyPr/>
                    <a:lstStyle/>
                    <a:p>
                      <a:pPr algn="l"/>
                      <a:r>
                        <a:rPr sz="1100" b="1">
                          <a:solidFill>
                            <a:srgbClr val="FFFFFF"/>
                          </a:solidFill>
                          <a:latin typeface="Calibri"/>
                        </a:rPr>
                        <a:t>Time</a:t>
                      </a:r>
                    </a:p>
                  </a:txBody>
                  <a:tcPr>
                    <a:solidFill>
                      <a:srgbClr val="16213E"/>
                    </a:solidFill>
                  </a:tcPr>
                </a:tc>
              </a:tr>
              <a:tr h="347472">
                <a:tc>
                  <a:txBody>
                    <a:bodyPr/>
                    <a:lstStyle/>
                    <a:p>
                      <a:r>
                        <a:rPr sz="1000">
                          <a:solidFill>
                            <a:srgbClr val="1A1A2E"/>
                          </a:solidFill>
                          <a:latin typeface="Calibri"/>
                        </a:rPr>
                        <a:t>1</a:t>
                      </a:r>
                    </a:p>
                  </a:txBody>
                  <a:tcPr>
                    <a:solidFill>
                      <a:srgbClr val="FFFFFF"/>
                    </a:solidFill>
                  </a:tcPr>
                </a:tc>
                <a:tc>
                  <a:txBody>
                    <a:bodyPr/>
                    <a:lstStyle/>
                    <a:p>
                      <a:r>
                        <a:rPr sz="1000">
                          <a:solidFill>
                            <a:srgbClr val="1A1A2E"/>
                          </a:solidFill>
                          <a:latin typeface="Calibri"/>
                        </a:rPr>
                        <a:t>AI Model Landscape</a:t>
                      </a:r>
                    </a:p>
                  </a:txBody>
                  <a:tcPr>
                    <a:solidFill>
                      <a:srgbClr val="FFFFFF"/>
                    </a:solidFill>
                  </a:tcPr>
                </a:tc>
                <a:tc>
                  <a:txBody>
                    <a:bodyPr/>
                    <a:lstStyle/>
                    <a:p>
                      <a:r>
                        <a:rPr sz="1000">
                          <a:solidFill>
                            <a:srgbClr val="1A1A2E"/>
                          </a:solidFill>
                          <a:latin typeface="Calibri"/>
                        </a:rPr>
                        <a:t>GPT, Claude, Gemini, DeepSeek, Llama — what's new and how to choose</a:t>
                      </a:r>
                    </a:p>
                  </a:txBody>
                  <a:tcPr>
                    <a:solidFill>
                      <a:srgbClr val="FFFFFF"/>
                    </a:solidFill>
                  </a:tcPr>
                </a:tc>
                <a:tc>
                  <a:txBody>
                    <a:bodyPr/>
                    <a:lstStyle/>
                    <a:p>
                      <a:r>
                        <a:rPr sz="1000">
                          <a:solidFill>
                            <a:srgbClr val="1A1A2E"/>
                          </a:solidFill>
                          <a:latin typeface="Calibri"/>
                        </a:rPr>
                        <a:t>25 min</a:t>
                      </a:r>
                    </a:p>
                  </a:txBody>
                  <a:tcPr>
                    <a:solidFill>
                      <a:srgbClr val="FFFFFF"/>
                    </a:solidFill>
                  </a:tcPr>
                </a:tc>
              </a:tr>
              <a:tr h="347472">
                <a:tc>
                  <a:txBody>
                    <a:bodyPr/>
                    <a:lstStyle/>
                    <a:p>
                      <a:r>
                        <a:rPr sz="1000">
                          <a:solidFill>
                            <a:srgbClr val="1A1A2E"/>
                          </a:solidFill>
                          <a:latin typeface="Calibri"/>
                        </a:rPr>
                        <a:t>2</a:t>
                      </a:r>
                    </a:p>
                  </a:txBody>
                  <a:tcPr>
                    <a:solidFill>
                      <a:srgbClr val="F8F9FF"/>
                    </a:solidFill>
                  </a:tcPr>
                </a:tc>
                <a:tc>
                  <a:txBody>
                    <a:bodyPr/>
                    <a:lstStyle/>
                    <a:p>
                      <a:r>
                        <a:rPr sz="1000">
                          <a:solidFill>
                            <a:srgbClr val="1A1A2E"/>
                          </a:solidFill>
                          <a:latin typeface="Calibri"/>
                        </a:rPr>
                        <a:t>AI Agent Frameworks</a:t>
                      </a:r>
                    </a:p>
                  </a:txBody>
                  <a:tcPr>
                    <a:solidFill>
                      <a:srgbClr val="F8F9FF"/>
                    </a:solidFill>
                  </a:tcPr>
                </a:tc>
                <a:tc>
                  <a:txBody>
                    <a:bodyPr/>
                    <a:lstStyle/>
                    <a:p>
                      <a:r>
                        <a:rPr sz="1000">
                          <a:solidFill>
                            <a:srgbClr val="1A1A2E"/>
                          </a:solidFill>
                          <a:latin typeface="Calibri"/>
                        </a:rPr>
                        <a:t>Claude SDK, OpenAI Agents, LangGraph, CrewAI, MCP protocol</a:t>
                      </a:r>
                    </a:p>
                  </a:txBody>
                  <a:tcPr>
                    <a:solidFill>
                      <a:srgbClr val="F8F9FF"/>
                    </a:solidFill>
                  </a:tcPr>
                </a:tc>
                <a:tc>
                  <a:txBody>
                    <a:bodyPr/>
                    <a:lstStyle/>
                    <a:p>
                      <a:r>
                        <a:rPr sz="1000">
                          <a:solidFill>
                            <a:srgbClr val="1A1A2E"/>
                          </a:solidFill>
                          <a:latin typeface="Calibri"/>
                        </a:rPr>
                        <a:t>25 min</a:t>
                      </a:r>
                    </a:p>
                  </a:txBody>
                  <a:tcPr>
                    <a:solidFill>
                      <a:srgbClr val="F8F9FF"/>
                    </a:solidFill>
                  </a:tcPr>
                </a:tc>
              </a:tr>
              <a:tr h="347472">
                <a:tc>
                  <a:txBody>
                    <a:bodyPr/>
                    <a:lstStyle/>
                    <a:p>
                      <a:r>
                        <a:rPr sz="1000">
                          <a:solidFill>
                            <a:srgbClr val="1A1A2E"/>
                          </a:solidFill>
                          <a:latin typeface="Calibri"/>
                        </a:rPr>
                        <a:t>3</a:t>
                      </a:r>
                    </a:p>
                  </a:txBody>
                  <a:tcPr>
                    <a:solidFill>
                      <a:srgbClr val="FFFFFF"/>
                    </a:solidFill>
                  </a:tcPr>
                </a:tc>
                <a:tc>
                  <a:txBody>
                    <a:bodyPr/>
                    <a:lstStyle/>
                    <a:p>
                      <a:r>
                        <a:rPr sz="1000">
                          <a:solidFill>
                            <a:srgbClr val="1A1A2E"/>
                          </a:solidFill>
                          <a:latin typeface="Calibri"/>
                        </a:rPr>
                        <a:t>AI Coding Tools</a:t>
                      </a:r>
                    </a:p>
                  </a:txBody>
                  <a:tcPr>
                    <a:solidFill>
                      <a:srgbClr val="FFFFFF"/>
                    </a:solidFill>
                  </a:tcPr>
                </a:tc>
                <a:tc>
                  <a:txBody>
                    <a:bodyPr/>
                    <a:lstStyle/>
                    <a:p>
                      <a:r>
                        <a:rPr sz="1000">
                          <a:solidFill>
                            <a:srgbClr val="1A1A2E"/>
                          </a:solidFill>
                          <a:latin typeface="Calibri"/>
                        </a:rPr>
                        <a:t>Claude Code, Cursor, Windsurf, GitHub Copilot — live comparison</a:t>
                      </a:r>
                    </a:p>
                  </a:txBody>
                  <a:tcPr>
                    <a:solidFill>
                      <a:srgbClr val="FFFFFF"/>
                    </a:solidFill>
                  </a:tcPr>
                </a:tc>
                <a:tc>
                  <a:txBody>
                    <a:bodyPr/>
                    <a:lstStyle/>
                    <a:p>
                      <a:r>
                        <a:rPr sz="1000">
                          <a:solidFill>
                            <a:srgbClr val="1A1A2E"/>
                          </a:solidFill>
                          <a:latin typeface="Calibri"/>
                        </a:rPr>
                        <a:t>20 min</a:t>
                      </a:r>
                    </a:p>
                  </a:txBody>
                  <a:tcPr>
                    <a:solidFill>
                      <a:srgbClr val="FFFFFF"/>
                    </a:solidFill>
                  </a:tcPr>
                </a:tc>
              </a:tr>
              <a:tr h="347472">
                <a:tc>
                  <a:txBody>
                    <a:bodyPr/>
                    <a:lstStyle/>
                    <a:p>
                      <a:r>
                        <a:rPr sz="1000">
                          <a:solidFill>
                            <a:srgbClr val="1A1A2E"/>
                          </a:solidFill>
                          <a:latin typeface="Calibri"/>
                        </a:rPr>
                        <a:t>4</a:t>
                      </a:r>
                    </a:p>
                  </a:txBody>
                  <a:tcPr>
                    <a:solidFill>
                      <a:srgbClr val="F8F9FF"/>
                    </a:solidFill>
                  </a:tcPr>
                </a:tc>
                <a:tc>
                  <a:txBody>
                    <a:bodyPr/>
                    <a:lstStyle/>
                    <a:p>
                      <a:r>
                        <a:rPr sz="1000">
                          <a:solidFill>
                            <a:srgbClr val="1A1A2E"/>
                          </a:solidFill>
                          <a:latin typeface="Calibri"/>
                        </a:rPr>
                        <a:t>Business Automation</a:t>
                      </a:r>
                    </a:p>
                  </a:txBody>
                  <a:tcPr>
                    <a:solidFill>
                      <a:srgbClr val="F8F9FF"/>
                    </a:solidFill>
                  </a:tcPr>
                </a:tc>
                <a:tc>
                  <a:txBody>
                    <a:bodyPr/>
                    <a:lstStyle/>
                    <a:p>
                      <a:r>
                        <a:rPr sz="1000">
                          <a:solidFill>
                            <a:srgbClr val="1A1A2E"/>
                          </a:solidFill>
                          <a:latin typeface="Calibri"/>
                        </a:rPr>
                        <a:t>n8n, Make, Zapier AI, vision/audio/video — real workflows</a:t>
                      </a:r>
                    </a:p>
                  </a:txBody>
                  <a:tcPr>
                    <a:solidFill>
                      <a:srgbClr val="F8F9FF"/>
                    </a:solidFill>
                  </a:tcPr>
                </a:tc>
                <a:tc>
                  <a:txBody>
                    <a:bodyPr/>
                    <a:lstStyle/>
                    <a:p>
                      <a:r>
                        <a:rPr sz="1000">
                          <a:solidFill>
                            <a:srgbClr val="1A1A2E"/>
                          </a:solidFill>
                          <a:latin typeface="Calibri"/>
                        </a:rPr>
                        <a:t>20 min</a:t>
                      </a:r>
                    </a:p>
                  </a:txBody>
                  <a:tcPr>
                    <a:solidFill>
                      <a:srgbClr val="F8F9FF"/>
                    </a:solidFill>
                  </a:tcPr>
                </a:tc>
              </a:tr>
              <a:tr h="347472">
                <a:tc>
                  <a:txBody>
                    <a:bodyPr/>
                    <a:lstStyle/>
                    <a:p>
                      <a:r>
                        <a:rPr sz="1000">
                          <a:solidFill>
                            <a:srgbClr val="1A1A2E"/>
                          </a:solidFill>
                          <a:latin typeface="Calibri"/>
                        </a:rPr>
                        <a:t>5</a:t>
                      </a:r>
                    </a:p>
                  </a:txBody>
                  <a:tcPr>
                    <a:solidFill>
                      <a:srgbClr val="FFFFFF"/>
                    </a:solidFill>
                  </a:tcPr>
                </a:tc>
                <a:tc>
                  <a:txBody>
                    <a:bodyPr/>
                    <a:lstStyle/>
                    <a:p>
                      <a:r>
                        <a:rPr sz="1000">
                          <a:solidFill>
                            <a:srgbClr val="1A1A2E"/>
                          </a:solidFill>
                          <a:latin typeface="Calibri"/>
                        </a:rPr>
                        <a:t>Key Trends</a:t>
                      </a:r>
                    </a:p>
                  </a:txBody>
                  <a:tcPr>
                    <a:solidFill>
                      <a:srgbClr val="FFFFFF"/>
                    </a:solidFill>
                  </a:tcPr>
                </a:tc>
                <a:tc>
                  <a:txBody>
                    <a:bodyPr/>
                    <a:lstStyle/>
                    <a:p>
                      <a:r>
                        <a:rPr sz="1000">
                          <a:solidFill>
                            <a:srgbClr val="1A1A2E"/>
                          </a:solidFill>
                          <a:latin typeface="Calibri"/>
                        </a:rPr>
                        <a:t>RAG 2026, fine-tuning access, your AI stack, career paths</a:t>
                      </a:r>
                    </a:p>
                  </a:txBody>
                  <a:tcPr>
                    <a:solidFill>
                      <a:srgbClr val="FFFFFF"/>
                    </a:solidFill>
                  </a:tcPr>
                </a:tc>
                <a:tc>
                  <a:txBody>
                    <a:bodyPr/>
                    <a:lstStyle/>
                    <a:p>
                      <a:r>
                        <a:rPr sz="1000">
                          <a:solidFill>
                            <a:srgbClr val="1A1A2E"/>
                          </a:solidFill>
                          <a:latin typeface="Calibri"/>
                        </a:rPr>
                        <a:t>20 min</a:t>
                      </a:r>
                    </a:p>
                  </a:txBody>
                  <a:tcPr>
                    <a:solidFill>
                      <a:srgbClr val="FFFFFF"/>
                    </a:solidFill>
                  </a:tcPr>
                </a:tc>
              </a:tr>
            </a:tbl>
          </a:graphicData>
        </a:graphic>
      </p:graphicFrame>
      <p:sp>
        <p:nvSpPr>
          <p:cNvPr id="9" name="TextBox 8"/>
          <p:cNvSpPr txBox="1"/>
          <p:nvPr/>
        </p:nvSpPr>
        <p:spPr>
          <a:xfrm>
            <a:off x="457200" y="352044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Wrap-up: Building your personal AI stack + homework preview</a:t>
            </a:r>
          </a:p>
          <a:p>
            <a:pPr>
              <a:spcBef>
                <a:spcPts val="200"/>
              </a:spcBef>
              <a:spcAft>
                <a:spcPts val="100"/>
              </a:spcAft>
            </a:pPr>
            <a:r>
              <a:rPr sz="1200" b="0">
                <a:solidFill>
                  <a:srgbClr val="2D3748"/>
                </a:solidFill>
                <a:latin typeface="Calibri"/>
              </a:rPr>
              <a:t>What's different about this class: We're not just surveying tools — we're building judgment about when to use each one, at what cost, and for what business outcome.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The Five-Layer AI Ecosystem</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How the Industry Organizes Itself</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3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3</a:t>
            </a:r>
          </a:p>
        </p:txBody>
      </p:sp>
      <p:graphicFrame>
        <p:nvGraphicFramePr>
          <p:cNvPr id="10" name="Table 9"/>
          <p:cNvGraphicFramePr>
            <a:graphicFrameLocks noGrp="1"/>
          </p:cNvGraphicFramePr>
          <p:nvPr/>
        </p:nvGraphicFramePr>
        <p:xfrm>
          <a:off x="457200" y="1325880"/>
          <a:ext cx="6492240" cy="2084832"/>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Layer</a:t>
                      </a:r>
                    </a:p>
                  </a:txBody>
                  <a:tcPr>
                    <a:solidFill>
                      <a:srgbClr val="16213E"/>
                    </a:solidFill>
                  </a:tcPr>
                </a:tc>
                <a:tc>
                  <a:txBody>
                    <a:bodyPr/>
                    <a:lstStyle/>
                    <a:p>
                      <a:pPr algn="l"/>
                      <a:r>
                        <a:rPr sz="1100" b="1">
                          <a:solidFill>
                            <a:srgbClr val="FFFFFF"/>
                          </a:solidFill>
                          <a:latin typeface="Calibri"/>
                        </a:rPr>
                        <a:t>What It Is</a:t>
                      </a:r>
                    </a:p>
                  </a:txBody>
                  <a:tcPr>
                    <a:solidFill>
                      <a:srgbClr val="16213E"/>
                    </a:solidFill>
                  </a:tcPr>
                </a:tc>
                <a:tc>
                  <a:txBody>
                    <a:bodyPr/>
                    <a:lstStyle/>
                    <a:p>
                      <a:pPr algn="l"/>
                      <a:r>
                        <a:rPr sz="1100" b="1">
                          <a:solidFill>
                            <a:srgbClr val="FFFFFF"/>
                          </a:solidFill>
                          <a:latin typeface="Calibri"/>
                        </a:rPr>
                        <a:t>Key Players</a:t>
                      </a:r>
                    </a:p>
                  </a:txBody>
                  <a:tcPr>
                    <a:solidFill>
                      <a:srgbClr val="16213E"/>
                    </a:solidFill>
                  </a:tcPr>
                </a:tc>
                <a:tc>
                  <a:txBody>
                    <a:bodyPr/>
                    <a:lstStyle/>
                    <a:p>
                      <a:pPr algn="l"/>
                      <a:r>
                        <a:rPr sz="1100" b="1">
                          <a:solidFill>
                            <a:srgbClr val="FFFFFF"/>
                          </a:solidFill>
                          <a:latin typeface="Calibri"/>
                        </a:rPr>
                        <a:t>Where Value Lives</a:t>
                      </a:r>
                    </a:p>
                  </a:txBody>
                  <a:tcPr>
                    <a:solidFill>
                      <a:srgbClr val="16213E"/>
                    </a:solidFill>
                  </a:tcPr>
                </a:tc>
              </a:tr>
              <a:tr h="347472">
                <a:tc>
                  <a:txBody>
                    <a:bodyPr/>
                    <a:lstStyle/>
                    <a:p>
                      <a:r>
                        <a:rPr sz="1000">
                          <a:solidFill>
                            <a:srgbClr val="1A1A2E"/>
                          </a:solidFill>
                          <a:latin typeface="Calibri"/>
                        </a:rPr>
                        <a:t>Layer 5: Applications</a:t>
                      </a:r>
                    </a:p>
                  </a:txBody>
                  <a:tcPr>
                    <a:solidFill>
                      <a:srgbClr val="FFFFFF"/>
                    </a:solidFill>
                  </a:tcPr>
                </a:tc>
                <a:tc>
                  <a:txBody>
                    <a:bodyPr/>
                    <a:lstStyle/>
                    <a:p>
                      <a:r>
                        <a:rPr sz="1000">
                          <a:solidFill>
                            <a:srgbClr val="1A1A2E"/>
                          </a:solidFill>
                          <a:latin typeface="Calibri"/>
                        </a:rPr>
                        <a:t>End-user products people interact with daily</a:t>
                      </a:r>
                    </a:p>
                  </a:txBody>
                  <a:tcPr>
                    <a:solidFill>
                      <a:srgbClr val="FFFFFF"/>
                    </a:solidFill>
                  </a:tcPr>
                </a:tc>
                <a:tc>
                  <a:txBody>
                    <a:bodyPr/>
                    <a:lstStyle/>
                    <a:p>
                      <a:r>
                        <a:rPr sz="1000">
                          <a:solidFill>
                            <a:srgbClr val="1A1A2E"/>
                          </a:solidFill>
                          <a:latin typeface="Calibri"/>
                        </a:rPr>
                        <a:t>ChatGPT, Claude.ai, Gemini, Perplexity, Copilot</a:t>
                      </a:r>
                    </a:p>
                  </a:txBody>
                  <a:tcPr>
                    <a:solidFill>
                      <a:srgbClr val="FFFFFF"/>
                    </a:solidFill>
                  </a:tcPr>
                </a:tc>
                <a:tc>
                  <a:txBody>
                    <a:bodyPr/>
                    <a:lstStyle/>
                    <a:p>
                      <a:r>
                        <a:rPr sz="1000">
                          <a:solidFill>
                            <a:srgbClr val="1A1A2E"/>
                          </a:solidFill>
                          <a:latin typeface="Calibri"/>
                        </a:rPr>
                        <a:t>User experience + workflow integration</a:t>
                      </a:r>
                    </a:p>
                  </a:txBody>
                  <a:tcPr>
                    <a:solidFill>
                      <a:srgbClr val="FFFFFF"/>
                    </a:solidFill>
                  </a:tcPr>
                </a:tc>
              </a:tr>
              <a:tr h="347472">
                <a:tc>
                  <a:txBody>
                    <a:bodyPr/>
                    <a:lstStyle/>
                    <a:p>
                      <a:r>
                        <a:rPr sz="1000">
                          <a:solidFill>
                            <a:srgbClr val="1A1A2E"/>
                          </a:solidFill>
                          <a:latin typeface="Calibri"/>
                        </a:rPr>
                        <a:t>Layer 4: Agent Frameworks</a:t>
                      </a:r>
                    </a:p>
                  </a:txBody>
                  <a:tcPr>
                    <a:solidFill>
                      <a:srgbClr val="F8F9FF"/>
                    </a:solidFill>
                  </a:tcPr>
                </a:tc>
                <a:tc>
                  <a:txBody>
                    <a:bodyPr/>
                    <a:lstStyle/>
                    <a:p>
                      <a:r>
                        <a:rPr sz="1000">
                          <a:solidFill>
                            <a:srgbClr val="1A1A2E"/>
                          </a:solidFill>
                          <a:latin typeface="Calibri"/>
                        </a:rPr>
                        <a:t>Orchestration of multi-step AI workflows</a:t>
                      </a:r>
                    </a:p>
                  </a:txBody>
                  <a:tcPr>
                    <a:solidFill>
                      <a:srgbClr val="F8F9FF"/>
                    </a:solidFill>
                  </a:tcPr>
                </a:tc>
                <a:tc>
                  <a:txBody>
                    <a:bodyPr/>
                    <a:lstStyle/>
                    <a:p>
                      <a:r>
                        <a:rPr sz="1000">
                          <a:solidFill>
                            <a:srgbClr val="1A1A2E"/>
                          </a:solidFill>
                          <a:latin typeface="Calibri"/>
                        </a:rPr>
                        <a:t>Claude Agent SDK, OpenAI Agents, LangGraph, CrewAI</a:t>
                      </a:r>
                    </a:p>
                  </a:txBody>
                  <a:tcPr>
                    <a:solidFill>
                      <a:srgbClr val="F8F9FF"/>
                    </a:solidFill>
                  </a:tcPr>
                </a:tc>
                <a:tc>
                  <a:txBody>
                    <a:bodyPr/>
                    <a:lstStyle/>
                    <a:p>
                      <a:r>
                        <a:rPr sz="1000">
                          <a:solidFill>
                            <a:srgbClr val="1A1A2E"/>
                          </a:solidFill>
                          <a:latin typeface="Calibri"/>
                        </a:rPr>
                        <a:t>Business process automation</a:t>
                      </a:r>
                    </a:p>
                  </a:txBody>
                  <a:tcPr>
                    <a:solidFill>
                      <a:srgbClr val="F8F9FF"/>
                    </a:solidFill>
                  </a:tcPr>
                </a:tc>
              </a:tr>
              <a:tr h="347472">
                <a:tc>
                  <a:txBody>
                    <a:bodyPr/>
                    <a:lstStyle/>
                    <a:p>
                      <a:r>
                        <a:rPr sz="1000">
                          <a:solidFill>
                            <a:srgbClr val="1A1A2E"/>
                          </a:solidFill>
                          <a:latin typeface="Calibri"/>
                        </a:rPr>
                        <a:t>Layer 3: Integration Tools</a:t>
                      </a:r>
                    </a:p>
                  </a:txBody>
                  <a:tcPr>
                    <a:solidFill>
                      <a:srgbClr val="FFFFFF"/>
                    </a:solidFill>
                  </a:tcPr>
                </a:tc>
                <a:tc>
                  <a:txBody>
                    <a:bodyPr/>
                    <a:lstStyle/>
                    <a:p>
                      <a:r>
                        <a:rPr sz="1000">
                          <a:solidFill>
                            <a:srgbClr val="1A1A2E"/>
                          </a:solidFill>
                          <a:latin typeface="Calibri"/>
                        </a:rPr>
                        <a:t>Connecting models to data and external systems</a:t>
                      </a:r>
                    </a:p>
                  </a:txBody>
                  <a:tcPr>
                    <a:solidFill>
                      <a:srgbClr val="FFFFFF"/>
                    </a:solidFill>
                  </a:tcPr>
                </a:tc>
                <a:tc>
                  <a:txBody>
                    <a:bodyPr/>
                    <a:lstStyle/>
                    <a:p>
                      <a:r>
                        <a:rPr sz="1000">
                          <a:solidFill>
                            <a:srgbClr val="1A1A2E"/>
                          </a:solidFill>
                          <a:latin typeface="Calibri"/>
                        </a:rPr>
                        <a:t>MCP, LangChain, LlamaIndex, RAG Pipelines</a:t>
                      </a:r>
                    </a:p>
                  </a:txBody>
                  <a:tcPr>
                    <a:solidFill>
                      <a:srgbClr val="FFFFFF"/>
                    </a:solidFill>
                  </a:tcPr>
                </a:tc>
                <a:tc>
                  <a:txBody>
                    <a:bodyPr/>
                    <a:lstStyle/>
                    <a:p>
                      <a:r>
                        <a:rPr sz="1000">
                          <a:solidFill>
                            <a:srgbClr val="1A1A2E"/>
                          </a:solidFill>
                          <a:latin typeface="Calibri"/>
                        </a:rPr>
                        <a:t>Enterprise data access</a:t>
                      </a:r>
                    </a:p>
                  </a:txBody>
                  <a:tcPr>
                    <a:solidFill>
                      <a:srgbClr val="FFFFFF"/>
                    </a:solidFill>
                  </a:tcPr>
                </a:tc>
              </a:tr>
              <a:tr h="347472">
                <a:tc>
                  <a:txBody>
                    <a:bodyPr/>
                    <a:lstStyle/>
                    <a:p>
                      <a:r>
                        <a:rPr sz="1000">
                          <a:solidFill>
                            <a:srgbClr val="1A1A2E"/>
                          </a:solidFill>
                          <a:latin typeface="Calibri"/>
                        </a:rPr>
                        <a:t>Layer 2: Foundation Models</a:t>
                      </a:r>
                    </a:p>
                  </a:txBody>
                  <a:tcPr>
                    <a:solidFill>
                      <a:srgbClr val="F8F9FF"/>
                    </a:solidFill>
                  </a:tcPr>
                </a:tc>
                <a:tc>
                  <a:txBody>
                    <a:bodyPr/>
                    <a:lstStyle/>
                    <a:p>
                      <a:r>
                        <a:rPr sz="1000">
                          <a:solidFill>
                            <a:srgbClr val="1A1A2E"/>
                          </a:solidFill>
                          <a:latin typeface="Calibri"/>
                        </a:rPr>
                        <a:t>The raw intelligence — trained on massive data</a:t>
                      </a:r>
                    </a:p>
                  </a:txBody>
                  <a:tcPr>
                    <a:solidFill>
                      <a:srgbClr val="F8F9FF"/>
                    </a:solidFill>
                  </a:tcPr>
                </a:tc>
                <a:tc>
                  <a:txBody>
                    <a:bodyPr/>
                    <a:lstStyle/>
                    <a:p>
                      <a:r>
                        <a:rPr sz="1000">
                          <a:solidFill>
                            <a:srgbClr val="1A1A2E"/>
                          </a:solidFill>
                          <a:latin typeface="Calibri"/>
                        </a:rPr>
                        <a:t>GPT-4.1, Claude 3.7, Gemini 2.5, Llama 4, DeepSeek</a:t>
                      </a:r>
                    </a:p>
                  </a:txBody>
                  <a:tcPr>
                    <a:solidFill>
                      <a:srgbClr val="F8F9FF"/>
                    </a:solidFill>
                  </a:tcPr>
                </a:tc>
                <a:tc>
                  <a:txBody>
                    <a:bodyPr/>
                    <a:lstStyle/>
                    <a:p>
                      <a:r>
                        <a:rPr sz="1000">
                          <a:solidFill>
                            <a:srgbClr val="1A1A2E"/>
                          </a:solidFill>
                          <a:latin typeface="Calibri"/>
                        </a:rPr>
                        <a:t>Capability benchmarks</a:t>
                      </a:r>
                    </a:p>
                  </a:txBody>
                  <a:tcPr>
                    <a:solidFill>
                      <a:srgbClr val="F8F9FF"/>
                    </a:solidFill>
                  </a:tcPr>
                </a:tc>
              </a:tr>
              <a:tr h="347472">
                <a:tc>
                  <a:txBody>
                    <a:bodyPr/>
                    <a:lstStyle/>
                    <a:p>
                      <a:r>
                        <a:rPr sz="1000">
                          <a:solidFill>
                            <a:srgbClr val="1A1A2E"/>
                          </a:solidFill>
                          <a:latin typeface="Calibri"/>
                        </a:rPr>
                        <a:t>Layer 1: Infrastructure</a:t>
                      </a:r>
                    </a:p>
                  </a:txBody>
                  <a:tcPr>
                    <a:solidFill>
                      <a:srgbClr val="FFFFFF"/>
                    </a:solidFill>
                  </a:tcPr>
                </a:tc>
                <a:tc>
                  <a:txBody>
                    <a:bodyPr/>
                    <a:lstStyle/>
                    <a:p>
                      <a:r>
                        <a:rPr sz="1000">
                          <a:solidFill>
                            <a:srgbClr val="1A1A2E"/>
                          </a:solidFill>
                          <a:latin typeface="Calibri"/>
                        </a:rPr>
                        <a:t>Compute, cloud, and specialized AI chips</a:t>
                      </a:r>
                    </a:p>
                  </a:txBody>
                  <a:tcPr>
                    <a:solidFill>
                      <a:srgbClr val="FFFFFF"/>
                    </a:solidFill>
                  </a:tcPr>
                </a:tc>
                <a:tc>
                  <a:txBody>
                    <a:bodyPr/>
                    <a:lstStyle/>
                    <a:p>
                      <a:r>
                        <a:rPr sz="1000">
                          <a:solidFill>
                            <a:srgbClr val="1A1A2E"/>
                          </a:solidFill>
                          <a:latin typeface="Calibri"/>
                        </a:rPr>
                        <a:t>NVIDIA H100, AWS, Azure, GCP, Groq</a:t>
                      </a:r>
                    </a:p>
                  </a:txBody>
                  <a:tcPr>
                    <a:solidFill>
                      <a:srgbClr val="FFFFFF"/>
                    </a:solidFill>
                  </a:tcPr>
                </a:tc>
                <a:tc>
                  <a:txBody>
                    <a:bodyPr/>
                    <a:lstStyle/>
                    <a:p>
                      <a:r>
                        <a:rPr sz="1000">
                          <a:solidFill>
                            <a:srgbClr val="1A1A2E"/>
                          </a:solidFill>
                          <a:latin typeface="Calibri"/>
                        </a:rPr>
                        <a:t>Speed and cost</a:t>
                      </a:r>
                    </a:p>
                  </a:txBody>
                  <a:tcPr>
                    <a:solidFill>
                      <a:srgbClr val="FFFFFF"/>
                    </a:solidFill>
                  </a:tcPr>
                </a:tc>
              </a:tr>
            </a:tbl>
          </a:graphicData>
        </a:graphic>
      </p:graphicFrame>
      <p:sp>
        <p:nvSpPr>
          <p:cNvPr id="11" name="TextBox 10"/>
          <p:cNvSpPr txBox="1"/>
          <p:nvPr/>
        </p:nvSpPr>
        <p:spPr>
          <a:xfrm>
            <a:off x="457200" y="352044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critical insight for business strategists:</a:t>
            </a:r>
          </a:p>
          <a:p>
            <a:pPr>
              <a:spcBef>
                <a:spcPts val="200"/>
              </a:spcBef>
              <a:spcAft>
                <a:spcPts val="100"/>
              </a:spcAft>
            </a:pPr>
            <a:r>
              <a:rPr sz="1200">
                <a:solidFill>
                  <a:srgbClr val="0EA5E9"/>
                </a:solidFill>
                <a:latin typeface="Calibri"/>
              </a:rPr>
              <a:t>• </a:t>
            </a:r>
            <a:r>
              <a:rPr sz="1200" b="0">
                <a:solidFill>
                  <a:srgbClr val="1A1A2E"/>
                </a:solidFill>
                <a:latin typeface="Calibri"/>
              </a:rPr>
              <a:t>Layers 1 and 2 are rapidly commoditizing — multiple providers offer similar capability at falling prices</a:t>
            </a:r>
          </a:p>
          <a:p>
            <a:pPr>
              <a:spcBef>
                <a:spcPts val="200"/>
              </a:spcBef>
              <a:spcAft>
                <a:spcPts val="100"/>
              </a:spcAft>
            </a:pPr>
            <a:r>
              <a:rPr sz="1200">
                <a:solidFill>
                  <a:srgbClr val="0EA5E9"/>
                </a:solidFill>
                <a:latin typeface="Calibri"/>
              </a:rPr>
              <a:t>• </a:t>
            </a:r>
            <a:r>
              <a:rPr sz="1200" b="0">
                <a:solidFill>
                  <a:srgbClr val="1A1A2E"/>
                </a:solidFill>
                <a:latin typeface="Calibri"/>
              </a:rPr>
              <a:t>Competitive advantage has moved to Layers 3, 4, and 5 — how you connect AI to your data and workflows</a:t>
            </a:r>
          </a:p>
          <a:p>
            <a:pPr>
              <a:spcBef>
                <a:spcPts val="200"/>
              </a:spcBef>
              <a:spcAft>
                <a:spcPts val="100"/>
              </a:spcAft>
            </a:pPr>
            <a:r>
              <a:rPr sz="1200">
                <a:solidFill>
                  <a:srgbClr val="0EA5E9"/>
                </a:solidFill>
                <a:latin typeface="Calibri"/>
              </a:rPr>
              <a:t>• </a:t>
            </a:r>
            <a:r>
              <a:rPr sz="1200" b="0">
                <a:solidFill>
                  <a:srgbClr val="1A1A2E"/>
                </a:solidFill>
                <a:latin typeface="Calibri"/>
              </a:rPr>
              <a:t>The companies winning in AI are not the ones with the best models — they're the ones with the best integration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Frontier Models — The Big Three in 2026</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OpenAI, Anthropic, Google: What's New and Why It Matters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4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4</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OpenAI — Reasoning at Scale</a:t>
            </a:r>
          </a:p>
        </p:txBody>
      </p:sp>
      <p:graphicFrame>
        <p:nvGraphicFramePr>
          <p:cNvPr id="11" name="Table 10"/>
          <p:cNvGraphicFramePr>
            <a:graphicFrameLocks noGrp="1"/>
          </p:cNvGraphicFramePr>
          <p:nvPr/>
        </p:nvGraphicFramePr>
        <p:xfrm>
          <a:off x="457200" y="1600200"/>
          <a:ext cx="6492240" cy="1389888"/>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Model</a:t>
                      </a:r>
                    </a:p>
                  </a:txBody>
                  <a:tcPr>
                    <a:solidFill>
                      <a:srgbClr val="16213E"/>
                    </a:solidFill>
                  </a:tcPr>
                </a:tc>
                <a:tc>
                  <a:txBody>
                    <a:bodyPr/>
                    <a:lstStyle/>
                    <a:p>
                      <a:pPr algn="l"/>
                      <a:r>
                        <a:rPr sz="1100" b="1">
                          <a:solidFill>
                            <a:srgbClr val="FFFFFF"/>
                          </a:solidFill>
                          <a:latin typeface="Calibri"/>
                        </a:rPr>
                        <a:t>Capability</a:t>
                      </a:r>
                    </a:p>
                  </a:txBody>
                  <a:tcPr>
                    <a:solidFill>
                      <a:srgbClr val="16213E"/>
                    </a:solidFill>
                  </a:tcPr>
                </a:tc>
                <a:tc>
                  <a:txBody>
                    <a:bodyPr/>
                    <a:lstStyle/>
                    <a:p>
                      <a:pPr algn="l"/>
                      <a:r>
                        <a:rPr sz="1100" b="1">
                          <a:solidFill>
                            <a:srgbClr val="FFFFFF"/>
                          </a:solidFill>
                          <a:latin typeface="Calibri"/>
                        </a:rPr>
                        <a:t>Best For</a:t>
                      </a:r>
                    </a:p>
                  </a:txBody>
                  <a:tcPr>
                    <a:solidFill>
                      <a:srgbClr val="16213E"/>
                    </a:solidFill>
                  </a:tcPr>
                </a:tc>
                <a:tc>
                  <a:txBody>
                    <a:bodyPr/>
                    <a:lstStyle/>
                    <a:p>
                      <a:pPr algn="l"/>
                      <a:r>
                        <a:rPr sz="1100" b="1">
                          <a:solidFill>
                            <a:srgbClr val="FFFFFF"/>
                          </a:solidFill>
                          <a:latin typeface="Calibri"/>
                        </a:rPr>
                        <a:t>Cost</a:t>
                      </a:r>
                    </a:p>
                  </a:txBody>
                  <a:tcPr>
                    <a:solidFill>
                      <a:srgbClr val="16213E"/>
                    </a:solidFill>
                  </a:tcPr>
                </a:tc>
              </a:tr>
              <a:tr h="347472">
                <a:tc>
                  <a:txBody>
                    <a:bodyPr/>
                    <a:lstStyle/>
                    <a:p>
                      <a:r>
                        <a:rPr sz="1000">
                          <a:solidFill>
                            <a:srgbClr val="1A1A2E"/>
                          </a:solidFill>
                          <a:latin typeface="Calibri"/>
                        </a:rPr>
                        <a:t>GPT-4.1</a:t>
                      </a:r>
                    </a:p>
                  </a:txBody>
                  <a:tcPr>
                    <a:solidFill>
                      <a:srgbClr val="FFFFFF"/>
                    </a:solidFill>
                  </a:tcPr>
                </a:tc>
                <a:tc>
                  <a:txBody>
                    <a:bodyPr/>
                    <a:lstStyle/>
                    <a:p>
                      <a:r>
                        <a:rPr sz="1000">
                          <a:solidFill>
                            <a:srgbClr val="1A1A2E"/>
                          </a:solidFill>
                          <a:latin typeface="Calibri"/>
                        </a:rPr>
                        <a:t>Best general-purpose, fast</a:t>
                      </a:r>
                    </a:p>
                  </a:txBody>
                  <a:tcPr>
                    <a:solidFill>
                      <a:srgbClr val="FFFFFF"/>
                    </a:solidFill>
                  </a:tcPr>
                </a:tc>
                <a:tc>
                  <a:txBody>
                    <a:bodyPr/>
                    <a:lstStyle/>
                    <a:p>
                      <a:r>
                        <a:rPr sz="1000">
                          <a:solidFill>
                            <a:srgbClr val="1A1A2E"/>
                          </a:solidFill>
                          <a:latin typeface="Calibri"/>
                        </a:rPr>
                        <a:t>Everyday tasks, broad applications</a:t>
                      </a:r>
                    </a:p>
                  </a:txBody>
                  <a:tcPr>
                    <a:solidFill>
                      <a:srgbClr val="FFFFFF"/>
                    </a:solidFill>
                  </a:tcPr>
                </a:tc>
                <a:tc>
                  <a:txBody>
                    <a:bodyPr/>
                    <a:lstStyle/>
                    <a:p>
                      <a:r>
                        <a:rPr sz="1000">
                          <a:solidFill>
                            <a:srgbClr val="1A1A2E"/>
                          </a:solidFill>
                          <a:latin typeface="Calibri"/>
                        </a:rPr>
                        <a:t>~$2–8/M tokens</a:t>
                      </a:r>
                    </a:p>
                  </a:txBody>
                  <a:tcPr>
                    <a:solidFill>
                      <a:srgbClr val="FFFFFF"/>
                    </a:solidFill>
                  </a:tcPr>
                </a:tc>
              </a:tr>
              <a:tr h="347472">
                <a:tc>
                  <a:txBody>
                    <a:bodyPr/>
                    <a:lstStyle/>
                    <a:p>
                      <a:r>
                        <a:rPr sz="1000">
                          <a:solidFill>
                            <a:srgbClr val="1A1A2E"/>
                          </a:solidFill>
                          <a:latin typeface="Calibri"/>
                        </a:rPr>
                        <a:t>o3</a:t>
                      </a:r>
                    </a:p>
                  </a:txBody>
                  <a:tcPr>
                    <a:solidFill>
                      <a:srgbClr val="F8F9FF"/>
                    </a:solidFill>
                  </a:tcPr>
                </a:tc>
                <a:tc>
                  <a:txBody>
                    <a:bodyPr/>
                    <a:lstStyle/>
                    <a:p>
                      <a:r>
                        <a:rPr sz="1000">
                          <a:solidFill>
                            <a:srgbClr val="1A1A2E"/>
                          </a:solidFill>
                          <a:latin typeface="Calibri"/>
                        </a:rPr>
                        <a:t>Deep reasoning, thinks before answering</a:t>
                      </a:r>
                    </a:p>
                  </a:txBody>
                  <a:tcPr>
                    <a:solidFill>
                      <a:srgbClr val="F8F9FF"/>
                    </a:solidFill>
                  </a:tcPr>
                </a:tc>
                <a:tc>
                  <a:txBody>
                    <a:bodyPr/>
                    <a:lstStyle/>
                    <a:p>
                      <a:r>
                        <a:rPr sz="1000">
                          <a:solidFill>
                            <a:srgbClr val="1A1A2E"/>
                          </a:solidFill>
                          <a:latin typeface="Calibri"/>
                        </a:rPr>
                        <a:t>Math, complex logic, multi-step analysis</a:t>
                      </a:r>
                    </a:p>
                  </a:txBody>
                  <a:tcPr>
                    <a:solidFill>
                      <a:srgbClr val="F8F9FF"/>
                    </a:solidFill>
                  </a:tcPr>
                </a:tc>
                <a:tc>
                  <a:txBody>
                    <a:bodyPr/>
                    <a:lstStyle/>
                    <a:p>
                      <a:r>
                        <a:rPr sz="1000">
                          <a:solidFill>
                            <a:srgbClr val="1A1A2E"/>
                          </a:solidFill>
                          <a:latin typeface="Calibri"/>
                        </a:rPr>
                        <a:t>~$15/M tokens</a:t>
                      </a:r>
                    </a:p>
                  </a:txBody>
                  <a:tcPr>
                    <a:solidFill>
                      <a:srgbClr val="F8F9FF"/>
                    </a:solidFill>
                  </a:tcPr>
                </a:tc>
              </a:tr>
              <a:tr h="347472">
                <a:tc>
                  <a:txBody>
                    <a:bodyPr/>
                    <a:lstStyle/>
                    <a:p>
                      <a:r>
                        <a:rPr sz="1000">
                          <a:solidFill>
                            <a:srgbClr val="1A1A2E"/>
                          </a:solidFill>
                          <a:latin typeface="Calibri"/>
                        </a:rPr>
                        <a:t>o4-mini</a:t>
                      </a:r>
                    </a:p>
                  </a:txBody>
                  <a:tcPr>
                    <a:solidFill>
                      <a:srgbClr val="FFFFFF"/>
                    </a:solidFill>
                  </a:tcPr>
                </a:tc>
                <a:tc>
                  <a:txBody>
                    <a:bodyPr/>
                    <a:lstStyle/>
                    <a:p>
                      <a:r>
                        <a:rPr sz="1000">
                          <a:solidFill>
                            <a:srgbClr val="1A1A2E"/>
                          </a:solidFill>
                          <a:latin typeface="Calibri"/>
                        </a:rPr>
                        <a:t>Near-o3 quality, 10× cheaper</a:t>
                      </a:r>
                    </a:p>
                  </a:txBody>
                  <a:tcPr>
                    <a:solidFill>
                      <a:srgbClr val="FFFFFF"/>
                    </a:solidFill>
                  </a:tcPr>
                </a:tc>
                <a:tc>
                  <a:txBody>
                    <a:bodyPr/>
                    <a:lstStyle/>
                    <a:p>
                      <a:r>
                        <a:rPr sz="1000">
                          <a:solidFill>
                            <a:srgbClr val="1A1A2E"/>
                          </a:solidFill>
                          <a:latin typeface="Calibri"/>
                        </a:rPr>
                        <a:t>Reasoning tasks at scale</a:t>
                      </a:r>
                    </a:p>
                  </a:txBody>
                  <a:tcPr>
                    <a:solidFill>
                      <a:srgbClr val="FFFFFF"/>
                    </a:solidFill>
                  </a:tcPr>
                </a:tc>
                <a:tc>
                  <a:txBody>
                    <a:bodyPr/>
                    <a:lstStyle/>
                    <a:p>
                      <a:r>
                        <a:rPr sz="1000">
                          <a:solidFill>
                            <a:srgbClr val="1A1A2E"/>
                          </a:solidFill>
                          <a:latin typeface="Calibri"/>
                        </a:rPr>
                        <a:t>~$1–3/M tokens</a:t>
                      </a:r>
                    </a:p>
                  </a:txBody>
                  <a:tcPr>
                    <a:solidFill>
                      <a:srgbClr val="FFFFFF"/>
                    </a:solidFill>
                  </a:tcPr>
                </a:tc>
              </a:tr>
            </a:tbl>
          </a:graphicData>
        </a:graphic>
      </p:graphicFrame>
      <p:sp>
        <p:nvSpPr>
          <p:cNvPr id="12" name="TextBox 11"/>
          <p:cNvSpPr txBox="1"/>
          <p:nvPr/>
        </p:nvSpPr>
        <p:spPr>
          <a:xfrm>
            <a:off x="457200" y="3099816"/>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Anthropic — Coding and Long Context</a:t>
            </a:r>
          </a:p>
        </p:txBody>
      </p:sp>
      <p:graphicFrame>
        <p:nvGraphicFramePr>
          <p:cNvPr id="13" name="Table 12"/>
          <p:cNvGraphicFramePr>
            <a:graphicFrameLocks noGrp="1"/>
          </p:cNvGraphicFramePr>
          <p:nvPr/>
        </p:nvGraphicFramePr>
        <p:xfrm>
          <a:off x="457200" y="3374136"/>
          <a:ext cx="6492240" cy="1389888"/>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Model</a:t>
                      </a:r>
                    </a:p>
                  </a:txBody>
                  <a:tcPr>
                    <a:solidFill>
                      <a:srgbClr val="16213E"/>
                    </a:solidFill>
                  </a:tcPr>
                </a:tc>
                <a:tc>
                  <a:txBody>
                    <a:bodyPr/>
                    <a:lstStyle/>
                    <a:p>
                      <a:pPr algn="l"/>
                      <a:r>
                        <a:rPr sz="1100" b="1">
                          <a:solidFill>
                            <a:srgbClr val="FFFFFF"/>
                          </a:solidFill>
                          <a:latin typeface="Calibri"/>
                        </a:rPr>
                        <a:t>Capability</a:t>
                      </a:r>
                    </a:p>
                  </a:txBody>
                  <a:tcPr>
                    <a:solidFill>
                      <a:srgbClr val="16213E"/>
                    </a:solidFill>
                  </a:tcPr>
                </a:tc>
                <a:tc>
                  <a:txBody>
                    <a:bodyPr/>
                    <a:lstStyle/>
                    <a:p>
                      <a:pPr algn="l"/>
                      <a:r>
                        <a:rPr sz="1100" b="1">
                          <a:solidFill>
                            <a:srgbClr val="FFFFFF"/>
                          </a:solidFill>
                          <a:latin typeface="Calibri"/>
                        </a:rPr>
                        <a:t>Best For</a:t>
                      </a:r>
                    </a:p>
                  </a:txBody>
                  <a:tcPr>
                    <a:solidFill>
                      <a:srgbClr val="16213E"/>
                    </a:solidFill>
                  </a:tcPr>
                </a:tc>
                <a:tc>
                  <a:txBody>
                    <a:bodyPr/>
                    <a:lstStyle/>
                    <a:p>
                      <a:pPr algn="l"/>
                      <a:r>
                        <a:rPr sz="1100" b="1">
                          <a:solidFill>
                            <a:srgbClr val="FFFFFF"/>
                          </a:solidFill>
                          <a:latin typeface="Calibri"/>
                        </a:rPr>
                        <a:t>Cost</a:t>
                      </a:r>
                    </a:p>
                  </a:txBody>
                  <a:tcPr>
                    <a:solidFill>
                      <a:srgbClr val="16213E"/>
                    </a:solidFill>
                  </a:tcPr>
                </a:tc>
              </a:tr>
              <a:tr h="347472">
                <a:tc>
                  <a:txBody>
                    <a:bodyPr/>
                    <a:lstStyle/>
                    <a:p>
                      <a:r>
                        <a:rPr sz="1000">
                          <a:solidFill>
                            <a:srgbClr val="1A1A2E"/>
                          </a:solidFill>
                          <a:latin typeface="Calibri"/>
                        </a:rPr>
                        <a:t>Claude 3.7 Sonnet</a:t>
                      </a:r>
                    </a:p>
                  </a:txBody>
                  <a:tcPr>
                    <a:solidFill>
                      <a:srgbClr val="FFFFFF"/>
                    </a:solidFill>
                  </a:tcPr>
                </a:tc>
                <a:tc>
                  <a:txBody>
                    <a:bodyPr/>
                    <a:lstStyle/>
                    <a:p>
                      <a:r>
                        <a:rPr sz="1000">
                          <a:solidFill>
                            <a:srgbClr val="1A1A2E"/>
                          </a:solidFill>
                          <a:latin typeface="Calibri"/>
                        </a:rPr>
                        <a:t>#1 on coding benchmarks, extended thinking</a:t>
                      </a:r>
                    </a:p>
                  </a:txBody>
                  <a:tcPr>
                    <a:solidFill>
                      <a:srgbClr val="FFFFFF"/>
                    </a:solidFill>
                  </a:tcPr>
                </a:tc>
                <a:tc>
                  <a:txBody>
                    <a:bodyPr/>
                    <a:lstStyle/>
                    <a:p>
                      <a:r>
                        <a:rPr sz="1000">
                          <a:solidFill>
                            <a:srgbClr val="1A1A2E"/>
                          </a:solidFill>
                          <a:latin typeface="Calibri"/>
                        </a:rPr>
                        <a:t>Software development, document analysis</a:t>
                      </a:r>
                    </a:p>
                  </a:txBody>
                  <a:tcPr>
                    <a:solidFill>
                      <a:srgbClr val="FFFFFF"/>
                    </a:solidFill>
                  </a:tcPr>
                </a:tc>
                <a:tc>
                  <a:txBody>
                    <a:bodyPr/>
                    <a:lstStyle/>
                    <a:p>
                      <a:r>
                        <a:rPr sz="1000">
                          <a:solidFill>
                            <a:srgbClr val="1A1A2E"/>
                          </a:solidFill>
                          <a:latin typeface="Calibri"/>
                        </a:rPr>
                        <a:t>~$3–15/M tokens</a:t>
                      </a:r>
                    </a:p>
                  </a:txBody>
                  <a:tcPr>
                    <a:solidFill>
                      <a:srgbClr val="FFFFFF"/>
                    </a:solidFill>
                  </a:tcPr>
                </a:tc>
              </a:tr>
              <a:tr h="347472">
                <a:tc>
                  <a:txBody>
                    <a:bodyPr/>
                    <a:lstStyle/>
                    <a:p>
                      <a:r>
                        <a:rPr sz="1000">
                          <a:solidFill>
                            <a:srgbClr val="1A1A2E"/>
                          </a:solidFill>
                          <a:latin typeface="Calibri"/>
                        </a:rPr>
                        <a:t>Claude 3.7 + Computer Use</a:t>
                      </a:r>
                    </a:p>
                  </a:txBody>
                  <a:tcPr>
                    <a:solidFill>
                      <a:srgbClr val="F8F9FF"/>
                    </a:solidFill>
                  </a:tcPr>
                </a:tc>
                <a:tc>
                  <a:txBody>
                    <a:bodyPr/>
                    <a:lstStyle/>
                    <a:p>
                      <a:r>
                        <a:rPr sz="1000">
                          <a:solidFill>
                            <a:srgbClr val="1A1A2E"/>
                          </a:solidFill>
                          <a:latin typeface="Calibri"/>
                        </a:rPr>
                        <a:t>Controls browser, clicks, fills forms</a:t>
                      </a:r>
                    </a:p>
                  </a:txBody>
                  <a:tcPr>
                    <a:solidFill>
                      <a:srgbClr val="F8F9FF"/>
                    </a:solidFill>
                  </a:tcPr>
                </a:tc>
                <a:tc>
                  <a:txBody>
                    <a:bodyPr/>
                    <a:lstStyle/>
                    <a:p>
                      <a:r>
                        <a:rPr sz="1000">
                          <a:solidFill>
                            <a:srgbClr val="1A1A2E"/>
                          </a:solidFill>
                          <a:latin typeface="Calibri"/>
                        </a:rPr>
                        <a:t>GUI automation, legacy system access</a:t>
                      </a:r>
                    </a:p>
                  </a:txBody>
                  <a:tcPr>
                    <a:solidFill>
                      <a:srgbClr val="F8F9FF"/>
                    </a:solidFill>
                  </a:tcPr>
                </a:tc>
                <a:tc>
                  <a:txBody>
                    <a:bodyPr/>
                    <a:lstStyle/>
                    <a:p>
                      <a:r>
                        <a:rPr sz="1000">
                          <a:solidFill>
                            <a:srgbClr val="1A1A2E"/>
                          </a:solidFill>
                          <a:latin typeface="Calibri"/>
                        </a:rPr>
                        <a:t>API add-on</a:t>
                      </a:r>
                    </a:p>
                  </a:txBody>
                  <a:tcPr>
                    <a:solidFill>
                      <a:srgbClr val="F8F9FF"/>
                    </a:solidFill>
                  </a:tcPr>
                </a:tc>
              </a:tr>
              <a:tr h="347472">
                <a:tc>
                  <a:txBody>
                    <a:bodyPr/>
                    <a:lstStyle/>
                    <a:p>
                      <a:r>
                        <a:rPr sz="1000">
                          <a:solidFill>
                            <a:srgbClr val="1A1A2E"/>
                          </a:solidFill>
                          <a:latin typeface="Calibri"/>
                        </a:rPr>
                        <a:t>Claude Haiku</a:t>
                      </a:r>
                    </a:p>
                  </a:txBody>
                  <a:tcPr>
                    <a:solidFill>
                      <a:srgbClr val="FFFFFF"/>
                    </a:solidFill>
                  </a:tcPr>
                </a:tc>
                <a:tc>
                  <a:txBody>
                    <a:bodyPr/>
                    <a:lstStyle/>
                    <a:p>
                      <a:r>
                        <a:rPr sz="1000">
                          <a:solidFill>
                            <a:srgbClr val="1A1A2E"/>
                          </a:solidFill>
                          <a:latin typeface="Calibri"/>
                        </a:rPr>
                        <a:t>Very fast and cheap</a:t>
                      </a:r>
                    </a:p>
                  </a:txBody>
                  <a:tcPr>
                    <a:solidFill>
                      <a:srgbClr val="FFFFFF"/>
                    </a:solidFill>
                  </a:tcPr>
                </a:tc>
                <a:tc>
                  <a:txBody>
                    <a:bodyPr/>
                    <a:lstStyle/>
                    <a:p>
                      <a:r>
                        <a:rPr sz="1000">
                          <a:solidFill>
                            <a:srgbClr val="1A1A2E"/>
                          </a:solidFill>
                          <a:latin typeface="Calibri"/>
                        </a:rPr>
                        <a:t>High-volume simple tasks</a:t>
                      </a:r>
                    </a:p>
                  </a:txBody>
                  <a:tcPr>
                    <a:solidFill>
                      <a:srgbClr val="FFFFFF"/>
                    </a:solidFill>
                  </a:tcPr>
                </a:tc>
                <a:tc>
                  <a:txBody>
                    <a:bodyPr/>
                    <a:lstStyle/>
                    <a:p>
                      <a:r>
                        <a:rPr sz="1000">
                          <a:solidFill>
                            <a:srgbClr val="1A1A2E"/>
                          </a:solidFill>
                          <a:latin typeface="Calibri"/>
                        </a:rPr>
                        <a:t>~$0.25–1.25/M tokens</a:t>
                      </a:r>
                    </a:p>
                  </a:txBody>
                  <a:tcPr>
                    <a:solidFill>
                      <a:srgbClr val="FFFFFF"/>
                    </a:solidFill>
                  </a:tcPr>
                </a:tc>
              </a:tr>
            </a:tbl>
          </a:graphicData>
        </a:graphic>
      </p:graphicFrame>
      <p:sp>
        <p:nvSpPr>
          <p:cNvPr id="14" name="TextBox 13"/>
          <p:cNvSpPr txBox="1"/>
          <p:nvPr/>
        </p:nvSpPr>
        <p:spPr>
          <a:xfrm>
            <a:off x="457200" y="4873752"/>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Google — Multimodal and Massive Context</a:t>
            </a:r>
          </a:p>
        </p:txBody>
      </p:sp>
      <p:graphicFrame>
        <p:nvGraphicFramePr>
          <p:cNvPr id="15" name="Table 14"/>
          <p:cNvGraphicFramePr>
            <a:graphicFrameLocks noGrp="1"/>
          </p:cNvGraphicFramePr>
          <p:nvPr/>
        </p:nvGraphicFramePr>
        <p:xfrm>
          <a:off x="457200" y="5148072"/>
          <a:ext cx="6492240" cy="1042416"/>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Model</a:t>
                      </a:r>
                    </a:p>
                  </a:txBody>
                  <a:tcPr>
                    <a:solidFill>
                      <a:srgbClr val="16213E"/>
                    </a:solidFill>
                  </a:tcPr>
                </a:tc>
                <a:tc>
                  <a:txBody>
                    <a:bodyPr/>
                    <a:lstStyle/>
                    <a:p>
                      <a:pPr algn="l"/>
                      <a:r>
                        <a:rPr sz="1100" b="1">
                          <a:solidFill>
                            <a:srgbClr val="FFFFFF"/>
                          </a:solidFill>
                          <a:latin typeface="Calibri"/>
                        </a:rPr>
                        <a:t>Capability</a:t>
                      </a:r>
                    </a:p>
                  </a:txBody>
                  <a:tcPr>
                    <a:solidFill>
                      <a:srgbClr val="16213E"/>
                    </a:solidFill>
                  </a:tcPr>
                </a:tc>
                <a:tc>
                  <a:txBody>
                    <a:bodyPr/>
                    <a:lstStyle/>
                    <a:p>
                      <a:pPr algn="l"/>
                      <a:r>
                        <a:rPr sz="1100" b="1">
                          <a:solidFill>
                            <a:srgbClr val="FFFFFF"/>
                          </a:solidFill>
                          <a:latin typeface="Calibri"/>
                        </a:rPr>
                        <a:t>Best For</a:t>
                      </a:r>
                    </a:p>
                  </a:txBody>
                  <a:tcPr>
                    <a:solidFill>
                      <a:srgbClr val="16213E"/>
                    </a:solidFill>
                  </a:tcPr>
                </a:tc>
                <a:tc>
                  <a:txBody>
                    <a:bodyPr/>
                    <a:lstStyle/>
                    <a:p>
                      <a:pPr algn="l"/>
                      <a:r>
                        <a:rPr sz="1100" b="1">
                          <a:solidFill>
                            <a:srgbClr val="FFFFFF"/>
                          </a:solidFill>
                          <a:latin typeface="Calibri"/>
                        </a:rPr>
                        <a:t>Cost</a:t>
                      </a:r>
                    </a:p>
                  </a:txBody>
                  <a:tcPr>
                    <a:solidFill>
                      <a:srgbClr val="16213E"/>
                    </a:solidFill>
                  </a:tcPr>
                </a:tc>
              </a:tr>
              <a:tr h="347472">
                <a:tc>
                  <a:txBody>
                    <a:bodyPr/>
                    <a:lstStyle/>
                    <a:p>
                      <a:r>
                        <a:rPr sz="1000">
                          <a:solidFill>
                            <a:srgbClr val="1A1A2E"/>
                          </a:solidFill>
                          <a:latin typeface="Calibri"/>
                        </a:rPr>
                        <a:t>Gemini 2.5 Pro</a:t>
                      </a:r>
                    </a:p>
                  </a:txBody>
                  <a:tcPr>
                    <a:solidFill>
                      <a:srgbClr val="FFFFFF"/>
                    </a:solidFill>
                  </a:tcPr>
                </a:tc>
                <a:tc>
                  <a:txBody>
                    <a:bodyPr/>
                    <a:lstStyle/>
                    <a:p>
                      <a:r>
                        <a:rPr sz="1000">
                          <a:solidFill>
                            <a:srgbClr val="1A1A2E"/>
                          </a:solidFill>
                          <a:latin typeface="Calibri"/>
                        </a:rPr>
                        <a:t>1 million token context, native multimodal</a:t>
                      </a:r>
                    </a:p>
                  </a:txBody>
                  <a:tcPr>
                    <a:solidFill>
                      <a:srgbClr val="FFFFFF"/>
                    </a:solidFill>
                  </a:tcPr>
                </a:tc>
                <a:tc>
                  <a:txBody>
                    <a:bodyPr/>
                    <a:lstStyle/>
                    <a:p>
                      <a:r>
                        <a:rPr sz="1000">
                          <a:solidFill>
                            <a:srgbClr val="1A1A2E"/>
                          </a:solidFill>
                          <a:latin typeface="Calibri"/>
                        </a:rPr>
                        <a:t>Analyzing entire codebases, long documents</a:t>
                      </a:r>
                    </a:p>
                  </a:txBody>
                  <a:tcPr>
                    <a:solidFill>
                      <a:srgbClr val="FFFFFF"/>
                    </a:solidFill>
                  </a:tcPr>
                </a:tc>
                <a:tc>
                  <a:txBody>
                    <a:bodyPr/>
                    <a:lstStyle/>
                    <a:p>
                      <a:r>
                        <a:rPr sz="1000">
                          <a:solidFill>
                            <a:srgbClr val="1A1A2E"/>
                          </a:solidFill>
                          <a:latin typeface="Calibri"/>
                        </a:rPr>
                        <a:t>~$3–15/M tokens</a:t>
                      </a:r>
                    </a:p>
                  </a:txBody>
                  <a:tcPr>
                    <a:solidFill>
                      <a:srgbClr val="FFFFFF"/>
                    </a:solidFill>
                  </a:tcPr>
                </a:tc>
              </a:tr>
              <a:tr h="347472">
                <a:tc>
                  <a:txBody>
                    <a:bodyPr/>
                    <a:lstStyle/>
                    <a:p>
                      <a:r>
                        <a:rPr sz="1000">
                          <a:solidFill>
                            <a:srgbClr val="1A1A2E"/>
                          </a:solidFill>
                          <a:latin typeface="Calibri"/>
                        </a:rPr>
                        <a:t>Gemini 2.0 Flash</a:t>
                      </a:r>
                    </a:p>
                  </a:txBody>
                  <a:tcPr>
                    <a:solidFill>
                      <a:srgbClr val="F8F9FF"/>
                    </a:solidFill>
                  </a:tcPr>
                </a:tc>
                <a:tc>
                  <a:txBody>
                    <a:bodyPr/>
                    <a:lstStyle/>
                    <a:p>
                      <a:r>
                        <a:rPr sz="1000">
                          <a:solidFill>
                            <a:srgbClr val="1A1A2E"/>
                          </a:solidFill>
                          <a:latin typeface="Calibri"/>
                        </a:rPr>
                        <a:t>Extremely fast, cheap, good quality</a:t>
                      </a:r>
                    </a:p>
                  </a:txBody>
                  <a:tcPr>
                    <a:solidFill>
                      <a:srgbClr val="F8F9FF"/>
                    </a:solidFill>
                  </a:tcPr>
                </a:tc>
                <a:tc>
                  <a:txBody>
                    <a:bodyPr/>
                    <a:lstStyle/>
                    <a:p>
                      <a:r>
                        <a:rPr sz="1000">
                          <a:solidFill>
                            <a:srgbClr val="1A1A2E"/>
                          </a:solidFill>
                          <a:latin typeface="Calibri"/>
                        </a:rPr>
                        <a:t>Real-time applications, high volume</a:t>
                      </a:r>
                    </a:p>
                  </a:txBody>
                  <a:tcPr>
                    <a:solidFill>
                      <a:srgbClr val="F8F9FF"/>
                    </a:solidFill>
                  </a:tcPr>
                </a:tc>
                <a:tc>
                  <a:txBody>
                    <a:bodyPr/>
                    <a:lstStyle/>
                    <a:p>
                      <a:r>
                        <a:rPr sz="1000">
                          <a:solidFill>
                            <a:srgbClr val="1A1A2E"/>
                          </a:solidFill>
                          <a:latin typeface="Calibri"/>
                        </a:rPr>
                        <a:t>~$0.10–0.40/M tokens</a:t>
                      </a:r>
                    </a:p>
                  </a:txBody>
                  <a:tcPr>
                    <a:solidFill>
                      <a:srgbClr val="F8F9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The Open Source Revolution</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DeepSeek, Llama, Mistral — Why This Changes Everything</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5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5</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The January 2025 Inflection Point: The DeepSeek Moment</a:t>
            </a:r>
          </a:p>
          <a:p>
            <a:pPr>
              <a:spcBef>
                <a:spcPts val="200"/>
              </a:spcBef>
              <a:spcAft>
                <a:spcPts val="100"/>
              </a:spcAft>
            </a:pPr>
            <a:r>
              <a:rPr sz="1100" b="0">
                <a:solidFill>
                  <a:srgbClr val="2D3748"/>
                </a:solidFill>
                <a:latin typeface="Calibri"/>
              </a:rPr>
              <a:t>DeepSeek (a Chinese AI lab) released two open-source models in early 2025 that matched the best proprietary models — trained for a reported $6 million, compared to hundreds of millions spent by OpenAI and Google. The market reacted: NVIDIA's stock dropped 10% in one day.</a:t>
            </a:r>
          </a:p>
          <a:p>
            <a:pPr>
              <a:spcBef>
                <a:spcPts val="200"/>
              </a:spcBef>
              <a:spcAft>
                <a:spcPts val="100"/>
              </a:spcAft>
            </a:pPr>
            <a:r>
              <a:rPr sz="1200" b="1">
                <a:solidFill>
                  <a:srgbClr val="0F3460"/>
                </a:solidFill>
                <a:latin typeface="Calibri"/>
              </a:rPr>
              <a:t>Leading open-source models as of April 2026:</a:t>
            </a:r>
          </a:p>
        </p:txBody>
      </p:sp>
      <p:graphicFrame>
        <p:nvGraphicFramePr>
          <p:cNvPr id="11" name="Table 10"/>
          <p:cNvGraphicFramePr>
            <a:graphicFrameLocks noGrp="1"/>
          </p:cNvGraphicFramePr>
          <p:nvPr/>
        </p:nvGraphicFramePr>
        <p:xfrm>
          <a:off x="457200" y="2148840"/>
          <a:ext cx="6492240" cy="2084832"/>
        </p:xfrm>
        <a:graphic>
          <a:graphicData uri="http://schemas.openxmlformats.org/drawingml/2006/table">
            <a:tbl>
              <a:tblPr firstRow="1" bandRow="1">
                <a:tableStyleId>{5C22544A-7EE6-4342-B048-85BDC9FD1C3A}</a:tableStyleId>
              </a:tblPr>
              <a:tblGrid>
                <a:gridCol w="1298448"/>
                <a:gridCol w="1298448"/>
                <a:gridCol w="1298448"/>
                <a:gridCol w="1298448"/>
                <a:gridCol w="1298448"/>
              </a:tblGrid>
              <a:tr h="347472">
                <a:tc>
                  <a:txBody>
                    <a:bodyPr/>
                    <a:lstStyle/>
                    <a:p>
                      <a:pPr algn="l"/>
                      <a:r>
                        <a:rPr sz="1100" b="1">
                          <a:solidFill>
                            <a:srgbClr val="FFFFFF"/>
                          </a:solidFill>
                          <a:latin typeface="Calibri"/>
                        </a:rPr>
                        <a:t>Model</a:t>
                      </a:r>
                    </a:p>
                  </a:txBody>
                  <a:tcPr>
                    <a:solidFill>
                      <a:srgbClr val="16213E"/>
                    </a:solidFill>
                  </a:tcPr>
                </a:tc>
                <a:tc>
                  <a:txBody>
                    <a:bodyPr/>
                    <a:lstStyle/>
                    <a:p>
                      <a:pPr algn="l"/>
                      <a:r>
                        <a:rPr sz="1100" b="1">
                          <a:solidFill>
                            <a:srgbClr val="FFFFFF"/>
                          </a:solidFill>
                          <a:latin typeface="Calibri"/>
                        </a:rPr>
                        <a:t>Creator</a:t>
                      </a:r>
                    </a:p>
                  </a:txBody>
                  <a:tcPr>
                    <a:solidFill>
                      <a:srgbClr val="16213E"/>
                    </a:solidFill>
                  </a:tcPr>
                </a:tc>
                <a:tc>
                  <a:txBody>
                    <a:bodyPr/>
                    <a:lstStyle/>
                    <a:p>
                      <a:pPr algn="l"/>
                      <a:r>
                        <a:rPr sz="1100" b="1">
                          <a:solidFill>
                            <a:srgbClr val="FFFFFF"/>
                          </a:solidFill>
                          <a:latin typeface="Calibri"/>
                        </a:rPr>
                        <a:t>Size</a:t>
                      </a:r>
                    </a:p>
                  </a:txBody>
                  <a:tcPr>
                    <a:solidFill>
                      <a:srgbClr val="16213E"/>
                    </a:solidFill>
                  </a:tcPr>
                </a:tc>
                <a:tc>
                  <a:txBody>
                    <a:bodyPr/>
                    <a:lstStyle/>
                    <a:p>
                      <a:pPr algn="l"/>
                      <a:r>
                        <a:rPr sz="1100" b="1">
                          <a:solidFill>
                            <a:srgbClr val="FFFFFF"/>
                          </a:solidFill>
                          <a:latin typeface="Calibri"/>
                        </a:rPr>
                        <a:t>Benchmark vs. Proprietary</a:t>
                      </a:r>
                    </a:p>
                  </a:txBody>
                  <a:tcPr>
                    <a:solidFill>
                      <a:srgbClr val="16213E"/>
                    </a:solidFill>
                  </a:tcPr>
                </a:tc>
                <a:tc>
                  <a:txBody>
                    <a:bodyPr/>
                    <a:lstStyle/>
                    <a:p>
                      <a:pPr algn="l"/>
                      <a:r>
                        <a:rPr sz="1100" b="1">
                          <a:solidFill>
                            <a:srgbClr val="FFFFFF"/>
                          </a:solidFill>
                          <a:latin typeface="Calibri"/>
                        </a:rPr>
                        <a:t>Can Run Locally?</a:t>
                      </a:r>
                    </a:p>
                  </a:txBody>
                  <a:tcPr>
                    <a:solidFill>
                      <a:srgbClr val="16213E"/>
                    </a:solidFill>
                  </a:tcPr>
                </a:tc>
              </a:tr>
              <a:tr h="347472">
                <a:tc>
                  <a:txBody>
                    <a:bodyPr/>
                    <a:lstStyle/>
                    <a:p>
                      <a:r>
                        <a:rPr sz="1000">
                          <a:solidFill>
                            <a:srgbClr val="1A1A2E"/>
                          </a:solidFill>
                          <a:latin typeface="Calibri"/>
                        </a:rPr>
                        <a:t>Llama 4 Scout</a:t>
                      </a:r>
                    </a:p>
                  </a:txBody>
                  <a:tcPr>
                    <a:solidFill>
                      <a:srgbClr val="FFFFFF"/>
                    </a:solidFill>
                  </a:tcPr>
                </a:tc>
                <a:tc>
                  <a:txBody>
                    <a:bodyPr/>
                    <a:lstStyle/>
                    <a:p>
                      <a:r>
                        <a:rPr sz="1000">
                          <a:solidFill>
                            <a:srgbClr val="1A1A2E"/>
                          </a:solidFill>
                          <a:latin typeface="Calibri"/>
                        </a:rPr>
                        <a:t>Meta</a:t>
                      </a:r>
                    </a:p>
                  </a:txBody>
                  <a:tcPr>
                    <a:solidFill>
                      <a:srgbClr val="FFFFFF"/>
                    </a:solidFill>
                  </a:tcPr>
                </a:tc>
                <a:tc>
                  <a:txBody>
                    <a:bodyPr/>
                    <a:lstStyle/>
                    <a:p>
                      <a:r>
                        <a:rPr sz="1000">
                          <a:solidFill>
                            <a:srgbClr val="1A1A2E"/>
                          </a:solidFill>
                          <a:latin typeface="Calibri"/>
                        </a:rPr>
                        <a:t>17B active (109B total MoE)</a:t>
                      </a:r>
                    </a:p>
                  </a:txBody>
                  <a:tcPr>
                    <a:solidFill>
                      <a:srgbClr val="FFFFFF"/>
                    </a:solidFill>
                  </a:tcPr>
                </a:tc>
                <a:tc>
                  <a:txBody>
                    <a:bodyPr/>
                    <a:lstStyle/>
                    <a:p>
                      <a:r>
                        <a:rPr sz="1000">
                          <a:solidFill>
                            <a:srgbClr val="1A1A2E"/>
                          </a:solidFill>
                          <a:latin typeface="Calibri"/>
                        </a:rPr>
                        <a:t>Matches GPT-4o on most tasks</a:t>
                      </a:r>
                    </a:p>
                  </a:txBody>
                  <a:tcPr>
                    <a:solidFill>
                      <a:srgbClr val="FFFFFF"/>
                    </a:solidFill>
                  </a:tcPr>
                </a:tc>
                <a:tc>
                  <a:txBody>
                    <a:bodyPr/>
                    <a:lstStyle/>
                    <a:p>
                      <a:r>
                        <a:rPr sz="1000">
                          <a:solidFill>
                            <a:srgbClr val="1A1A2E"/>
                          </a:solidFill>
                          <a:latin typeface="Calibri"/>
                        </a:rPr>
                        <a:t>Yes (requires 24GB+ GPU)</a:t>
                      </a:r>
                    </a:p>
                  </a:txBody>
                  <a:tcPr>
                    <a:solidFill>
                      <a:srgbClr val="FFFFFF"/>
                    </a:solidFill>
                  </a:tcPr>
                </a:tc>
              </a:tr>
              <a:tr h="347472">
                <a:tc>
                  <a:txBody>
                    <a:bodyPr/>
                    <a:lstStyle/>
                    <a:p>
                      <a:r>
                        <a:rPr sz="1000">
                          <a:solidFill>
                            <a:srgbClr val="1A1A2E"/>
                          </a:solidFill>
                          <a:latin typeface="Calibri"/>
                        </a:rPr>
                        <a:t>DeepSeek V3 / R1</a:t>
                      </a:r>
                    </a:p>
                  </a:txBody>
                  <a:tcPr>
                    <a:solidFill>
                      <a:srgbClr val="F8F9FF"/>
                    </a:solidFill>
                  </a:tcPr>
                </a:tc>
                <a:tc>
                  <a:txBody>
                    <a:bodyPr/>
                    <a:lstStyle/>
                    <a:p>
                      <a:r>
                        <a:rPr sz="1000">
                          <a:solidFill>
                            <a:srgbClr val="1A1A2E"/>
                          </a:solidFill>
                          <a:latin typeface="Calibri"/>
                        </a:rPr>
                        <a:t>DeepSeek</a:t>
                      </a:r>
                    </a:p>
                  </a:txBody>
                  <a:tcPr>
                    <a:solidFill>
                      <a:srgbClr val="F8F9FF"/>
                    </a:solidFill>
                  </a:tcPr>
                </a:tc>
                <a:tc>
                  <a:txBody>
                    <a:bodyPr/>
                    <a:lstStyle/>
                    <a:p>
                      <a:r>
                        <a:rPr sz="1000">
                          <a:solidFill>
                            <a:srgbClr val="1A1A2E"/>
                          </a:solidFill>
                          <a:latin typeface="Calibri"/>
                        </a:rPr>
                        <a:t>671B (MoE)</a:t>
                      </a:r>
                    </a:p>
                  </a:txBody>
                  <a:tcPr>
                    <a:solidFill>
                      <a:srgbClr val="F8F9FF"/>
                    </a:solidFill>
                  </a:tcPr>
                </a:tc>
                <a:tc>
                  <a:txBody>
                    <a:bodyPr/>
                    <a:lstStyle/>
                    <a:p>
                      <a:r>
                        <a:rPr sz="1000">
                          <a:solidFill>
                            <a:srgbClr val="1A1A2E"/>
                          </a:solidFill>
                          <a:latin typeface="Calibri"/>
                        </a:rPr>
                        <a:t>V3 ≈ GPT-4o; R1 ≈ o1</a:t>
                      </a:r>
                    </a:p>
                  </a:txBody>
                  <a:tcPr>
                    <a:solidFill>
                      <a:srgbClr val="F8F9FF"/>
                    </a:solidFill>
                  </a:tcPr>
                </a:tc>
                <a:tc>
                  <a:txBody>
                    <a:bodyPr/>
                    <a:lstStyle/>
                    <a:p>
                      <a:r>
                        <a:rPr sz="1000">
                          <a:solidFill>
                            <a:srgbClr val="1A1A2E"/>
                          </a:solidFill>
                          <a:latin typeface="Calibri"/>
                        </a:rPr>
                        <a:t>Via API or self-hosted</a:t>
                      </a:r>
                    </a:p>
                  </a:txBody>
                  <a:tcPr>
                    <a:solidFill>
                      <a:srgbClr val="F8F9FF"/>
                    </a:solidFill>
                  </a:tcPr>
                </a:tc>
              </a:tr>
              <a:tr h="347472">
                <a:tc>
                  <a:txBody>
                    <a:bodyPr/>
                    <a:lstStyle/>
                    <a:p>
                      <a:r>
                        <a:rPr sz="1000">
                          <a:solidFill>
                            <a:srgbClr val="1A1A2E"/>
                          </a:solidFill>
                          <a:latin typeface="Calibri"/>
                        </a:rPr>
                        <a:t>Mistral Large 2</a:t>
                      </a:r>
                    </a:p>
                  </a:txBody>
                  <a:tcPr>
                    <a:solidFill>
                      <a:srgbClr val="FFFFFF"/>
                    </a:solidFill>
                  </a:tcPr>
                </a:tc>
                <a:tc>
                  <a:txBody>
                    <a:bodyPr/>
                    <a:lstStyle/>
                    <a:p>
                      <a:r>
                        <a:rPr sz="1000">
                          <a:solidFill>
                            <a:srgbClr val="1A1A2E"/>
                          </a:solidFill>
                          <a:latin typeface="Calibri"/>
                        </a:rPr>
                        <a:t>Mistral AI</a:t>
                      </a:r>
                    </a:p>
                  </a:txBody>
                  <a:tcPr>
                    <a:solidFill>
                      <a:srgbClr val="FFFFFF"/>
                    </a:solidFill>
                  </a:tcPr>
                </a:tc>
                <a:tc>
                  <a:txBody>
                    <a:bodyPr/>
                    <a:lstStyle/>
                    <a:p>
                      <a:r>
                        <a:rPr sz="1000">
                          <a:solidFill>
                            <a:srgbClr val="1A1A2E"/>
                          </a:solidFill>
                          <a:latin typeface="Calibri"/>
                        </a:rPr>
                        <a:t>123B</a:t>
                      </a:r>
                    </a:p>
                  </a:txBody>
                  <a:tcPr>
                    <a:solidFill>
                      <a:srgbClr val="FFFFFF"/>
                    </a:solidFill>
                  </a:tcPr>
                </a:tc>
                <a:tc>
                  <a:txBody>
                    <a:bodyPr/>
                    <a:lstStyle/>
                    <a:p>
                      <a:r>
                        <a:rPr sz="1000">
                          <a:solidFill>
                            <a:srgbClr val="1A1A2E"/>
                          </a:solidFill>
                          <a:latin typeface="Calibri"/>
                        </a:rPr>
                        <a:t>Strong multilingual, coding</a:t>
                      </a:r>
                    </a:p>
                  </a:txBody>
                  <a:tcPr>
                    <a:solidFill>
                      <a:srgbClr val="FFFFFF"/>
                    </a:solidFill>
                  </a:tcPr>
                </a:tc>
                <a:tc>
                  <a:txBody>
                    <a:bodyPr/>
                    <a:lstStyle/>
                    <a:p>
                      <a:r>
                        <a:rPr sz="1000">
                          <a:solidFill>
                            <a:srgbClr val="1A1A2E"/>
                          </a:solidFill>
                          <a:latin typeface="Calibri"/>
                        </a:rPr>
                        <a:t>Via API or self-hosted</a:t>
                      </a:r>
                    </a:p>
                  </a:txBody>
                  <a:tcPr>
                    <a:solidFill>
                      <a:srgbClr val="FFFFFF"/>
                    </a:solidFill>
                  </a:tcPr>
                </a:tc>
              </a:tr>
              <a:tr h="347472">
                <a:tc>
                  <a:txBody>
                    <a:bodyPr/>
                    <a:lstStyle/>
                    <a:p>
                      <a:r>
                        <a:rPr sz="1000">
                          <a:solidFill>
                            <a:srgbClr val="1A1A2E"/>
                          </a:solidFill>
                          <a:latin typeface="Calibri"/>
                        </a:rPr>
                        <a:t>Qwen 2.5 / QwQ-32B</a:t>
                      </a:r>
                    </a:p>
                  </a:txBody>
                  <a:tcPr>
                    <a:solidFill>
                      <a:srgbClr val="F8F9FF"/>
                    </a:solidFill>
                  </a:tcPr>
                </a:tc>
                <a:tc>
                  <a:txBody>
                    <a:bodyPr/>
                    <a:lstStyle/>
                    <a:p>
                      <a:r>
                        <a:rPr sz="1000">
                          <a:solidFill>
                            <a:srgbClr val="1A1A2E"/>
                          </a:solidFill>
                          <a:latin typeface="Calibri"/>
                        </a:rPr>
                        <a:t>Alibaba</a:t>
                      </a:r>
                    </a:p>
                  </a:txBody>
                  <a:tcPr>
                    <a:solidFill>
                      <a:srgbClr val="F8F9FF"/>
                    </a:solidFill>
                  </a:tcPr>
                </a:tc>
                <a:tc>
                  <a:txBody>
                    <a:bodyPr/>
                    <a:lstStyle/>
                    <a:p>
                      <a:r>
                        <a:rPr sz="1000">
                          <a:solidFill>
                            <a:srgbClr val="1A1A2E"/>
                          </a:solidFill>
                          <a:latin typeface="Calibri"/>
                        </a:rPr>
                        <a:t>7B–72B</a:t>
                      </a:r>
                    </a:p>
                  </a:txBody>
                  <a:tcPr>
                    <a:solidFill>
                      <a:srgbClr val="F8F9FF"/>
                    </a:solidFill>
                  </a:tcPr>
                </a:tc>
                <a:tc>
                  <a:txBody>
                    <a:bodyPr/>
                    <a:lstStyle/>
                    <a:p>
                      <a:r>
                        <a:rPr sz="1000">
                          <a:solidFill>
                            <a:srgbClr val="1A1A2E"/>
                          </a:solidFill>
                          <a:latin typeface="Calibri"/>
                        </a:rPr>
                        <a:t>QwQ-32B strong reasoning</a:t>
                      </a:r>
                    </a:p>
                  </a:txBody>
                  <a:tcPr>
                    <a:solidFill>
                      <a:srgbClr val="F8F9FF"/>
                    </a:solidFill>
                  </a:tcPr>
                </a:tc>
                <a:tc>
                  <a:txBody>
                    <a:bodyPr/>
                    <a:lstStyle/>
                    <a:p>
                      <a:r>
                        <a:rPr sz="1000">
                          <a:solidFill>
                            <a:srgbClr val="1A1A2E"/>
                          </a:solidFill>
                          <a:latin typeface="Calibri"/>
                        </a:rPr>
                        <a:t>Yes — runs on consumer GPU</a:t>
                      </a:r>
                    </a:p>
                  </a:txBody>
                  <a:tcPr>
                    <a:solidFill>
                      <a:srgbClr val="F8F9FF"/>
                    </a:solidFill>
                  </a:tcPr>
                </a:tc>
              </a:tr>
              <a:tr h="347472">
                <a:tc>
                  <a:txBody>
                    <a:bodyPr/>
                    <a:lstStyle/>
                    <a:p>
                      <a:r>
                        <a:rPr sz="1000">
                          <a:solidFill>
                            <a:srgbClr val="1A1A2E"/>
                          </a:solidFill>
                          <a:latin typeface="Calibri"/>
                        </a:rPr>
                        <a:t>Phi-4</a:t>
                      </a:r>
                    </a:p>
                  </a:txBody>
                  <a:tcPr>
                    <a:solidFill>
                      <a:srgbClr val="FFFFFF"/>
                    </a:solidFill>
                  </a:tcPr>
                </a:tc>
                <a:tc>
                  <a:txBody>
                    <a:bodyPr/>
                    <a:lstStyle/>
                    <a:p>
                      <a:r>
                        <a:rPr sz="1000">
                          <a:solidFill>
                            <a:srgbClr val="1A1A2E"/>
                          </a:solidFill>
                          <a:latin typeface="Calibri"/>
                        </a:rPr>
                        <a:t>Microsoft</a:t>
                      </a:r>
                    </a:p>
                  </a:txBody>
                  <a:tcPr>
                    <a:solidFill>
                      <a:srgbClr val="FFFFFF"/>
                    </a:solidFill>
                  </a:tcPr>
                </a:tc>
                <a:tc>
                  <a:txBody>
                    <a:bodyPr/>
                    <a:lstStyle/>
                    <a:p>
                      <a:r>
                        <a:rPr sz="1000">
                          <a:solidFill>
                            <a:srgbClr val="1A1A2E"/>
                          </a:solidFill>
                          <a:latin typeface="Calibri"/>
                        </a:rPr>
                        <a:t>14B</a:t>
                      </a:r>
                    </a:p>
                  </a:txBody>
                  <a:tcPr>
                    <a:solidFill>
                      <a:srgbClr val="FFFFFF"/>
                    </a:solidFill>
                  </a:tcPr>
                </a:tc>
                <a:tc>
                  <a:txBody>
                    <a:bodyPr/>
                    <a:lstStyle/>
                    <a:p>
                      <a:r>
                        <a:rPr sz="1000">
                          <a:solidFill>
                            <a:srgbClr val="1A1A2E"/>
                          </a:solidFill>
                          <a:latin typeface="Calibri"/>
                        </a:rPr>
                        <a:t>Outperforms models 5× larger</a:t>
                      </a:r>
                    </a:p>
                  </a:txBody>
                  <a:tcPr>
                    <a:solidFill>
                      <a:srgbClr val="FFFFFF"/>
                    </a:solidFill>
                  </a:tcPr>
                </a:tc>
                <a:tc>
                  <a:txBody>
                    <a:bodyPr/>
                    <a:lstStyle/>
                    <a:p>
                      <a:r>
                        <a:rPr sz="1000">
                          <a:solidFill>
                            <a:srgbClr val="1A1A2E"/>
                          </a:solidFill>
                          <a:latin typeface="Calibri"/>
                        </a:rPr>
                        <a:t>Yes — runs on a laptop</a:t>
                      </a:r>
                    </a:p>
                  </a:txBody>
                  <a:tcPr>
                    <a:solidFill>
                      <a:srgbClr val="FFFFFF"/>
                    </a:solidFill>
                  </a:tcPr>
                </a:tc>
              </a:tr>
            </a:tbl>
          </a:graphicData>
        </a:graphic>
      </p:graphicFrame>
      <p:sp>
        <p:nvSpPr>
          <p:cNvPr id="12" name="TextBox 11"/>
          <p:cNvSpPr txBox="1"/>
          <p:nvPr/>
        </p:nvSpPr>
        <p:spPr>
          <a:xfrm>
            <a:off x="457200" y="434340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What open source unlocks for business:</a:t>
            </a:r>
          </a:p>
          <a:p>
            <a:pPr>
              <a:spcBef>
                <a:spcPts val="200"/>
              </a:spcBef>
              <a:spcAft>
                <a:spcPts val="100"/>
              </a:spcAft>
            </a:pPr>
            <a:r>
              <a:rPr sz="1200">
                <a:solidFill>
                  <a:srgbClr val="0EA5E9"/>
                </a:solidFill>
                <a:latin typeface="Calibri"/>
              </a:rPr>
              <a:t>• </a:t>
            </a:r>
            <a:r>
              <a:rPr sz="1200" b="0">
                <a:solidFill>
                  <a:srgbClr val="1A1A2E"/>
                </a:solidFill>
                <a:latin typeface="Calibri"/>
              </a:rPr>
              <a:t>Privacy: Entire pipeline stays inside your infrastructure — no data sent to any cloud provider</a:t>
            </a:r>
          </a:p>
          <a:p>
            <a:pPr>
              <a:spcBef>
                <a:spcPts val="200"/>
              </a:spcBef>
              <a:spcAft>
                <a:spcPts val="100"/>
              </a:spcAft>
            </a:pPr>
            <a:r>
              <a:rPr sz="1200">
                <a:solidFill>
                  <a:srgbClr val="0EA5E9"/>
                </a:solidFill>
                <a:latin typeface="Calibri"/>
              </a:rPr>
              <a:t>• </a:t>
            </a:r>
            <a:r>
              <a:rPr sz="1200" b="0">
                <a:solidFill>
                  <a:srgbClr val="1A1A2E"/>
                </a:solidFill>
                <a:latin typeface="Calibri"/>
              </a:rPr>
              <a:t>Cost at scale: Zero per-token fees once deployed; fixed infrastructure cost only</a:t>
            </a:r>
          </a:p>
          <a:p>
            <a:pPr>
              <a:spcBef>
                <a:spcPts val="200"/>
              </a:spcBef>
              <a:spcAft>
                <a:spcPts val="100"/>
              </a:spcAft>
            </a:pPr>
            <a:r>
              <a:rPr sz="1200">
                <a:solidFill>
                  <a:srgbClr val="0EA5E9"/>
                </a:solidFill>
                <a:latin typeface="Calibri"/>
              </a:rPr>
              <a:t>• </a:t>
            </a:r>
            <a:r>
              <a:rPr sz="1200" b="0">
                <a:solidFill>
                  <a:srgbClr val="1A1A2E"/>
                </a:solidFill>
                <a:latin typeface="Calibri"/>
              </a:rPr>
              <a:t>Customization: Fine-tune on proprietary data with no sharing or licensing restrictions</a:t>
            </a:r>
          </a:p>
          <a:p>
            <a:pPr>
              <a:spcBef>
                <a:spcPts val="200"/>
              </a:spcBef>
              <a:spcAft>
                <a:spcPts val="100"/>
              </a:spcAft>
            </a:pPr>
            <a:r>
              <a:rPr sz="1200">
                <a:solidFill>
                  <a:srgbClr val="0EA5E9"/>
                </a:solidFill>
                <a:latin typeface="Calibri"/>
              </a:rPr>
              <a:t>• </a:t>
            </a:r>
            <a:r>
              <a:rPr sz="1200" b="0">
                <a:solidFill>
                  <a:srgbClr val="1A1A2E"/>
                </a:solidFill>
                <a:latin typeface="Calibri"/>
              </a:rPr>
              <a:t>Audit and compliance: Full visibility into model behavior — required in regulated industries</a:t>
            </a:r>
          </a:p>
          <a:p>
            <a:pPr>
              <a:spcBef>
                <a:spcPts val="200"/>
              </a:spcBef>
              <a:spcAft>
                <a:spcPts val="100"/>
              </a:spcAft>
            </a:pPr>
            <a:r>
              <a:rPr sz="1200">
                <a:solidFill>
                  <a:srgbClr val="0EA5E9"/>
                </a:solidFill>
                <a:latin typeface="Calibri"/>
              </a:rPr>
              <a:t>• </a:t>
            </a:r>
            <a:r>
              <a:rPr sz="1200" b="0">
                <a:solidFill>
                  <a:srgbClr val="1A1A2E"/>
                </a:solidFill>
                <a:latin typeface="Calibri"/>
              </a:rPr>
              <a:t>No vendor dependency: Not subject to pricing changes, API outages, or terms-of-service shifts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Choosing the Right Model — Decision Framework</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A Systematic Approach for Business Use Cases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6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6</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Step 1: Match capability to task type</a:t>
            </a:r>
          </a:p>
        </p:txBody>
      </p:sp>
      <p:graphicFrame>
        <p:nvGraphicFramePr>
          <p:cNvPr id="11" name="Table 10"/>
          <p:cNvGraphicFramePr>
            <a:graphicFrameLocks noGrp="1"/>
          </p:cNvGraphicFramePr>
          <p:nvPr/>
        </p:nvGraphicFramePr>
        <p:xfrm>
          <a:off x="457200" y="1600200"/>
          <a:ext cx="6492240" cy="3127248"/>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Task Category</a:t>
                      </a:r>
                    </a:p>
                  </a:txBody>
                  <a:tcPr>
                    <a:solidFill>
                      <a:srgbClr val="16213E"/>
                    </a:solidFill>
                  </a:tcPr>
                </a:tc>
                <a:tc>
                  <a:txBody>
                    <a:bodyPr/>
                    <a:lstStyle/>
                    <a:p>
                      <a:pPr algn="l"/>
                      <a:r>
                        <a:rPr sz="1100" b="1">
                          <a:solidFill>
                            <a:srgbClr val="FFFFFF"/>
                          </a:solidFill>
                          <a:latin typeface="Calibri"/>
                        </a:rPr>
                        <a:t>Top Choice</a:t>
                      </a:r>
                    </a:p>
                  </a:txBody>
                  <a:tcPr>
                    <a:solidFill>
                      <a:srgbClr val="16213E"/>
                    </a:solidFill>
                  </a:tcPr>
                </a:tc>
                <a:tc>
                  <a:txBody>
                    <a:bodyPr/>
                    <a:lstStyle/>
                    <a:p>
                      <a:pPr algn="l"/>
                      <a:r>
                        <a:rPr sz="1100" b="1">
                          <a:solidFill>
                            <a:srgbClr val="FFFFFF"/>
                          </a:solidFill>
                          <a:latin typeface="Calibri"/>
                        </a:rPr>
                        <a:t>Runner-Up</a:t>
                      </a:r>
                    </a:p>
                  </a:txBody>
                  <a:tcPr>
                    <a:solidFill>
                      <a:srgbClr val="16213E"/>
                    </a:solidFill>
                  </a:tcPr>
                </a:tc>
                <a:tc>
                  <a:txBody>
                    <a:bodyPr/>
                    <a:lstStyle/>
                    <a:p>
                      <a:pPr algn="l"/>
                      <a:r>
                        <a:rPr sz="1100" b="1">
                          <a:solidFill>
                            <a:srgbClr val="FFFFFF"/>
                          </a:solidFill>
                          <a:latin typeface="Calibri"/>
                        </a:rPr>
                        <a:t>Why</a:t>
                      </a:r>
                    </a:p>
                  </a:txBody>
                  <a:tcPr>
                    <a:solidFill>
                      <a:srgbClr val="16213E"/>
                    </a:solidFill>
                  </a:tcPr>
                </a:tc>
              </a:tr>
              <a:tr h="347472">
                <a:tc>
                  <a:txBody>
                    <a:bodyPr/>
                    <a:lstStyle/>
                    <a:p>
                      <a:r>
                        <a:rPr sz="1000">
                          <a:solidFill>
                            <a:srgbClr val="1A1A2E"/>
                          </a:solidFill>
                          <a:latin typeface="Calibri"/>
                        </a:rPr>
                        <a:t>Complex reasoning &amp; analysis</a:t>
                      </a:r>
                    </a:p>
                  </a:txBody>
                  <a:tcPr>
                    <a:solidFill>
                      <a:srgbClr val="FFFFFF"/>
                    </a:solidFill>
                  </a:tcPr>
                </a:tc>
                <a:tc>
                  <a:txBody>
                    <a:bodyPr/>
                    <a:lstStyle/>
                    <a:p>
                      <a:r>
                        <a:rPr sz="1000">
                          <a:solidFill>
                            <a:srgbClr val="1A1A2E"/>
                          </a:solidFill>
                          <a:latin typeface="Calibri"/>
                        </a:rPr>
                        <a:t>Claude 3.7 / o3</a:t>
                      </a:r>
                    </a:p>
                  </a:txBody>
                  <a:tcPr>
                    <a:solidFill>
                      <a:srgbClr val="FFFFFF"/>
                    </a:solidFill>
                  </a:tcPr>
                </a:tc>
                <a:tc>
                  <a:txBody>
                    <a:bodyPr/>
                    <a:lstStyle/>
                    <a:p>
                      <a:r>
                        <a:rPr sz="1000">
                          <a:solidFill>
                            <a:srgbClr val="1A1A2E"/>
                          </a:solidFill>
                          <a:latin typeface="Calibri"/>
                        </a:rPr>
                        <a:t>Gemini 2.5 Pro</a:t>
                      </a:r>
                    </a:p>
                  </a:txBody>
                  <a:tcPr>
                    <a:solidFill>
                      <a:srgbClr val="FFFFFF"/>
                    </a:solidFill>
                  </a:tcPr>
                </a:tc>
                <a:tc>
                  <a:txBody>
                    <a:bodyPr/>
                    <a:lstStyle/>
                    <a:p>
                      <a:r>
                        <a:rPr sz="1000">
                          <a:solidFill>
                            <a:srgbClr val="1A1A2E"/>
                          </a:solidFill>
                          <a:latin typeface="Calibri"/>
                        </a:rPr>
                        <a:t>Step-by-step thinking, high accuracy</a:t>
                      </a:r>
                    </a:p>
                  </a:txBody>
                  <a:tcPr>
                    <a:solidFill>
                      <a:srgbClr val="FFFFFF"/>
                    </a:solidFill>
                  </a:tcPr>
                </a:tc>
              </a:tr>
              <a:tr h="347472">
                <a:tc>
                  <a:txBody>
                    <a:bodyPr/>
                    <a:lstStyle/>
                    <a:p>
                      <a:r>
                        <a:rPr sz="1000">
                          <a:solidFill>
                            <a:srgbClr val="1A1A2E"/>
                          </a:solidFill>
                          <a:latin typeface="Calibri"/>
                        </a:rPr>
                        <a:t>High-volume text processing</a:t>
                      </a:r>
                    </a:p>
                  </a:txBody>
                  <a:tcPr>
                    <a:solidFill>
                      <a:srgbClr val="F8F9FF"/>
                    </a:solidFill>
                  </a:tcPr>
                </a:tc>
                <a:tc>
                  <a:txBody>
                    <a:bodyPr/>
                    <a:lstStyle/>
                    <a:p>
                      <a:r>
                        <a:rPr sz="1000">
                          <a:solidFill>
                            <a:srgbClr val="1A1A2E"/>
                          </a:solidFill>
                          <a:latin typeface="Calibri"/>
                        </a:rPr>
                        <a:t>Gemini 2.0 Flash</a:t>
                      </a:r>
                    </a:p>
                  </a:txBody>
                  <a:tcPr>
                    <a:solidFill>
                      <a:srgbClr val="F8F9FF"/>
                    </a:solidFill>
                  </a:tcPr>
                </a:tc>
                <a:tc>
                  <a:txBody>
                    <a:bodyPr/>
                    <a:lstStyle/>
                    <a:p>
                      <a:r>
                        <a:rPr sz="1000">
                          <a:solidFill>
                            <a:srgbClr val="1A1A2E"/>
                          </a:solidFill>
                          <a:latin typeface="Calibri"/>
                        </a:rPr>
                        <a:t>GPT-4.1-mini</a:t>
                      </a:r>
                    </a:p>
                  </a:txBody>
                  <a:tcPr>
                    <a:solidFill>
                      <a:srgbClr val="F8F9FF"/>
                    </a:solidFill>
                  </a:tcPr>
                </a:tc>
                <a:tc>
                  <a:txBody>
                    <a:bodyPr/>
                    <a:lstStyle/>
                    <a:p>
                      <a:r>
                        <a:rPr sz="1000">
                          <a:solidFill>
                            <a:srgbClr val="1A1A2E"/>
                          </a:solidFill>
                          <a:latin typeface="Calibri"/>
                        </a:rPr>
                        <a:t>Cheap + fast at scale</a:t>
                      </a:r>
                    </a:p>
                  </a:txBody>
                  <a:tcPr>
                    <a:solidFill>
                      <a:srgbClr val="F8F9FF"/>
                    </a:solidFill>
                  </a:tcPr>
                </a:tc>
              </a:tr>
              <a:tr h="347472">
                <a:tc>
                  <a:txBody>
                    <a:bodyPr/>
                    <a:lstStyle/>
                    <a:p>
                      <a:r>
                        <a:rPr sz="1000">
                          <a:solidFill>
                            <a:srgbClr val="1A1A2E"/>
                          </a:solidFill>
                          <a:latin typeface="Calibri"/>
                        </a:rPr>
                        <a:t>Software development &amp; coding</a:t>
                      </a:r>
                    </a:p>
                  </a:txBody>
                  <a:tcPr>
                    <a:solidFill>
                      <a:srgbClr val="FFFFFF"/>
                    </a:solidFill>
                  </a:tcPr>
                </a:tc>
                <a:tc>
                  <a:txBody>
                    <a:bodyPr/>
                    <a:lstStyle/>
                    <a:p>
                      <a:r>
                        <a:rPr sz="1000">
                          <a:solidFill>
                            <a:srgbClr val="1A1A2E"/>
                          </a:solidFill>
                          <a:latin typeface="Calibri"/>
                        </a:rPr>
                        <a:t>Claude 3.7 Sonnet</a:t>
                      </a:r>
                    </a:p>
                  </a:txBody>
                  <a:tcPr>
                    <a:solidFill>
                      <a:srgbClr val="FFFFFF"/>
                    </a:solidFill>
                  </a:tcPr>
                </a:tc>
                <a:tc>
                  <a:txBody>
                    <a:bodyPr/>
                    <a:lstStyle/>
                    <a:p>
                      <a:r>
                        <a:rPr sz="1000">
                          <a:solidFill>
                            <a:srgbClr val="1A1A2E"/>
                          </a:solidFill>
                          <a:latin typeface="Calibri"/>
                        </a:rPr>
                        <a:t>GPT-4.1</a:t>
                      </a:r>
                    </a:p>
                  </a:txBody>
                  <a:tcPr>
                    <a:solidFill>
                      <a:srgbClr val="FFFFFF"/>
                    </a:solidFill>
                  </a:tcPr>
                </a:tc>
                <a:tc>
                  <a:txBody>
                    <a:bodyPr/>
                    <a:lstStyle/>
                    <a:p>
                      <a:r>
                        <a:rPr sz="1000">
                          <a:solidFill>
                            <a:srgbClr val="1A1A2E"/>
                          </a:solidFill>
                          <a:latin typeface="Calibri"/>
                        </a:rPr>
                        <a:t>Consistently #1 on coding benchmarks</a:t>
                      </a:r>
                    </a:p>
                  </a:txBody>
                  <a:tcPr>
                    <a:solidFill>
                      <a:srgbClr val="FFFFFF"/>
                    </a:solidFill>
                  </a:tcPr>
                </a:tc>
              </a:tr>
              <a:tr h="347472">
                <a:tc>
                  <a:txBody>
                    <a:bodyPr/>
                    <a:lstStyle/>
                    <a:p>
                      <a:r>
                        <a:rPr sz="1000">
                          <a:solidFill>
                            <a:srgbClr val="1A1A2E"/>
                          </a:solidFill>
                          <a:latin typeface="Calibri"/>
                        </a:rPr>
                        <a:t>Very long documents (&gt;100K words)</a:t>
                      </a:r>
                    </a:p>
                  </a:txBody>
                  <a:tcPr>
                    <a:solidFill>
                      <a:srgbClr val="F8F9FF"/>
                    </a:solidFill>
                  </a:tcPr>
                </a:tc>
                <a:tc>
                  <a:txBody>
                    <a:bodyPr/>
                    <a:lstStyle/>
                    <a:p>
                      <a:r>
                        <a:rPr sz="1000">
                          <a:solidFill>
                            <a:srgbClr val="1A1A2E"/>
                          </a:solidFill>
                          <a:latin typeface="Calibri"/>
                        </a:rPr>
                        <a:t>Gemini 2.5 Pro</a:t>
                      </a:r>
                    </a:p>
                  </a:txBody>
                  <a:tcPr>
                    <a:solidFill>
                      <a:srgbClr val="F8F9FF"/>
                    </a:solidFill>
                  </a:tcPr>
                </a:tc>
                <a:tc>
                  <a:txBody>
                    <a:bodyPr/>
                    <a:lstStyle/>
                    <a:p>
                      <a:r>
                        <a:rPr sz="1000">
                          <a:solidFill>
                            <a:srgbClr val="1A1A2E"/>
                          </a:solidFill>
                          <a:latin typeface="Calibri"/>
                        </a:rPr>
                        <a:t>Claude 3.7</a:t>
                      </a:r>
                    </a:p>
                  </a:txBody>
                  <a:tcPr>
                    <a:solidFill>
                      <a:srgbClr val="F8F9FF"/>
                    </a:solidFill>
                  </a:tcPr>
                </a:tc>
                <a:tc>
                  <a:txBody>
                    <a:bodyPr/>
                    <a:lstStyle/>
                    <a:p>
                      <a:r>
                        <a:rPr sz="1000">
                          <a:solidFill>
                            <a:srgbClr val="1A1A2E"/>
                          </a:solidFill>
                          <a:latin typeface="Calibri"/>
                        </a:rPr>
                        <a:t>1M token context window</a:t>
                      </a:r>
                    </a:p>
                  </a:txBody>
                  <a:tcPr>
                    <a:solidFill>
                      <a:srgbClr val="F8F9FF"/>
                    </a:solidFill>
                  </a:tcPr>
                </a:tc>
              </a:tr>
              <a:tr h="347472">
                <a:tc>
                  <a:txBody>
                    <a:bodyPr/>
                    <a:lstStyle/>
                    <a:p>
                      <a:r>
                        <a:rPr sz="1000">
                          <a:solidFill>
                            <a:srgbClr val="1A1A2E"/>
                          </a:solidFill>
                          <a:latin typeface="Calibri"/>
                        </a:rPr>
                        <a:t>Sensitive / regulated data</a:t>
                      </a:r>
                    </a:p>
                  </a:txBody>
                  <a:tcPr>
                    <a:solidFill>
                      <a:srgbClr val="FFFFFF"/>
                    </a:solidFill>
                  </a:tcPr>
                </a:tc>
                <a:tc>
                  <a:txBody>
                    <a:bodyPr/>
                    <a:lstStyle/>
                    <a:p>
                      <a:r>
                        <a:rPr sz="1000">
                          <a:solidFill>
                            <a:srgbClr val="1A1A2E"/>
                          </a:solidFill>
                          <a:latin typeface="Calibri"/>
                        </a:rPr>
                        <a:t>Llama 4 / Phi-4 (local)</a:t>
                      </a:r>
                    </a:p>
                  </a:txBody>
                  <a:tcPr>
                    <a:solidFill>
                      <a:srgbClr val="FFFFFF"/>
                    </a:solidFill>
                  </a:tcPr>
                </a:tc>
                <a:tc>
                  <a:txBody>
                    <a:bodyPr/>
                    <a:lstStyle/>
                    <a:p>
                      <a:r>
                        <a:rPr sz="1000">
                          <a:solidFill>
                            <a:srgbClr val="1A1A2E"/>
                          </a:solidFill>
                          <a:latin typeface="Calibri"/>
                        </a:rPr>
                        <a:t>Mistral (self-hosted)</a:t>
                      </a:r>
                    </a:p>
                  </a:txBody>
                  <a:tcPr>
                    <a:solidFill>
                      <a:srgbClr val="FFFFFF"/>
                    </a:solidFill>
                  </a:tcPr>
                </a:tc>
                <a:tc>
                  <a:txBody>
                    <a:bodyPr/>
                    <a:lstStyle/>
                    <a:p>
                      <a:r>
                        <a:rPr sz="1000">
                          <a:solidFill>
                            <a:srgbClr val="1A1A2E"/>
                          </a:solidFill>
                          <a:latin typeface="Calibri"/>
                        </a:rPr>
                        <a:t>Data never leaves your infrastructure</a:t>
                      </a:r>
                    </a:p>
                  </a:txBody>
                  <a:tcPr>
                    <a:solidFill>
                      <a:srgbClr val="FFFFFF"/>
                    </a:solidFill>
                  </a:tcPr>
                </a:tc>
              </a:tr>
              <a:tr h="347472">
                <a:tc>
                  <a:txBody>
                    <a:bodyPr/>
                    <a:lstStyle/>
                    <a:p>
                      <a:r>
                        <a:rPr sz="1000">
                          <a:solidFill>
                            <a:srgbClr val="1A1A2E"/>
                          </a:solidFill>
                          <a:latin typeface="Calibri"/>
                        </a:rPr>
                        <a:t>Real-time search + synthesis</a:t>
                      </a:r>
                    </a:p>
                  </a:txBody>
                  <a:tcPr>
                    <a:solidFill>
                      <a:srgbClr val="F8F9FF"/>
                    </a:solidFill>
                  </a:tcPr>
                </a:tc>
                <a:tc>
                  <a:txBody>
                    <a:bodyPr/>
                    <a:lstStyle/>
                    <a:p>
                      <a:r>
                        <a:rPr sz="1000">
                          <a:solidFill>
                            <a:srgbClr val="1A1A2E"/>
                          </a:solidFill>
                          <a:latin typeface="Calibri"/>
                        </a:rPr>
                        <a:t>Perplexity Pro</a:t>
                      </a:r>
                    </a:p>
                  </a:txBody>
                  <a:tcPr>
                    <a:solidFill>
                      <a:srgbClr val="F8F9FF"/>
                    </a:solidFill>
                  </a:tcPr>
                </a:tc>
                <a:tc>
                  <a:txBody>
                    <a:bodyPr/>
                    <a:lstStyle/>
                    <a:p>
                      <a:r>
                        <a:rPr sz="1000">
                          <a:solidFill>
                            <a:srgbClr val="1A1A2E"/>
                          </a:solidFill>
                          <a:latin typeface="Calibri"/>
                        </a:rPr>
                        <a:t>GPT-4.1 + web tool</a:t>
                      </a:r>
                    </a:p>
                  </a:txBody>
                  <a:tcPr>
                    <a:solidFill>
                      <a:srgbClr val="F8F9FF"/>
                    </a:solidFill>
                  </a:tcPr>
                </a:tc>
                <a:tc>
                  <a:txBody>
                    <a:bodyPr/>
                    <a:lstStyle/>
                    <a:p>
                      <a:r>
                        <a:rPr sz="1000">
                          <a:solidFill>
                            <a:srgbClr val="1A1A2E"/>
                          </a:solidFill>
                          <a:latin typeface="Calibri"/>
                        </a:rPr>
                        <a:t>Up-to-date, cited information</a:t>
                      </a:r>
                    </a:p>
                  </a:txBody>
                  <a:tcPr>
                    <a:solidFill>
                      <a:srgbClr val="F8F9FF"/>
                    </a:solidFill>
                  </a:tcPr>
                </a:tc>
              </a:tr>
              <a:tr h="347472">
                <a:tc>
                  <a:txBody>
                    <a:bodyPr/>
                    <a:lstStyle/>
                    <a:p>
                      <a:r>
                        <a:rPr sz="1000">
                          <a:solidFill>
                            <a:srgbClr val="1A1A2E"/>
                          </a:solidFill>
                          <a:latin typeface="Calibri"/>
                        </a:rPr>
                        <a:t>Image / video / audio understanding</a:t>
                      </a:r>
                    </a:p>
                  </a:txBody>
                  <a:tcPr>
                    <a:solidFill>
                      <a:srgbClr val="FFFFFF"/>
                    </a:solidFill>
                  </a:tcPr>
                </a:tc>
                <a:tc>
                  <a:txBody>
                    <a:bodyPr/>
                    <a:lstStyle/>
                    <a:p>
                      <a:r>
                        <a:rPr sz="1000">
                          <a:solidFill>
                            <a:srgbClr val="1A1A2E"/>
                          </a:solidFill>
                          <a:latin typeface="Calibri"/>
                        </a:rPr>
                        <a:t>Gemini 2.5 Pro</a:t>
                      </a:r>
                    </a:p>
                  </a:txBody>
                  <a:tcPr>
                    <a:solidFill>
                      <a:srgbClr val="FFFFFF"/>
                    </a:solidFill>
                  </a:tcPr>
                </a:tc>
                <a:tc>
                  <a:txBody>
                    <a:bodyPr/>
                    <a:lstStyle/>
                    <a:p>
                      <a:r>
                        <a:rPr sz="1000">
                          <a:solidFill>
                            <a:srgbClr val="1A1A2E"/>
                          </a:solidFill>
                          <a:latin typeface="Calibri"/>
                        </a:rPr>
                        <a:t>GPT-4o</a:t>
                      </a:r>
                    </a:p>
                  </a:txBody>
                  <a:tcPr>
                    <a:solidFill>
                      <a:srgbClr val="FFFFFF"/>
                    </a:solidFill>
                  </a:tcPr>
                </a:tc>
                <a:tc>
                  <a:txBody>
                    <a:bodyPr/>
                    <a:lstStyle/>
                    <a:p>
                      <a:r>
                        <a:rPr sz="1000">
                          <a:solidFill>
                            <a:srgbClr val="1A1A2E"/>
                          </a:solidFill>
                          <a:latin typeface="Calibri"/>
                        </a:rPr>
                        <a:t>Native multimodal from the ground up</a:t>
                      </a:r>
                    </a:p>
                  </a:txBody>
                  <a:tcPr>
                    <a:solidFill>
                      <a:srgbClr val="FFFFFF"/>
                    </a:solidFill>
                  </a:tcPr>
                </a:tc>
              </a:tr>
              <a:tr h="347472">
                <a:tc>
                  <a:txBody>
                    <a:bodyPr/>
                    <a:lstStyle/>
                    <a:p>
                      <a:r>
                        <a:rPr sz="1000">
                          <a:solidFill>
                            <a:srgbClr val="1A1A2E"/>
                          </a:solidFill>
                          <a:latin typeface="Calibri"/>
                        </a:rPr>
                        <a:t>Budget-constrained high volume</a:t>
                      </a:r>
                    </a:p>
                  </a:txBody>
                  <a:tcPr>
                    <a:solidFill>
                      <a:srgbClr val="F8F9FF"/>
                    </a:solidFill>
                  </a:tcPr>
                </a:tc>
                <a:tc>
                  <a:txBody>
                    <a:bodyPr/>
                    <a:lstStyle/>
                    <a:p>
                      <a:r>
                        <a:rPr sz="1000">
                          <a:solidFill>
                            <a:srgbClr val="1A1A2E"/>
                          </a:solidFill>
                          <a:latin typeface="Calibri"/>
                        </a:rPr>
                        <a:t>Claude Haiku</a:t>
                      </a:r>
                    </a:p>
                  </a:txBody>
                  <a:tcPr>
                    <a:solidFill>
                      <a:srgbClr val="F8F9FF"/>
                    </a:solidFill>
                  </a:tcPr>
                </a:tc>
                <a:tc>
                  <a:txBody>
                    <a:bodyPr/>
                    <a:lstStyle/>
                    <a:p>
                      <a:r>
                        <a:rPr sz="1000">
                          <a:solidFill>
                            <a:srgbClr val="1A1A2E"/>
                          </a:solidFill>
                          <a:latin typeface="Calibri"/>
                        </a:rPr>
                        <a:t>Gemini Flash</a:t>
                      </a:r>
                    </a:p>
                  </a:txBody>
                  <a:tcPr>
                    <a:solidFill>
                      <a:srgbClr val="F8F9FF"/>
                    </a:solidFill>
                  </a:tcPr>
                </a:tc>
                <a:tc>
                  <a:txBody>
                    <a:bodyPr/>
                    <a:lstStyle/>
                    <a:p>
                      <a:r>
                        <a:rPr sz="1000">
                          <a:solidFill>
                            <a:srgbClr val="1A1A2E"/>
                          </a:solidFill>
                          <a:latin typeface="Calibri"/>
                        </a:rPr>
                        <a:t>Sub-$1 per million tokens</a:t>
                      </a:r>
                    </a:p>
                  </a:txBody>
                  <a:tcPr>
                    <a:solidFill>
                      <a:srgbClr val="F8F9FF"/>
                    </a:solidFill>
                  </a:tcPr>
                </a:tc>
              </a:tr>
            </a:tbl>
          </a:graphicData>
        </a:graphic>
      </p:graphicFrame>
      <p:sp>
        <p:nvSpPr>
          <p:cNvPr id="12" name="TextBox 11"/>
          <p:cNvSpPr txBox="1"/>
          <p:nvPr/>
        </p:nvSpPr>
        <p:spPr>
          <a:xfrm>
            <a:off x="457200" y="4837176"/>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Step 2: Apply constraint filters</a:t>
            </a:r>
          </a:p>
          <a:p>
            <a:pPr>
              <a:spcBef>
                <a:spcPts val="200"/>
              </a:spcBef>
              <a:spcAft>
                <a:spcPts val="100"/>
              </a:spcAft>
            </a:pPr>
            <a:r>
              <a:rPr sz="1200">
                <a:solidFill>
                  <a:srgbClr val="0EA5E9"/>
                </a:solidFill>
                <a:latin typeface="Calibri"/>
              </a:rPr>
              <a:t>• </a:t>
            </a:r>
            <a:r>
              <a:rPr sz="1200" b="0">
                <a:solidFill>
                  <a:srgbClr val="1A1A2E"/>
                </a:solidFill>
                <a:latin typeface="Calibri"/>
              </a:rPr>
              <a:t>Is data sensitive or regulated? → Self-hosted open source (Llama, Phi-4, Mistral)</a:t>
            </a:r>
          </a:p>
          <a:p>
            <a:pPr>
              <a:spcBef>
                <a:spcPts val="200"/>
              </a:spcBef>
              <a:spcAft>
                <a:spcPts val="100"/>
              </a:spcAft>
            </a:pPr>
            <a:r>
              <a:rPr sz="1200">
                <a:solidFill>
                  <a:srgbClr val="0EA5E9"/>
                </a:solidFill>
                <a:latin typeface="Calibri"/>
              </a:rPr>
              <a:t>• </a:t>
            </a:r>
            <a:r>
              <a:rPr sz="1200" b="0">
                <a:solidFill>
                  <a:srgbClr val="1A1A2E"/>
                </a:solidFill>
                <a:latin typeface="Calibri"/>
              </a:rPr>
              <a:t>Is cost per call the primary constraint? → Flash / Haiku / o4-mini tier</a:t>
            </a:r>
          </a:p>
          <a:p>
            <a:pPr>
              <a:spcBef>
                <a:spcPts val="200"/>
              </a:spcBef>
              <a:spcAft>
                <a:spcPts val="100"/>
              </a:spcAft>
            </a:pPr>
            <a:r>
              <a:rPr sz="1200">
                <a:solidFill>
                  <a:srgbClr val="0EA5E9"/>
                </a:solidFill>
                <a:latin typeface="Calibri"/>
              </a:rPr>
              <a:t>• </a:t>
            </a:r>
            <a:r>
              <a:rPr sz="1200" b="0">
                <a:solidFill>
                  <a:srgbClr val="1A1A2E"/>
                </a:solidFill>
                <a:latin typeface="Calibri"/>
              </a:rPr>
              <a:t>Does quality of reasoning matter most? → o3, Claude 3.7 extended thinking, Gemini 2.5 Pro</a:t>
            </a:r>
          </a:p>
          <a:p>
            <a:pPr>
              <a:spcBef>
                <a:spcPts val="200"/>
              </a:spcBef>
              <a:spcAft>
                <a:spcPts val="100"/>
              </a:spcAft>
            </a:pPr>
            <a:r>
              <a:rPr sz="1200">
                <a:solidFill>
                  <a:srgbClr val="0EA5E9"/>
                </a:solidFill>
                <a:latin typeface="Calibri"/>
              </a:rPr>
              <a:t>• </a:t>
            </a:r>
            <a:r>
              <a:rPr sz="1200" b="0">
                <a:solidFill>
                  <a:srgbClr val="1A1A2E"/>
                </a:solidFill>
                <a:latin typeface="Calibri"/>
              </a:rPr>
              <a:t>Do you need real-time information? → Perplexity, or GPT-4.1 with web search enabled</a:t>
            </a:r>
          </a:p>
          <a:p>
            <a:pPr>
              <a:spcBef>
                <a:spcPts val="200"/>
              </a:spcBef>
              <a:spcAft>
                <a:spcPts val="100"/>
              </a:spcAft>
            </a:pPr>
            <a:r>
              <a:rPr sz="1200">
                <a:solidFill>
                  <a:srgbClr val="0EA5E9"/>
                </a:solidFill>
                <a:latin typeface="Calibri"/>
              </a:rPr>
              <a:t>• </a:t>
            </a:r>
            <a:r>
              <a:rPr sz="1200" b="0">
                <a:solidFill>
                  <a:srgbClr val="1A1A2E"/>
                </a:solidFill>
                <a:latin typeface="Calibri"/>
              </a:rPr>
              <a:t>Is this a one-time prototype or production at scale? → Different cost/quality trade-offs apply</a:t>
            </a:r>
          </a:p>
          <a:p>
            <a:pPr>
              <a:spcBef>
                <a:spcPts val="200"/>
              </a:spcBef>
              <a:spcAft>
                <a:spcPts val="100"/>
              </a:spcAft>
            </a:pPr>
            <a:r>
              <a:rPr sz="1100" b="0">
                <a:solidFill>
                  <a:srgbClr val="2D3748"/>
                </a:solidFill>
                <a:latin typeface="Calibri"/>
              </a:rPr>
              <a:t>The architect's rule: Never hard-code a model provider. Use an abstraction layer (LiteLLM, LangChain, or your own wrapper) so you can swap models with a single config change. The best model today is not the best model in six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058400" cy="640080"/>
          </a:xfrm>
          <a:prstGeom prst="rect">
            <a:avLst/>
          </a:prstGeom>
          <a:noFill/>
        </p:spPr>
        <p:txBody>
          <a:bodyPr wrap="none">
            <a:spAutoFit/>
          </a:bodyPr>
          <a:lstStyle/>
          <a:p>
            <a:r>
              <a:rPr sz="2200" b="1">
                <a:solidFill>
                  <a:srgbClr val="0EA5E9"/>
                </a:solidFill>
                <a:latin typeface="Calibri"/>
              </a:rPr>
              <a:t>Section 2</a:t>
            </a:r>
          </a:p>
        </p:txBody>
      </p:sp>
      <p:sp>
        <p:nvSpPr>
          <p:cNvPr id="5" name="TextBox 4"/>
          <p:cNvSpPr txBox="1"/>
          <p:nvPr/>
        </p:nvSpPr>
        <p:spPr>
          <a:xfrm>
            <a:off x="914400" y="2606040"/>
            <a:ext cx="10058400" cy="1097280"/>
          </a:xfrm>
          <a:prstGeom prst="rect">
            <a:avLst/>
          </a:prstGeom>
          <a:noFill/>
        </p:spPr>
        <p:txBody>
          <a:bodyPr wrap="none">
            <a:spAutoFit/>
          </a:bodyPr>
          <a:lstStyle/>
          <a:p>
            <a:r>
              <a:rPr sz="3600" b="1">
                <a:solidFill>
                  <a:srgbClr val="FFFFFF"/>
                </a:solidFill>
                <a:latin typeface="Calibri"/>
              </a:rPr>
              <a:t>AI Agent Frameworks &amp; MCP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The Rise of Agentic AI</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From "Answer Me" to "Do This For Me"</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7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7</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fundamental shift:</a:t>
            </a:r>
          </a:p>
        </p:txBody>
      </p:sp>
      <p:graphicFrame>
        <p:nvGraphicFramePr>
          <p:cNvPr id="11" name="Table 10"/>
          <p:cNvGraphicFramePr>
            <a:graphicFrameLocks noGrp="1"/>
          </p:cNvGraphicFramePr>
          <p:nvPr/>
        </p:nvGraphicFramePr>
        <p:xfrm>
          <a:off x="457200" y="1600200"/>
          <a:ext cx="6492240" cy="2779776"/>
        </p:xfrm>
        <a:graphic>
          <a:graphicData uri="http://schemas.openxmlformats.org/drawingml/2006/table">
            <a:tbl>
              <a:tblPr firstRow="1" bandRow="1">
                <a:tableStyleId>{5C22544A-7EE6-4342-B048-85BDC9FD1C3A}</a:tableStyleId>
              </a:tblPr>
              <a:tblGrid>
                <a:gridCol w="2164080"/>
                <a:gridCol w="2164080"/>
                <a:gridCol w="2164080"/>
              </a:tblGrid>
              <a:tr h="347472">
                <a:tc>
                  <a:txBody>
                    <a:bodyPr/>
                    <a:lstStyle/>
                    <a:p>
                      <a:pPr algn="l"/>
                      <a:r>
                        <a:rPr sz="1100" b="1">
                          <a:solidFill>
                            <a:srgbClr val="FFFFFF"/>
                          </a:solidFill>
                          <a:latin typeface="Calibri"/>
                        </a:rPr>
                        <a:t>Dimension</a:t>
                      </a:r>
                    </a:p>
                  </a:txBody>
                  <a:tcPr>
                    <a:solidFill>
                      <a:srgbClr val="16213E"/>
                    </a:solidFill>
                  </a:tcPr>
                </a:tc>
                <a:tc>
                  <a:txBody>
                    <a:bodyPr/>
                    <a:lstStyle/>
                    <a:p>
                      <a:pPr algn="l"/>
                      <a:r>
                        <a:rPr sz="1100" b="1">
                          <a:solidFill>
                            <a:srgbClr val="FFFFFF"/>
                          </a:solidFill>
                          <a:latin typeface="Calibri"/>
                        </a:rPr>
                        <a:t>Chatbot (2022–2024)</a:t>
                      </a:r>
                    </a:p>
                  </a:txBody>
                  <a:tcPr>
                    <a:solidFill>
                      <a:srgbClr val="16213E"/>
                    </a:solidFill>
                  </a:tcPr>
                </a:tc>
                <a:tc>
                  <a:txBody>
                    <a:bodyPr/>
                    <a:lstStyle/>
                    <a:p>
                      <a:pPr algn="l"/>
                      <a:r>
                        <a:rPr sz="1100" b="1">
                          <a:solidFill>
                            <a:srgbClr val="FFFFFF"/>
                          </a:solidFill>
                          <a:latin typeface="Calibri"/>
                        </a:rPr>
                        <a:t>AI Agent (2025–2026)</a:t>
                      </a:r>
                    </a:p>
                  </a:txBody>
                  <a:tcPr>
                    <a:solidFill>
                      <a:srgbClr val="16213E"/>
                    </a:solidFill>
                  </a:tcPr>
                </a:tc>
              </a:tr>
              <a:tr h="347472">
                <a:tc>
                  <a:txBody>
                    <a:bodyPr/>
                    <a:lstStyle/>
                    <a:p>
                      <a:r>
                        <a:rPr sz="1000">
                          <a:solidFill>
                            <a:srgbClr val="1A1A2E"/>
                          </a:solidFill>
                          <a:latin typeface="Calibri"/>
                        </a:rPr>
                        <a:t>What you give it</a:t>
                      </a:r>
                    </a:p>
                  </a:txBody>
                  <a:tcPr>
                    <a:solidFill>
                      <a:srgbClr val="FFFFFF"/>
                    </a:solidFill>
                  </a:tcPr>
                </a:tc>
                <a:tc>
                  <a:txBody>
                    <a:bodyPr/>
                    <a:lstStyle/>
                    <a:p>
                      <a:r>
                        <a:rPr sz="1000">
                          <a:solidFill>
                            <a:srgbClr val="1A1A2E"/>
                          </a:solidFill>
                          <a:latin typeface="Calibri"/>
                        </a:rPr>
                        <a:t>A question</a:t>
                      </a:r>
                    </a:p>
                  </a:txBody>
                  <a:tcPr>
                    <a:solidFill>
                      <a:srgbClr val="FFFFFF"/>
                    </a:solidFill>
                  </a:tcPr>
                </a:tc>
                <a:tc>
                  <a:txBody>
                    <a:bodyPr/>
                    <a:lstStyle/>
                    <a:p>
                      <a:r>
                        <a:rPr sz="1000">
                          <a:solidFill>
                            <a:srgbClr val="1A1A2E"/>
                          </a:solidFill>
                          <a:latin typeface="Calibri"/>
                        </a:rPr>
                        <a:t>A goal or task</a:t>
                      </a:r>
                    </a:p>
                  </a:txBody>
                  <a:tcPr>
                    <a:solidFill>
                      <a:srgbClr val="FFFFFF"/>
                    </a:solidFill>
                  </a:tcPr>
                </a:tc>
              </a:tr>
              <a:tr h="347472">
                <a:tc>
                  <a:txBody>
                    <a:bodyPr/>
                    <a:lstStyle/>
                    <a:p>
                      <a:r>
                        <a:rPr sz="1000">
                          <a:solidFill>
                            <a:srgbClr val="1A1A2E"/>
                          </a:solidFill>
                          <a:latin typeface="Calibri"/>
                        </a:rPr>
                        <a:t>What it returns</a:t>
                      </a:r>
                    </a:p>
                  </a:txBody>
                  <a:tcPr>
                    <a:solidFill>
                      <a:srgbClr val="F8F9FF"/>
                    </a:solidFill>
                  </a:tcPr>
                </a:tc>
                <a:tc>
                  <a:txBody>
                    <a:bodyPr/>
                    <a:lstStyle/>
                    <a:p>
                      <a:r>
                        <a:rPr sz="1000">
                          <a:solidFill>
                            <a:srgbClr val="1A1A2E"/>
                          </a:solidFill>
                          <a:latin typeface="Calibri"/>
                        </a:rPr>
                        <a:t>Text</a:t>
                      </a:r>
                    </a:p>
                  </a:txBody>
                  <a:tcPr>
                    <a:solidFill>
                      <a:srgbClr val="F8F9FF"/>
                    </a:solidFill>
                  </a:tcPr>
                </a:tc>
                <a:tc>
                  <a:txBody>
                    <a:bodyPr/>
                    <a:lstStyle/>
                    <a:p>
                      <a:r>
                        <a:rPr sz="1000">
                          <a:solidFill>
                            <a:srgbClr val="1A1A2E"/>
                          </a:solidFill>
                          <a:latin typeface="Calibri"/>
                        </a:rPr>
                        <a:t>A completed result</a:t>
                      </a:r>
                    </a:p>
                  </a:txBody>
                  <a:tcPr>
                    <a:solidFill>
                      <a:srgbClr val="F8F9FF"/>
                    </a:solidFill>
                  </a:tcPr>
                </a:tc>
              </a:tr>
              <a:tr h="347472">
                <a:tc>
                  <a:txBody>
                    <a:bodyPr/>
                    <a:lstStyle/>
                    <a:p>
                      <a:r>
                        <a:rPr sz="1000">
                          <a:solidFill>
                            <a:srgbClr val="1A1A2E"/>
                          </a:solidFill>
                          <a:latin typeface="Calibri"/>
                        </a:rPr>
                        <a:t>How it works</a:t>
                      </a:r>
                    </a:p>
                  </a:txBody>
                  <a:tcPr>
                    <a:solidFill>
                      <a:srgbClr val="FFFFFF"/>
                    </a:solidFill>
                  </a:tcPr>
                </a:tc>
                <a:tc>
                  <a:txBody>
                    <a:bodyPr/>
                    <a:lstStyle/>
                    <a:p>
                      <a:r>
                        <a:rPr sz="1000">
                          <a:solidFill>
                            <a:srgbClr val="1A1A2E"/>
                          </a:solidFill>
                          <a:latin typeface="Calibri"/>
                        </a:rPr>
                        <a:t>One round of input/output</a:t>
                      </a:r>
                    </a:p>
                  </a:txBody>
                  <a:tcPr>
                    <a:solidFill>
                      <a:srgbClr val="FFFFFF"/>
                    </a:solidFill>
                  </a:tcPr>
                </a:tc>
                <a:tc>
                  <a:txBody>
                    <a:bodyPr/>
                    <a:lstStyle/>
                    <a:p>
                      <a:r>
                        <a:rPr sz="1000">
                          <a:solidFill>
                            <a:srgbClr val="1A1A2E"/>
                          </a:solidFill>
                          <a:latin typeface="Calibri"/>
                        </a:rPr>
                        <a:t>Plans, uses tools, iterates, adapts</a:t>
                      </a:r>
                    </a:p>
                  </a:txBody>
                  <a:tcPr>
                    <a:solidFill>
                      <a:srgbClr val="FFFFFF"/>
                    </a:solidFill>
                  </a:tcPr>
                </a:tc>
              </a:tr>
              <a:tr h="347472">
                <a:tc>
                  <a:txBody>
                    <a:bodyPr/>
                    <a:lstStyle/>
                    <a:p>
                      <a:r>
                        <a:rPr sz="1000">
                          <a:solidFill>
                            <a:srgbClr val="1A1A2E"/>
                          </a:solidFill>
                          <a:latin typeface="Calibri"/>
                        </a:rPr>
                        <a:t>Memory</a:t>
                      </a:r>
                    </a:p>
                  </a:txBody>
                  <a:tcPr>
                    <a:solidFill>
                      <a:srgbClr val="F8F9FF"/>
                    </a:solidFill>
                  </a:tcPr>
                </a:tc>
                <a:tc>
                  <a:txBody>
                    <a:bodyPr/>
                    <a:lstStyle/>
                    <a:p>
                      <a:r>
                        <a:rPr sz="1000">
                          <a:solidFill>
                            <a:srgbClr val="1A1A2E"/>
                          </a:solidFill>
                          <a:latin typeface="Calibri"/>
                        </a:rPr>
                        <a:t>Single session only</a:t>
                      </a:r>
                    </a:p>
                  </a:txBody>
                  <a:tcPr>
                    <a:solidFill>
                      <a:srgbClr val="F8F9FF"/>
                    </a:solidFill>
                  </a:tcPr>
                </a:tc>
                <a:tc>
                  <a:txBody>
                    <a:bodyPr/>
                    <a:lstStyle/>
                    <a:p>
                      <a:r>
                        <a:rPr sz="1000">
                          <a:solidFill>
                            <a:srgbClr val="1A1A2E"/>
                          </a:solidFill>
                          <a:latin typeface="Calibri"/>
                        </a:rPr>
                        <a:t>Persistent across steps and sessions</a:t>
                      </a:r>
                    </a:p>
                  </a:txBody>
                  <a:tcPr>
                    <a:solidFill>
                      <a:srgbClr val="F8F9FF"/>
                    </a:solidFill>
                  </a:tcPr>
                </a:tc>
              </a:tr>
              <a:tr h="347472">
                <a:tc>
                  <a:txBody>
                    <a:bodyPr/>
                    <a:lstStyle/>
                    <a:p>
                      <a:r>
                        <a:rPr sz="1000">
                          <a:solidFill>
                            <a:srgbClr val="1A1A2E"/>
                          </a:solidFill>
                          <a:latin typeface="Calibri"/>
                        </a:rPr>
                        <a:t>Tools available</a:t>
                      </a:r>
                    </a:p>
                  </a:txBody>
                  <a:tcPr>
                    <a:solidFill>
                      <a:srgbClr val="FFFFFF"/>
                    </a:solidFill>
                  </a:tcPr>
                </a:tc>
                <a:tc>
                  <a:txBody>
                    <a:bodyPr/>
                    <a:lstStyle/>
                    <a:p>
                      <a:r>
                        <a:rPr sz="1000">
                          <a:solidFill>
                            <a:srgbClr val="1A1A2E"/>
                          </a:solidFill>
                          <a:latin typeface="Calibri"/>
                        </a:rPr>
                        <a:t>None (or limited search)</a:t>
                      </a:r>
                    </a:p>
                  </a:txBody>
                  <a:tcPr>
                    <a:solidFill>
                      <a:srgbClr val="FFFFFF"/>
                    </a:solidFill>
                  </a:tcPr>
                </a:tc>
                <a:tc>
                  <a:txBody>
                    <a:bodyPr/>
                    <a:lstStyle/>
                    <a:p>
                      <a:r>
                        <a:rPr sz="1000">
                          <a:solidFill>
                            <a:srgbClr val="1A1A2E"/>
                          </a:solidFill>
                          <a:latin typeface="Calibri"/>
                        </a:rPr>
                        <a:t>Web, code execution, files, APIs, databases, email</a:t>
                      </a:r>
                    </a:p>
                  </a:txBody>
                  <a:tcPr>
                    <a:solidFill>
                      <a:srgbClr val="FFFFFF"/>
                    </a:solidFill>
                  </a:tcPr>
                </a:tc>
              </a:tr>
              <a:tr h="347472">
                <a:tc>
                  <a:txBody>
                    <a:bodyPr/>
                    <a:lstStyle/>
                    <a:p>
                      <a:r>
                        <a:rPr sz="1000">
                          <a:solidFill>
                            <a:srgbClr val="1A1A2E"/>
                          </a:solidFill>
                          <a:latin typeface="Calibri"/>
                        </a:rPr>
                        <a:t>Supervision needed</a:t>
                      </a:r>
                    </a:p>
                  </a:txBody>
                  <a:tcPr>
                    <a:solidFill>
                      <a:srgbClr val="F8F9FF"/>
                    </a:solidFill>
                  </a:tcPr>
                </a:tc>
                <a:tc>
                  <a:txBody>
                    <a:bodyPr/>
                    <a:lstStyle/>
                    <a:p>
                      <a:r>
                        <a:rPr sz="1000">
                          <a:solidFill>
                            <a:srgbClr val="1A1A2E"/>
                          </a:solidFill>
                          <a:latin typeface="Calibri"/>
                        </a:rPr>
                        <a:t>High — human drives every step</a:t>
                      </a:r>
                    </a:p>
                  </a:txBody>
                  <a:tcPr>
                    <a:solidFill>
                      <a:srgbClr val="F8F9FF"/>
                    </a:solidFill>
                  </a:tcPr>
                </a:tc>
                <a:tc>
                  <a:txBody>
                    <a:bodyPr/>
                    <a:lstStyle/>
                    <a:p>
                      <a:r>
                        <a:rPr sz="1000">
                          <a:solidFill>
                            <a:srgbClr val="1A1A2E"/>
                          </a:solidFill>
                          <a:latin typeface="Calibri"/>
                        </a:rPr>
                        <a:t>Low to Medium — agent drives, human reviews</a:t>
                      </a:r>
                    </a:p>
                  </a:txBody>
                  <a:tcPr>
                    <a:solidFill>
                      <a:srgbClr val="F8F9FF"/>
                    </a:solidFill>
                  </a:tcPr>
                </a:tc>
              </a:tr>
              <a:tr h="347472">
                <a:tc>
                  <a:txBody>
                    <a:bodyPr/>
                    <a:lstStyle/>
                    <a:p>
                      <a:r>
                        <a:rPr sz="1000">
                          <a:solidFill>
                            <a:srgbClr val="1A1A2E"/>
                          </a:solidFill>
                          <a:latin typeface="Calibri"/>
                        </a:rPr>
                        <a:t>Business analogy</a:t>
                      </a:r>
                    </a:p>
                  </a:txBody>
                  <a:tcPr>
                    <a:solidFill>
                      <a:srgbClr val="FFFFFF"/>
                    </a:solidFill>
                  </a:tcPr>
                </a:tc>
                <a:tc>
                  <a:txBody>
                    <a:bodyPr/>
                    <a:lstStyle/>
                    <a:p>
                      <a:r>
                        <a:rPr sz="1000">
                          <a:solidFill>
                            <a:srgbClr val="1A1A2E"/>
                          </a:solidFill>
                          <a:latin typeface="Calibri"/>
                        </a:rPr>
                        <a:t>Search engine</a:t>
                      </a:r>
                    </a:p>
                  </a:txBody>
                  <a:tcPr>
                    <a:solidFill>
                      <a:srgbClr val="FFFFFF"/>
                    </a:solidFill>
                  </a:tcPr>
                </a:tc>
                <a:tc>
                  <a:txBody>
                    <a:bodyPr/>
                    <a:lstStyle/>
                    <a:p>
                      <a:r>
                        <a:rPr sz="1000">
                          <a:solidFill>
                            <a:srgbClr val="1A1A2E"/>
                          </a:solidFill>
                          <a:latin typeface="Calibri"/>
                        </a:rPr>
                        <a:t>Junior analyst</a:t>
                      </a:r>
                    </a:p>
                  </a:txBody>
                  <a:tcPr>
                    <a:solidFill>
                      <a:srgbClr val="FFFFFF"/>
                    </a:solidFill>
                  </a:tcPr>
                </a:tc>
              </a:tr>
            </a:tbl>
          </a:graphicData>
        </a:graphic>
      </p:graphicFrame>
      <p:sp>
        <p:nvSpPr>
          <p:cNvPr id="12" name="TextBox 11"/>
          <p:cNvSpPr txBox="1"/>
          <p:nvPr/>
        </p:nvSpPr>
        <p:spPr>
          <a:xfrm>
            <a:off x="457200" y="4489704"/>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agent loop — how every agent framework works:</a:t>
            </a:r>
          </a:p>
          <a:p>
            <a:pPr>
              <a:spcBef>
                <a:spcPts val="200"/>
              </a:spcBef>
              <a:spcAft>
                <a:spcPts val="100"/>
              </a:spcAft>
            </a:pPr>
            <a:r>
              <a:rPr sz="1200">
                <a:solidFill>
                  <a:srgbClr val="0EA5E9"/>
                </a:solidFill>
                <a:latin typeface="Calibri"/>
              </a:rPr>
              <a:t>• </a:t>
            </a:r>
            <a:r>
              <a:rPr sz="1200" b="0">
                <a:solidFill>
                  <a:srgbClr val="1A1A2E"/>
                </a:solidFill>
                <a:latin typeface="Calibri"/>
              </a:rPr>
              <a:t>Receive the task and break it into steps</a:t>
            </a:r>
          </a:p>
          <a:p>
            <a:pPr>
              <a:spcBef>
                <a:spcPts val="200"/>
              </a:spcBef>
              <a:spcAft>
                <a:spcPts val="100"/>
              </a:spcAft>
            </a:pPr>
            <a:r>
              <a:rPr sz="1200">
                <a:solidFill>
                  <a:srgbClr val="0EA5E9"/>
                </a:solidFill>
                <a:latin typeface="Calibri"/>
              </a:rPr>
              <a:t>• </a:t>
            </a:r>
            <a:r>
              <a:rPr sz="1200" b="0">
                <a:solidFill>
                  <a:srgbClr val="1A1A2E"/>
                </a:solidFill>
                <a:latin typeface="Calibri"/>
              </a:rPr>
              <a:t>Select the right tool for each step</a:t>
            </a:r>
          </a:p>
          <a:p>
            <a:pPr>
              <a:spcBef>
                <a:spcPts val="200"/>
              </a:spcBef>
              <a:spcAft>
                <a:spcPts val="100"/>
              </a:spcAft>
            </a:pPr>
            <a:r>
              <a:rPr sz="1200">
                <a:solidFill>
                  <a:srgbClr val="0EA5E9"/>
                </a:solidFill>
                <a:latin typeface="Calibri"/>
              </a:rPr>
              <a:t>• </a:t>
            </a:r>
            <a:r>
              <a:rPr sz="1200" b="0">
                <a:solidFill>
                  <a:srgbClr val="1A1A2E"/>
                </a:solidFill>
                <a:latin typeface="Calibri"/>
              </a:rPr>
              <a:t>Execute the tool call and observe the result</a:t>
            </a:r>
          </a:p>
          <a:p>
            <a:pPr>
              <a:spcBef>
                <a:spcPts val="200"/>
              </a:spcBef>
              <a:spcAft>
                <a:spcPts val="100"/>
              </a:spcAft>
            </a:pPr>
            <a:r>
              <a:rPr sz="1200">
                <a:solidFill>
                  <a:srgbClr val="0EA5E9"/>
                </a:solidFill>
                <a:latin typeface="Calibri"/>
              </a:rPr>
              <a:t>• </a:t>
            </a:r>
            <a:r>
              <a:rPr sz="1200" b="0">
                <a:solidFill>
                  <a:srgbClr val="1A1A2E"/>
                </a:solidFill>
                <a:latin typeface="Calibri"/>
              </a:rPr>
              <a:t>Reason about whether the result moves toward the goal</a:t>
            </a:r>
          </a:p>
          <a:p>
            <a:pPr>
              <a:spcBef>
                <a:spcPts val="200"/>
              </a:spcBef>
              <a:spcAft>
                <a:spcPts val="100"/>
              </a:spcAft>
            </a:pPr>
            <a:r>
              <a:rPr sz="1200">
                <a:solidFill>
                  <a:srgbClr val="0EA5E9"/>
                </a:solidFill>
                <a:latin typeface="Calibri"/>
              </a:rPr>
              <a:t>• </a:t>
            </a:r>
            <a:r>
              <a:rPr sz="1200" b="0">
                <a:solidFill>
                  <a:srgbClr val="1A1A2E"/>
                </a:solidFill>
                <a:latin typeface="Calibri"/>
              </a:rPr>
              <a:t>Repeat until the task is complete — then return the final answer</a:t>
            </a:r>
          </a:p>
          <a:p>
            <a:pPr>
              <a:spcBef>
                <a:spcPts val="200"/>
              </a:spcBef>
              <a:spcAft>
                <a:spcPts val="100"/>
              </a:spcAft>
            </a:pPr>
            <a:r>
              <a:rPr sz="1100" b="0">
                <a:solidFill>
                  <a:srgbClr val="2D3748"/>
                </a:solidFill>
                <a:latin typeface="Calibri"/>
              </a:rPr>
              <a:t>Why this matters for business: Tasks that used to require a junior analyst working 3–4 hours — competitive research, data synthesis, report drafting, invoice processing — can now be completed in minutes by an agent running autonomously. The bottleneck shifts from execution to oversight and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Anthropic Claude Agent SDK</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Building Production Agents with Claude</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8</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What makes the Claude Agent SDK powerful:</a:t>
            </a:r>
          </a:p>
          <a:p>
            <a:pPr>
              <a:spcBef>
                <a:spcPts val="200"/>
              </a:spcBef>
              <a:spcAft>
                <a:spcPts val="100"/>
              </a:spcAft>
            </a:pPr>
            <a:r>
              <a:rPr sz="1300">
                <a:solidFill>
                  <a:srgbClr val="0EA5E9"/>
                </a:solidFill>
                <a:latin typeface="Calibri"/>
              </a:rPr>
              <a:t>• </a:t>
            </a:r>
            <a:r>
              <a:rPr sz="1300" b="0">
                <a:solidFill>
                  <a:srgbClr val="1A1A2E"/>
                </a:solidFill>
                <a:latin typeface="Calibri"/>
              </a:rPr>
              <a:t>Tool use: Define any Python function as a tool — the model decides when and how to call it</a:t>
            </a:r>
          </a:p>
          <a:p>
            <a:pPr>
              <a:spcBef>
                <a:spcPts val="200"/>
              </a:spcBef>
              <a:spcAft>
                <a:spcPts val="100"/>
              </a:spcAft>
            </a:pPr>
            <a:r>
              <a:rPr sz="1300">
                <a:solidFill>
                  <a:srgbClr val="0EA5E9"/>
                </a:solidFill>
                <a:latin typeface="Calibri"/>
              </a:rPr>
              <a:t>• </a:t>
            </a:r>
            <a:r>
              <a:rPr sz="1300" b="0">
                <a:solidFill>
                  <a:srgbClr val="1A1A2E"/>
                </a:solidFill>
                <a:latin typeface="Calibri"/>
              </a:rPr>
              <a:t>Extended thinking: Claude reasons step-by-step before using tools, reducing errors on complex tasks</a:t>
            </a:r>
          </a:p>
          <a:p>
            <a:pPr>
              <a:spcBef>
                <a:spcPts val="200"/>
              </a:spcBef>
              <a:spcAft>
                <a:spcPts val="100"/>
              </a:spcAft>
            </a:pPr>
            <a:r>
              <a:rPr sz="1300">
                <a:solidFill>
                  <a:srgbClr val="0EA5E9"/>
                </a:solidFill>
                <a:latin typeface="Calibri"/>
              </a:rPr>
              <a:t>• </a:t>
            </a:r>
            <a:r>
              <a:rPr sz="1300" b="0">
                <a:solidFill>
                  <a:srgbClr val="1A1A2E"/>
                </a:solidFill>
                <a:latin typeface="Calibri"/>
              </a:rPr>
              <a:t>Computer use: Claude can control a real browser — click, type, navigate, take screenshots</a:t>
            </a:r>
          </a:p>
          <a:p>
            <a:pPr>
              <a:spcBef>
                <a:spcPts val="200"/>
              </a:spcBef>
              <a:spcAft>
                <a:spcPts val="100"/>
              </a:spcAft>
            </a:pPr>
            <a:r>
              <a:rPr sz="1300">
                <a:solidFill>
                  <a:srgbClr val="0EA5E9"/>
                </a:solidFill>
                <a:latin typeface="Calibri"/>
              </a:rPr>
              <a:t>• </a:t>
            </a:r>
            <a:r>
              <a:rPr sz="1300" b="0">
                <a:solidFill>
                  <a:srgbClr val="1A1A2E"/>
                </a:solidFill>
                <a:latin typeface="Calibri"/>
              </a:rPr>
              <a:t>Multi-agent: Spawn sub-agents for parallel tasks; orchestrate teams of specialized Claudes</a:t>
            </a:r>
          </a:p>
          <a:p>
            <a:pPr>
              <a:spcBef>
                <a:spcPts val="200"/>
              </a:spcBef>
              <a:spcAft>
                <a:spcPts val="100"/>
              </a:spcAft>
            </a:pPr>
            <a:r>
              <a:rPr sz="1300">
                <a:solidFill>
                  <a:srgbClr val="0EA5E9"/>
                </a:solidFill>
                <a:latin typeface="Calibri"/>
              </a:rPr>
              <a:t>• </a:t>
            </a:r>
            <a:r>
              <a:rPr sz="1300" b="0">
                <a:solidFill>
                  <a:srgbClr val="1A1A2E"/>
                </a:solidFill>
                <a:latin typeface="Calibri"/>
              </a:rPr>
              <a:t>Long context: 200K tokens of working memory — entire codebases, long documents, conversation history</a:t>
            </a:r>
          </a:p>
          <a:p>
            <a:pPr>
              <a:spcBef>
                <a:spcPts val="200"/>
              </a:spcBef>
              <a:spcAft>
                <a:spcPts val="100"/>
              </a:spcAft>
            </a:pPr>
            <a:r>
              <a:rPr sz="1300" b="1">
                <a:solidFill>
                  <a:srgbClr val="0F3460"/>
                </a:solidFill>
                <a:latin typeface="Calibri"/>
              </a:rPr>
              <a:t>Core pattern — tool definition and agent loop:</a:t>
            </a:r>
          </a:p>
        </p:txBody>
      </p:sp>
      <p:sp>
        <p:nvSpPr>
          <p:cNvPr id="9" name="Rectangle 8"/>
          <p:cNvSpPr/>
          <p:nvPr/>
        </p:nvSpPr>
        <p:spPr>
          <a:xfrm>
            <a:off x="457200" y="3246120"/>
            <a:ext cx="11277295" cy="48371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337560"/>
            <a:ext cx="11002975" cy="4654296"/>
          </a:xfrm>
          <a:prstGeom prst="rect">
            <a:avLst/>
          </a:prstGeom>
          <a:noFill/>
        </p:spPr>
        <p:txBody>
          <a:bodyPr wrap="none">
            <a:spAutoFit/>
          </a:bodyPr>
          <a:lstStyle/>
          <a:p>
            <a:r>
              <a:rPr sz="900">
                <a:solidFill>
                  <a:srgbClr val="E2E8F0"/>
                </a:solidFill>
                <a:latin typeface="Courier New"/>
              </a:rPr>
              <a:t>import anthropic</a:t>
            </a:r>
          </a:p>
          <a:p>
            <a:r>
              <a:rPr sz="900">
                <a:solidFill>
                  <a:srgbClr val="E2E8F0"/>
                </a:solidFill>
                <a:latin typeface="Courier New"/>
              </a:rPr>
              <a:t>client = anthropic.Anthropic()</a:t>
            </a:r>
          </a:p>
          <a:p>
            <a:r>
              <a:rPr sz="900">
                <a:solidFill>
                  <a:srgbClr val="E2E8F0"/>
                </a:solidFill>
                <a:latin typeface="Courier New"/>
              </a:rPr>
              <a:t/>
            </a:r>
          </a:p>
          <a:p>
            <a:r>
              <a:rPr sz="900">
                <a:solidFill>
                  <a:srgbClr val="E2E8F0"/>
                </a:solidFill>
                <a:latin typeface="Courier New"/>
              </a:rPr>
              <a:t>tools = [{</a:t>
            </a:r>
          </a:p>
          <a:p>
            <a:r>
              <a:rPr sz="900">
                <a:solidFill>
                  <a:srgbClr val="E2E8F0"/>
                </a:solidFill>
                <a:latin typeface="Courier New"/>
              </a:rPr>
              <a:t>    "name": "search_competitors",</a:t>
            </a:r>
          </a:p>
          <a:p>
            <a:r>
              <a:rPr sz="900">
                <a:solidFill>
                  <a:srgbClr val="E2E8F0"/>
                </a:solidFill>
                <a:latin typeface="Courier New"/>
              </a:rPr>
              <a:t>    "description": "Search competitor websites for pricing and feature information",</a:t>
            </a:r>
          </a:p>
          <a:p>
            <a:r>
              <a:rPr sz="900">
                <a:solidFill>
                  <a:srgbClr val="E2E8F0"/>
                </a:solidFill>
                <a:latin typeface="Courier New"/>
              </a:rPr>
              <a:t>    "input_schema": {</a:t>
            </a:r>
          </a:p>
          <a:p>
            <a:r>
              <a:rPr sz="900">
                <a:solidFill>
                  <a:srgbClr val="E2E8F0"/>
                </a:solidFill>
                <a:latin typeface="Courier New"/>
              </a:rPr>
              <a:t>        "type": "object",</a:t>
            </a:r>
          </a:p>
          <a:p>
            <a:r>
              <a:rPr sz="900">
                <a:solidFill>
                  <a:srgbClr val="E2E8F0"/>
                </a:solidFill>
                <a:latin typeface="Courier New"/>
              </a:rPr>
              <a:t>        "properties": {</a:t>
            </a:r>
          </a:p>
          <a:p>
            <a:r>
              <a:rPr sz="900">
                <a:solidFill>
                  <a:srgbClr val="E2E8F0"/>
                </a:solidFill>
                <a:latin typeface="Courier New"/>
              </a:rPr>
              <a:t>            "company": {"type": "string"},</a:t>
            </a:r>
          </a:p>
          <a:p>
            <a:r>
              <a:rPr sz="900">
                <a:solidFill>
                  <a:srgbClr val="E2E8F0"/>
                </a:solidFill>
                <a:latin typeface="Courier New"/>
              </a:rPr>
              <a:t>            "focus": {"type": "string", "enum": ["pricing", "features", "news"]}</a:t>
            </a:r>
          </a:p>
          <a:p>
            <a:r>
              <a:rPr sz="900">
                <a:solidFill>
                  <a:srgbClr val="E2E8F0"/>
                </a:solidFill>
                <a:latin typeface="Courier New"/>
              </a:rPr>
              <a:t>        },</a:t>
            </a:r>
          </a:p>
          <a:p>
            <a:r>
              <a:rPr sz="900">
                <a:solidFill>
                  <a:srgbClr val="E2E8F0"/>
                </a:solidFill>
                <a:latin typeface="Courier New"/>
              </a:rPr>
              <a:t>        "required": ["company", "focus"]</a:t>
            </a:r>
          </a:p>
          <a:p>
            <a:r>
              <a:rPr sz="900">
                <a:solidFill>
                  <a:srgbClr val="E2E8F0"/>
                </a:solidFill>
                <a:latin typeface="Courier New"/>
              </a:rPr>
              <a:t>    }</a:t>
            </a:r>
          </a:p>
          <a:p>
            <a:r>
              <a:rPr sz="900">
                <a:solidFill>
                  <a:srgbClr val="E2E8F0"/>
                </a:solidFill>
                <a:latin typeface="Courier New"/>
              </a:rPr>
              <a:t>}]</a:t>
            </a:r>
          </a:p>
          <a:p>
            <a:r>
              <a:rPr sz="900">
                <a:solidFill>
                  <a:srgbClr val="E2E8F0"/>
                </a:solidFill>
                <a:latin typeface="Courier New"/>
              </a:rPr>
              <a:t/>
            </a:r>
          </a:p>
          <a:p>
            <a:r>
              <a:rPr sz="900">
                <a:solidFill>
                  <a:srgbClr val="E2E8F0"/>
                </a:solidFill>
                <a:latin typeface="Courier New"/>
              </a:rPr>
              <a:t>response = client.messages.create(</a:t>
            </a:r>
          </a:p>
          <a:p>
            <a:r>
              <a:rPr sz="900">
                <a:solidFill>
                  <a:srgbClr val="E2E8F0"/>
                </a:solidFill>
                <a:latin typeface="Courier New"/>
              </a:rPr>
              <a:t>    model="claude-sonnet-4-6",</a:t>
            </a:r>
          </a:p>
        </p:txBody>
      </p:sp>
      <p:sp>
        <p:nvSpPr>
          <p:cNvPr id="11" name="TextBox 10"/>
          <p:cNvSpPr txBox="1"/>
          <p:nvPr/>
        </p:nvSpPr>
        <p:spPr>
          <a:xfrm>
            <a:off x="457200" y="8193024"/>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What Claude returns: Either a final text answer, or a tool_use block containing the tool name and input — which your code executes, returning results back into the conversation until the task is done.</a:t>
            </a:r>
          </a:p>
          <a:p>
            <a:pPr>
              <a:spcBef>
                <a:spcPts val="200"/>
              </a:spcBef>
              <a:spcAft>
                <a:spcPts val="100"/>
              </a:spcAft>
            </a:pPr>
            <a:r>
              <a:rPr sz="1200" b="0">
                <a:solidFill>
                  <a:srgbClr val="2D3748"/>
                </a:solidFill>
                <a:latin typeface="Calibri"/>
              </a:rPr>
              <a:t>Best business use cases: Multi-step research and reporting, automated code review, document analysis pipelines, CRM data enrichment, financial modeling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OpenAI Agents SDK</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Four Primitives for Production Agentic Systems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9</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Released in early 2025 — designed for enterprise deployments</a:t>
            </a:r>
          </a:p>
          <a:p>
            <a:pPr>
              <a:spcBef>
                <a:spcPts val="200"/>
              </a:spcBef>
              <a:spcAft>
                <a:spcPts val="100"/>
              </a:spcAft>
            </a:pPr>
            <a:r>
              <a:rPr sz="1200" b="0">
                <a:solidFill>
                  <a:srgbClr val="2D3748"/>
                </a:solidFill>
                <a:latin typeface="Calibri"/>
              </a:rPr>
              <a:t>The OpenAI Agents SDK is built around four composable primitives that map cleanly to real business workflow patterns:</a:t>
            </a:r>
          </a:p>
        </p:txBody>
      </p:sp>
      <p:graphicFrame>
        <p:nvGraphicFramePr>
          <p:cNvPr id="9" name="Table 8"/>
          <p:cNvGraphicFramePr>
            <a:graphicFrameLocks noGrp="1"/>
          </p:cNvGraphicFramePr>
          <p:nvPr/>
        </p:nvGraphicFramePr>
        <p:xfrm>
          <a:off x="457200" y="187452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Primitive</a:t>
                      </a:r>
                    </a:p>
                  </a:txBody>
                  <a:tcPr>
                    <a:solidFill>
                      <a:srgbClr val="16213E"/>
                    </a:solidFill>
                  </a:tcPr>
                </a:tc>
                <a:tc>
                  <a:txBody>
                    <a:bodyPr/>
                    <a:lstStyle/>
                    <a:p>
                      <a:pPr algn="l"/>
                      <a:r>
                        <a:rPr sz="1100" b="1">
                          <a:solidFill>
                            <a:srgbClr val="FFFFFF"/>
                          </a:solidFill>
                          <a:latin typeface="Calibri"/>
                        </a:rPr>
                        <a:t>What It Is</a:t>
                      </a:r>
                    </a:p>
                  </a:txBody>
                  <a:tcPr>
                    <a:solidFill>
                      <a:srgbClr val="16213E"/>
                    </a:solidFill>
                  </a:tcPr>
                </a:tc>
                <a:tc>
                  <a:txBody>
                    <a:bodyPr/>
                    <a:lstStyle/>
                    <a:p>
                      <a:pPr algn="l"/>
                      <a:r>
                        <a:rPr sz="1100" b="1">
                          <a:solidFill>
                            <a:srgbClr val="FFFFFF"/>
                          </a:solidFill>
                          <a:latin typeface="Calibri"/>
                        </a:rPr>
                        <a:t>Business Example</a:t>
                      </a:r>
                    </a:p>
                  </a:txBody>
                  <a:tcPr>
                    <a:solidFill>
                      <a:srgbClr val="16213E"/>
                    </a:solidFill>
                  </a:tcPr>
                </a:tc>
              </a:tr>
              <a:tr h="347472">
                <a:tc>
                  <a:txBody>
                    <a:bodyPr/>
                    <a:lstStyle/>
                    <a:p>
                      <a:r>
                        <a:rPr sz="1000">
                          <a:solidFill>
                            <a:srgbClr val="1A1A2E"/>
                          </a:solidFill>
                          <a:latin typeface="Calibri"/>
                        </a:rPr>
                        <a:t>Agent</a:t>
                      </a:r>
                    </a:p>
                  </a:txBody>
                  <a:tcPr>
                    <a:solidFill>
                      <a:srgbClr val="FFFFFF"/>
                    </a:solidFill>
                  </a:tcPr>
                </a:tc>
                <a:tc>
                  <a:txBody>
                    <a:bodyPr/>
                    <a:lstStyle/>
                    <a:p>
                      <a:r>
                        <a:rPr sz="1000">
                          <a:solidFill>
                            <a:srgbClr val="1A1A2E"/>
                          </a:solidFill>
                          <a:latin typeface="Calibri"/>
                        </a:rPr>
                        <a:t>An LLM with a role, instructions, and tools</a:t>
                      </a:r>
                    </a:p>
                  </a:txBody>
                  <a:tcPr>
                    <a:solidFill>
                      <a:srgbClr val="FFFFFF"/>
                    </a:solidFill>
                  </a:tcPr>
                </a:tc>
                <a:tc>
                  <a:txBody>
                    <a:bodyPr/>
                    <a:lstStyle/>
                    <a:p>
                      <a:r>
                        <a:rPr sz="1000">
                          <a:solidFill>
                            <a:srgbClr val="1A1A2E"/>
                          </a:solidFill>
                          <a:latin typeface="Calibri"/>
                        </a:rPr>
                        <a:t>"Tier-1 Support Agent" with access to your knowledge base</a:t>
                      </a:r>
                    </a:p>
                  </a:txBody>
                  <a:tcPr>
                    <a:solidFill>
                      <a:srgbClr val="FFFFFF"/>
                    </a:solidFill>
                  </a:tcPr>
                </a:tc>
              </a:tr>
              <a:tr h="347472">
                <a:tc>
                  <a:txBody>
                    <a:bodyPr/>
                    <a:lstStyle/>
                    <a:p>
                      <a:r>
                        <a:rPr sz="1000">
                          <a:solidFill>
                            <a:srgbClr val="1A1A2E"/>
                          </a:solidFill>
                          <a:latin typeface="Calibri"/>
                        </a:rPr>
                        <a:t>Handoff</a:t>
                      </a:r>
                    </a:p>
                  </a:txBody>
                  <a:tcPr>
                    <a:solidFill>
                      <a:srgbClr val="F8F9FF"/>
                    </a:solidFill>
                  </a:tcPr>
                </a:tc>
                <a:tc>
                  <a:txBody>
                    <a:bodyPr/>
                    <a:lstStyle/>
                    <a:p>
                      <a:r>
                        <a:rPr sz="1000">
                          <a:solidFill>
                            <a:srgbClr val="1A1A2E"/>
                          </a:solidFill>
                          <a:latin typeface="Calibri"/>
                        </a:rPr>
                        <a:t>Transfers control to a specialist agent</a:t>
                      </a:r>
                    </a:p>
                  </a:txBody>
                  <a:tcPr>
                    <a:solidFill>
                      <a:srgbClr val="F8F9FF"/>
                    </a:solidFill>
                  </a:tcPr>
                </a:tc>
                <a:tc>
                  <a:txBody>
                    <a:bodyPr/>
                    <a:lstStyle/>
                    <a:p>
                      <a:r>
                        <a:rPr sz="1000">
                          <a:solidFill>
                            <a:srgbClr val="1A1A2E"/>
                          </a:solidFill>
                          <a:latin typeface="Calibri"/>
                        </a:rPr>
                        <a:t>Escalate complex issues to "Billing Specialist Agent"</a:t>
                      </a:r>
                    </a:p>
                  </a:txBody>
                  <a:tcPr>
                    <a:solidFill>
                      <a:srgbClr val="F8F9FF"/>
                    </a:solidFill>
                  </a:tcPr>
                </a:tc>
              </a:tr>
              <a:tr h="347472">
                <a:tc>
                  <a:txBody>
                    <a:bodyPr/>
                    <a:lstStyle/>
                    <a:p>
                      <a:r>
                        <a:rPr sz="1000">
                          <a:solidFill>
                            <a:srgbClr val="1A1A2E"/>
                          </a:solidFill>
                          <a:latin typeface="Calibri"/>
                        </a:rPr>
                        <a:t>Guardrail</a:t>
                      </a:r>
                    </a:p>
                  </a:txBody>
                  <a:tcPr>
                    <a:solidFill>
                      <a:srgbClr val="FFFFFF"/>
                    </a:solidFill>
                  </a:tcPr>
                </a:tc>
                <a:tc>
                  <a:txBody>
                    <a:bodyPr/>
                    <a:lstStyle/>
                    <a:p>
                      <a:r>
                        <a:rPr sz="1000">
                          <a:solidFill>
                            <a:srgbClr val="1A1A2E"/>
                          </a:solidFill>
                          <a:latin typeface="Calibri"/>
                        </a:rPr>
                        <a:t>Validates inputs and outputs against rules</a:t>
                      </a:r>
                    </a:p>
                  </a:txBody>
                  <a:tcPr>
                    <a:solidFill>
                      <a:srgbClr val="FFFFFF"/>
                    </a:solidFill>
                  </a:tcPr>
                </a:tc>
                <a:tc>
                  <a:txBody>
                    <a:bodyPr/>
                    <a:lstStyle/>
                    <a:p>
                      <a:r>
                        <a:rPr sz="1000">
                          <a:solidFill>
                            <a:srgbClr val="1A1A2E"/>
                          </a:solidFill>
                          <a:latin typeface="Calibri"/>
                        </a:rPr>
                        <a:t>Block PII from leaving the system; enforce safe responses</a:t>
                      </a:r>
                    </a:p>
                  </a:txBody>
                  <a:tcPr>
                    <a:solidFill>
                      <a:srgbClr val="FFFFFF"/>
                    </a:solidFill>
                  </a:tcPr>
                </a:tc>
              </a:tr>
              <a:tr h="347472">
                <a:tc>
                  <a:txBody>
                    <a:bodyPr/>
                    <a:lstStyle/>
                    <a:p>
                      <a:r>
                        <a:rPr sz="1000">
                          <a:solidFill>
                            <a:srgbClr val="1A1A2E"/>
                          </a:solidFill>
                          <a:latin typeface="Calibri"/>
                        </a:rPr>
                        <a:t>Tracing</a:t>
                      </a:r>
                    </a:p>
                  </a:txBody>
                  <a:tcPr>
                    <a:solidFill>
                      <a:srgbClr val="F8F9FF"/>
                    </a:solidFill>
                  </a:tcPr>
                </a:tc>
                <a:tc>
                  <a:txBody>
                    <a:bodyPr/>
                    <a:lstStyle/>
                    <a:p>
                      <a:r>
                        <a:rPr sz="1000">
                          <a:solidFill>
                            <a:srgbClr val="1A1A2E"/>
                          </a:solidFill>
                          <a:latin typeface="Calibri"/>
                        </a:rPr>
                        <a:t>Full audit log of every agent decision and tool call</a:t>
                      </a:r>
                    </a:p>
                  </a:txBody>
                  <a:tcPr>
                    <a:solidFill>
                      <a:srgbClr val="F8F9FF"/>
                    </a:solidFill>
                  </a:tcPr>
                </a:tc>
                <a:tc>
                  <a:txBody>
                    <a:bodyPr/>
                    <a:lstStyle/>
                    <a:p>
                      <a:r>
                        <a:rPr sz="1000">
                          <a:solidFill>
                            <a:srgbClr val="1A1A2E"/>
                          </a:solidFill>
                          <a:latin typeface="Calibri"/>
                        </a:rPr>
                        <a:t>Required for compliance in finance and healthcare</a:t>
                      </a:r>
                    </a:p>
                  </a:txBody>
                  <a:tcPr>
                    <a:solidFill>
                      <a:srgbClr val="F8F9FF"/>
                    </a:solidFill>
                  </a:tcPr>
                </a:tc>
              </a:tr>
            </a:tbl>
          </a:graphicData>
        </a:graphic>
      </p:graphicFrame>
      <p:sp>
        <p:nvSpPr>
          <p:cNvPr id="10" name="TextBox 9"/>
          <p:cNvSpPr txBox="1"/>
          <p:nvPr/>
        </p:nvSpPr>
        <p:spPr>
          <a:xfrm>
            <a:off x="457200" y="3721608"/>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Code pattern — multi-agent handoff:</a:t>
            </a:r>
          </a:p>
        </p:txBody>
      </p:sp>
      <p:sp>
        <p:nvSpPr>
          <p:cNvPr id="11" name="Rectangle 10"/>
          <p:cNvSpPr/>
          <p:nvPr/>
        </p:nvSpPr>
        <p:spPr>
          <a:xfrm>
            <a:off x="457200" y="3995928"/>
            <a:ext cx="11277295" cy="40690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087368"/>
            <a:ext cx="11002975" cy="3886200"/>
          </a:xfrm>
          <a:prstGeom prst="rect">
            <a:avLst/>
          </a:prstGeom>
          <a:noFill/>
        </p:spPr>
        <p:txBody>
          <a:bodyPr wrap="none">
            <a:spAutoFit/>
          </a:bodyPr>
          <a:lstStyle/>
          <a:p>
            <a:r>
              <a:rPr sz="900">
                <a:solidFill>
                  <a:srgbClr val="E2E8F0"/>
                </a:solidFill>
                <a:latin typeface="Courier New"/>
              </a:rPr>
              <a:t>from agents import Agent, Runner</a:t>
            </a:r>
          </a:p>
          <a:p>
            <a:r>
              <a:rPr sz="900">
                <a:solidFill>
                  <a:srgbClr val="E2E8F0"/>
                </a:solidFill>
                <a:latin typeface="Courier New"/>
              </a:rPr>
              <a:t/>
            </a:r>
          </a:p>
          <a:p>
            <a:r>
              <a:rPr sz="900">
                <a:solidFill>
                  <a:srgbClr val="E2E8F0"/>
                </a:solidFill>
                <a:latin typeface="Courier New"/>
              </a:rPr>
              <a:t>triage_agent = Agent(</a:t>
            </a:r>
          </a:p>
          <a:p>
            <a:r>
              <a:rPr sz="900">
                <a:solidFill>
                  <a:srgbClr val="E2E8F0"/>
                </a:solidFill>
                <a:latin typeface="Courier New"/>
              </a:rPr>
              <a:t>    name="Support Triage",</a:t>
            </a:r>
          </a:p>
          <a:p>
            <a:r>
              <a:rPr sz="900">
                <a:solidFill>
                  <a:srgbClr val="E2E8F0"/>
                </a:solidFill>
                <a:latin typeface="Courier New"/>
              </a:rPr>
              <a:t>    instructions="Classify support tickets and route to the right specialist.",</a:t>
            </a:r>
          </a:p>
          <a:p>
            <a:r>
              <a:rPr sz="900">
                <a:solidFill>
                  <a:srgbClr val="E2E8F0"/>
                </a:solidFill>
                <a:latin typeface="Courier New"/>
              </a:rPr>
              <a:t>    handoffs=[billing_agent, technical_agent, escalation_agent]</a:t>
            </a:r>
          </a:p>
          <a:p>
            <a:r>
              <a:rPr sz="900">
                <a:solidFill>
                  <a:srgbClr val="E2E8F0"/>
                </a:solidFill>
                <a:latin typeface="Courier New"/>
              </a:rPr>
              <a:t>)</a:t>
            </a:r>
          </a:p>
          <a:p>
            <a:r>
              <a:rPr sz="900">
                <a:solidFill>
                  <a:srgbClr val="E2E8F0"/>
                </a:solidFill>
                <a:latin typeface="Courier New"/>
              </a:rPr>
              <a:t/>
            </a:r>
          </a:p>
          <a:p>
            <a:r>
              <a:rPr sz="900">
                <a:solidFill>
                  <a:srgbClr val="E2E8F0"/>
                </a:solidFill>
                <a:latin typeface="Courier New"/>
              </a:rPr>
              <a:t>billing_agent = Agent(</a:t>
            </a:r>
          </a:p>
          <a:p>
            <a:r>
              <a:rPr sz="900">
                <a:solidFill>
                  <a:srgbClr val="E2E8F0"/>
                </a:solidFill>
                <a:latin typeface="Courier New"/>
              </a:rPr>
              <a:t>    name="Billing Specialist",</a:t>
            </a:r>
          </a:p>
          <a:p>
            <a:r>
              <a:rPr sz="900">
                <a:solidFill>
                  <a:srgbClr val="E2E8F0"/>
                </a:solidFill>
                <a:latin typeface="Courier New"/>
              </a:rPr>
              <a:t>    instructions="Resolve billing questions using the customer database tool.",</a:t>
            </a:r>
          </a:p>
          <a:p>
            <a:r>
              <a:rPr sz="900">
                <a:solidFill>
                  <a:srgbClr val="E2E8F0"/>
                </a:solidFill>
                <a:latin typeface="Courier New"/>
              </a:rPr>
              <a:t>    tools=[query_billing_db, issue_refund, update_subscription]</a:t>
            </a:r>
          </a:p>
          <a:p>
            <a:r>
              <a:rPr sz="900">
                <a:solidFill>
                  <a:srgbClr val="E2E8F0"/>
                </a:solidFill>
                <a:latin typeface="Courier New"/>
              </a:rPr>
              <a:t>)</a:t>
            </a:r>
          </a:p>
          <a:p>
            <a:r>
              <a:rPr sz="900">
                <a:solidFill>
                  <a:srgbClr val="E2E8F0"/>
                </a:solidFill>
                <a:latin typeface="Courier New"/>
              </a:rPr>
              <a:t/>
            </a:r>
          </a:p>
          <a:p>
            <a:r>
              <a:rPr sz="900">
                <a:solidFill>
                  <a:srgbClr val="E2E8F0"/>
                </a:solidFill>
                <a:latin typeface="Courier New"/>
              </a:rPr>
              <a:t>result = Runner.run(triage_agent, "My invoice shows double charge for March")</a:t>
            </a:r>
          </a:p>
        </p:txBody>
      </p:sp>
      <p:sp>
        <p:nvSpPr>
          <p:cNvPr id="13" name="TextBox 12"/>
          <p:cNvSpPr txBox="1"/>
          <p:nvPr/>
        </p:nvSpPr>
        <p:spPr>
          <a:xfrm>
            <a:off x="457200" y="8174736"/>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Key differentiators vs. other frameworks:</a:t>
            </a:r>
          </a:p>
          <a:p>
            <a:pPr>
              <a:spcBef>
                <a:spcPts val="200"/>
              </a:spcBef>
              <a:spcAft>
                <a:spcPts val="100"/>
              </a:spcAft>
            </a:pPr>
            <a:r>
              <a:rPr sz="1300">
                <a:solidFill>
                  <a:srgbClr val="0EA5E9"/>
                </a:solidFill>
                <a:latin typeface="Calibri"/>
              </a:rPr>
              <a:t>• </a:t>
            </a:r>
            <a:r>
              <a:rPr sz="1300" b="0">
                <a:solidFill>
                  <a:srgbClr val="1A1A2E"/>
                </a:solidFill>
                <a:latin typeface="Calibri"/>
              </a:rPr>
              <a:t>Native integration with OpenAI Assistants API (persistent threads, file attachments)</a:t>
            </a:r>
          </a:p>
          <a:p>
            <a:pPr>
              <a:spcBef>
                <a:spcPts val="200"/>
              </a:spcBef>
              <a:spcAft>
                <a:spcPts val="100"/>
              </a:spcAft>
            </a:pPr>
            <a:r>
              <a:rPr sz="1300">
                <a:solidFill>
                  <a:srgbClr val="0EA5E9"/>
                </a:solidFill>
                <a:latin typeface="Calibri"/>
              </a:rPr>
              <a:t>• </a:t>
            </a:r>
            <a:r>
              <a:rPr sz="1300" b="0">
                <a:solidFill>
                  <a:srgbClr val="1A1A2E"/>
                </a:solidFill>
                <a:latin typeface="Calibri"/>
              </a:rPr>
              <a:t>Built-in tracing dashboard — see every step your agent took</a:t>
            </a:r>
          </a:p>
          <a:p>
            <a:pPr>
              <a:spcBef>
                <a:spcPts val="200"/>
              </a:spcBef>
              <a:spcAft>
                <a:spcPts val="100"/>
              </a:spcAft>
            </a:pPr>
            <a:r>
              <a:rPr sz="1300">
                <a:solidFill>
                  <a:srgbClr val="0EA5E9"/>
                </a:solidFill>
                <a:latin typeface="Calibri"/>
              </a:rPr>
              <a:t>• </a:t>
            </a:r>
            <a:r>
              <a:rPr sz="1300" b="0">
                <a:solidFill>
                  <a:srgbClr val="1A1A2E"/>
                </a:solidFill>
                <a:latin typeface="Calibri"/>
              </a:rPr>
              <a:t>Guardrails run in parallel, not sequentially — no added latency</a:t>
            </a:r>
          </a:p>
          <a:p>
            <a:pPr>
              <a:spcBef>
                <a:spcPts val="200"/>
              </a:spcBef>
              <a:spcAft>
                <a:spcPts val="100"/>
              </a:spcAft>
            </a:pPr>
            <a:r>
              <a:rPr sz="1300">
                <a:solidFill>
                  <a:srgbClr val="0EA5E9"/>
                </a:solidFill>
                <a:latin typeface="Calibri"/>
              </a:rPr>
              <a:t>• </a:t>
            </a:r>
            <a:r>
              <a:rPr sz="1300" b="0">
                <a:solidFill>
                  <a:srgbClr val="1A1A2E"/>
                </a:solidFill>
                <a:latin typeface="Calibri"/>
              </a:rPr>
              <a:t>Seamless handoffs with context preservation — the receiving agent knows the full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Google ADK and LangGraph</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Enterprise Orchestration and Complex Control Flow</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10</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Google Agent Development Kit (ADK)</a:t>
            </a:r>
          </a:p>
          <a:p>
            <a:pPr>
              <a:spcBef>
                <a:spcPts val="200"/>
              </a:spcBef>
              <a:spcAft>
                <a:spcPts val="100"/>
              </a:spcAft>
            </a:pPr>
            <a:r>
              <a:rPr sz="1200" b="0">
                <a:solidFill>
                  <a:srgbClr val="2D3748"/>
                </a:solidFill>
                <a:latin typeface="Calibri"/>
              </a:rPr>
              <a:t>Designed for organizations already on Google Cloud — tightly integrated with Vertex AI, Google Search, Google Workspace, and enterprise compliance infrastructure.</a:t>
            </a:r>
          </a:p>
        </p:txBody>
      </p:sp>
      <p:graphicFrame>
        <p:nvGraphicFramePr>
          <p:cNvPr id="9" name="Table 8"/>
          <p:cNvGraphicFramePr>
            <a:graphicFrameLocks noGrp="1"/>
          </p:cNvGraphicFramePr>
          <p:nvPr/>
        </p:nvGraphicFramePr>
        <p:xfrm>
          <a:off x="457200" y="1874520"/>
          <a:ext cx="11277295" cy="2432304"/>
        </p:xfrm>
        <a:graphic>
          <a:graphicData uri="http://schemas.openxmlformats.org/drawingml/2006/table">
            <a:tbl>
              <a:tblPr firstRow="1" bandRow="1">
                <a:tableStyleId>{5C22544A-7EE6-4342-B048-85BDC9FD1C3A}</a:tableStyleId>
              </a:tblPr>
              <a:tblGrid>
                <a:gridCol w="5638647"/>
                <a:gridCol w="5638648"/>
              </a:tblGrid>
              <a:tr h="347472">
                <a:tc>
                  <a:txBody>
                    <a:bodyPr/>
                    <a:lstStyle/>
                    <a:p>
                      <a:pPr algn="l"/>
                      <a:r>
                        <a:rPr sz="1100" b="1">
                          <a:solidFill>
                            <a:srgbClr val="FFFFFF"/>
                          </a:solidFill>
                          <a:latin typeface="Calibri"/>
                        </a:rPr>
                        <a:t>Feature</a:t>
                      </a:r>
                    </a:p>
                  </a:txBody>
                  <a:tcPr>
                    <a:solidFill>
                      <a:srgbClr val="16213E"/>
                    </a:solidFill>
                  </a:tcPr>
                </a:tc>
                <a:tc>
                  <a:txBody>
                    <a:bodyPr/>
                    <a:lstStyle/>
                    <a:p>
                      <a:pPr algn="l"/>
                      <a:r>
                        <a:rPr sz="1100" b="1">
                          <a:solidFill>
                            <a:srgbClr val="FFFFFF"/>
                          </a:solidFill>
                          <a:latin typeface="Calibri"/>
                        </a:rPr>
                        <a:t>Detail</a:t>
                      </a:r>
                    </a:p>
                  </a:txBody>
                  <a:tcPr>
                    <a:solidFill>
                      <a:srgbClr val="16213E"/>
                    </a:solidFill>
                  </a:tcPr>
                </a:tc>
              </a:tr>
              <a:tr h="347472">
                <a:tc>
                  <a:txBody>
                    <a:bodyPr/>
                    <a:lstStyle/>
                    <a:p>
                      <a:r>
                        <a:rPr sz="1000">
                          <a:solidFill>
                            <a:srgbClr val="1A1A2E"/>
                          </a:solidFill>
                          <a:latin typeface="Calibri"/>
                        </a:rPr>
                        <a:t>Model</a:t>
                      </a:r>
                    </a:p>
                  </a:txBody>
                  <a:tcPr>
                    <a:solidFill>
                      <a:srgbClr val="FFFFFF"/>
                    </a:solidFill>
                  </a:tcPr>
                </a:tc>
                <a:tc>
                  <a:txBody>
                    <a:bodyPr/>
                    <a:lstStyle/>
                    <a:p>
                      <a:r>
                        <a:rPr sz="1000">
                          <a:solidFill>
                            <a:srgbClr val="1A1A2E"/>
                          </a:solidFill>
                          <a:latin typeface="Calibri"/>
                        </a:rPr>
                        <a:t>Gemini 2.0 Flash / Pro — native, no adapter needed</a:t>
                      </a:r>
                    </a:p>
                  </a:txBody>
                  <a:tcPr>
                    <a:solidFill>
                      <a:srgbClr val="FFFFFF"/>
                    </a:solidFill>
                  </a:tcPr>
                </a:tc>
              </a:tr>
              <a:tr h="347472">
                <a:tc>
                  <a:txBody>
                    <a:bodyPr/>
                    <a:lstStyle/>
                    <a:p>
                      <a:r>
                        <a:rPr sz="1000">
                          <a:solidFill>
                            <a:srgbClr val="1A1A2E"/>
                          </a:solidFill>
                          <a:latin typeface="Calibri"/>
                        </a:rPr>
                        <a:t>Tools</a:t>
                      </a:r>
                    </a:p>
                  </a:txBody>
                  <a:tcPr>
                    <a:solidFill>
                      <a:srgbClr val="F8F9FF"/>
                    </a:solidFill>
                  </a:tcPr>
                </a:tc>
                <a:tc>
                  <a:txBody>
                    <a:bodyPr/>
                    <a:lstStyle/>
                    <a:p>
                      <a:r>
                        <a:rPr sz="1000">
                          <a:solidFill>
                            <a:srgbClr val="1A1A2E"/>
                          </a:solidFill>
                          <a:latin typeface="Calibri"/>
                        </a:rPr>
                        <a:t>Google Search, Maps, Drive, Gmail, Calendar — all native</a:t>
                      </a:r>
                    </a:p>
                  </a:txBody>
                  <a:tcPr>
                    <a:solidFill>
                      <a:srgbClr val="F8F9FF"/>
                    </a:solidFill>
                  </a:tcPr>
                </a:tc>
              </a:tr>
              <a:tr h="347472">
                <a:tc>
                  <a:txBody>
                    <a:bodyPr/>
                    <a:lstStyle/>
                    <a:p>
                      <a:r>
                        <a:rPr sz="1000">
                          <a:solidFill>
                            <a:srgbClr val="1A1A2E"/>
                          </a:solidFill>
                          <a:latin typeface="Calibri"/>
                        </a:rPr>
                        <a:t>Multi-agent</a:t>
                      </a:r>
                    </a:p>
                  </a:txBody>
                  <a:tcPr>
                    <a:solidFill>
                      <a:srgbClr val="FFFFFF"/>
                    </a:solidFill>
                  </a:tcPr>
                </a:tc>
                <a:tc>
                  <a:txBody>
                    <a:bodyPr/>
                    <a:lstStyle/>
                    <a:p>
                      <a:r>
                        <a:rPr sz="1000">
                          <a:solidFill>
                            <a:srgbClr val="1A1A2E"/>
                          </a:solidFill>
                          <a:latin typeface="Calibri"/>
                        </a:rPr>
                        <a:t>Hierarchical: agents delegate to sub-agents automatically</a:t>
                      </a:r>
                    </a:p>
                  </a:txBody>
                  <a:tcPr>
                    <a:solidFill>
                      <a:srgbClr val="FFFFFF"/>
                    </a:solidFill>
                  </a:tcPr>
                </a:tc>
              </a:tr>
              <a:tr h="347472">
                <a:tc>
                  <a:txBody>
                    <a:bodyPr/>
                    <a:lstStyle/>
                    <a:p>
                      <a:r>
                        <a:rPr sz="1000">
                          <a:solidFill>
                            <a:srgbClr val="1A1A2E"/>
                          </a:solidFill>
                          <a:latin typeface="Calibri"/>
                        </a:rPr>
                        <a:t>Sessions</a:t>
                      </a:r>
                    </a:p>
                  </a:txBody>
                  <a:tcPr>
                    <a:solidFill>
                      <a:srgbClr val="F8F9FF"/>
                    </a:solidFill>
                  </a:tcPr>
                </a:tc>
                <a:tc>
                  <a:txBody>
                    <a:bodyPr/>
                    <a:lstStyle/>
                    <a:p>
                      <a:r>
                        <a:rPr sz="1000">
                          <a:solidFill>
                            <a:srgbClr val="1A1A2E"/>
                          </a:solidFill>
                          <a:latin typeface="Calibri"/>
                        </a:rPr>
                        <a:t>Persistent state management across user conversations</a:t>
                      </a:r>
                    </a:p>
                  </a:txBody>
                  <a:tcPr>
                    <a:solidFill>
                      <a:srgbClr val="F8F9FF"/>
                    </a:solidFill>
                  </a:tcPr>
                </a:tc>
              </a:tr>
              <a:tr h="347472">
                <a:tc>
                  <a:txBody>
                    <a:bodyPr/>
                    <a:lstStyle/>
                    <a:p>
                      <a:r>
                        <a:rPr sz="1000">
                          <a:solidFill>
                            <a:srgbClr val="1A1A2E"/>
                          </a:solidFill>
                          <a:latin typeface="Calibri"/>
                        </a:rPr>
                        <a:t>Deployment</a:t>
                      </a:r>
                    </a:p>
                  </a:txBody>
                  <a:tcPr>
                    <a:solidFill>
                      <a:srgbClr val="FFFFFF"/>
                    </a:solidFill>
                  </a:tcPr>
                </a:tc>
                <a:tc>
                  <a:txBody>
                    <a:bodyPr/>
                    <a:lstStyle/>
                    <a:p>
                      <a:r>
                        <a:rPr sz="1000">
                          <a:solidFill>
                            <a:srgbClr val="1A1A2E"/>
                          </a:solidFill>
                          <a:latin typeface="Calibri"/>
                        </a:rPr>
                        <a:t>Vertex AI — enterprise billing, SOC2, HIPAA, regional data</a:t>
                      </a:r>
                    </a:p>
                  </a:txBody>
                  <a:tcPr>
                    <a:solidFill>
                      <a:srgbClr val="FFFFFF"/>
                    </a:solidFill>
                  </a:tcPr>
                </a:tc>
              </a:tr>
              <a:tr h="347472">
                <a:tc>
                  <a:txBody>
                    <a:bodyPr/>
                    <a:lstStyle/>
                    <a:p>
                      <a:r>
                        <a:rPr sz="1000">
                          <a:solidFill>
                            <a:srgbClr val="1A1A2E"/>
                          </a:solidFill>
                          <a:latin typeface="Calibri"/>
                        </a:rPr>
                        <a:t>Evaluation</a:t>
                      </a:r>
                    </a:p>
                  </a:txBody>
                  <a:tcPr>
                    <a:solidFill>
                      <a:srgbClr val="F8F9FF"/>
                    </a:solidFill>
                  </a:tcPr>
                </a:tc>
                <a:tc>
                  <a:txBody>
                    <a:bodyPr/>
                    <a:lstStyle/>
                    <a:p>
                      <a:r>
                        <a:rPr sz="1000">
                          <a:solidFill>
                            <a:srgbClr val="1A1A2E"/>
                          </a:solidFill>
                          <a:latin typeface="Calibri"/>
                        </a:rPr>
                        <a:t>Built-in eval framework for measuring agent quality</a:t>
                      </a:r>
                    </a:p>
                  </a:txBody>
                  <a:tcPr>
                    <a:solidFill>
                      <a:srgbClr val="F8F9FF"/>
                    </a:solidFill>
                  </a:tcPr>
                </a:tc>
              </a:tr>
            </a:tbl>
          </a:graphicData>
        </a:graphic>
      </p:graphicFrame>
      <p:sp>
        <p:nvSpPr>
          <p:cNvPr id="10" name="Rectangle 9"/>
          <p:cNvSpPr/>
          <p:nvPr/>
        </p:nvSpPr>
        <p:spPr>
          <a:xfrm>
            <a:off x="457200" y="4416552"/>
            <a:ext cx="11277295" cy="30449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507992"/>
            <a:ext cx="11002975" cy="2862072"/>
          </a:xfrm>
          <a:prstGeom prst="rect">
            <a:avLst/>
          </a:prstGeom>
          <a:noFill/>
        </p:spPr>
        <p:txBody>
          <a:bodyPr wrap="none">
            <a:spAutoFit/>
          </a:bodyPr>
          <a:lstStyle/>
          <a:p>
            <a:r>
              <a:rPr sz="900">
                <a:solidFill>
                  <a:srgbClr val="E2E8F0"/>
                </a:solidFill>
                <a:latin typeface="Courier New"/>
              </a:rPr>
              <a:t>from google.adk.agents import Agent</a:t>
            </a:r>
          </a:p>
          <a:p>
            <a:r>
              <a:rPr sz="900">
                <a:solidFill>
                  <a:srgbClr val="E2E8F0"/>
                </a:solidFill>
                <a:latin typeface="Courier New"/>
              </a:rPr>
              <a:t>from google.adk.tools import google_search, google_drive_read</a:t>
            </a:r>
          </a:p>
          <a:p>
            <a:r>
              <a:rPr sz="900">
                <a:solidFill>
                  <a:srgbClr val="E2E8F0"/>
                </a:solidFill>
                <a:latin typeface="Courier New"/>
              </a:rPr>
              <a:t/>
            </a:r>
          </a:p>
          <a:p>
            <a:r>
              <a:rPr sz="900">
                <a:solidFill>
                  <a:srgbClr val="E2E8F0"/>
                </a:solidFill>
                <a:latin typeface="Courier New"/>
              </a:rPr>
              <a:t>market_analyst = Agent(</a:t>
            </a:r>
          </a:p>
          <a:p>
            <a:r>
              <a:rPr sz="900">
                <a:solidFill>
                  <a:srgbClr val="E2E8F0"/>
                </a:solidFill>
                <a:latin typeface="Courier New"/>
              </a:rPr>
              <a:t>    name="market_analyst",</a:t>
            </a:r>
          </a:p>
          <a:p>
            <a:r>
              <a:rPr sz="900">
                <a:solidFill>
                  <a:srgbClr val="E2E8F0"/>
                </a:solidFill>
                <a:latin typeface="Courier New"/>
              </a:rPr>
              <a:t>    model="gemini-2.0-flash",</a:t>
            </a:r>
          </a:p>
          <a:p>
            <a:r>
              <a:rPr sz="900">
                <a:solidFill>
                  <a:srgbClr val="E2E8F0"/>
                </a:solidFill>
                <a:latin typeface="Courier New"/>
              </a:rPr>
              <a:t>    tools=[google_search, google_drive_read],</a:t>
            </a:r>
          </a:p>
          <a:p>
            <a:r>
              <a:rPr sz="900">
                <a:solidFill>
                  <a:srgbClr val="E2E8F0"/>
                </a:solidFill>
                <a:latin typeface="Courier New"/>
              </a:rPr>
              <a:t>    system_instruction="""You are a senior market analyst.</a:t>
            </a:r>
          </a:p>
          <a:p>
            <a:r>
              <a:rPr sz="900">
                <a:solidFill>
                  <a:srgbClr val="E2E8F0"/>
                </a:solidFill>
                <a:latin typeface="Courier New"/>
              </a:rPr>
              <a:t>    Research using current web data and internal Drive documents.</a:t>
            </a:r>
          </a:p>
          <a:p>
            <a:r>
              <a:rPr sz="900">
                <a:solidFill>
                  <a:srgbClr val="E2E8F0"/>
                </a:solidFill>
                <a:latin typeface="Courier New"/>
              </a:rPr>
              <a:t>    Always cite sources and flag uncertainty."""</a:t>
            </a:r>
          </a:p>
          <a:p>
            <a:r>
              <a:rPr sz="900">
                <a:solidFill>
                  <a:srgbClr val="E2E8F0"/>
                </a:solidFill>
                <a:latin typeface="Courier New"/>
              </a:rPr>
              <a:t>)</a:t>
            </a:r>
          </a:p>
        </p:txBody>
      </p:sp>
      <p:sp>
        <p:nvSpPr>
          <p:cNvPr id="12" name="TextBox 11"/>
          <p:cNvSpPr txBox="1"/>
          <p:nvPr/>
        </p:nvSpPr>
        <p:spPr>
          <a:xfrm>
            <a:off x="457200" y="7571232"/>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LangGraph — Workflows as Graphs</a:t>
            </a:r>
          </a:p>
          <a:p>
            <a:pPr>
              <a:spcBef>
                <a:spcPts val="200"/>
              </a:spcBef>
              <a:spcAft>
                <a:spcPts val="100"/>
              </a:spcAft>
            </a:pPr>
            <a:r>
              <a:rPr sz="1200" b="0">
                <a:solidFill>
                  <a:srgbClr val="2D3748"/>
                </a:solidFill>
                <a:latin typeface="Calibri"/>
              </a:rPr>
              <a:t>LangGraph models agent behavior as a directed graph: nodes are processing steps, edges are transitions. This enables patterns that linear chains cannot handle:</a:t>
            </a:r>
          </a:p>
          <a:p>
            <a:pPr>
              <a:spcBef>
                <a:spcPts val="200"/>
              </a:spcBef>
              <a:spcAft>
                <a:spcPts val="100"/>
              </a:spcAft>
            </a:pPr>
            <a:r>
              <a:rPr sz="1300">
                <a:solidFill>
                  <a:srgbClr val="0EA5E9"/>
                </a:solidFill>
                <a:latin typeface="Calibri"/>
              </a:rPr>
              <a:t>• </a:t>
            </a:r>
            <a:r>
              <a:rPr sz="1300" b="0">
                <a:solidFill>
                  <a:srgbClr val="1A1A2E"/>
                </a:solidFill>
                <a:latin typeface="Calibri"/>
              </a:rPr>
              <a:t>Cycles: Retry a step if quality is insufficient; iterate until criteria are met</a:t>
            </a:r>
          </a:p>
          <a:p>
            <a:pPr>
              <a:spcBef>
                <a:spcPts val="200"/>
              </a:spcBef>
              <a:spcAft>
                <a:spcPts val="100"/>
              </a:spcAft>
            </a:pPr>
            <a:r>
              <a:rPr sz="1300">
                <a:solidFill>
                  <a:srgbClr val="0EA5E9"/>
                </a:solidFill>
                <a:latin typeface="Calibri"/>
              </a:rPr>
              <a:t>• </a:t>
            </a:r>
            <a:r>
              <a:rPr sz="1300" b="0">
                <a:solidFill>
                  <a:srgbClr val="1A1A2E"/>
                </a:solidFill>
                <a:latin typeface="Calibri"/>
              </a:rPr>
              <a:t>Parallel branches: Run research and data analysis simultaneously; merge results</a:t>
            </a:r>
          </a:p>
          <a:p>
            <a:pPr>
              <a:spcBef>
                <a:spcPts val="200"/>
              </a:spcBef>
              <a:spcAft>
                <a:spcPts val="100"/>
              </a:spcAft>
            </a:pPr>
            <a:r>
              <a:rPr sz="1300">
                <a:solidFill>
                  <a:srgbClr val="0EA5E9"/>
                </a:solidFill>
                <a:latin typeface="Calibri"/>
              </a:rPr>
              <a:t>• </a:t>
            </a:r>
            <a:r>
              <a:rPr sz="1300" b="0">
                <a:solidFill>
                  <a:srgbClr val="1A1A2E"/>
                </a:solidFill>
                <a:latin typeface="Calibri"/>
              </a:rPr>
              <a:t>Human-in-the-loop: Pause execution at a "human review" node; resume when approved</a:t>
            </a:r>
          </a:p>
          <a:p>
            <a:pPr>
              <a:spcBef>
                <a:spcPts val="200"/>
              </a:spcBef>
              <a:spcAft>
                <a:spcPts val="100"/>
              </a:spcAft>
            </a:pPr>
            <a:r>
              <a:rPr sz="1300">
                <a:solidFill>
                  <a:srgbClr val="0EA5E9"/>
                </a:solidFill>
                <a:latin typeface="Calibri"/>
              </a:rPr>
              <a:t>• </a:t>
            </a:r>
            <a:r>
              <a:rPr sz="1300" b="0">
                <a:solidFill>
                  <a:srgbClr val="1A1A2E"/>
                </a:solidFill>
                <a:latin typeface="Calibri"/>
              </a:rPr>
              <a:t>Conditional routing: Branch to different paths based on content classification</a:t>
            </a:r>
          </a:p>
        </p:txBody>
      </p:sp>
      <p:sp>
        <p:nvSpPr>
          <p:cNvPr id="13" name="TextBox 12"/>
          <p:cNvSpPr txBox="1"/>
          <p:nvPr/>
        </p:nvSpPr>
        <p:spPr>
          <a:xfrm>
            <a:off x="457200" y="9217152"/>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When to use LangGraph: Any workflow with retry logic, parallel execution, human approval gates, or complex branching — compliance workflows, content production pipelines, multi-stage data processing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CrewAI — Role-Based AI Teams</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Consulting Firm Model for AI</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11</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The core insight behind CrewAI: Complex knowledge work is done better by a team of specialists than by one generalist — even when all the "people" are AI.</a:t>
            </a:r>
          </a:p>
          <a:p>
            <a:pPr>
              <a:spcBef>
                <a:spcPts val="200"/>
              </a:spcBef>
              <a:spcAft>
                <a:spcPts val="100"/>
              </a:spcAft>
            </a:pPr>
            <a:r>
              <a:rPr sz="1200" b="0">
                <a:solidFill>
                  <a:srgbClr val="2D3748"/>
                </a:solidFill>
                <a:latin typeface="Calibri"/>
              </a:rPr>
              <a:t>A researcher produces different quality work than a writer. An analyst reasons differently than a strategist. CrewAI makes this explicit: you define a team with roles, goals, and backstories — and the agents actually perform differently as a result.</a:t>
            </a:r>
          </a:p>
          <a:p>
            <a:pPr>
              <a:spcBef>
                <a:spcPts val="200"/>
              </a:spcBef>
              <a:spcAft>
                <a:spcPts val="100"/>
              </a:spcAft>
            </a:pPr>
            <a:r>
              <a:rPr sz="1300" b="1">
                <a:solidFill>
                  <a:srgbClr val="0F3460"/>
                </a:solidFill>
                <a:latin typeface="Calibri"/>
              </a:rPr>
              <a:t>Full example — competitive intelligence workflow:</a:t>
            </a:r>
          </a:p>
        </p:txBody>
      </p:sp>
      <p:sp>
        <p:nvSpPr>
          <p:cNvPr id="9" name="Rectangle 8"/>
          <p:cNvSpPr/>
          <p:nvPr/>
        </p:nvSpPr>
        <p:spPr>
          <a:xfrm>
            <a:off x="457200" y="2148840"/>
            <a:ext cx="11277295" cy="48371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40280"/>
            <a:ext cx="11002975" cy="4654296"/>
          </a:xfrm>
          <a:prstGeom prst="rect">
            <a:avLst/>
          </a:prstGeom>
          <a:noFill/>
        </p:spPr>
        <p:txBody>
          <a:bodyPr wrap="none">
            <a:spAutoFit/>
          </a:bodyPr>
          <a:lstStyle/>
          <a:p>
            <a:r>
              <a:rPr sz="900">
                <a:solidFill>
                  <a:srgbClr val="E2E8F0"/>
                </a:solidFill>
                <a:latin typeface="Courier New"/>
              </a:rPr>
              <a:t>from crewai import Agent, Task, Crew, Process</a:t>
            </a:r>
          </a:p>
          <a:p>
            <a:r>
              <a:rPr sz="900">
                <a:solidFill>
                  <a:srgbClr val="E2E8F0"/>
                </a:solidFill>
                <a:latin typeface="Courier New"/>
              </a:rPr>
              <a:t/>
            </a:r>
          </a:p>
          <a:p>
            <a:r>
              <a:rPr sz="900">
                <a:solidFill>
                  <a:srgbClr val="E2E8F0"/>
                </a:solidFill>
                <a:latin typeface="Courier New"/>
              </a:rPr>
              <a:t>researcher = Agent(</a:t>
            </a:r>
          </a:p>
          <a:p>
            <a:r>
              <a:rPr sz="900">
                <a:solidFill>
                  <a:srgbClr val="E2E8F0"/>
                </a:solidFill>
                <a:latin typeface="Courier New"/>
              </a:rPr>
              <a:t>    role="Senior Market Research Analyst",</a:t>
            </a:r>
          </a:p>
          <a:p>
            <a:r>
              <a:rPr sz="900">
                <a:solidFill>
                  <a:srgbClr val="E2E8F0"/>
                </a:solidFill>
                <a:latin typeface="Courier New"/>
              </a:rPr>
              <a:t>    goal="Find accurate, data-backed competitive intelligence",</a:t>
            </a:r>
          </a:p>
          <a:p>
            <a:r>
              <a:rPr sz="900">
                <a:solidFill>
                  <a:srgbClr val="E2E8F0"/>
                </a:solidFill>
                <a:latin typeface="Courier New"/>
              </a:rPr>
              <a:t>    backstory="""You are a veteran analyst at McKinsey &amp; Company.</a:t>
            </a:r>
          </a:p>
          <a:p>
            <a:r>
              <a:rPr sz="900">
                <a:solidFill>
                  <a:srgbClr val="E2E8F0"/>
                </a:solidFill>
                <a:latin typeface="Courier New"/>
              </a:rPr>
              <a:t>    You cite specific numbers and sources. You never speculate.""",</a:t>
            </a:r>
          </a:p>
          <a:p>
            <a:r>
              <a:rPr sz="900">
                <a:solidFill>
                  <a:srgbClr val="E2E8F0"/>
                </a:solidFill>
                <a:latin typeface="Courier New"/>
              </a:rPr>
              <a:t>    tools=[web_search, company_database, news_api],</a:t>
            </a:r>
          </a:p>
          <a:p>
            <a:r>
              <a:rPr sz="900">
                <a:solidFill>
                  <a:srgbClr val="E2E8F0"/>
                </a:solidFill>
                <a:latin typeface="Courier New"/>
              </a:rPr>
              <a:t>    verbose=True</a:t>
            </a:r>
          </a:p>
          <a:p>
            <a:r>
              <a:rPr sz="900">
                <a:solidFill>
                  <a:srgbClr val="E2E8F0"/>
                </a:solidFill>
                <a:latin typeface="Courier New"/>
              </a:rPr>
              <a:t>)</a:t>
            </a:r>
          </a:p>
          <a:p>
            <a:r>
              <a:rPr sz="900">
                <a:solidFill>
                  <a:srgbClr val="E2E8F0"/>
                </a:solidFill>
                <a:latin typeface="Courier New"/>
              </a:rPr>
              <a:t/>
            </a:r>
          </a:p>
          <a:p>
            <a:r>
              <a:rPr sz="900">
                <a:solidFill>
                  <a:srgbClr val="E2E8F0"/>
                </a:solidFill>
                <a:latin typeface="Courier New"/>
              </a:rPr>
              <a:t>analyst = Agent(</a:t>
            </a:r>
          </a:p>
          <a:p>
            <a:r>
              <a:rPr sz="900">
                <a:solidFill>
                  <a:srgbClr val="E2E8F0"/>
                </a:solidFill>
                <a:latin typeface="Courier New"/>
              </a:rPr>
              <a:t>    role="Strategic Analyst",</a:t>
            </a:r>
          </a:p>
          <a:p>
            <a:r>
              <a:rPr sz="900">
                <a:solidFill>
                  <a:srgbClr val="E2E8F0"/>
                </a:solidFill>
                <a:latin typeface="Courier New"/>
              </a:rPr>
              <a:t>    goal="Draw actionable insights from raw research data",</a:t>
            </a:r>
          </a:p>
          <a:p>
            <a:r>
              <a:rPr sz="900">
                <a:solidFill>
                  <a:srgbClr val="E2E8F0"/>
                </a:solidFill>
                <a:latin typeface="Courier New"/>
              </a:rPr>
              <a:t>    backstory="You turn data into strategy. You think in frameworks.",</a:t>
            </a:r>
          </a:p>
          <a:p>
            <a:r>
              <a:rPr sz="900">
                <a:solidFill>
                  <a:srgbClr val="E2E8F0"/>
                </a:solidFill>
                <a:latin typeface="Courier New"/>
              </a:rPr>
              <a:t>)</a:t>
            </a:r>
          </a:p>
          <a:p>
            <a:r>
              <a:rPr sz="900">
                <a:solidFill>
                  <a:srgbClr val="E2E8F0"/>
                </a:solidFill>
                <a:latin typeface="Courier New"/>
              </a:rPr>
              <a:t/>
            </a:r>
          </a:p>
          <a:p>
            <a:r>
              <a:rPr sz="900">
                <a:solidFill>
                  <a:srgbClr val="E2E8F0"/>
                </a:solidFill>
                <a:latin typeface="Courier New"/>
              </a:rPr>
              <a:t>writer = Agent(</a:t>
            </a:r>
          </a:p>
        </p:txBody>
      </p:sp>
      <p:sp>
        <p:nvSpPr>
          <p:cNvPr id="11" name="TextBox 10"/>
          <p:cNvSpPr txBox="1"/>
          <p:nvPr/>
        </p:nvSpPr>
        <p:spPr>
          <a:xfrm>
            <a:off x="457200" y="7095744"/>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Real production deployments today: Automated RFP responses (one agent per requirement section), daily competitive intelligence briefings, M&amp;A due diligence workflows, content production pipelines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MCP — Model Context Protocol</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Universal Standard for AI Tool Integration</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12</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The problem MCP solves:</a:t>
            </a:r>
          </a:p>
          <a:p>
            <a:pPr>
              <a:spcBef>
                <a:spcPts val="200"/>
              </a:spcBef>
              <a:spcAft>
                <a:spcPts val="100"/>
              </a:spcAft>
            </a:pPr>
            <a:r>
              <a:rPr sz="1200" b="0">
                <a:solidFill>
                  <a:srgbClr val="2D3748"/>
                </a:solidFill>
                <a:latin typeface="Calibri"/>
              </a:rPr>
              <a:t>Before MCP (pre-late 2024), every AI application needed custom integrations for every data source. A team using Claude needed one custom integration for their database, another for Slack, another for GitHub, another for their CRM. Multiply this by dozens of tools and dozens of AI products — every vendor reinventing the same connections in incompatible ways.</a:t>
            </a:r>
          </a:p>
          <a:p>
            <a:pPr>
              <a:spcBef>
                <a:spcPts val="200"/>
              </a:spcBef>
              <a:spcAft>
                <a:spcPts val="100"/>
              </a:spcAft>
            </a:pPr>
            <a:r>
              <a:rPr sz="1200" b="0">
                <a:solidFill>
                  <a:srgbClr val="2D3748"/>
                </a:solidFill>
                <a:latin typeface="Calibri"/>
              </a:rPr>
              <a:t>MCP's solution: One open standard, like USB-C for AI. Build an MCP server once; any MCP-compatible client can use it.</a:t>
            </a:r>
          </a:p>
          <a:p>
            <a:pPr>
              <a:spcBef>
                <a:spcPts val="200"/>
              </a:spcBef>
              <a:spcAft>
                <a:spcPts val="100"/>
              </a:spcAft>
            </a:pPr>
            <a:r>
              <a:rPr sz="1300" b="1">
                <a:solidFill>
                  <a:srgbClr val="0F3460"/>
                </a:solidFill>
                <a:latin typeface="Calibri"/>
              </a:rPr>
              <a:t>How MCP works:</a:t>
            </a:r>
          </a:p>
        </p:txBody>
      </p:sp>
      <p:graphicFrame>
        <p:nvGraphicFramePr>
          <p:cNvPr id="9" name="Table 8"/>
          <p:cNvGraphicFramePr>
            <a:graphicFrameLocks noGrp="1"/>
          </p:cNvGraphicFramePr>
          <p:nvPr/>
        </p:nvGraphicFramePr>
        <p:xfrm>
          <a:off x="457200" y="2423160"/>
          <a:ext cx="11277295" cy="1389888"/>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Component</a:t>
                      </a:r>
                    </a:p>
                  </a:txBody>
                  <a:tcPr>
                    <a:solidFill>
                      <a:srgbClr val="16213E"/>
                    </a:solidFill>
                  </a:tcPr>
                </a:tc>
                <a:tc>
                  <a:txBody>
                    <a:bodyPr/>
                    <a:lstStyle/>
                    <a:p>
                      <a:pPr algn="l"/>
                      <a:r>
                        <a:rPr sz="1100" b="1">
                          <a:solidFill>
                            <a:srgbClr val="FFFFFF"/>
                          </a:solidFill>
                          <a:latin typeface="Calibri"/>
                        </a:rPr>
                        <a:t>Role</a:t>
                      </a:r>
                    </a:p>
                  </a:txBody>
                  <a:tcPr>
                    <a:solidFill>
                      <a:srgbClr val="16213E"/>
                    </a:solidFill>
                  </a:tcPr>
                </a:tc>
                <a:tc>
                  <a:txBody>
                    <a:bodyPr/>
                    <a:lstStyle/>
                    <a:p>
                      <a:pPr algn="l"/>
                      <a:r>
                        <a:rPr sz="1100" b="1">
                          <a:solidFill>
                            <a:srgbClr val="FFFFFF"/>
                          </a:solidFill>
                          <a:latin typeface="Calibri"/>
                        </a:rPr>
                        <a:t>Example</a:t>
                      </a:r>
                    </a:p>
                  </a:txBody>
                  <a:tcPr>
                    <a:solidFill>
                      <a:srgbClr val="16213E"/>
                    </a:solidFill>
                  </a:tcPr>
                </a:tc>
              </a:tr>
              <a:tr h="347472">
                <a:tc>
                  <a:txBody>
                    <a:bodyPr/>
                    <a:lstStyle/>
                    <a:p>
                      <a:r>
                        <a:rPr sz="1000">
                          <a:solidFill>
                            <a:srgbClr val="1A1A2E"/>
                          </a:solidFill>
                          <a:latin typeface="Calibri"/>
                        </a:rPr>
                        <a:t>MCP Server</a:t>
                      </a:r>
                    </a:p>
                  </a:txBody>
                  <a:tcPr>
                    <a:solidFill>
                      <a:srgbClr val="FFFFFF"/>
                    </a:solidFill>
                  </a:tcPr>
                </a:tc>
                <a:tc>
                  <a:txBody>
                    <a:bodyPr/>
                    <a:lstStyle/>
                    <a:p>
                      <a:r>
                        <a:rPr sz="1000">
                          <a:solidFill>
                            <a:srgbClr val="1A1A2E"/>
                          </a:solidFill>
                          <a:latin typeface="Calibri"/>
                        </a:rPr>
                        <a:t>Exposes data/tools via the standard protocol</a:t>
                      </a:r>
                    </a:p>
                  </a:txBody>
                  <a:tcPr>
                    <a:solidFill>
                      <a:srgbClr val="FFFFFF"/>
                    </a:solidFill>
                  </a:tcPr>
                </a:tc>
                <a:tc>
                  <a:txBody>
                    <a:bodyPr/>
                    <a:lstStyle/>
                    <a:p>
                      <a:r>
                        <a:rPr sz="1000">
                          <a:solidFill>
                            <a:srgbClr val="1A1A2E"/>
                          </a:solidFill>
                          <a:latin typeface="Calibri"/>
                        </a:rPr>
                        <a:t>Your PostgreSQL database as an MCP server</a:t>
                      </a:r>
                    </a:p>
                  </a:txBody>
                  <a:tcPr>
                    <a:solidFill>
                      <a:srgbClr val="FFFFFF"/>
                    </a:solidFill>
                  </a:tcPr>
                </a:tc>
              </a:tr>
              <a:tr h="347472">
                <a:tc>
                  <a:txBody>
                    <a:bodyPr/>
                    <a:lstStyle/>
                    <a:p>
                      <a:r>
                        <a:rPr sz="1000">
                          <a:solidFill>
                            <a:srgbClr val="1A1A2E"/>
                          </a:solidFill>
                          <a:latin typeface="Calibri"/>
                        </a:rPr>
                        <a:t>MCP Client</a:t>
                      </a:r>
                    </a:p>
                  </a:txBody>
                  <a:tcPr>
                    <a:solidFill>
                      <a:srgbClr val="F8F9FF"/>
                    </a:solidFill>
                  </a:tcPr>
                </a:tc>
                <a:tc>
                  <a:txBody>
                    <a:bodyPr/>
                    <a:lstStyle/>
                    <a:p>
                      <a:r>
                        <a:rPr sz="1000">
                          <a:solidFill>
                            <a:srgbClr val="1A1A2E"/>
                          </a:solidFill>
                          <a:latin typeface="Calibri"/>
                        </a:rPr>
                        <a:t>AI application that connects to servers</a:t>
                      </a:r>
                    </a:p>
                  </a:txBody>
                  <a:tcPr>
                    <a:solidFill>
                      <a:srgbClr val="F8F9FF"/>
                    </a:solidFill>
                  </a:tcPr>
                </a:tc>
                <a:tc>
                  <a:txBody>
                    <a:bodyPr/>
                    <a:lstStyle/>
                    <a:p>
                      <a:r>
                        <a:rPr sz="1000">
                          <a:solidFill>
                            <a:srgbClr val="1A1A2E"/>
                          </a:solidFill>
                          <a:latin typeface="Calibri"/>
                        </a:rPr>
                        <a:t>Claude, Cursor, any LLM app</a:t>
                      </a:r>
                    </a:p>
                  </a:txBody>
                  <a:tcPr>
                    <a:solidFill>
                      <a:srgbClr val="F8F9FF"/>
                    </a:solidFill>
                  </a:tcPr>
                </a:tc>
              </a:tr>
              <a:tr h="347472">
                <a:tc>
                  <a:txBody>
                    <a:bodyPr/>
                    <a:lstStyle/>
                    <a:p>
                      <a:r>
                        <a:rPr sz="1000">
                          <a:solidFill>
                            <a:srgbClr val="1A1A2E"/>
                          </a:solidFill>
                          <a:latin typeface="Calibri"/>
                        </a:rPr>
                        <a:t>MCP Protocol</a:t>
                      </a:r>
                    </a:p>
                  </a:txBody>
                  <a:tcPr>
                    <a:solidFill>
                      <a:srgbClr val="FFFFFF"/>
                    </a:solidFill>
                  </a:tcPr>
                </a:tc>
                <a:tc>
                  <a:txBody>
                    <a:bodyPr/>
                    <a:lstStyle/>
                    <a:p>
                      <a:r>
                        <a:rPr sz="1000">
                          <a:solidFill>
                            <a:srgbClr val="1A1A2E"/>
                          </a:solidFill>
                          <a:latin typeface="Calibri"/>
                        </a:rPr>
                        <a:t>The standard that connects them</a:t>
                      </a:r>
                    </a:p>
                  </a:txBody>
                  <a:tcPr>
                    <a:solidFill>
                      <a:srgbClr val="FFFFFF"/>
                    </a:solidFill>
                  </a:tcPr>
                </a:tc>
                <a:tc>
                  <a:txBody>
                    <a:bodyPr/>
                    <a:lstStyle/>
                    <a:p>
                      <a:r>
                        <a:rPr sz="1000">
                          <a:solidFill>
                            <a:srgbClr val="1A1A2E"/>
                          </a:solidFill>
                          <a:latin typeface="Calibri"/>
                        </a:rPr>
                        <a:t>JSON-RPC over stdio or HTTP</a:t>
                      </a:r>
                    </a:p>
                  </a:txBody>
                  <a:tcPr>
                    <a:solidFill>
                      <a:srgbClr val="FFFFFF"/>
                    </a:solidFill>
                  </a:tcPr>
                </a:tc>
              </a:tr>
            </a:tbl>
          </a:graphicData>
        </a:graphic>
      </p:graphicFrame>
      <p:sp>
        <p:nvSpPr>
          <p:cNvPr id="10" name="TextBox 9"/>
          <p:cNvSpPr txBox="1"/>
          <p:nvPr/>
        </p:nvSpPr>
        <p:spPr>
          <a:xfrm>
            <a:off x="457200" y="3922776"/>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MCP servers available today (April 2026):</a:t>
            </a:r>
          </a:p>
        </p:txBody>
      </p:sp>
      <p:graphicFrame>
        <p:nvGraphicFramePr>
          <p:cNvPr id="11" name="Table 10"/>
          <p:cNvGraphicFramePr>
            <a:graphicFrameLocks noGrp="1"/>
          </p:cNvGraphicFramePr>
          <p:nvPr/>
        </p:nvGraphicFramePr>
        <p:xfrm>
          <a:off x="457200" y="4197096"/>
          <a:ext cx="11277295" cy="2386584"/>
        </p:xfrm>
        <a:graphic>
          <a:graphicData uri="http://schemas.openxmlformats.org/drawingml/2006/table">
            <a:tbl>
              <a:tblPr firstRow="1" bandRow="1">
                <a:tableStyleId>{5C22544A-7EE6-4342-B048-85BDC9FD1C3A}</a:tableStyleId>
              </a:tblPr>
              <a:tblGrid>
                <a:gridCol w="3759098"/>
                <a:gridCol w="3759098"/>
                <a:gridCol w="3759099"/>
              </a:tblGrid>
              <a:tr h="298323">
                <a:tc>
                  <a:txBody>
                    <a:bodyPr/>
                    <a:lstStyle/>
                    <a:p>
                      <a:pPr algn="l"/>
                      <a:r>
                        <a:rPr sz="1100" b="1">
                          <a:solidFill>
                            <a:srgbClr val="FFFFFF"/>
                          </a:solidFill>
                          <a:latin typeface="Calibri"/>
                        </a:rPr>
                        <a:t>Server</a:t>
                      </a:r>
                    </a:p>
                  </a:txBody>
                  <a:tcPr>
                    <a:solidFill>
                      <a:srgbClr val="16213E"/>
                    </a:solidFill>
                  </a:tcPr>
                </a:tc>
                <a:tc>
                  <a:txBody>
                    <a:bodyPr/>
                    <a:lstStyle/>
                    <a:p>
                      <a:pPr algn="l"/>
                      <a:r>
                        <a:rPr sz="1100" b="1">
                          <a:solidFill>
                            <a:srgbClr val="FFFFFF"/>
                          </a:solidFill>
                          <a:latin typeface="Calibri"/>
                        </a:rPr>
                        <a:t>What AI Can Do</a:t>
                      </a:r>
                    </a:p>
                  </a:txBody>
                  <a:tcPr>
                    <a:solidFill>
                      <a:srgbClr val="16213E"/>
                    </a:solidFill>
                  </a:tcPr>
                </a:tc>
                <a:tc>
                  <a:txBody>
                    <a:bodyPr/>
                    <a:lstStyle/>
                    <a:p>
                      <a:pPr algn="l"/>
                      <a:r>
                        <a:rPr sz="1100" b="1">
                          <a:solidFill>
                            <a:srgbClr val="FFFFFF"/>
                          </a:solidFill>
                          <a:latin typeface="Calibri"/>
                        </a:rPr>
                        <a:t>Use Case</a:t>
                      </a:r>
                    </a:p>
                  </a:txBody>
                  <a:tcPr>
                    <a:solidFill>
                      <a:srgbClr val="16213E"/>
                    </a:solidFill>
                  </a:tcPr>
                </a:tc>
              </a:tr>
              <a:tr h="298323">
                <a:tc>
                  <a:txBody>
                    <a:bodyPr/>
                    <a:lstStyle/>
                    <a:p>
                      <a:r>
                        <a:rPr sz="1000">
                          <a:solidFill>
                            <a:srgbClr val="1A1A2E"/>
                          </a:solidFill>
                          <a:latin typeface="Calibri"/>
                        </a:rPr>
                        <a:t>PostgreSQL / SQLite</a:t>
                      </a:r>
                    </a:p>
                  </a:txBody>
                  <a:tcPr>
                    <a:solidFill>
                      <a:srgbClr val="FFFFFF"/>
                    </a:solidFill>
                  </a:tcPr>
                </a:tc>
                <a:tc>
                  <a:txBody>
                    <a:bodyPr/>
                    <a:lstStyle/>
                    <a:p>
                      <a:r>
                        <a:rPr sz="1000">
                          <a:solidFill>
                            <a:srgbClr val="1A1A2E"/>
                          </a:solidFill>
                          <a:latin typeface="Calibri"/>
                        </a:rPr>
                        <a:t>Query, read, analyze your database</a:t>
                      </a:r>
                    </a:p>
                  </a:txBody>
                  <a:tcPr>
                    <a:solidFill>
                      <a:srgbClr val="FFFFFF"/>
                    </a:solidFill>
                  </a:tcPr>
                </a:tc>
                <a:tc>
                  <a:txBody>
                    <a:bodyPr/>
                    <a:lstStyle/>
                    <a:p>
                      <a:r>
                        <a:rPr sz="1000">
                          <a:solidFill>
                            <a:srgbClr val="1A1A2E"/>
                          </a:solidFill>
                          <a:latin typeface="Calibri"/>
                        </a:rPr>
                        <a:t>AI-powered data analysis without ETL</a:t>
                      </a:r>
                    </a:p>
                  </a:txBody>
                  <a:tcPr>
                    <a:solidFill>
                      <a:srgbClr val="FFFFFF"/>
                    </a:solidFill>
                  </a:tcPr>
                </a:tc>
              </a:tr>
              <a:tr h="298323">
                <a:tc>
                  <a:txBody>
                    <a:bodyPr/>
                    <a:lstStyle/>
                    <a:p>
                      <a:r>
                        <a:rPr sz="1000">
                          <a:solidFill>
                            <a:srgbClr val="1A1A2E"/>
                          </a:solidFill>
                          <a:latin typeface="Calibri"/>
                        </a:rPr>
                        <a:t>GitHub</a:t>
                      </a:r>
                    </a:p>
                  </a:txBody>
                  <a:tcPr>
                    <a:solidFill>
                      <a:srgbClr val="F8F9FF"/>
                    </a:solidFill>
                  </a:tcPr>
                </a:tc>
                <a:tc>
                  <a:txBody>
                    <a:bodyPr/>
                    <a:lstStyle/>
                    <a:p>
                      <a:r>
                        <a:rPr sz="1000">
                          <a:solidFill>
                            <a:srgbClr val="1A1A2E"/>
                          </a:solidFill>
                          <a:latin typeface="Calibri"/>
                        </a:rPr>
                        <a:t>Read issues, create PRs, push commits</a:t>
                      </a:r>
                    </a:p>
                  </a:txBody>
                  <a:tcPr>
                    <a:solidFill>
                      <a:srgbClr val="F8F9FF"/>
                    </a:solidFill>
                  </a:tcPr>
                </a:tc>
                <a:tc>
                  <a:txBody>
                    <a:bodyPr/>
                    <a:lstStyle/>
                    <a:p>
                      <a:r>
                        <a:rPr sz="1000">
                          <a:solidFill>
                            <a:srgbClr val="1A1A2E"/>
                          </a:solidFill>
                          <a:latin typeface="Calibri"/>
                        </a:rPr>
                        <a:t>AI-assisted development workflows</a:t>
                      </a:r>
                    </a:p>
                  </a:txBody>
                  <a:tcPr>
                    <a:solidFill>
                      <a:srgbClr val="F8F9FF"/>
                    </a:solidFill>
                  </a:tcPr>
                </a:tc>
              </a:tr>
              <a:tr h="298323">
                <a:tc>
                  <a:txBody>
                    <a:bodyPr/>
                    <a:lstStyle/>
                    <a:p>
                      <a:r>
                        <a:rPr sz="1000">
                          <a:solidFill>
                            <a:srgbClr val="1A1A2E"/>
                          </a:solidFill>
                          <a:latin typeface="Calibri"/>
                        </a:rPr>
                        <a:t>Slack</a:t>
                      </a:r>
                    </a:p>
                  </a:txBody>
                  <a:tcPr>
                    <a:solidFill>
                      <a:srgbClr val="FFFFFF"/>
                    </a:solidFill>
                  </a:tcPr>
                </a:tc>
                <a:tc>
                  <a:txBody>
                    <a:bodyPr/>
                    <a:lstStyle/>
                    <a:p>
                      <a:r>
                        <a:rPr sz="1000">
                          <a:solidFill>
                            <a:srgbClr val="1A1A2E"/>
                          </a:solidFill>
                          <a:latin typeface="Calibri"/>
                        </a:rPr>
                        <a:t>Read channels, send messages</a:t>
                      </a:r>
                    </a:p>
                  </a:txBody>
                  <a:tcPr>
                    <a:solidFill>
                      <a:srgbClr val="FFFFFF"/>
                    </a:solidFill>
                  </a:tcPr>
                </a:tc>
                <a:tc>
                  <a:txBody>
                    <a:bodyPr/>
                    <a:lstStyle/>
                    <a:p>
                      <a:r>
                        <a:rPr sz="1000">
                          <a:solidFill>
                            <a:srgbClr val="1A1A2E"/>
                          </a:solidFill>
                          <a:latin typeface="Calibri"/>
                        </a:rPr>
                        <a:t>AI team communication and monitoring</a:t>
                      </a:r>
                    </a:p>
                  </a:txBody>
                  <a:tcPr>
                    <a:solidFill>
                      <a:srgbClr val="FFFFFF"/>
                    </a:solidFill>
                  </a:tcPr>
                </a:tc>
              </a:tr>
              <a:tr h="298323">
                <a:tc>
                  <a:txBody>
                    <a:bodyPr/>
                    <a:lstStyle/>
                    <a:p>
                      <a:r>
                        <a:rPr sz="1000">
                          <a:solidFill>
                            <a:srgbClr val="1A1A2E"/>
                          </a:solidFill>
                          <a:latin typeface="Calibri"/>
                        </a:rPr>
                        <a:t>Google Drive / Docs</a:t>
                      </a:r>
                    </a:p>
                  </a:txBody>
                  <a:tcPr>
                    <a:solidFill>
                      <a:srgbClr val="F8F9FF"/>
                    </a:solidFill>
                  </a:tcPr>
                </a:tc>
                <a:tc>
                  <a:txBody>
                    <a:bodyPr/>
                    <a:lstStyle/>
                    <a:p>
                      <a:r>
                        <a:rPr sz="1000">
                          <a:solidFill>
                            <a:srgbClr val="1A1A2E"/>
                          </a:solidFill>
                          <a:latin typeface="Calibri"/>
                        </a:rPr>
                        <a:t>Read and write documents</a:t>
                      </a:r>
                    </a:p>
                  </a:txBody>
                  <a:tcPr>
                    <a:solidFill>
                      <a:srgbClr val="F8F9FF"/>
                    </a:solidFill>
                  </a:tcPr>
                </a:tc>
                <a:tc>
                  <a:txBody>
                    <a:bodyPr/>
                    <a:lstStyle/>
                    <a:p>
                      <a:r>
                        <a:rPr sz="1000">
                          <a:solidFill>
                            <a:srgbClr val="1A1A2E"/>
                          </a:solidFill>
                          <a:latin typeface="Calibri"/>
                        </a:rPr>
                        <a:t>AI document workflows</a:t>
                      </a:r>
                    </a:p>
                  </a:txBody>
                  <a:tcPr>
                    <a:solidFill>
                      <a:srgbClr val="F8F9FF"/>
                    </a:solidFill>
                  </a:tcPr>
                </a:tc>
              </a:tr>
              <a:tr h="298323">
                <a:tc>
                  <a:txBody>
                    <a:bodyPr/>
                    <a:lstStyle/>
                    <a:p>
                      <a:r>
                        <a:rPr sz="1000">
                          <a:solidFill>
                            <a:srgbClr val="1A1A2E"/>
                          </a:solidFill>
                          <a:latin typeface="Calibri"/>
                        </a:rPr>
                        <a:t>File System</a:t>
                      </a:r>
                    </a:p>
                  </a:txBody>
                  <a:tcPr>
                    <a:solidFill>
                      <a:srgbClr val="FFFFFF"/>
                    </a:solidFill>
                  </a:tcPr>
                </a:tc>
                <a:tc>
                  <a:txBody>
                    <a:bodyPr/>
                    <a:lstStyle/>
                    <a:p>
                      <a:r>
                        <a:rPr sz="1000">
                          <a:solidFill>
                            <a:srgbClr val="1A1A2E"/>
                          </a:solidFill>
                          <a:latin typeface="Calibri"/>
                        </a:rPr>
                        <a:t>Read and write local files</a:t>
                      </a:r>
                    </a:p>
                  </a:txBody>
                  <a:tcPr>
                    <a:solidFill>
                      <a:srgbClr val="FFFFFF"/>
                    </a:solidFill>
                  </a:tcPr>
                </a:tc>
                <a:tc>
                  <a:txBody>
                    <a:bodyPr/>
                    <a:lstStyle/>
                    <a:p>
                      <a:r>
                        <a:rPr sz="1000">
                          <a:solidFill>
                            <a:srgbClr val="1A1A2E"/>
                          </a:solidFill>
                          <a:latin typeface="Calibri"/>
                        </a:rPr>
                        <a:t>Local AI automation</a:t>
                      </a:r>
                    </a:p>
                  </a:txBody>
                  <a:tcPr>
                    <a:solidFill>
                      <a:srgbClr val="FFFFFF"/>
                    </a:solidFill>
                  </a:tcPr>
                </a:tc>
              </a:tr>
              <a:tr h="298323">
                <a:tc>
                  <a:txBody>
                    <a:bodyPr/>
                    <a:lstStyle/>
                    <a:p>
                      <a:r>
                        <a:rPr sz="1000">
                          <a:solidFill>
                            <a:srgbClr val="1A1A2E"/>
                          </a:solidFill>
                          <a:latin typeface="Calibri"/>
                        </a:rPr>
                        <a:t>Brave Search</a:t>
                      </a:r>
                    </a:p>
                  </a:txBody>
                  <a:tcPr>
                    <a:solidFill>
                      <a:srgbClr val="F8F9FF"/>
                    </a:solidFill>
                  </a:tcPr>
                </a:tc>
                <a:tc>
                  <a:txBody>
                    <a:bodyPr/>
                    <a:lstStyle/>
                    <a:p>
                      <a:r>
                        <a:rPr sz="1000">
                          <a:solidFill>
                            <a:srgbClr val="1A1A2E"/>
                          </a:solidFill>
                          <a:latin typeface="Calibri"/>
                        </a:rPr>
                        <a:t>Real-time web search</a:t>
                      </a:r>
                    </a:p>
                  </a:txBody>
                  <a:tcPr>
                    <a:solidFill>
                      <a:srgbClr val="F8F9FF"/>
                    </a:solidFill>
                  </a:tcPr>
                </a:tc>
                <a:tc>
                  <a:txBody>
                    <a:bodyPr/>
                    <a:lstStyle/>
                    <a:p>
                      <a:r>
                        <a:rPr sz="1000">
                          <a:solidFill>
                            <a:srgbClr val="1A1A2E"/>
                          </a:solidFill>
                          <a:latin typeface="Calibri"/>
                        </a:rPr>
                        <a:t>Grounded, up-to-date AI responses</a:t>
                      </a:r>
                    </a:p>
                  </a:txBody>
                  <a:tcPr>
                    <a:solidFill>
                      <a:srgbClr val="F8F9FF"/>
                    </a:solidFill>
                  </a:tcPr>
                </a:tc>
              </a:tr>
              <a:tr h="298323">
                <a:tc>
                  <a:txBody>
                    <a:bodyPr/>
                    <a:lstStyle/>
                    <a:p>
                      <a:r>
                        <a:rPr sz="1000">
                          <a:solidFill>
                            <a:srgbClr val="1A1A2E"/>
                          </a:solidFill>
                          <a:latin typeface="Calibri"/>
                        </a:rPr>
                        <a:t>Jira / Linear</a:t>
                      </a:r>
                    </a:p>
                  </a:txBody>
                  <a:tcPr>
                    <a:solidFill>
                      <a:srgbClr val="FFFFFF"/>
                    </a:solidFill>
                  </a:tcPr>
                </a:tc>
                <a:tc>
                  <a:txBody>
                    <a:bodyPr/>
                    <a:lstStyle/>
                    <a:p>
                      <a:r>
                        <a:rPr sz="1000">
                          <a:solidFill>
                            <a:srgbClr val="1A1A2E"/>
                          </a:solidFill>
                          <a:latin typeface="Calibri"/>
                        </a:rPr>
                        <a:t>Read/create tickets</a:t>
                      </a:r>
                    </a:p>
                  </a:txBody>
                  <a:tcPr>
                    <a:solidFill>
                      <a:srgbClr val="FFFFFF"/>
                    </a:solidFill>
                  </a:tcPr>
                </a:tc>
                <a:tc>
                  <a:txBody>
                    <a:bodyPr/>
                    <a:lstStyle/>
                    <a:p>
                      <a:r>
                        <a:rPr sz="1000">
                          <a:solidFill>
                            <a:srgbClr val="1A1A2E"/>
                          </a:solidFill>
                          <a:latin typeface="Calibri"/>
                        </a:rPr>
                        <a:t>AI-driven project management</a:t>
                      </a:r>
                    </a:p>
                  </a:txBody>
                  <a:tcPr>
                    <a:solidFill>
                      <a:srgbClr val="FFFFFF"/>
                    </a:solidFill>
                  </a:tcPr>
                </a:tc>
              </a:tr>
            </a:tbl>
          </a:graphicData>
        </a:graphic>
      </p:graphicFrame>
      <p:sp>
        <p:nvSpPr>
          <p:cNvPr id="12" name="TextBox 11"/>
          <p:cNvSpPr txBox="1"/>
          <p:nvPr/>
        </p:nvSpPr>
        <p:spPr>
          <a:xfrm>
            <a:off x="457200" y="708660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Why MCP matters for your career: If you build an MCP server for your company's internal tools, that integration works with every MCP-compatible AI product — now and in the future. One investment, compounding returns as the ecosystem grows.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Building Your First Agent — The Pattern</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Code Architecture Every Agent Uses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13</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Every agent framework — regardless of provider — implements this same fundamental loop:</a:t>
            </a:r>
          </a:p>
        </p:txBody>
      </p:sp>
      <p:sp>
        <p:nvSpPr>
          <p:cNvPr id="9" name="Rectangle 8"/>
          <p:cNvSpPr/>
          <p:nvPr/>
        </p:nvSpPr>
        <p:spPr>
          <a:xfrm>
            <a:off x="457200" y="1600200"/>
            <a:ext cx="11277295" cy="48371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91640"/>
            <a:ext cx="11002975" cy="4654296"/>
          </a:xfrm>
          <a:prstGeom prst="rect">
            <a:avLst/>
          </a:prstGeom>
          <a:noFill/>
        </p:spPr>
        <p:txBody>
          <a:bodyPr wrap="none">
            <a:spAutoFit/>
          </a:bodyPr>
          <a:lstStyle/>
          <a:p>
            <a:r>
              <a:rPr sz="900">
                <a:solidFill>
                  <a:srgbClr val="E2E8F0"/>
                </a:solidFill>
                <a:latin typeface="Courier New"/>
              </a:rPr>
              <a:t>import anthropic, os</a:t>
            </a:r>
          </a:p>
          <a:p>
            <a:r>
              <a:rPr sz="900">
                <a:solidFill>
                  <a:srgbClr val="E2E8F0"/>
                </a:solidFill>
                <a:latin typeface="Courier New"/>
              </a:rPr>
              <a:t>client = anthropic.Anthropic()</a:t>
            </a:r>
          </a:p>
          <a:p>
            <a:r>
              <a:rPr sz="900">
                <a:solidFill>
                  <a:srgbClr val="E2E8F0"/>
                </a:solidFill>
                <a:latin typeface="Courier New"/>
              </a:rPr>
              <a:t/>
            </a:r>
          </a:p>
          <a:p>
            <a:r>
              <a:rPr sz="900">
                <a:solidFill>
                  <a:srgbClr val="E2E8F0"/>
                </a:solidFill>
                <a:latin typeface="Courier New"/>
              </a:rPr>
              <a:t># 1. DEFINE TOOLS: Tell the model what capabilities it has</a:t>
            </a:r>
          </a:p>
          <a:p>
            <a:r>
              <a:rPr sz="900">
                <a:solidFill>
                  <a:srgbClr val="E2E8F0"/>
                </a:solidFill>
                <a:latin typeface="Courier New"/>
              </a:rPr>
              <a:t>tools = [</a:t>
            </a:r>
          </a:p>
          <a:p>
            <a:r>
              <a:rPr sz="900">
                <a:solidFill>
                  <a:srgbClr val="E2E8F0"/>
                </a:solidFill>
                <a:latin typeface="Courier New"/>
              </a:rPr>
              <a:t>    {</a:t>
            </a:r>
          </a:p>
          <a:p>
            <a:r>
              <a:rPr sz="900">
                <a:solidFill>
                  <a:srgbClr val="E2E8F0"/>
                </a:solidFill>
                <a:latin typeface="Courier New"/>
              </a:rPr>
              <a:t>        "name": "fetch_webpage",</a:t>
            </a:r>
          </a:p>
          <a:p>
            <a:r>
              <a:rPr sz="900">
                <a:solidFill>
                  <a:srgbClr val="E2E8F0"/>
                </a:solidFill>
                <a:latin typeface="Courier New"/>
              </a:rPr>
              <a:t>        "description": "Fetch visible text from a URL. Use for research.",</a:t>
            </a:r>
          </a:p>
          <a:p>
            <a:r>
              <a:rPr sz="900">
                <a:solidFill>
                  <a:srgbClr val="E2E8F0"/>
                </a:solidFill>
                <a:latin typeface="Courier New"/>
              </a:rPr>
              <a:t>        "input_schema": {"type": "object",</a:t>
            </a:r>
          </a:p>
          <a:p>
            <a:r>
              <a:rPr sz="900">
                <a:solidFill>
                  <a:srgbClr val="E2E8F0"/>
                </a:solidFill>
                <a:latin typeface="Courier New"/>
              </a:rPr>
              <a:t>                         "properties": {"url": {"type": "string"}},</a:t>
            </a:r>
          </a:p>
          <a:p>
            <a:r>
              <a:rPr sz="900">
                <a:solidFill>
                  <a:srgbClr val="E2E8F0"/>
                </a:solidFill>
                <a:latin typeface="Courier New"/>
              </a:rPr>
              <a:t>                         "required": ["url"]}</a:t>
            </a:r>
          </a:p>
          <a:p>
            <a:r>
              <a:rPr sz="900">
                <a:solidFill>
                  <a:srgbClr val="E2E8F0"/>
                </a:solidFill>
                <a:latin typeface="Courier New"/>
              </a:rPr>
              <a:t>    },</a:t>
            </a:r>
          </a:p>
          <a:p>
            <a:r>
              <a:rPr sz="900">
                <a:solidFill>
                  <a:srgbClr val="E2E8F0"/>
                </a:solidFill>
                <a:latin typeface="Courier New"/>
              </a:rPr>
              <a:t>    {</a:t>
            </a:r>
          </a:p>
          <a:p>
            <a:r>
              <a:rPr sz="900">
                <a:solidFill>
                  <a:srgbClr val="E2E8F0"/>
                </a:solidFill>
                <a:latin typeface="Courier New"/>
              </a:rPr>
              <a:t>        "name": "save_report",</a:t>
            </a:r>
          </a:p>
          <a:p>
            <a:r>
              <a:rPr sz="900">
                <a:solidFill>
                  <a:srgbClr val="E2E8F0"/>
                </a:solidFill>
                <a:latin typeface="Courier New"/>
              </a:rPr>
              <a:t>        "description": "Save the finished report to a file.",</a:t>
            </a:r>
          </a:p>
          <a:p>
            <a:r>
              <a:rPr sz="900">
                <a:solidFill>
                  <a:srgbClr val="E2E8F0"/>
                </a:solidFill>
                <a:latin typeface="Courier New"/>
              </a:rPr>
              <a:t>        "input_schema": {"type": "object",</a:t>
            </a:r>
          </a:p>
          <a:p>
            <a:r>
              <a:rPr sz="900">
                <a:solidFill>
                  <a:srgbClr val="E2E8F0"/>
                </a:solidFill>
                <a:latin typeface="Courier New"/>
              </a:rPr>
              <a:t>                         "properties": {"filename": {"type": "string"},</a:t>
            </a:r>
          </a:p>
          <a:p>
            <a:r>
              <a:rPr sz="900">
                <a:solidFill>
                  <a:srgbClr val="E2E8F0"/>
                </a:solidFill>
                <a:latin typeface="Courier New"/>
              </a:rPr>
              <a:t>                                        "content": {"type": "string"}},</a:t>
            </a:r>
          </a:p>
        </p:txBody>
      </p:sp>
      <p:sp>
        <p:nvSpPr>
          <p:cNvPr id="11" name="TextBox 10"/>
          <p:cNvSpPr txBox="1"/>
          <p:nvPr/>
        </p:nvSpPr>
        <p:spPr>
          <a:xfrm>
            <a:off x="457200" y="6547104"/>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Three things to understand about this pattern:</a:t>
            </a:r>
          </a:p>
          <a:p>
            <a:pPr>
              <a:spcBef>
                <a:spcPts val="200"/>
              </a:spcBef>
              <a:spcAft>
                <a:spcPts val="100"/>
              </a:spcAft>
            </a:pPr>
            <a:r>
              <a:rPr sz="1300">
                <a:solidFill>
                  <a:srgbClr val="0EA5E9"/>
                </a:solidFill>
                <a:latin typeface="Calibri"/>
              </a:rPr>
              <a:t>• </a:t>
            </a:r>
            <a:r>
              <a:rPr sz="1300" b="0">
                <a:solidFill>
                  <a:srgbClr val="1A1A2E"/>
                </a:solidFill>
                <a:latin typeface="Calibri"/>
              </a:rPr>
              <a:t>The model reads the tool descriptions and decides when to call them — you never tell it which tools to use</a:t>
            </a:r>
          </a:p>
          <a:p>
            <a:pPr>
              <a:spcBef>
                <a:spcPts val="200"/>
              </a:spcBef>
              <a:spcAft>
                <a:spcPts val="100"/>
              </a:spcAft>
            </a:pPr>
            <a:r>
              <a:rPr sz="1300">
                <a:solidFill>
                  <a:srgbClr val="0EA5E9"/>
                </a:solidFill>
                <a:latin typeface="Calibri"/>
              </a:rPr>
              <a:t>• </a:t>
            </a:r>
            <a:r>
              <a:rPr sz="1300" b="0">
                <a:solidFill>
                  <a:srgbClr val="1A1A2E"/>
                </a:solidFill>
                <a:latin typeface="Calibri"/>
              </a:rPr>
              <a:t>The loop continues until stop_reason == "end_turn" — the model signals when it's done</a:t>
            </a:r>
          </a:p>
          <a:p>
            <a:pPr>
              <a:spcBef>
                <a:spcPts val="200"/>
              </a:spcBef>
              <a:spcAft>
                <a:spcPts val="100"/>
              </a:spcAft>
            </a:pPr>
            <a:r>
              <a:rPr sz="1300">
                <a:solidFill>
                  <a:srgbClr val="0EA5E9"/>
                </a:solidFill>
                <a:latin typeface="Calibri"/>
              </a:rPr>
              <a:t>• </a:t>
            </a:r>
            <a:r>
              <a:rPr sz="1300" b="0">
                <a:solidFill>
                  <a:srgbClr val="1A1A2E"/>
                </a:solidFill>
                <a:latin typeface="Calibri"/>
              </a:rPr>
              <a:t>Any Python function you can write becomes a tool — databases, APIs, email, file system, anything</a:t>
            </a:r>
          </a:p>
          <a:p>
            <a:pPr>
              <a:spcBef>
                <a:spcPts val="200"/>
              </a:spcBef>
              <a:spcAft>
                <a:spcPts val="100"/>
              </a:spcAft>
            </a:pPr>
            <a:r>
              <a:rPr sz="1200" b="0">
                <a:solidFill>
                  <a:srgbClr val="2D3748"/>
                </a:solidFill>
                <a:latin typeface="Calibri"/>
              </a:rPr>
              <a:t>This is the foundation. Every framework (LangGraph, CrewAI, OpenAI Agents) is an abstraction on top of exactly this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058400" cy="640080"/>
          </a:xfrm>
          <a:prstGeom prst="rect">
            <a:avLst/>
          </a:prstGeom>
          <a:noFill/>
        </p:spPr>
        <p:txBody>
          <a:bodyPr wrap="none">
            <a:spAutoFit/>
          </a:bodyPr>
          <a:lstStyle/>
          <a:p>
            <a:r>
              <a:rPr sz="2200" b="1">
                <a:solidFill>
                  <a:srgbClr val="0EA5E9"/>
                </a:solidFill>
                <a:latin typeface="Calibri"/>
              </a:rPr>
              <a:t>Section 3</a:t>
            </a:r>
          </a:p>
        </p:txBody>
      </p:sp>
      <p:sp>
        <p:nvSpPr>
          <p:cNvPr id="5" name="TextBox 4"/>
          <p:cNvSpPr txBox="1"/>
          <p:nvPr/>
        </p:nvSpPr>
        <p:spPr>
          <a:xfrm>
            <a:off x="914400" y="2606040"/>
            <a:ext cx="10058400" cy="1097280"/>
          </a:xfrm>
          <a:prstGeom prst="rect">
            <a:avLst/>
          </a:prstGeom>
          <a:noFill/>
        </p:spPr>
        <p:txBody>
          <a:bodyPr wrap="none">
            <a:spAutoFit/>
          </a:bodyPr>
          <a:lstStyle/>
          <a:p>
            <a:r>
              <a:rPr sz="3600" b="1">
                <a:solidFill>
                  <a:srgbClr val="FFFFFF"/>
                </a:solidFill>
                <a:latin typeface="Calibri"/>
              </a:rPr>
              <a:t>AI Coding Tools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The AI-Powered Development Revolution</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What Changed in 24 Months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14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14</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productivity data (GitHub, StackOverflow surveys, 2025–2026):</a:t>
            </a:r>
          </a:p>
        </p:txBody>
      </p:sp>
      <p:graphicFrame>
        <p:nvGraphicFramePr>
          <p:cNvPr id="11" name="Table 10"/>
          <p:cNvGraphicFramePr>
            <a:graphicFrameLocks noGrp="1"/>
          </p:cNvGraphicFramePr>
          <p:nvPr/>
        </p:nvGraphicFramePr>
        <p:xfrm>
          <a:off x="457200" y="1600200"/>
          <a:ext cx="6492240" cy="2432304"/>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Development Task</a:t>
                      </a:r>
                    </a:p>
                  </a:txBody>
                  <a:tcPr>
                    <a:solidFill>
                      <a:srgbClr val="16213E"/>
                    </a:solidFill>
                  </a:tcPr>
                </a:tc>
                <a:tc>
                  <a:txBody>
                    <a:bodyPr/>
                    <a:lstStyle/>
                    <a:p>
                      <a:pPr algn="l"/>
                      <a:r>
                        <a:rPr sz="1100" b="1">
                          <a:solidFill>
                            <a:srgbClr val="FFFFFF"/>
                          </a:solidFill>
                          <a:latin typeface="Calibri"/>
                        </a:rPr>
                        <a:t>Without AI</a:t>
                      </a:r>
                    </a:p>
                  </a:txBody>
                  <a:tcPr>
                    <a:solidFill>
                      <a:srgbClr val="16213E"/>
                    </a:solidFill>
                  </a:tcPr>
                </a:tc>
                <a:tc>
                  <a:txBody>
                    <a:bodyPr/>
                    <a:lstStyle/>
                    <a:p>
                      <a:pPr algn="l"/>
                      <a:r>
                        <a:rPr sz="1100" b="1">
                          <a:solidFill>
                            <a:srgbClr val="FFFFFF"/>
                          </a:solidFill>
                          <a:latin typeface="Calibri"/>
                        </a:rPr>
                        <a:t>With AI Tools</a:t>
                      </a:r>
                    </a:p>
                  </a:txBody>
                  <a:tcPr>
                    <a:solidFill>
                      <a:srgbClr val="16213E"/>
                    </a:solidFill>
                  </a:tcPr>
                </a:tc>
                <a:tc>
                  <a:txBody>
                    <a:bodyPr/>
                    <a:lstStyle/>
                    <a:p>
                      <a:pPr algn="l"/>
                      <a:r>
                        <a:rPr sz="1100" b="1">
                          <a:solidFill>
                            <a:srgbClr val="FFFFFF"/>
                          </a:solidFill>
                          <a:latin typeface="Calibri"/>
                        </a:rPr>
                        <a:t>Speedup</a:t>
                      </a:r>
                    </a:p>
                  </a:txBody>
                  <a:tcPr>
                    <a:solidFill>
                      <a:srgbClr val="16213E"/>
                    </a:solidFill>
                  </a:tcPr>
                </a:tc>
              </a:tr>
              <a:tr h="347472">
                <a:tc>
                  <a:txBody>
                    <a:bodyPr/>
                    <a:lstStyle/>
                    <a:p>
                      <a:r>
                        <a:rPr sz="1000">
                          <a:solidFill>
                            <a:srgbClr val="1A1A2E"/>
                          </a:solidFill>
                          <a:latin typeface="Calibri"/>
                        </a:rPr>
                        <a:t>Write a new function</a:t>
                      </a:r>
                    </a:p>
                  </a:txBody>
                  <a:tcPr>
                    <a:solidFill>
                      <a:srgbClr val="FFFFFF"/>
                    </a:solidFill>
                  </a:tcPr>
                </a:tc>
                <a:tc>
                  <a:txBody>
                    <a:bodyPr/>
                    <a:lstStyle/>
                    <a:p>
                      <a:r>
                        <a:rPr sz="1000">
                          <a:solidFill>
                            <a:srgbClr val="1A1A2E"/>
                          </a:solidFill>
                          <a:latin typeface="Calibri"/>
                        </a:rPr>
                        <a:t>15 min</a:t>
                      </a:r>
                    </a:p>
                  </a:txBody>
                  <a:tcPr>
                    <a:solidFill>
                      <a:srgbClr val="FFFFFF"/>
                    </a:solidFill>
                  </a:tcPr>
                </a:tc>
                <a:tc>
                  <a:txBody>
                    <a:bodyPr/>
                    <a:lstStyle/>
                    <a:p>
                      <a:r>
                        <a:rPr sz="1000">
                          <a:solidFill>
                            <a:srgbClr val="1A1A2E"/>
                          </a:solidFill>
                          <a:latin typeface="Calibri"/>
                        </a:rPr>
                        <a:t>2 min</a:t>
                      </a:r>
                    </a:p>
                  </a:txBody>
                  <a:tcPr>
                    <a:solidFill>
                      <a:srgbClr val="FFFFFF"/>
                    </a:solidFill>
                  </a:tcPr>
                </a:tc>
                <a:tc>
                  <a:txBody>
                    <a:bodyPr/>
                    <a:lstStyle/>
                    <a:p>
                      <a:r>
                        <a:rPr sz="1000">
                          <a:solidFill>
                            <a:srgbClr val="1A1A2E"/>
                          </a:solidFill>
                          <a:latin typeface="Calibri"/>
                        </a:rPr>
                        <a:t>7×</a:t>
                      </a:r>
                    </a:p>
                  </a:txBody>
                  <a:tcPr>
                    <a:solidFill>
                      <a:srgbClr val="FFFFFF"/>
                    </a:solidFill>
                  </a:tcPr>
                </a:tc>
              </a:tr>
              <a:tr h="347472">
                <a:tc>
                  <a:txBody>
                    <a:bodyPr/>
                    <a:lstStyle/>
                    <a:p>
                      <a:r>
                        <a:rPr sz="1000">
                          <a:solidFill>
                            <a:srgbClr val="1A1A2E"/>
                          </a:solidFill>
                          <a:latin typeface="Calibri"/>
                        </a:rPr>
                        <a:t>Fix a bug</a:t>
                      </a:r>
                    </a:p>
                  </a:txBody>
                  <a:tcPr>
                    <a:solidFill>
                      <a:srgbClr val="F8F9FF"/>
                    </a:solidFill>
                  </a:tcPr>
                </a:tc>
                <a:tc>
                  <a:txBody>
                    <a:bodyPr/>
                    <a:lstStyle/>
                    <a:p>
                      <a:r>
                        <a:rPr sz="1000">
                          <a:solidFill>
                            <a:srgbClr val="1A1A2E"/>
                          </a:solidFill>
                          <a:latin typeface="Calibri"/>
                        </a:rPr>
                        <a:t>30 min</a:t>
                      </a:r>
                    </a:p>
                  </a:txBody>
                  <a:tcPr>
                    <a:solidFill>
                      <a:srgbClr val="F8F9FF"/>
                    </a:solidFill>
                  </a:tcPr>
                </a:tc>
                <a:tc>
                  <a:txBody>
                    <a:bodyPr/>
                    <a:lstStyle/>
                    <a:p>
                      <a:r>
                        <a:rPr sz="1000">
                          <a:solidFill>
                            <a:srgbClr val="1A1A2E"/>
                          </a:solidFill>
                          <a:latin typeface="Calibri"/>
                        </a:rPr>
                        <a:t>8 min</a:t>
                      </a:r>
                    </a:p>
                  </a:txBody>
                  <a:tcPr>
                    <a:solidFill>
                      <a:srgbClr val="F8F9FF"/>
                    </a:solidFill>
                  </a:tcPr>
                </a:tc>
                <a:tc>
                  <a:txBody>
                    <a:bodyPr/>
                    <a:lstStyle/>
                    <a:p>
                      <a:r>
                        <a:rPr sz="1000">
                          <a:solidFill>
                            <a:srgbClr val="1A1A2E"/>
                          </a:solidFill>
                          <a:latin typeface="Calibri"/>
                        </a:rPr>
                        <a:t>4×</a:t>
                      </a:r>
                    </a:p>
                  </a:txBody>
                  <a:tcPr>
                    <a:solidFill>
                      <a:srgbClr val="F8F9FF"/>
                    </a:solidFill>
                  </a:tcPr>
                </a:tc>
              </a:tr>
              <a:tr h="347472">
                <a:tc>
                  <a:txBody>
                    <a:bodyPr/>
                    <a:lstStyle/>
                    <a:p>
                      <a:r>
                        <a:rPr sz="1000">
                          <a:solidFill>
                            <a:srgbClr val="1A1A2E"/>
                          </a:solidFill>
                          <a:latin typeface="Calibri"/>
                        </a:rPr>
                        <a:t>Write boilerplate / scaffolding</a:t>
                      </a:r>
                    </a:p>
                  </a:txBody>
                  <a:tcPr>
                    <a:solidFill>
                      <a:srgbClr val="FFFFFF"/>
                    </a:solidFill>
                  </a:tcPr>
                </a:tc>
                <a:tc>
                  <a:txBody>
                    <a:bodyPr/>
                    <a:lstStyle/>
                    <a:p>
                      <a:r>
                        <a:rPr sz="1000">
                          <a:solidFill>
                            <a:srgbClr val="1A1A2E"/>
                          </a:solidFill>
                          <a:latin typeface="Calibri"/>
                        </a:rPr>
                        <a:t>45 min</a:t>
                      </a:r>
                    </a:p>
                  </a:txBody>
                  <a:tcPr>
                    <a:solidFill>
                      <a:srgbClr val="FFFFFF"/>
                    </a:solidFill>
                  </a:tcPr>
                </a:tc>
                <a:tc>
                  <a:txBody>
                    <a:bodyPr/>
                    <a:lstStyle/>
                    <a:p>
                      <a:r>
                        <a:rPr sz="1000">
                          <a:solidFill>
                            <a:srgbClr val="1A1A2E"/>
                          </a:solidFill>
                          <a:latin typeface="Calibri"/>
                        </a:rPr>
                        <a:t>30 sec</a:t>
                      </a:r>
                    </a:p>
                  </a:txBody>
                  <a:tcPr>
                    <a:solidFill>
                      <a:srgbClr val="FFFFFF"/>
                    </a:solidFill>
                  </a:tcPr>
                </a:tc>
                <a:tc>
                  <a:txBody>
                    <a:bodyPr/>
                    <a:lstStyle/>
                    <a:p>
                      <a:r>
                        <a:rPr sz="1000">
                          <a:solidFill>
                            <a:srgbClr val="1A1A2E"/>
                          </a:solidFill>
                          <a:latin typeface="Calibri"/>
                        </a:rPr>
                        <a:t>90×</a:t>
                      </a:r>
                    </a:p>
                  </a:txBody>
                  <a:tcPr>
                    <a:solidFill>
                      <a:srgbClr val="FFFFFF"/>
                    </a:solidFill>
                  </a:tcPr>
                </a:tc>
              </a:tr>
              <a:tr h="347472">
                <a:tc>
                  <a:txBody>
                    <a:bodyPr/>
                    <a:lstStyle/>
                    <a:p>
                      <a:r>
                        <a:rPr sz="1000">
                          <a:solidFill>
                            <a:srgbClr val="1A1A2E"/>
                          </a:solidFill>
                          <a:latin typeface="Calibri"/>
                        </a:rPr>
                        <a:t>Understand an unfamiliar codebase</a:t>
                      </a:r>
                    </a:p>
                  </a:txBody>
                  <a:tcPr>
                    <a:solidFill>
                      <a:srgbClr val="F8F9FF"/>
                    </a:solidFill>
                  </a:tcPr>
                </a:tc>
                <a:tc>
                  <a:txBody>
                    <a:bodyPr/>
                    <a:lstStyle/>
                    <a:p>
                      <a:r>
                        <a:rPr sz="1000">
                          <a:solidFill>
                            <a:srgbClr val="1A1A2E"/>
                          </a:solidFill>
                          <a:latin typeface="Calibri"/>
                        </a:rPr>
                        <a:t>2 weeks</a:t>
                      </a:r>
                    </a:p>
                  </a:txBody>
                  <a:tcPr>
                    <a:solidFill>
                      <a:srgbClr val="F8F9FF"/>
                    </a:solidFill>
                  </a:tcPr>
                </a:tc>
                <a:tc>
                  <a:txBody>
                    <a:bodyPr/>
                    <a:lstStyle/>
                    <a:p>
                      <a:r>
                        <a:rPr sz="1000">
                          <a:solidFill>
                            <a:srgbClr val="1A1A2E"/>
                          </a:solidFill>
                          <a:latin typeface="Calibri"/>
                        </a:rPr>
                        <a:t>3 days</a:t>
                      </a:r>
                    </a:p>
                  </a:txBody>
                  <a:tcPr>
                    <a:solidFill>
                      <a:srgbClr val="F8F9FF"/>
                    </a:solidFill>
                  </a:tcPr>
                </a:tc>
                <a:tc>
                  <a:txBody>
                    <a:bodyPr/>
                    <a:lstStyle/>
                    <a:p>
                      <a:r>
                        <a:rPr sz="1000">
                          <a:solidFill>
                            <a:srgbClr val="1A1A2E"/>
                          </a:solidFill>
                          <a:latin typeface="Calibri"/>
                        </a:rPr>
                        <a:t>5×</a:t>
                      </a:r>
                    </a:p>
                  </a:txBody>
                  <a:tcPr>
                    <a:solidFill>
                      <a:srgbClr val="F8F9FF"/>
                    </a:solidFill>
                  </a:tcPr>
                </a:tc>
              </a:tr>
              <a:tr h="347472">
                <a:tc>
                  <a:txBody>
                    <a:bodyPr/>
                    <a:lstStyle/>
                    <a:p>
                      <a:r>
                        <a:rPr sz="1000">
                          <a:solidFill>
                            <a:srgbClr val="1A1A2E"/>
                          </a:solidFill>
                          <a:latin typeface="Calibri"/>
                        </a:rPr>
                        <a:t>Write unit tests</a:t>
                      </a:r>
                    </a:p>
                  </a:txBody>
                  <a:tcPr>
                    <a:solidFill>
                      <a:srgbClr val="FFFFFF"/>
                    </a:solidFill>
                  </a:tcPr>
                </a:tc>
                <a:tc>
                  <a:txBody>
                    <a:bodyPr/>
                    <a:lstStyle/>
                    <a:p>
                      <a:r>
                        <a:rPr sz="1000">
                          <a:solidFill>
                            <a:srgbClr val="1A1A2E"/>
                          </a:solidFill>
                          <a:latin typeface="Calibri"/>
                        </a:rPr>
                        <a:t>20 min</a:t>
                      </a:r>
                    </a:p>
                  </a:txBody>
                  <a:tcPr>
                    <a:solidFill>
                      <a:srgbClr val="FFFFFF"/>
                    </a:solidFill>
                  </a:tcPr>
                </a:tc>
                <a:tc>
                  <a:txBody>
                    <a:bodyPr/>
                    <a:lstStyle/>
                    <a:p>
                      <a:r>
                        <a:rPr sz="1000">
                          <a:solidFill>
                            <a:srgbClr val="1A1A2E"/>
                          </a:solidFill>
                          <a:latin typeface="Calibri"/>
                        </a:rPr>
                        <a:t>3 min</a:t>
                      </a:r>
                    </a:p>
                  </a:txBody>
                  <a:tcPr>
                    <a:solidFill>
                      <a:srgbClr val="FFFFFF"/>
                    </a:solidFill>
                  </a:tcPr>
                </a:tc>
                <a:tc>
                  <a:txBody>
                    <a:bodyPr/>
                    <a:lstStyle/>
                    <a:p>
                      <a:r>
                        <a:rPr sz="1000">
                          <a:solidFill>
                            <a:srgbClr val="1A1A2E"/>
                          </a:solidFill>
                          <a:latin typeface="Calibri"/>
                        </a:rPr>
                        <a:t>7×</a:t>
                      </a:r>
                    </a:p>
                  </a:txBody>
                  <a:tcPr>
                    <a:solidFill>
                      <a:srgbClr val="FFFFFF"/>
                    </a:solidFill>
                  </a:tcPr>
                </a:tc>
              </a:tr>
              <a:tr h="347472">
                <a:tc>
                  <a:txBody>
                    <a:bodyPr/>
                    <a:lstStyle/>
                    <a:p>
                      <a:r>
                        <a:rPr sz="1000">
                          <a:solidFill>
                            <a:srgbClr val="1A1A2E"/>
                          </a:solidFill>
                          <a:latin typeface="Calibri"/>
                        </a:rPr>
                        <a:t>Code review coverage</a:t>
                      </a:r>
                    </a:p>
                  </a:txBody>
                  <a:tcPr>
                    <a:solidFill>
                      <a:srgbClr val="F8F9FF"/>
                    </a:solidFill>
                  </a:tcPr>
                </a:tc>
                <a:tc>
                  <a:txBody>
                    <a:bodyPr/>
                    <a:lstStyle/>
                    <a:p>
                      <a:r>
                        <a:rPr sz="1000">
                          <a:solidFill>
                            <a:srgbClr val="1A1A2E"/>
                          </a:solidFill>
                          <a:latin typeface="Calibri"/>
                        </a:rPr>
                        <a:t>60% of PRs</a:t>
                      </a:r>
                    </a:p>
                  </a:txBody>
                  <a:tcPr>
                    <a:solidFill>
                      <a:srgbClr val="F8F9FF"/>
                    </a:solidFill>
                  </a:tcPr>
                </a:tc>
                <a:tc>
                  <a:txBody>
                    <a:bodyPr/>
                    <a:lstStyle/>
                    <a:p>
                      <a:r>
                        <a:rPr sz="1000">
                          <a:solidFill>
                            <a:srgbClr val="1A1A2E"/>
                          </a:solidFill>
                          <a:latin typeface="Calibri"/>
                        </a:rPr>
                        <a:t>95% (AI reviews all)</a:t>
                      </a:r>
                    </a:p>
                  </a:txBody>
                  <a:tcPr>
                    <a:solidFill>
                      <a:srgbClr val="F8F9FF"/>
                    </a:solidFill>
                  </a:tcPr>
                </a:tc>
                <a:tc>
                  <a:txBody>
                    <a:bodyPr/>
                    <a:lstStyle/>
                    <a:p>
                      <a:r>
                        <a:rPr sz="1000">
                          <a:solidFill>
                            <a:srgbClr val="1A1A2E"/>
                          </a:solidFill>
                          <a:latin typeface="Calibri"/>
                        </a:rPr>
                        <a:t>+35%</a:t>
                      </a:r>
                    </a:p>
                  </a:txBody>
                  <a:tcPr>
                    <a:solidFill>
                      <a:srgbClr val="F8F9FF"/>
                    </a:solidFill>
                  </a:tcPr>
                </a:tc>
              </a:tr>
            </a:tbl>
          </a:graphicData>
        </a:graphic>
      </p:graphicFrame>
      <p:sp>
        <p:nvSpPr>
          <p:cNvPr id="12" name="TextBox 11"/>
          <p:cNvSpPr txBox="1"/>
          <p:nvPr/>
        </p:nvSpPr>
        <p:spPr>
          <a:xfrm>
            <a:off x="457200" y="4142232"/>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before/after for business analytics professionals:</a:t>
            </a:r>
          </a:p>
          <a:p>
            <a:pPr>
              <a:spcBef>
                <a:spcPts val="200"/>
              </a:spcBef>
              <a:spcAft>
                <a:spcPts val="100"/>
              </a:spcAft>
            </a:pPr>
            <a:r>
              <a:rPr sz="1100" b="0">
                <a:solidFill>
                  <a:srgbClr val="2D3748"/>
                </a:solidFill>
                <a:latin typeface="Calibri"/>
              </a:rPr>
              <a:t>Before (2022): Write every line manually. Google for syntax. Stack Overflow for debugging. 70% of coding time on boilerplate, lookups, and mechanical fixes.</a:t>
            </a:r>
          </a:p>
          <a:p>
            <a:pPr>
              <a:spcBef>
                <a:spcPts val="200"/>
              </a:spcBef>
              <a:spcAft>
                <a:spcPts val="100"/>
              </a:spcAft>
            </a:pPr>
            <a:r>
              <a:rPr sz="1100" b="0">
                <a:solidFill>
                  <a:srgbClr val="2D3748"/>
                </a:solidFill>
                <a:latin typeface="Calibri"/>
              </a:rPr>
              <a:t>After (2026): Describe what you want. Review and validate what AI produces. Focus on logic, architecture, and business problem framing. AI handles the execution details.</a:t>
            </a:r>
          </a:p>
          <a:p>
            <a:pPr>
              <a:spcBef>
                <a:spcPts val="200"/>
              </a:spcBef>
              <a:spcAft>
                <a:spcPts val="100"/>
              </a:spcAft>
            </a:pPr>
            <a:r>
              <a:rPr sz="1200" b="1">
                <a:solidFill>
                  <a:srgbClr val="0F3460"/>
                </a:solidFill>
                <a:latin typeface="Calibri"/>
              </a:rPr>
              <a:t>What this changes about skills:</a:t>
            </a:r>
          </a:p>
          <a:p>
            <a:pPr>
              <a:spcBef>
                <a:spcPts val="200"/>
              </a:spcBef>
              <a:spcAft>
                <a:spcPts val="100"/>
              </a:spcAft>
            </a:pPr>
            <a:r>
              <a:rPr sz="1200">
                <a:solidFill>
                  <a:srgbClr val="0EA5E9"/>
                </a:solidFill>
                <a:latin typeface="Calibri"/>
              </a:rPr>
              <a:t>• </a:t>
            </a:r>
            <a:r>
              <a:rPr sz="1200" b="0">
                <a:solidFill>
                  <a:srgbClr val="1A1A2E"/>
                </a:solidFill>
                <a:latin typeface="Calibri"/>
              </a:rPr>
              <a:t>Declining value: Memorizing syntax, writing boilerplate, translating pseudocode to code</a:t>
            </a:r>
          </a:p>
          <a:p>
            <a:pPr>
              <a:spcBef>
                <a:spcPts val="200"/>
              </a:spcBef>
              <a:spcAft>
                <a:spcPts val="100"/>
              </a:spcAft>
            </a:pPr>
            <a:r>
              <a:rPr sz="1200">
                <a:solidFill>
                  <a:srgbClr val="0EA5E9"/>
                </a:solidFill>
                <a:latin typeface="Calibri"/>
              </a:rPr>
              <a:t>• </a:t>
            </a:r>
            <a:r>
              <a:rPr sz="1200" b="0">
                <a:solidFill>
                  <a:srgbClr val="1A1A2E"/>
                </a:solidFill>
                <a:latin typeface="Calibri"/>
              </a:rPr>
              <a:t>Rising value: Problem decomposition, system design, prompt engineering, output validation, domain expertise</a:t>
            </a:r>
          </a:p>
          <a:p>
            <a:pPr>
              <a:spcBef>
                <a:spcPts val="200"/>
              </a:spcBef>
              <a:spcAft>
                <a:spcPts val="100"/>
              </a:spcAft>
            </a:pPr>
            <a:r>
              <a:rPr sz="1200">
                <a:solidFill>
                  <a:srgbClr val="0EA5E9"/>
                </a:solidFill>
                <a:latin typeface="Calibri"/>
              </a:rPr>
              <a:t>• </a:t>
            </a:r>
            <a:r>
              <a:rPr sz="1200" b="0">
                <a:solidFill>
                  <a:srgbClr val="1A1A2E"/>
                </a:solidFill>
                <a:latin typeface="Calibri"/>
              </a:rPr>
              <a:t>New skill: Knowing when to trust AI output vs. when to verify carefully (security, edge cases, data integrity)</a:t>
            </a:r>
          </a:p>
        </p:txBody>
      </p:sp>
      <p:sp>
        <p:nvSpPr>
          <p:cNvPr id="13" name="Rectangle 12"/>
          <p:cNvSpPr/>
          <p:nvPr/>
        </p:nvSpPr>
        <p:spPr>
          <a:xfrm>
            <a:off x="457200" y="6062472"/>
            <a:ext cx="54864" cy="502920"/>
          </a:xfrm>
          <a:prstGeom prst="rect">
            <a:avLst/>
          </a:prstGeom>
          <a:solidFill>
            <a:srgbClr val="53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6062472"/>
            <a:ext cx="6327648" cy="548640"/>
          </a:xfrm>
          <a:prstGeom prst="rect">
            <a:avLst/>
          </a:prstGeom>
          <a:noFill/>
        </p:spPr>
        <p:txBody>
          <a:bodyPr wrap="square">
            <a:spAutoFit/>
          </a:bodyPr>
          <a:lstStyle/>
          <a:p>
            <a:r>
              <a:rPr sz="1300" i="1">
                <a:solidFill>
                  <a:srgbClr val="0F3460"/>
                </a:solidFill>
                <a:latin typeface="Calibri"/>
              </a:rPr>
              <a:t>"The question is no longer whether you should use AI coding tools. It's which ones, and how to use them without losing your own judgment."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Claude Code — The Agentic Terminal</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Anthropic's CLI Coding Agent</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15</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What makes Claude Code fundamentally different from Copilot-style tools:</a:t>
            </a:r>
          </a:p>
        </p:txBody>
      </p:sp>
      <p:graphicFrame>
        <p:nvGraphicFramePr>
          <p:cNvPr id="9" name="Table 8"/>
          <p:cNvGraphicFramePr>
            <a:graphicFrameLocks noGrp="1"/>
          </p:cNvGraphicFramePr>
          <p:nvPr/>
        </p:nvGraphicFramePr>
        <p:xfrm>
          <a:off x="457200" y="1600200"/>
          <a:ext cx="11277295" cy="2432304"/>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Dimension</a:t>
                      </a:r>
                    </a:p>
                  </a:txBody>
                  <a:tcPr>
                    <a:solidFill>
                      <a:srgbClr val="16213E"/>
                    </a:solidFill>
                  </a:tcPr>
                </a:tc>
                <a:tc>
                  <a:txBody>
                    <a:bodyPr/>
                    <a:lstStyle/>
                    <a:p>
                      <a:pPr algn="l"/>
                      <a:r>
                        <a:rPr sz="1100" b="1">
                          <a:solidFill>
                            <a:srgbClr val="FFFFFF"/>
                          </a:solidFill>
                          <a:latin typeface="Calibri"/>
                        </a:rPr>
                        <a:t>Claude Code</a:t>
                      </a:r>
                    </a:p>
                  </a:txBody>
                  <a:tcPr>
                    <a:solidFill>
                      <a:srgbClr val="16213E"/>
                    </a:solidFill>
                  </a:tcPr>
                </a:tc>
                <a:tc>
                  <a:txBody>
                    <a:bodyPr/>
                    <a:lstStyle/>
                    <a:p>
                      <a:pPr algn="l"/>
                      <a:r>
                        <a:rPr sz="1100" b="1">
                          <a:solidFill>
                            <a:srgbClr val="FFFFFF"/>
                          </a:solidFill>
                          <a:latin typeface="Calibri"/>
                        </a:rPr>
                        <a:t>IDE Autocomplete Tools</a:t>
                      </a:r>
                    </a:p>
                  </a:txBody>
                  <a:tcPr>
                    <a:solidFill>
                      <a:srgbClr val="16213E"/>
                    </a:solidFill>
                  </a:tcPr>
                </a:tc>
              </a:tr>
              <a:tr h="347472">
                <a:tc>
                  <a:txBody>
                    <a:bodyPr/>
                    <a:lstStyle/>
                    <a:p>
                      <a:r>
                        <a:rPr sz="1000">
                          <a:solidFill>
                            <a:srgbClr val="1A1A2E"/>
                          </a:solidFill>
                          <a:latin typeface="Calibri"/>
                        </a:rPr>
                        <a:t>Interface</a:t>
                      </a:r>
                    </a:p>
                  </a:txBody>
                  <a:tcPr>
                    <a:solidFill>
                      <a:srgbClr val="FFFFFF"/>
                    </a:solidFill>
                  </a:tcPr>
                </a:tc>
                <a:tc>
                  <a:txBody>
                    <a:bodyPr/>
                    <a:lstStyle/>
                    <a:p>
                      <a:r>
                        <a:rPr sz="1000">
                          <a:solidFill>
                            <a:srgbClr val="1A1A2E"/>
                          </a:solidFill>
                          <a:latin typeface="Calibri"/>
                        </a:rPr>
                        <a:t>Terminal CLI — works anywhere</a:t>
                      </a:r>
                    </a:p>
                  </a:txBody>
                  <a:tcPr>
                    <a:solidFill>
                      <a:srgbClr val="FFFFFF"/>
                    </a:solidFill>
                  </a:tcPr>
                </a:tc>
                <a:tc>
                  <a:txBody>
                    <a:bodyPr/>
                    <a:lstStyle/>
                    <a:p>
                      <a:r>
                        <a:rPr sz="1000">
                          <a:solidFill>
                            <a:srgbClr val="1A1A2E"/>
                          </a:solidFill>
                          <a:latin typeface="Calibri"/>
                        </a:rPr>
                        <a:t>IDE plugin — tied to one editor</a:t>
                      </a:r>
                    </a:p>
                  </a:txBody>
                  <a:tcPr>
                    <a:solidFill>
                      <a:srgbClr val="FFFFFF"/>
                    </a:solidFill>
                  </a:tcPr>
                </a:tc>
              </a:tr>
              <a:tr h="347472">
                <a:tc>
                  <a:txBody>
                    <a:bodyPr/>
                    <a:lstStyle/>
                    <a:p>
                      <a:r>
                        <a:rPr sz="1000">
                          <a:solidFill>
                            <a:srgbClr val="1A1A2E"/>
                          </a:solidFill>
                          <a:latin typeface="Calibri"/>
                        </a:rPr>
                        <a:t>Scope of awareness</a:t>
                      </a:r>
                    </a:p>
                  </a:txBody>
                  <a:tcPr>
                    <a:solidFill>
                      <a:srgbClr val="F8F9FF"/>
                    </a:solidFill>
                  </a:tcPr>
                </a:tc>
                <a:tc>
                  <a:txBody>
                    <a:bodyPr/>
                    <a:lstStyle/>
                    <a:p>
                      <a:r>
                        <a:rPr sz="1000">
                          <a:solidFill>
                            <a:srgbClr val="1A1A2E"/>
                          </a:solidFill>
                          <a:latin typeface="Calibri"/>
                        </a:rPr>
                        <a:t>Your entire codebase</a:t>
                      </a:r>
                    </a:p>
                  </a:txBody>
                  <a:tcPr>
                    <a:solidFill>
                      <a:srgbClr val="F8F9FF"/>
                    </a:solidFill>
                  </a:tcPr>
                </a:tc>
                <a:tc>
                  <a:txBody>
                    <a:bodyPr/>
                    <a:lstStyle/>
                    <a:p>
                      <a:r>
                        <a:rPr sz="1000">
                          <a:solidFill>
                            <a:srgbClr val="1A1A2E"/>
                          </a:solidFill>
                          <a:latin typeface="Calibri"/>
                        </a:rPr>
                        <a:t>The file you're editing</a:t>
                      </a:r>
                    </a:p>
                  </a:txBody>
                  <a:tcPr>
                    <a:solidFill>
                      <a:srgbClr val="F8F9FF"/>
                    </a:solidFill>
                  </a:tcPr>
                </a:tc>
              </a:tr>
              <a:tr h="347472">
                <a:tc>
                  <a:txBody>
                    <a:bodyPr/>
                    <a:lstStyle/>
                    <a:p>
                      <a:r>
                        <a:rPr sz="1000">
                          <a:solidFill>
                            <a:srgbClr val="1A1A2E"/>
                          </a:solidFill>
                          <a:latin typeface="Calibri"/>
                        </a:rPr>
                        <a:t>Mode of operation</a:t>
                      </a:r>
                    </a:p>
                  </a:txBody>
                  <a:tcPr>
                    <a:solidFill>
                      <a:srgbClr val="FFFFFF"/>
                    </a:solidFill>
                  </a:tcPr>
                </a:tc>
                <a:tc>
                  <a:txBody>
                    <a:bodyPr/>
                    <a:lstStyle/>
                    <a:p>
                      <a:r>
                        <a:rPr sz="1000">
                          <a:solidFill>
                            <a:srgbClr val="1A1A2E"/>
                          </a:solidFill>
                          <a:latin typeface="Calibri"/>
                        </a:rPr>
                        <a:t>Completes full tasks end-to-end</a:t>
                      </a:r>
                    </a:p>
                  </a:txBody>
                  <a:tcPr>
                    <a:solidFill>
                      <a:srgbClr val="FFFFFF"/>
                    </a:solidFill>
                  </a:tcPr>
                </a:tc>
                <a:tc>
                  <a:txBody>
                    <a:bodyPr/>
                    <a:lstStyle/>
                    <a:p>
                      <a:r>
                        <a:rPr sz="1000">
                          <a:solidFill>
                            <a:srgbClr val="1A1A2E"/>
                          </a:solidFill>
                          <a:latin typeface="Calibri"/>
                        </a:rPr>
                        <a:t>Suggests what to type next</a:t>
                      </a:r>
                    </a:p>
                  </a:txBody>
                  <a:tcPr>
                    <a:solidFill>
                      <a:srgbClr val="FFFFFF"/>
                    </a:solidFill>
                  </a:tcPr>
                </a:tc>
              </a:tr>
              <a:tr h="347472">
                <a:tc>
                  <a:txBody>
                    <a:bodyPr/>
                    <a:lstStyle/>
                    <a:p>
                      <a:r>
                        <a:rPr sz="1000">
                          <a:solidFill>
                            <a:srgbClr val="1A1A2E"/>
                          </a:solidFill>
                          <a:latin typeface="Calibri"/>
                        </a:rPr>
                        <a:t>Actions it can take</a:t>
                      </a:r>
                    </a:p>
                  </a:txBody>
                  <a:tcPr>
                    <a:solidFill>
                      <a:srgbClr val="F8F9FF"/>
                    </a:solidFill>
                  </a:tcPr>
                </a:tc>
                <a:tc>
                  <a:txBody>
                    <a:bodyPr/>
                    <a:lstStyle/>
                    <a:p>
                      <a:r>
                        <a:rPr sz="1000">
                          <a:solidFill>
                            <a:srgbClr val="1A1A2E"/>
                          </a:solidFill>
                          <a:latin typeface="Calibri"/>
                        </a:rPr>
                        <a:t>Read files, write files, run tests, execute commands</a:t>
                      </a:r>
                    </a:p>
                  </a:txBody>
                  <a:tcPr>
                    <a:solidFill>
                      <a:srgbClr val="F8F9FF"/>
                    </a:solidFill>
                  </a:tcPr>
                </a:tc>
                <a:tc>
                  <a:txBody>
                    <a:bodyPr/>
                    <a:lstStyle/>
                    <a:p>
                      <a:r>
                        <a:rPr sz="1000">
                          <a:solidFill>
                            <a:srgbClr val="1A1A2E"/>
                          </a:solidFill>
                          <a:latin typeface="Calibri"/>
                        </a:rPr>
                        <a:t>Insert code suggestions only</a:t>
                      </a:r>
                    </a:p>
                  </a:txBody>
                  <a:tcPr>
                    <a:solidFill>
                      <a:srgbClr val="F8F9FF"/>
                    </a:solidFill>
                  </a:tcPr>
                </a:tc>
              </a:tr>
              <a:tr h="347472">
                <a:tc>
                  <a:txBody>
                    <a:bodyPr/>
                    <a:lstStyle/>
                    <a:p>
                      <a:r>
                        <a:rPr sz="1000">
                          <a:solidFill>
                            <a:srgbClr val="1A1A2E"/>
                          </a:solidFill>
                          <a:latin typeface="Calibri"/>
                        </a:rPr>
                        <a:t>Autonomy level</a:t>
                      </a:r>
                    </a:p>
                  </a:txBody>
                  <a:tcPr>
                    <a:solidFill>
                      <a:srgbClr val="FFFFFF"/>
                    </a:solidFill>
                  </a:tcPr>
                </a:tc>
                <a:tc>
                  <a:txBody>
                    <a:bodyPr/>
                    <a:lstStyle/>
                    <a:p>
                      <a:r>
                        <a:rPr sz="1000">
                          <a:solidFill>
                            <a:srgbClr val="1A1A2E"/>
                          </a:solidFill>
                          <a:latin typeface="Calibri"/>
                        </a:rPr>
                        <a:t>Full agent — plans and executes</a:t>
                      </a:r>
                    </a:p>
                  </a:txBody>
                  <a:tcPr>
                    <a:solidFill>
                      <a:srgbClr val="FFFFFF"/>
                    </a:solidFill>
                  </a:tcPr>
                </a:tc>
                <a:tc>
                  <a:txBody>
                    <a:bodyPr/>
                    <a:lstStyle/>
                    <a:p>
                      <a:r>
                        <a:rPr sz="1000">
                          <a:solidFill>
                            <a:srgbClr val="1A1A2E"/>
                          </a:solidFill>
                          <a:latin typeface="Calibri"/>
                        </a:rPr>
                        <a:t>Copilot — assists and waits</a:t>
                      </a:r>
                    </a:p>
                  </a:txBody>
                  <a:tcPr>
                    <a:solidFill>
                      <a:srgbClr val="FFFFFF"/>
                    </a:solidFill>
                  </a:tcPr>
                </a:tc>
              </a:tr>
              <a:tr h="347472">
                <a:tc>
                  <a:txBody>
                    <a:bodyPr/>
                    <a:lstStyle/>
                    <a:p>
                      <a:r>
                        <a:rPr sz="1000">
                          <a:solidFill>
                            <a:srgbClr val="1A1A2E"/>
                          </a:solidFill>
                          <a:latin typeface="Calibri"/>
                        </a:rPr>
                        <a:t>Best model</a:t>
                      </a:r>
                    </a:p>
                  </a:txBody>
                  <a:tcPr>
                    <a:solidFill>
                      <a:srgbClr val="F8F9FF"/>
                    </a:solidFill>
                  </a:tcPr>
                </a:tc>
                <a:tc>
                  <a:txBody>
                    <a:bodyPr/>
                    <a:lstStyle/>
                    <a:p>
                      <a:r>
                        <a:rPr sz="1000">
                          <a:solidFill>
                            <a:srgbClr val="1A1A2E"/>
                          </a:solidFill>
                          <a:latin typeface="Calibri"/>
                        </a:rPr>
                        <a:t>Claude 3.7 Sonnet (coding benchmark leader)</a:t>
                      </a:r>
                    </a:p>
                  </a:txBody>
                  <a:tcPr>
                    <a:solidFill>
                      <a:srgbClr val="F8F9FF"/>
                    </a:solidFill>
                  </a:tcPr>
                </a:tc>
                <a:tc>
                  <a:txBody>
                    <a:bodyPr/>
                    <a:lstStyle/>
                    <a:p>
                      <a:r>
                        <a:rPr sz="1000">
                          <a:solidFill>
                            <a:srgbClr val="1A1A2E"/>
                          </a:solidFill>
                          <a:latin typeface="Calibri"/>
                        </a:rPr>
                        <a:t>Varies by tool</a:t>
                      </a:r>
                    </a:p>
                  </a:txBody>
                  <a:tcPr>
                    <a:solidFill>
                      <a:srgbClr val="F8F9FF"/>
                    </a:solidFill>
                  </a:tcPr>
                </a:tc>
              </a:tr>
            </a:tbl>
          </a:graphicData>
        </a:graphic>
      </p:graphicFrame>
      <p:sp>
        <p:nvSpPr>
          <p:cNvPr id="10" name="TextBox 9"/>
          <p:cNvSpPr txBox="1"/>
          <p:nvPr/>
        </p:nvSpPr>
        <p:spPr>
          <a:xfrm>
            <a:off x="457200" y="414223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How it works in practice:</a:t>
            </a:r>
          </a:p>
        </p:txBody>
      </p:sp>
      <p:sp>
        <p:nvSpPr>
          <p:cNvPr id="11" name="Rectangle 10"/>
          <p:cNvSpPr/>
          <p:nvPr/>
        </p:nvSpPr>
        <p:spPr>
          <a:xfrm>
            <a:off x="457200" y="4416552"/>
            <a:ext cx="11277295" cy="99669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507992"/>
            <a:ext cx="11002975" cy="813816"/>
          </a:xfrm>
          <a:prstGeom prst="rect">
            <a:avLst/>
          </a:prstGeom>
          <a:noFill/>
        </p:spPr>
        <p:txBody>
          <a:bodyPr wrap="none">
            <a:spAutoFit/>
          </a:bodyPr>
          <a:lstStyle/>
          <a:p>
            <a:r>
              <a:rPr sz="900">
                <a:solidFill>
                  <a:srgbClr val="E2E8F0"/>
                </a:solidFill>
                <a:latin typeface="Courier New"/>
              </a:rPr>
              <a:t>npm install -g @anthropic-ai/claude-code   # install once</a:t>
            </a:r>
          </a:p>
          <a:p>
            <a:r>
              <a:rPr sz="900">
                <a:solidFill>
                  <a:srgbClr val="E2E8F0"/>
                </a:solidFill>
                <a:latin typeface="Courier New"/>
              </a:rPr>
              <a:t>cd my-project                              # go to your project</a:t>
            </a:r>
          </a:p>
          <a:p>
            <a:r>
              <a:rPr sz="900">
                <a:solidFill>
                  <a:srgbClr val="E2E8F0"/>
                </a:solidFill>
                <a:latin typeface="Courier New"/>
              </a:rPr>
              <a:t>claude                                     # launch the agent</a:t>
            </a:r>
          </a:p>
        </p:txBody>
      </p:sp>
      <p:sp>
        <p:nvSpPr>
          <p:cNvPr id="13" name="TextBox 12"/>
          <p:cNvSpPr txBox="1"/>
          <p:nvPr/>
        </p:nvSpPr>
        <p:spPr>
          <a:xfrm>
            <a:off x="457200" y="5522976"/>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Real task examples Claude Code completes autonomously:</a:t>
            </a:r>
          </a:p>
          <a:p>
            <a:pPr>
              <a:spcBef>
                <a:spcPts val="200"/>
              </a:spcBef>
              <a:spcAft>
                <a:spcPts val="100"/>
              </a:spcAft>
            </a:pPr>
            <a:r>
              <a:rPr sz="1300">
                <a:solidFill>
                  <a:srgbClr val="0EA5E9"/>
                </a:solidFill>
                <a:latin typeface="Calibri"/>
              </a:rPr>
              <a:t>• </a:t>
            </a:r>
            <a:r>
              <a:rPr sz="1300" b="0">
                <a:solidFill>
                  <a:srgbClr val="1A1A2E"/>
                </a:solidFill>
                <a:latin typeface="Calibri"/>
              </a:rPr>
              <a:t>"Add error handling and retry logic to all API calls in the src/api/ directory"</a:t>
            </a:r>
          </a:p>
          <a:p>
            <a:pPr>
              <a:spcBef>
                <a:spcPts val="200"/>
              </a:spcBef>
              <a:spcAft>
                <a:spcPts val="100"/>
              </a:spcAft>
            </a:pPr>
            <a:r>
              <a:rPr sz="1300">
                <a:solidFill>
                  <a:srgbClr val="0EA5E9"/>
                </a:solidFill>
                <a:latin typeface="Calibri"/>
              </a:rPr>
              <a:t>• </a:t>
            </a:r>
            <a:r>
              <a:rPr sz="1300" b="0">
                <a:solidFill>
                  <a:srgbClr val="1A1A2E"/>
                </a:solidFill>
                <a:latin typeface="Calibri"/>
              </a:rPr>
              <a:t>"Write pytest unit tests for the UserService class, covering edge cases"</a:t>
            </a:r>
          </a:p>
          <a:p>
            <a:pPr>
              <a:spcBef>
                <a:spcPts val="200"/>
              </a:spcBef>
              <a:spcAft>
                <a:spcPts val="100"/>
              </a:spcAft>
            </a:pPr>
            <a:r>
              <a:rPr sz="1300">
                <a:solidFill>
                  <a:srgbClr val="0EA5E9"/>
                </a:solidFill>
                <a:latin typeface="Calibri"/>
              </a:rPr>
              <a:t>• </a:t>
            </a:r>
            <a:r>
              <a:rPr sz="1300" b="0">
                <a:solidFill>
                  <a:srgbClr val="1A1A2E"/>
                </a:solidFill>
                <a:latin typeface="Calibri"/>
              </a:rPr>
              <a:t>"Refactor the authentication module to use JWT tokens instead of session cookies"</a:t>
            </a:r>
          </a:p>
          <a:p>
            <a:pPr>
              <a:spcBef>
                <a:spcPts val="200"/>
              </a:spcBef>
              <a:spcAft>
                <a:spcPts val="100"/>
              </a:spcAft>
            </a:pPr>
            <a:r>
              <a:rPr sz="1300">
                <a:solidFill>
                  <a:srgbClr val="0EA5E9"/>
                </a:solidFill>
                <a:latin typeface="Calibri"/>
              </a:rPr>
              <a:t>• </a:t>
            </a:r>
            <a:r>
              <a:rPr sz="1300" b="0">
                <a:solidFill>
                  <a:srgbClr val="1A1A2E"/>
                </a:solidFill>
                <a:latin typeface="Calibri"/>
              </a:rPr>
              <a:t>"There's a bug in checkout.py — the discount isn't applied when cart &gt; $500. Fix it."</a:t>
            </a:r>
          </a:p>
          <a:p>
            <a:pPr>
              <a:spcBef>
                <a:spcPts val="200"/>
              </a:spcBef>
              <a:spcAft>
                <a:spcPts val="100"/>
              </a:spcAft>
            </a:pPr>
            <a:r>
              <a:rPr sz="1300">
                <a:solidFill>
                  <a:srgbClr val="0EA5E9"/>
                </a:solidFill>
                <a:latin typeface="Calibri"/>
              </a:rPr>
              <a:t>• </a:t>
            </a:r>
            <a:r>
              <a:rPr sz="1300" b="0">
                <a:solidFill>
                  <a:srgbClr val="1A1A2E"/>
                </a:solidFill>
                <a:latin typeface="Calibri"/>
              </a:rPr>
              <a:t>"Explain what this 800-line legacy function does and add inline documentation"</a:t>
            </a:r>
          </a:p>
          <a:p>
            <a:pPr>
              <a:spcBef>
                <a:spcPts val="200"/>
              </a:spcBef>
              <a:spcAft>
                <a:spcPts val="100"/>
              </a:spcAft>
            </a:pPr>
            <a:r>
              <a:rPr sz="1200" b="0">
                <a:solidFill>
                  <a:srgbClr val="2D3748"/>
                </a:solidFill>
                <a:latin typeface="Calibri"/>
              </a:rPr>
              <a:t>The agent loop: Reads relevant files → understands context → makes targeted changes → runs your tests → iterates if tests fail → reports when done</a:t>
            </a:r>
          </a:p>
          <a:p>
            <a:pPr>
              <a:spcBef>
                <a:spcPts val="200"/>
              </a:spcBef>
              <a:spcAft>
                <a:spcPts val="100"/>
              </a:spcAft>
            </a:pPr>
            <a:r>
              <a:rPr sz="1200" b="0">
                <a:solidFill>
                  <a:srgbClr val="2D3748"/>
                </a:solidFill>
                <a:latin typeface="Calibri"/>
              </a:rPr>
              <a:t>Pricing: You pay for Claude API tokens. A typical task costs $0.05–$0.50. Complex multi-file refactors run $1–$3. No subscription fee.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Cursor — The AI-Native IDE</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VS Code Rebuilt for AI-Assisted Development</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16</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Why Cursor is the most popular AI coding tool among professional developers (2025–2026):</a:t>
            </a:r>
          </a:p>
          <a:p>
            <a:pPr>
              <a:spcBef>
                <a:spcPts val="200"/>
              </a:spcBef>
              <a:spcAft>
                <a:spcPts val="100"/>
              </a:spcAft>
            </a:pPr>
            <a:r>
              <a:rPr sz="1200" b="0">
                <a:solidFill>
                  <a:srgbClr val="2D3748"/>
                </a:solidFill>
                <a:latin typeface="Calibri"/>
              </a:rPr>
              <a:t>Cursor didn't bolt AI onto an existing editor — they forked VS Code and rebuilt every layer with AI as a core primitive. The AI has access to your full project structure, open files, terminal output, and git history. This context depth is what separates Cursor from plugins.</a:t>
            </a:r>
          </a:p>
          <a:p>
            <a:pPr>
              <a:spcBef>
                <a:spcPts val="200"/>
              </a:spcBef>
              <a:spcAft>
                <a:spcPts val="100"/>
              </a:spcAft>
            </a:pPr>
            <a:r>
              <a:rPr sz="1300" b="1">
                <a:solidFill>
                  <a:srgbClr val="0F3460"/>
                </a:solidFill>
                <a:latin typeface="Calibri"/>
              </a:rPr>
              <a:t>The four features that matter:</a:t>
            </a:r>
          </a:p>
        </p:txBody>
      </p:sp>
      <p:graphicFrame>
        <p:nvGraphicFramePr>
          <p:cNvPr id="9" name="Table 8"/>
          <p:cNvGraphicFramePr>
            <a:graphicFrameLocks noGrp="1"/>
          </p:cNvGraphicFramePr>
          <p:nvPr/>
        </p:nvGraphicFramePr>
        <p:xfrm>
          <a:off x="457200" y="214884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Feature</a:t>
                      </a:r>
                    </a:p>
                  </a:txBody>
                  <a:tcPr>
                    <a:solidFill>
                      <a:srgbClr val="16213E"/>
                    </a:solidFill>
                  </a:tcPr>
                </a:tc>
                <a:tc>
                  <a:txBody>
                    <a:bodyPr/>
                    <a:lstStyle/>
                    <a:p>
                      <a:pPr algn="l"/>
                      <a:r>
                        <a:rPr sz="1100" b="1">
                          <a:solidFill>
                            <a:srgbClr val="FFFFFF"/>
                          </a:solidFill>
                          <a:latin typeface="Calibri"/>
                        </a:rPr>
                        <a:t>How It Works</a:t>
                      </a:r>
                    </a:p>
                  </a:txBody>
                  <a:tcPr>
                    <a:solidFill>
                      <a:srgbClr val="16213E"/>
                    </a:solidFill>
                  </a:tcPr>
                </a:tc>
                <a:tc>
                  <a:txBody>
                    <a:bodyPr/>
                    <a:lstStyle/>
                    <a:p>
                      <a:pPr algn="l"/>
                      <a:r>
                        <a:rPr sz="1100" b="1">
                          <a:solidFill>
                            <a:srgbClr val="FFFFFF"/>
                          </a:solidFill>
                          <a:latin typeface="Calibri"/>
                        </a:rPr>
                        <a:t>What It Unlocks</a:t>
                      </a:r>
                    </a:p>
                  </a:txBody>
                  <a:tcPr>
                    <a:solidFill>
                      <a:srgbClr val="16213E"/>
                    </a:solidFill>
                  </a:tcPr>
                </a:tc>
              </a:tr>
              <a:tr h="347472">
                <a:tc>
                  <a:txBody>
                    <a:bodyPr/>
                    <a:lstStyle/>
                    <a:p>
                      <a:r>
                        <a:rPr sz="1000">
                          <a:solidFill>
                            <a:srgbClr val="1A1A2E"/>
                          </a:solidFill>
                          <a:latin typeface="Calibri"/>
                        </a:rPr>
                        <a:t>Tab Completion</a:t>
                      </a:r>
                    </a:p>
                  </a:txBody>
                  <a:tcPr>
                    <a:solidFill>
                      <a:srgbClr val="FFFFFF"/>
                    </a:solidFill>
                  </a:tcPr>
                </a:tc>
                <a:tc>
                  <a:txBody>
                    <a:bodyPr/>
                    <a:lstStyle/>
                    <a:p>
                      <a:r>
                        <a:rPr sz="1000">
                          <a:solidFill>
                            <a:srgbClr val="1A1A2E"/>
                          </a:solidFill>
                          <a:latin typeface="Calibri"/>
                        </a:rPr>
                        <a:t>Completes entire functions, not just lines. Understands the surrounding code's intent.</a:t>
                      </a:r>
                    </a:p>
                  </a:txBody>
                  <a:tcPr>
                    <a:solidFill>
                      <a:srgbClr val="FFFFFF"/>
                    </a:solidFill>
                  </a:tcPr>
                </a:tc>
                <a:tc>
                  <a:txBody>
                    <a:bodyPr/>
                    <a:lstStyle/>
                    <a:p>
                      <a:r>
                        <a:rPr sz="1000">
                          <a:solidFill>
                            <a:srgbClr val="1A1A2E"/>
                          </a:solidFill>
                          <a:latin typeface="Calibri"/>
                        </a:rPr>
                        <a:t>3–5× faster for function and class writing</a:t>
                      </a:r>
                    </a:p>
                  </a:txBody>
                  <a:tcPr>
                    <a:solidFill>
                      <a:srgbClr val="FFFFFF"/>
                    </a:solidFill>
                  </a:tcPr>
                </a:tc>
              </a:tr>
              <a:tr h="347472">
                <a:tc>
                  <a:txBody>
                    <a:bodyPr/>
                    <a:lstStyle/>
                    <a:p>
                      <a:r>
                        <a:rPr sz="1000">
                          <a:solidFill>
                            <a:srgbClr val="1A1A2E"/>
                          </a:solidFill>
                          <a:latin typeface="Calibri"/>
                        </a:rPr>
                        <a:t>Chat (Ctrl+L)</a:t>
                      </a:r>
                    </a:p>
                  </a:txBody>
                  <a:tcPr>
                    <a:solidFill>
                      <a:srgbClr val="F8F9FF"/>
                    </a:solidFill>
                  </a:tcPr>
                </a:tc>
                <a:tc>
                  <a:txBody>
                    <a:bodyPr/>
                    <a:lstStyle/>
                    <a:p>
                      <a:r>
                        <a:rPr sz="1000">
                          <a:solidFill>
                            <a:srgbClr val="1A1A2E"/>
                          </a:solidFill>
                          <a:latin typeface="Calibri"/>
                        </a:rPr>
                        <a:t>Conversational AI with @-mention context. @UserService pulls that file into context.</a:t>
                      </a:r>
                    </a:p>
                  </a:txBody>
                  <a:tcPr>
                    <a:solidFill>
                      <a:srgbClr val="F8F9FF"/>
                    </a:solidFill>
                  </a:tcPr>
                </a:tc>
                <a:tc>
                  <a:txBody>
                    <a:bodyPr/>
                    <a:lstStyle/>
                    <a:p>
                      <a:r>
                        <a:rPr sz="1000">
                          <a:solidFill>
                            <a:srgbClr val="1A1A2E"/>
                          </a:solidFill>
                          <a:latin typeface="Calibri"/>
                        </a:rPr>
                        <a:t>Navigate and understand large codebases instantly</a:t>
                      </a:r>
                    </a:p>
                  </a:txBody>
                  <a:tcPr>
                    <a:solidFill>
                      <a:srgbClr val="F8F9FF"/>
                    </a:solidFill>
                  </a:tcPr>
                </a:tc>
              </a:tr>
              <a:tr h="347472">
                <a:tc>
                  <a:txBody>
                    <a:bodyPr/>
                    <a:lstStyle/>
                    <a:p>
                      <a:r>
                        <a:rPr sz="1000">
                          <a:solidFill>
                            <a:srgbClr val="1A1A2E"/>
                          </a:solidFill>
                          <a:latin typeface="Calibri"/>
                        </a:rPr>
                        <a:t>Composer / Agent Mode</a:t>
                      </a:r>
                    </a:p>
                  </a:txBody>
                  <a:tcPr>
                    <a:solidFill>
                      <a:srgbClr val="FFFFFF"/>
                    </a:solidFill>
                  </a:tcPr>
                </a:tc>
                <a:tc>
                  <a:txBody>
                    <a:bodyPr/>
                    <a:lstStyle/>
                    <a:p>
                      <a:r>
                        <a:rPr sz="1000">
                          <a:solidFill>
                            <a:srgbClr val="1A1A2E"/>
                          </a:solidFill>
                          <a:latin typeface="Calibri"/>
                        </a:rPr>
                        <a:t>Give a task, not a line. Plans, writes, runs terminal commands, iterates.</a:t>
                      </a:r>
                    </a:p>
                  </a:txBody>
                  <a:tcPr>
                    <a:solidFill>
                      <a:srgbClr val="FFFFFF"/>
                    </a:solidFill>
                  </a:tcPr>
                </a:tc>
                <a:tc>
                  <a:txBody>
                    <a:bodyPr/>
                    <a:lstStyle/>
                    <a:p>
                      <a:r>
                        <a:rPr sz="1000">
                          <a:solidFill>
                            <a:srgbClr val="1A1A2E"/>
                          </a:solidFill>
                          <a:latin typeface="Calibri"/>
                        </a:rPr>
                        <a:t>Autonomous multi-file implementation</a:t>
                      </a:r>
                    </a:p>
                  </a:txBody>
                  <a:tcPr>
                    <a:solidFill>
                      <a:srgbClr val="FFFFFF"/>
                    </a:solidFill>
                  </a:tcPr>
                </a:tc>
              </a:tr>
              <a:tr h="347472">
                <a:tc>
                  <a:txBody>
                    <a:bodyPr/>
                    <a:lstStyle/>
                    <a:p>
                      <a:r>
                        <a:rPr sz="1000">
                          <a:solidFill>
                            <a:srgbClr val="1A1A2E"/>
                          </a:solidFill>
                          <a:latin typeface="Calibri"/>
                        </a:rPr>
                        <a:t>Cursor Rules</a:t>
                      </a:r>
                    </a:p>
                  </a:txBody>
                  <a:tcPr>
                    <a:solidFill>
                      <a:srgbClr val="F8F9FF"/>
                    </a:solidFill>
                  </a:tcPr>
                </a:tc>
                <a:tc>
                  <a:txBody>
                    <a:bodyPr/>
                    <a:lstStyle/>
                    <a:p>
                      <a:r>
                        <a:rPr sz="1000">
                          <a:solidFill>
                            <a:srgbClr val="1A1A2E"/>
                          </a:solidFill>
                          <a:latin typeface="Calibri"/>
                        </a:rPr>
                        <a:t>Project-level instructions: style guides, conventions, framework choices, test requirements.</a:t>
                      </a:r>
                    </a:p>
                  </a:txBody>
                  <a:tcPr>
                    <a:solidFill>
                      <a:srgbClr val="F8F9FF"/>
                    </a:solidFill>
                  </a:tcPr>
                </a:tc>
                <a:tc>
                  <a:txBody>
                    <a:bodyPr/>
                    <a:lstStyle/>
                    <a:p>
                      <a:r>
                        <a:rPr sz="1000">
                          <a:solidFill>
                            <a:srgbClr val="1A1A2E"/>
                          </a:solidFill>
                          <a:latin typeface="Calibri"/>
                        </a:rPr>
                        <a:t>Consistent AI behavior across your whole team</a:t>
                      </a:r>
                    </a:p>
                  </a:txBody>
                  <a:tcPr>
                    <a:solidFill>
                      <a:srgbClr val="F8F9FF"/>
                    </a:solidFill>
                  </a:tcPr>
                </a:tc>
              </a:tr>
            </a:tbl>
          </a:graphicData>
        </a:graphic>
      </p:graphicFrame>
      <p:sp>
        <p:nvSpPr>
          <p:cNvPr id="10" name="TextBox 9"/>
          <p:cNvSpPr txBox="1"/>
          <p:nvPr/>
        </p:nvSpPr>
        <p:spPr>
          <a:xfrm>
            <a:off x="457200" y="3995928"/>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Pricing tiers:</a:t>
            </a:r>
          </a:p>
        </p:txBody>
      </p:sp>
      <p:graphicFrame>
        <p:nvGraphicFramePr>
          <p:cNvPr id="11" name="Table 10"/>
          <p:cNvGraphicFramePr>
            <a:graphicFrameLocks noGrp="1"/>
          </p:cNvGraphicFramePr>
          <p:nvPr/>
        </p:nvGraphicFramePr>
        <p:xfrm>
          <a:off x="457200" y="4270248"/>
          <a:ext cx="11277295" cy="1389888"/>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algn="l"/>
                      <a:r>
                        <a:rPr sz="1100" b="1">
                          <a:solidFill>
                            <a:srgbClr val="FFFFFF"/>
                          </a:solidFill>
                          <a:latin typeface="Calibri"/>
                        </a:rPr>
                        <a:t>Plan</a:t>
                      </a:r>
                    </a:p>
                  </a:txBody>
                  <a:tcPr>
                    <a:solidFill>
                      <a:srgbClr val="16213E"/>
                    </a:solidFill>
                  </a:tcPr>
                </a:tc>
                <a:tc>
                  <a:txBody>
                    <a:bodyPr/>
                    <a:lstStyle/>
                    <a:p>
                      <a:pPr algn="l"/>
                      <a:r>
                        <a:rPr sz="1100" b="1">
                          <a:solidFill>
                            <a:srgbClr val="FFFFFF"/>
                          </a:solidFill>
                          <a:latin typeface="Calibri"/>
                        </a:rPr>
                        <a:t>Completions</a:t>
                      </a:r>
                    </a:p>
                  </a:txBody>
                  <a:tcPr>
                    <a:solidFill>
                      <a:srgbClr val="16213E"/>
                    </a:solidFill>
                  </a:tcPr>
                </a:tc>
                <a:tc>
                  <a:txBody>
                    <a:bodyPr/>
                    <a:lstStyle/>
                    <a:p>
                      <a:pPr algn="l"/>
                      <a:r>
                        <a:rPr sz="1100" b="1">
                          <a:solidFill>
                            <a:srgbClr val="FFFFFF"/>
                          </a:solidFill>
                          <a:latin typeface="Calibri"/>
                        </a:rPr>
                        <a:t>Models</a:t>
                      </a:r>
                    </a:p>
                  </a:txBody>
                  <a:tcPr>
                    <a:solidFill>
                      <a:srgbClr val="16213E"/>
                    </a:solidFill>
                  </a:tcPr>
                </a:tc>
                <a:tc>
                  <a:txBody>
                    <a:bodyPr/>
                    <a:lstStyle/>
                    <a:p>
                      <a:pPr algn="l"/>
                      <a:r>
                        <a:rPr sz="1100" b="1">
                          <a:solidFill>
                            <a:srgbClr val="FFFFFF"/>
                          </a:solidFill>
                          <a:latin typeface="Calibri"/>
                        </a:rPr>
                        <a:t>Best For</a:t>
                      </a:r>
                    </a:p>
                  </a:txBody>
                  <a:tcPr>
                    <a:solidFill>
                      <a:srgbClr val="16213E"/>
                    </a:solidFill>
                  </a:tcPr>
                </a:tc>
              </a:tr>
              <a:tr h="347472">
                <a:tc>
                  <a:txBody>
                    <a:bodyPr/>
                    <a:lstStyle/>
                    <a:p>
                      <a:r>
                        <a:rPr sz="1000">
                          <a:solidFill>
                            <a:srgbClr val="1A1A2E"/>
                          </a:solidFill>
                          <a:latin typeface="Calibri"/>
                        </a:rPr>
                        <a:t>Free</a:t>
                      </a:r>
                    </a:p>
                  </a:txBody>
                  <a:tcPr>
                    <a:solidFill>
                      <a:srgbClr val="FFFFFF"/>
                    </a:solidFill>
                  </a:tcPr>
                </a:tc>
                <a:tc>
                  <a:txBody>
                    <a:bodyPr/>
                    <a:lstStyle/>
                    <a:p>
                      <a:r>
                        <a:rPr sz="1000">
                          <a:solidFill>
                            <a:srgbClr val="1A1A2E"/>
                          </a:solidFill>
                          <a:latin typeface="Calibri"/>
                        </a:rPr>
                        <a:t>2,000/month, limited chat</a:t>
                      </a:r>
                    </a:p>
                  </a:txBody>
                  <a:tcPr>
                    <a:solidFill>
                      <a:srgbClr val="FFFFFF"/>
                    </a:solidFill>
                  </a:tcPr>
                </a:tc>
                <a:tc>
                  <a:txBody>
                    <a:bodyPr/>
                    <a:lstStyle/>
                    <a:p>
                      <a:r>
                        <a:rPr sz="1000">
                          <a:solidFill>
                            <a:srgbClr val="1A1A2E"/>
                          </a:solidFill>
                          <a:latin typeface="Calibri"/>
                        </a:rPr>
                        <a:t>Cursor-mini</a:t>
                      </a:r>
                    </a:p>
                  </a:txBody>
                  <a:tcPr>
                    <a:solidFill>
                      <a:srgbClr val="FFFFFF"/>
                    </a:solidFill>
                  </a:tcPr>
                </a:tc>
                <a:tc>
                  <a:txBody>
                    <a:bodyPr/>
                    <a:lstStyle/>
                    <a:p>
                      <a:r>
                        <a:rPr sz="1000">
                          <a:solidFill>
                            <a:srgbClr val="1A1A2E"/>
                          </a:solidFill>
                          <a:latin typeface="Calibri"/>
                        </a:rPr>
                        <a:t>Trying it out</a:t>
                      </a:r>
                    </a:p>
                  </a:txBody>
                  <a:tcPr>
                    <a:solidFill>
                      <a:srgbClr val="FFFFFF"/>
                    </a:solidFill>
                  </a:tcPr>
                </a:tc>
              </a:tr>
              <a:tr h="347472">
                <a:tc>
                  <a:txBody>
                    <a:bodyPr/>
                    <a:lstStyle/>
                    <a:p>
                      <a:r>
                        <a:rPr sz="1000">
                          <a:solidFill>
                            <a:srgbClr val="1A1A2E"/>
                          </a:solidFill>
                          <a:latin typeface="Calibri"/>
                        </a:rPr>
                        <a:t>Pro ($20/mo)</a:t>
                      </a:r>
                    </a:p>
                  </a:txBody>
                  <a:tcPr>
                    <a:solidFill>
                      <a:srgbClr val="F8F9FF"/>
                    </a:solidFill>
                  </a:tcPr>
                </a:tc>
                <a:tc>
                  <a:txBody>
                    <a:bodyPr/>
                    <a:lstStyle/>
                    <a:p>
                      <a:r>
                        <a:rPr sz="1000">
                          <a:solidFill>
                            <a:srgbClr val="1A1A2E"/>
                          </a:solidFill>
                          <a:latin typeface="Calibri"/>
                        </a:rPr>
                        <a:t>Unlimited</a:t>
                      </a:r>
                    </a:p>
                  </a:txBody>
                  <a:tcPr>
                    <a:solidFill>
                      <a:srgbClr val="F8F9FF"/>
                    </a:solidFill>
                  </a:tcPr>
                </a:tc>
                <a:tc>
                  <a:txBody>
                    <a:bodyPr/>
                    <a:lstStyle/>
                    <a:p>
                      <a:r>
                        <a:rPr sz="1000">
                          <a:solidFill>
                            <a:srgbClr val="1A1A2E"/>
                          </a:solidFill>
                          <a:latin typeface="Calibri"/>
                        </a:rPr>
                        <a:t>GPT-4o, Claude 3.7, Gemini 2.5</a:t>
                      </a:r>
                    </a:p>
                  </a:txBody>
                  <a:tcPr>
                    <a:solidFill>
                      <a:srgbClr val="F8F9FF"/>
                    </a:solidFill>
                  </a:tcPr>
                </a:tc>
                <a:tc>
                  <a:txBody>
                    <a:bodyPr/>
                    <a:lstStyle/>
                    <a:p>
                      <a:r>
                        <a:rPr sz="1000">
                          <a:solidFill>
                            <a:srgbClr val="1A1A2E"/>
                          </a:solidFill>
                          <a:latin typeface="Calibri"/>
                        </a:rPr>
                        <a:t>Daily professional use</a:t>
                      </a:r>
                    </a:p>
                  </a:txBody>
                  <a:tcPr>
                    <a:solidFill>
                      <a:srgbClr val="F8F9FF"/>
                    </a:solidFill>
                  </a:tcPr>
                </a:tc>
              </a:tr>
              <a:tr h="347472">
                <a:tc>
                  <a:txBody>
                    <a:bodyPr/>
                    <a:lstStyle/>
                    <a:p>
                      <a:r>
                        <a:rPr sz="1000">
                          <a:solidFill>
                            <a:srgbClr val="1A1A2E"/>
                          </a:solidFill>
                          <a:latin typeface="Calibri"/>
                        </a:rPr>
                        <a:t>Business ($40/user/mo)</a:t>
                      </a:r>
                    </a:p>
                  </a:txBody>
                  <a:tcPr>
                    <a:solidFill>
                      <a:srgbClr val="FFFFFF"/>
                    </a:solidFill>
                  </a:tcPr>
                </a:tc>
                <a:tc>
                  <a:txBody>
                    <a:bodyPr/>
                    <a:lstStyle/>
                    <a:p>
                      <a:r>
                        <a:rPr sz="1000">
                          <a:solidFill>
                            <a:srgbClr val="1A1A2E"/>
                          </a:solidFill>
                          <a:latin typeface="Calibri"/>
                        </a:rPr>
                        <a:t>Unlimited</a:t>
                      </a:r>
                    </a:p>
                  </a:txBody>
                  <a:tcPr>
                    <a:solidFill>
                      <a:srgbClr val="FFFFFF"/>
                    </a:solidFill>
                  </a:tcPr>
                </a:tc>
                <a:tc>
                  <a:txBody>
                    <a:bodyPr/>
                    <a:lstStyle/>
                    <a:p>
                      <a:r>
                        <a:rPr sz="1000">
                          <a:solidFill>
                            <a:srgbClr val="1A1A2E"/>
                          </a:solidFill>
                          <a:latin typeface="Calibri"/>
                        </a:rPr>
                        <a:t>All models + priority</a:t>
                      </a:r>
                    </a:p>
                  </a:txBody>
                  <a:tcPr>
                    <a:solidFill>
                      <a:srgbClr val="FFFFFF"/>
                    </a:solidFill>
                  </a:tcPr>
                </a:tc>
                <a:tc>
                  <a:txBody>
                    <a:bodyPr/>
                    <a:lstStyle/>
                    <a:p>
                      <a:r>
                        <a:rPr sz="1000">
                          <a:solidFill>
                            <a:srgbClr val="1A1A2E"/>
                          </a:solidFill>
                          <a:latin typeface="Calibri"/>
                        </a:rPr>
                        <a:t>Teams with shared rules and admin controls</a:t>
                      </a:r>
                    </a:p>
                  </a:txBody>
                  <a:tcPr>
                    <a:solidFill>
                      <a:srgbClr val="FFFFFF"/>
                    </a:solidFill>
                  </a:tcPr>
                </a:tc>
              </a:tr>
            </a:tbl>
          </a:graphicData>
        </a:graphic>
      </p:graphicFrame>
      <p:sp>
        <p:nvSpPr>
          <p:cNvPr id="12" name="TextBox 11"/>
          <p:cNvSpPr txBox="1"/>
          <p:nvPr/>
        </p:nvSpPr>
        <p:spPr>
          <a:xfrm>
            <a:off x="457200" y="5769864"/>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Student recommendation: Pro at $20/month. If you write Python for data work, this pays for itself in the first hour of 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Windsurf — The Cascade Agent</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Long-Horizon Autonomous Coding</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17</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Windsurf, built by Codeium, launched in late 2024 with a different philosophy than Cursor: instead of optimizing for how fast you can type, optimize for how complex a task AI can complete without you touching the keyboard.</a:t>
            </a:r>
          </a:p>
          <a:p>
            <a:pPr>
              <a:spcBef>
                <a:spcPts val="200"/>
              </a:spcBef>
              <a:spcAft>
                <a:spcPts val="100"/>
              </a:spcAft>
            </a:pPr>
            <a:r>
              <a:rPr sz="1300" b="1">
                <a:solidFill>
                  <a:srgbClr val="0F3460"/>
                </a:solidFill>
                <a:latin typeface="Calibri"/>
              </a:rPr>
              <a:t>The Cascade Agent — what makes it distinct:</a:t>
            </a:r>
          </a:p>
          <a:p>
            <a:pPr>
              <a:spcBef>
                <a:spcPts val="200"/>
              </a:spcBef>
              <a:spcAft>
                <a:spcPts val="100"/>
              </a:spcAft>
            </a:pPr>
            <a:r>
              <a:rPr sz="1300">
                <a:solidFill>
                  <a:srgbClr val="0EA5E9"/>
                </a:solidFill>
                <a:latin typeface="Calibri"/>
              </a:rPr>
              <a:t>• </a:t>
            </a:r>
            <a:r>
              <a:rPr sz="1300" b="0">
                <a:solidFill>
                  <a:srgbClr val="1A1A2E"/>
                </a:solidFill>
                <a:latin typeface="Calibri"/>
              </a:rPr>
              <a:t>Maintains a coherent understanding of the whole goal across many steps — not just the current task</a:t>
            </a:r>
          </a:p>
          <a:p>
            <a:pPr>
              <a:spcBef>
                <a:spcPts val="200"/>
              </a:spcBef>
              <a:spcAft>
                <a:spcPts val="100"/>
              </a:spcAft>
            </a:pPr>
            <a:r>
              <a:rPr sz="1300">
                <a:solidFill>
                  <a:srgbClr val="0EA5E9"/>
                </a:solidFill>
                <a:latin typeface="Calibri"/>
              </a:rPr>
              <a:t>• </a:t>
            </a:r>
            <a:r>
              <a:rPr sz="1300" b="0">
                <a:solidFill>
                  <a:srgbClr val="1A1A2E"/>
                </a:solidFill>
                <a:latin typeface="Calibri"/>
              </a:rPr>
              <a:t>Decisions made in step 10 are consistent with decisions made in step 2</a:t>
            </a:r>
          </a:p>
          <a:p>
            <a:pPr>
              <a:spcBef>
                <a:spcPts val="200"/>
              </a:spcBef>
              <a:spcAft>
                <a:spcPts val="100"/>
              </a:spcAft>
            </a:pPr>
            <a:r>
              <a:rPr sz="1300">
                <a:solidFill>
                  <a:srgbClr val="0EA5E9"/>
                </a:solidFill>
                <a:latin typeface="Calibri"/>
              </a:rPr>
              <a:t>• </a:t>
            </a:r>
            <a:r>
              <a:rPr sz="1300" b="0">
                <a:solidFill>
                  <a:srgbClr val="1A1A2E"/>
                </a:solidFill>
                <a:latin typeface="Calibri"/>
              </a:rPr>
              <a:t>Rewrites across many files stay architecturally consistent</a:t>
            </a:r>
          </a:p>
          <a:p>
            <a:pPr>
              <a:spcBef>
                <a:spcPts val="200"/>
              </a:spcBef>
              <a:spcAft>
                <a:spcPts val="100"/>
              </a:spcAft>
            </a:pPr>
            <a:r>
              <a:rPr sz="1300">
                <a:solidFill>
                  <a:srgbClr val="0EA5E9"/>
                </a:solidFill>
                <a:latin typeface="Calibri"/>
              </a:rPr>
              <a:t>• </a:t>
            </a:r>
            <a:r>
              <a:rPr sz="1300" b="0">
                <a:solidFill>
                  <a:srgbClr val="1A1A2E"/>
                </a:solidFill>
                <a:latin typeface="Calibri"/>
              </a:rPr>
              <a:t>Better at greenfield builds (starting from scratch) than at incremental edits to existing code</a:t>
            </a:r>
          </a:p>
          <a:p>
            <a:pPr>
              <a:spcBef>
                <a:spcPts val="200"/>
              </a:spcBef>
              <a:spcAft>
                <a:spcPts val="100"/>
              </a:spcAft>
            </a:pPr>
            <a:r>
              <a:rPr sz="1300" b="1">
                <a:solidFill>
                  <a:srgbClr val="0F3460"/>
                </a:solidFill>
                <a:latin typeface="Calibri"/>
              </a:rPr>
              <a:t>Feature comparison:</a:t>
            </a:r>
          </a:p>
        </p:txBody>
      </p:sp>
      <p:graphicFrame>
        <p:nvGraphicFramePr>
          <p:cNvPr id="9" name="Table 8"/>
          <p:cNvGraphicFramePr>
            <a:graphicFrameLocks noGrp="1"/>
          </p:cNvGraphicFramePr>
          <p:nvPr/>
        </p:nvGraphicFramePr>
        <p:xfrm>
          <a:off x="457200" y="3246120"/>
          <a:ext cx="11277295" cy="2779776"/>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Feature</a:t>
                      </a:r>
                    </a:p>
                  </a:txBody>
                  <a:tcPr>
                    <a:solidFill>
                      <a:srgbClr val="16213E"/>
                    </a:solidFill>
                  </a:tcPr>
                </a:tc>
                <a:tc>
                  <a:txBody>
                    <a:bodyPr/>
                    <a:lstStyle/>
                    <a:p>
                      <a:pPr algn="l"/>
                      <a:r>
                        <a:rPr sz="1100" b="1">
                          <a:solidFill>
                            <a:srgbClr val="FFFFFF"/>
                          </a:solidFill>
                          <a:latin typeface="Calibri"/>
                        </a:rPr>
                        <a:t>Cursor</a:t>
                      </a:r>
                    </a:p>
                  </a:txBody>
                  <a:tcPr>
                    <a:solidFill>
                      <a:srgbClr val="16213E"/>
                    </a:solidFill>
                  </a:tcPr>
                </a:tc>
                <a:tc>
                  <a:txBody>
                    <a:bodyPr/>
                    <a:lstStyle/>
                    <a:p>
                      <a:pPr algn="l"/>
                      <a:r>
                        <a:rPr sz="1100" b="1">
                          <a:solidFill>
                            <a:srgbClr val="FFFFFF"/>
                          </a:solidFill>
                          <a:latin typeface="Calibri"/>
                        </a:rPr>
                        <a:t>Windsurf</a:t>
                      </a:r>
                    </a:p>
                  </a:txBody>
                  <a:tcPr>
                    <a:solidFill>
                      <a:srgbClr val="16213E"/>
                    </a:solidFill>
                  </a:tcPr>
                </a:tc>
              </a:tr>
              <a:tr h="347472">
                <a:tc>
                  <a:txBody>
                    <a:bodyPr/>
                    <a:lstStyle/>
                    <a:p>
                      <a:r>
                        <a:rPr sz="1000">
                          <a:solidFill>
                            <a:srgbClr val="1A1A2E"/>
                          </a:solidFill>
                          <a:latin typeface="Calibri"/>
                        </a:rPr>
                        <a:t>Base editor</a:t>
                      </a:r>
                    </a:p>
                  </a:txBody>
                  <a:tcPr>
                    <a:solidFill>
                      <a:srgbClr val="FFFFFF"/>
                    </a:solidFill>
                  </a:tcPr>
                </a:tc>
                <a:tc>
                  <a:txBody>
                    <a:bodyPr/>
                    <a:lstStyle/>
                    <a:p>
                      <a:r>
                        <a:rPr sz="1000">
                          <a:solidFill>
                            <a:srgbClr val="1A1A2E"/>
                          </a:solidFill>
                          <a:latin typeface="Calibri"/>
                        </a:rPr>
                        <a:t>VS Code fork</a:t>
                      </a:r>
                    </a:p>
                  </a:txBody>
                  <a:tcPr>
                    <a:solidFill>
                      <a:srgbClr val="FFFFFF"/>
                    </a:solidFill>
                  </a:tcPr>
                </a:tc>
                <a:tc>
                  <a:txBody>
                    <a:bodyPr/>
                    <a:lstStyle/>
                    <a:p>
                      <a:r>
                        <a:rPr sz="1000">
                          <a:solidFill>
                            <a:srgbClr val="1A1A2E"/>
                          </a:solidFill>
                          <a:latin typeface="Calibri"/>
                        </a:rPr>
                        <a:t>VS Code fork</a:t>
                      </a:r>
                    </a:p>
                  </a:txBody>
                  <a:tcPr>
                    <a:solidFill>
                      <a:srgbClr val="FFFFFF"/>
                    </a:solidFill>
                  </a:tcPr>
                </a:tc>
              </a:tr>
              <a:tr h="347472">
                <a:tc>
                  <a:txBody>
                    <a:bodyPr/>
                    <a:lstStyle/>
                    <a:p>
                      <a:r>
                        <a:rPr sz="1000">
                          <a:solidFill>
                            <a:srgbClr val="1A1A2E"/>
                          </a:solidFill>
                          <a:latin typeface="Calibri"/>
                        </a:rPr>
                        <a:t>Agent name</a:t>
                      </a:r>
                    </a:p>
                  </a:txBody>
                  <a:tcPr>
                    <a:solidFill>
                      <a:srgbClr val="F8F9FF"/>
                    </a:solidFill>
                  </a:tcPr>
                </a:tc>
                <a:tc>
                  <a:txBody>
                    <a:bodyPr/>
                    <a:lstStyle/>
                    <a:p>
                      <a:r>
                        <a:rPr sz="1000">
                          <a:solidFill>
                            <a:srgbClr val="1A1A2E"/>
                          </a:solidFill>
                          <a:latin typeface="Calibri"/>
                        </a:rPr>
                        <a:t>Composer</a:t>
                      </a:r>
                    </a:p>
                  </a:txBody>
                  <a:tcPr>
                    <a:solidFill>
                      <a:srgbClr val="F8F9FF"/>
                    </a:solidFill>
                  </a:tcPr>
                </a:tc>
                <a:tc>
                  <a:txBody>
                    <a:bodyPr/>
                    <a:lstStyle/>
                    <a:p>
                      <a:r>
                        <a:rPr sz="1000">
                          <a:solidFill>
                            <a:srgbClr val="1A1A2E"/>
                          </a:solidFill>
                          <a:latin typeface="Calibri"/>
                        </a:rPr>
                        <a:t>Cascade</a:t>
                      </a:r>
                    </a:p>
                  </a:txBody>
                  <a:tcPr>
                    <a:solidFill>
                      <a:srgbClr val="F8F9FF"/>
                    </a:solidFill>
                  </a:tcPr>
                </a:tc>
              </a:tr>
              <a:tr h="347472">
                <a:tc>
                  <a:txBody>
                    <a:bodyPr/>
                    <a:lstStyle/>
                    <a:p>
                      <a:r>
                        <a:rPr sz="1000">
                          <a:solidFill>
                            <a:srgbClr val="1A1A2E"/>
                          </a:solidFill>
                          <a:latin typeface="Calibri"/>
                        </a:rPr>
                        <a:t>Model options</a:t>
                      </a:r>
                    </a:p>
                  </a:txBody>
                  <a:tcPr>
                    <a:solidFill>
                      <a:srgbClr val="FFFFFF"/>
                    </a:solidFill>
                  </a:tcPr>
                </a:tc>
                <a:tc>
                  <a:txBody>
                    <a:bodyPr/>
                    <a:lstStyle/>
                    <a:p>
                      <a:r>
                        <a:rPr sz="1000">
                          <a:solidFill>
                            <a:srgbClr val="1A1A2E"/>
                          </a:solidFill>
                          <a:latin typeface="Calibri"/>
                        </a:rPr>
                        <a:t>GPT-4o, Claude 3.7, Gemini</a:t>
                      </a:r>
                    </a:p>
                  </a:txBody>
                  <a:tcPr>
                    <a:solidFill>
                      <a:srgbClr val="FFFFFF"/>
                    </a:solidFill>
                  </a:tcPr>
                </a:tc>
                <a:tc>
                  <a:txBody>
                    <a:bodyPr/>
                    <a:lstStyle/>
                    <a:p>
                      <a:r>
                        <a:rPr sz="1000">
                          <a:solidFill>
                            <a:srgbClr val="1A1A2E"/>
                          </a:solidFill>
                          <a:latin typeface="Calibri"/>
                        </a:rPr>
                        <a:t>Claude 3.7, GPT-4o, Gemini</a:t>
                      </a:r>
                    </a:p>
                  </a:txBody>
                  <a:tcPr>
                    <a:solidFill>
                      <a:srgbClr val="FFFFFF"/>
                    </a:solidFill>
                  </a:tcPr>
                </a:tc>
              </a:tr>
              <a:tr h="347472">
                <a:tc>
                  <a:txBody>
                    <a:bodyPr/>
                    <a:lstStyle/>
                    <a:p>
                      <a:r>
                        <a:rPr sz="1000">
                          <a:solidFill>
                            <a:srgbClr val="1A1A2E"/>
                          </a:solidFill>
                          <a:latin typeface="Calibri"/>
                        </a:rPr>
                        <a:t>Free tier</a:t>
                      </a:r>
                    </a:p>
                  </a:txBody>
                  <a:tcPr>
                    <a:solidFill>
                      <a:srgbClr val="F8F9FF"/>
                    </a:solidFill>
                  </a:tcPr>
                </a:tc>
                <a:tc>
                  <a:txBody>
                    <a:bodyPr/>
                    <a:lstStyle/>
                    <a:p>
                      <a:r>
                        <a:rPr sz="1000">
                          <a:solidFill>
                            <a:srgbClr val="1A1A2E"/>
                          </a:solidFill>
                          <a:latin typeface="Calibri"/>
                        </a:rPr>
                        <a:t>2,000 completions, limited chat</a:t>
                      </a:r>
                    </a:p>
                  </a:txBody>
                  <a:tcPr>
                    <a:solidFill>
                      <a:srgbClr val="F8F9FF"/>
                    </a:solidFill>
                  </a:tcPr>
                </a:tc>
                <a:tc>
                  <a:txBody>
                    <a:bodyPr/>
                    <a:lstStyle/>
                    <a:p>
                      <a:r>
                        <a:rPr sz="1000">
                          <a:solidFill>
                            <a:srgbClr val="1A1A2E"/>
                          </a:solidFill>
                          <a:latin typeface="Calibri"/>
                        </a:rPr>
                        <a:t>More generous — 5 Cascade flows/day + unlimited autocomplete</a:t>
                      </a:r>
                    </a:p>
                  </a:txBody>
                  <a:tcPr>
                    <a:solidFill>
                      <a:srgbClr val="F8F9FF"/>
                    </a:solidFill>
                  </a:tcPr>
                </a:tc>
              </a:tr>
              <a:tr h="347472">
                <a:tc>
                  <a:txBody>
                    <a:bodyPr/>
                    <a:lstStyle/>
                    <a:p>
                      <a:r>
                        <a:rPr sz="1000">
                          <a:solidFill>
                            <a:srgbClr val="1A1A2E"/>
                          </a:solidFill>
                          <a:latin typeface="Calibri"/>
                        </a:rPr>
                        <a:t>Unique strength</a:t>
                      </a:r>
                    </a:p>
                  </a:txBody>
                  <a:tcPr>
                    <a:solidFill>
                      <a:srgbClr val="FFFFFF"/>
                    </a:solidFill>
                  </a:tcPr>
                </a:tc>
                <a:tc>
                  <a:txBody>
                    <a:bodyPr/>
                    <a:lstStyle/>
                    <a:p>
                      <a:r>
                        <a:rPr sz="1000">
                          <a:solidFill>
                            <a:srgbClr val="1A1A2E"/>
                          </a:solidFill>
                          <a:latin typeface="Calibri"/>
                        </a:rPr>
                        <a:t>Deep context on existing codebases</a:t>
                      </a:r>
                    </a:p>
                  </a:txBody>
                  <a:tcPr>
                    <a:solidFill>
                      <a:srgbClr val="FFFFFF"/>
                    </a:solidFill>
                  </a:tcPr>
                </a:tc>
                <a:tc>
                  <a:txBody>
                    <a:bodyPr/>
                    <a:lstStyle/>
                    <a:p>
                      <a:r>
                        <a:rPr sz="1000">
                          <a:solidFill>
                            <a:srgbClr val="1A1A2E"/>
                          </a:solidFill>
                          <a:latin typeface="Calibri"/>
                        </a:rPr>
                        <a:t>Coherent long-horizon task execution</a:t>
                      </a:r>
                    </a:p>
                  </a:txBody>
                  <a:tcPr>
                    <a:solidFill>
                      <a:srgbClr val="FFFFFF"/>
                    </a:solidFill>
                  </a:tcPr>
                </a:tc>
              </a:tr>
              <a:tr h="347472">
                <a:tc>
                  <a:txBody>
                    <a:bodyPr/>
                    <a:lstStyle/>
                    <a:p>
                      <a:r>
                        <a:rPr sz="1000">
                          <a:solidFill>
                            <a:srgbClr val="1A1A2E"/>
                          </a:solidFill>
                          <a:latin typeface="Calibri"/>
                        </a:rPr>
                        <a:t>Best for</a:t>
                      </a:r>
                    </a:p>
                  </a:txBody>
                  <a:tcPr>
                    <a:solidFill>
                      <a:srgbClr val="F8F9FF"/>
                    </a:solidFill>
                  </a:tcPr>
                </a:tc>
                <a:tc>
                  <a:txBody>
                    <a:bodyPr/>
                    <a:lstStyle/>
                    <a:p>
                      <a:r>
                        <a:rPr sz="1000">
                          <a:solidFill>
                            <a:srgbClr val="1A1A2E"/>
                          </a:solidFill>
                          <a:latin typeface="Calibri"/>
                        </a:rPr>
                        <a:t>Working on mature, complex projects</a:t>
                      </a:r>
                    </a:p>
                  </a:txBody>
                  <a:tcPr>
                    <a:solidFill>
                      <a:srgbClr val="F8F9FF"/>
                    </a:solidFill>
                  </a:tcPr>
                </a:tc>
                <a:tc>
                  <a:txBody>
                    <a:bodyPr/>
                    <a:lstStyle/>
                    <a:p>
                      <a:r>
                        <a:rPr sz="1000">
                          <a:solidFill>
                            <a:srgbClr val="1A1A2E"/>
                          </a:solidFill>
                          <a:latin typeface="Calibri"/>
                        </a:rPr>
                        <a:t>Building new features and services from scratch</a:t>
                      </a:r>
                    </a:p>
                  </a:txBody>
                  <a:tcPr>
                    <a:solidFill>
                      <a:srgbClr val="F8F9FF"/>
                    </a:solidFill>
                  </a:tcPr>
                </a:tc>
              </a:tr>
              <a:tr h="347472">
                <a:tc>
                  <a:txBody>
                    <a:bodyPr/>
                    <a:lstStyle/>
                    <a:p>
                      <a:r>
                        <a:rPr sz="1000">
                          <a:solidFill>
                            <a:srgbClr val="1A1A2E"/>
                          </a:solidFill>
                          <a:latin typeface="Calibri"/>
                        </a:rPr>
                        <a:t>Pricing (Pro)</a:t>
                      </a:r>
                    </a:p>
                  </a:txBody>
                  <a:tcPr>
                    <a:solidFill>
                      <a:srgbClr val="FFFFFF"/>
                    </a:solidFill>
                  </a:tcPr>
                </a:tc>
                <a:tc>
                  <a:txBody>
                    <a:bodyPr/>
                    <a:lstStyle/>
                    <a:p>
                      <a:r>
                        <a:rPr sz="1000">
                          <a:solidFill>
                            <a:srgbClr val="1A1A2E"/>
                          </a:solidFill>
                          <a:latin typeface="Calibri"/>
                        </a:rPr>
                        <a:t>$20/month</a:t>
                      </a:r>
                    </a:p>
                  </a:txBody>
                  <a:tcPr>
                    <a:solidFill>
                      <a:srgbClr val="FFFFFF"/>
                    </a:solidFill>
                  </a:tcPr>
                </a:tc>
                <a:tc>
                  <a:txBody>
                    <a:bodyPr/>
                    <a:lstStyle/>
                    <a:p>
                      <a:r>
                        <a:rPr sz="1000">
                          <a:solidFill>
                            <a:srgbClr val="1A1A2E"/>
                          </a:solidFill>
                          <a:latin typeface="Calibri"/>
                        </a:rPr>
                        <a:t>$15/month</a:t>
                      </a:r>
                    </a:p>
                  </a:txBody>
                  <a:tcPr>
                    <a:solidFill>
                      <a:srgbClr val="FFFFFF"/>
                    </a:solidFill>
                  </a:tcPr>
                </a:tc>
              </a:tr>
            </a:tbl>
          </a:graphicData>
        </a:graphic>
      </p:graphicFrame>
      <p:sp>
        <p:nvSpPr>
          <p:cNvPr id="10" name="TextBox 9"/>
          <p:cNvSpPr txBox="1"/>
          <p:nvPr/>
        </p:nvSpPr>
        <p:spPr>
          <a:xfrm>
            <a:off x="457200" y="6135624"/>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When to use Windsurf over Cursor:</a:t>
            </a:r>
          </a:p>
          <a:p>
            <a:pPr>
              <a:spcBef>
                <a:spcPts val="200"/>
              </a:spcBef>
              <a:spcAft>
                <a:spcPts val="100"/>
              </a:spcAft>
            </a:pPr>
            <a:r>
              <a:rPr sz="1300">
                <a:solidFill>
                  <a:srgbClr val="0EA5E9"/>
                </a:solidFill>
                <a:latin typeface="Calibri"/>
              </a:rPr>
              <a:t>• </a:t>
            </a:r>
            <a:r>
              <a:rPr sz="1300" b="0">
                <a:solidFill>
                  <a:srgbClr val="1A1A2E"/>
                </a:solidFill>
                <a:latin typeface="Calibri"/>
              </a:rPr>
              <a:t>Building a new module, service, or application from scratch</a:t>
            </a:r>
          </a:p>
          <a:p>
            <a:pPr>
              <a:spcBef>
                <a:spcPts val="200"/>
              </a:spcBef>
              <a:spcAft>
                <a:spcPts val="100"/>
              </a:spcAft>
            </a:pPr>
            <a:r>
              <a:rPr sz="1300">
                <a:solidFill>
                  <a:srgbClr val="0EA5E9"/>
                </a:solidFill>
                <a:latin typeface="Calibri"/>
              </a:rPr>
              <a:t>• </a:t>
            </a:r>
            <a:r>
              <a:rPr sz="1300" b="0">
                <a:solidFill>
                  <a:srgbClr val="1A1A2E"/>
                </a:solidFill>
                <a:latin typeface="Calibri"/>
              </a:rPr>
              <a:t>You want to describe an entire feature and come back to a working implementation</a:t>
            </a:r>
          </a:p>
          <a:p>
            <a:pPr>
              <a:spcBef>
                <a:spcPts val="200"/>
              </a:spcBef>
              <a:spcAft>
                <a:spcPts val="100"/>
              </a:spcAft>
            </a:pPr>
            <a:r>
              <a:rPr sz="1300">
                <a:solidFill>
                  <a:srgbClr val="0EA5E9"/>
                </a:solidFill>
                <a:latin typeface="Calibri"/>
              </a:rPr>
              <a:t>• </a:t>
            </a:r>
            <a:r>
              <a:rPr sz="1300" b="0">
                <a:solidFill>
                  <a:srgbClr val="1A1A2E"/>
                </a:solidFill>
                <a:latin typeface="Calibri"/>
              </a:rPr>
              <a:t>Budget is a constraint — more capability in the free tier</a:t>
            </a:r>
          </a:p>
          <a:p>
            <a:pPr>
              <a:spcBef>
                <a:spcPts val="200"/>
              </a:spcBef>
              <a:spcAft>
                <a:spcPts val="100"/>
              </a:spcAft>
            </a:pPr>
            <a:r>
              <a:rPr sz="1300" b="1">
                <a:solidFill>
                  <a:srgbClr val="0F3460"/>
                </a:solidFill>
                <a:latin typeface="Calibri"/>
              </a:rPr>
              <a:t>When to use Cursor over Windsurf:</a:t>
            </a:r>
          </a:p>
          <a:p>
            <a:pPr>
              <a:spcBef>
                <a:spcPts val="200"/>
              </a:spcBef>
              <a:spcAft>
                <a:spcPts val="100"/>
              </a:spcAft>
            </a:pPr>
            <a:r>
              <a:rPr sz="1300">
                <a:solidFill>
                  <a:srgbClr val="0EA5E9"/>
                </a:solidFill>
                <a:latin typeface="Calibri"/>
              </a:rPr>
              <a:t>• </a:t>
            </a:r>
            <a:r>
              <a:rPr sz="1300" b="0">
                <a:solidFill>
                  <a:srgbClr val="1A1A2E"/>
                </a:solidFill>
                <a:latin typeface="Calibri"/>
              </a:rPr>
              <a:t>Deep editing within a large existing codebase</a:t>
            </a:r>
          </a:p>
          <a:p>
            <a:pPr>
              <a:spcBef>
                <a:spcPts val="200"/>
              </a:spcBef>
              <a:spcAft>
                <a:spcPts val="100"/>
              </a:spcAft>
            </a:pPr>
            <a:r>
              <a:rPr sz="1300">
                <a:solidFill>
                  <a:srgbClr val="0EA5E9"/>
                </a:solidFill>
                <a:latin typeface="Calibri"/>
              </a:rPr>
              <a:t>• </a:t>
            </a:r>
            <a:r>
              <a:rPr sz="1300" b="0">
                <a:solidFill>
                  <a:srgbClr val="1A1A2E"/>
                </a:solidFill>
                <a:latin typeface="Calibri"/>
              </a:rPr>
              <a:t>You want fast, reactive completions as you type</a:t>
            </a:r>
          </a:p>
          <a:p>
            <a:pPr>
              <a:spcBef>
                <a:spcPts val="200"/>
              </a:spcBef>
              <a:spcAft>
                <a:spcPts val="100"/>
              </a:spcAft>
            </a:pPr>
            <a:r>
              <a:rPr sz="1300">
                <a:solidFill>
                  <a:srgbClr val="0EA5E9"/>
                </a:solidFill>
                <a:latin typeface="Calibri"/>
              </a:rPr>
              <a:t>• </a:t>
            </a:r>
            <a:r>
              <a:rPr sz="1300" b="0">
                <a:solidFill>
                  <a:srgbClr val="1A1A2E"/>
                </a:solidFill>
                <a:latin typeface="Calibri"/>
              </a:rPr>
              <a:t>Your team already has shared Cursor Rules configured</a:t>
            </a:r>
          </a:p>
          <a:p>
            <a:pPr>
              <a:spcBef>
                <a:spcPts val="200"/>
              </a:spcBef>
              <a:spcAft>
                <a:spcPts val="100"/>
              </a:spcAft>
            </a:pPr>
            <a:r>
              <a:rPr sz="1200" b="0">
                <a:solidFill>
                  <a:srgbClr val="2D3748"/>
                </a:solidFill>
                <a:latin typeface="Calibri"/>
              </a:rPr>
              <a:t>Bottom line: Download both. Do the same task in each. Developers consistently prefer one — but the preference varies by person and project type.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GitHub Copilot and Enterprise AI Coding Tools</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Enterprise Standard and the Ecosystem</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18</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GitHub Copilot in 2026 — beyond autocomplete:</a:t>
            </a:r>
          </a:p>
        </p:txBody>
      </p:sp>
      <p:graphicFrame>
        <p:nvGraphicFramePr>
          <p:cNvPr id="9" name="Table 8"/>
          <p:cNvGraphicFramePr>
            <a:graphicFrameLocks noGrp="1"/>
          </p:cNvGraphicFramePr>
          <p:nvPr/>
        </p:nvGraphicFramePr>
        <p:xfrm>
          <a:off x="457200" y="1600200"/>
          <a:ext cx="11277295" cy="2084832"/>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Feature</a:t>
                      </a:r>
                    </a:p>
                  </a:txBody>
                  <a:tcPr>
                    <a:solidFill>
                      <a:srgbClr val="16213E"/>
                    </a:solidFill>
                  </a:tcPr>
                </a:tc>
                <a:tc>
                  <a:txBody>
                    <a:bodyPr/>
                    <a:lstStyle/>
                    <a:p>
                      <a:pPr algn="l"/>
                      <a:r>
                        <a:rPr sz="1100" b="1">
                          <a:solidFill>
                            <a:srgbClr val="FFFFFF"/>
                          </a:solidFill>
                          <a:latin typeface="Calibri"/>
                        </a:rPr>
                        <a:t>What It Does</a:t>
                      </a:r>
                    </a:p>
                  </a:txBody>
                  <a:tcPr>
                    <a:solidFill>
                      <a:srgbClr val="16213E"/>
                    </a:solidFill>
                  </a:tcPr>
                </a:tc>
                <a:tc>
                  <a:txBody>
                    <a:bodyPr/>
                    <a:lstStyle/>
                    <a:p>
                      <a:pPr algn="l"/>
                      <a:r>
                        <a:rPr sz="1100" b="1">
                          <a:solidFill>
                            <a:srgbClr val="FFFFFF"/>
                          </a:solidFill>
                          <a:latin typeface="Calibri"/>
                        </a:rPr>
                        <a:t>Business Value</a:t>
                      </a:r>
                    </a:p>
                  </a:txBody>
                  <a:tcPr>
                    <a:solidFill>
                      <a:srgbClr val="16213E"/>
                    </a:solidFill>
                  </a:tcPr>
                </a:tc>
              </a:tr>
              <a:tr h="347472">
                <a:tc>
                  <a:txBody>
                    <a:bodyPr/>
                    <a:lstStyle/>
                    <a:p>
                      <a:r>
                        <a:rPr sz="1000">
                          <a:solidFill>
                            <a:srgbClr val="1A1A2E"/>
                          </a:solidFill>
                          <a:latin typeface="Calibri"/>
                        </a:rPr>
                        <a:t>Copilot Autofix</a:t>
                      </a:r>
                    </a:p>
                  </a:txBody>
                  <a:tcPr>
                    <a:solidFill>
                      <a:srgbClr val="FFFFFF"/>
                    </a:solidFill>
                  </a:tcPr>
                </a:tc>
                <a:tc>
                  <a:txBody>
                    <a:bodyPr/>
                    <a:lstStyle/>
                    <a:p>
                      <a:r>
                        <a:rPr sz="1000">
                          <a:solidFill>
                            <a:srgbClr val="1A1A2E"/>
                          </a:solidFill>
                          <a:latin typeface="Calibri"/>
                        </a:rPr>
                        <a:t>Scans code for security vulnerabilities; generates fixes automatically</a:t>
                      </a:r>
                    </a:p>
                  </a:txBody>
                  <a:tcPr>
                    <a:solidFill>
                      <a:srgbClr val="FFFFFF"/>
                    </a:solidFill>
                  </a:tcPr>
                </a:tc>
                <a:tc>
                  <a:txBody>
                    <a:bodyPr/>
                    <a:lstStyle/>
                    <a:p>
                      <a:r>
                        <a:rPr sz="1000">
                          <a:solidFill>
                            <a:srgbClr val="1A1A2E"/>
                          </a:solidFill>
                          <a:latin typeface="Calibri"/>
                        </a:rPr>
                        <a:t>Reduces CVE backlog without dedicated security sprints</a:t>
                      </a:r>
                    </a:p>
                  </a:txBody>
                  <a:tcPr>
                    <a:solidFill>
                      <a:srgbClr val="FFFFFF"/>
                    </a:solidFill>
                  </a:tcPr>
                </a:tc>
              </a:tr>
              <a:tr h="347472">
                <a:tc>
                  <a:txBody>
                    <a:bodyPr/>
                    <a:lstStyle/>
                    <a:p>
                      <a:r>
                        <a:rPr sz="1000">
                          <a:solidFill>
                            <a:srgbClr val="1A1A2E"/>
                          </a:solidFill>
                          <a:latin typeface="Calibri"/>
                        </a:rPr>
                        <a:t>Copilot Workspace</a:t>
                      </a:r>
                    </a:p>
                  </a:txBody>
                  <a:tcPr>
                    <a:solidFill>
                      <a:srgbClr val="F8F9FF"/>
                    </a:solidFill>
                  </a:tcPr>
                </a:tc>
                <a:tc>
                  <a:txBody>
                    <a:bodyPr/>
                    <a:lstStyle/>
                    <a:p>
                      <a:r>
                        <a:rPr sz="1000">
                          <a:solidFill>
                            <a:srgbClr val="1A1A2E"/>
                          </a:solidFill>
                          <a:latin typeface="Calibri"/>
                        </a:rPr>
                        <a:t>Takes a GitHub Issue, plans the implementation, proposes code changes</a:t>
                      </a:r>
                    </a:p>
                  </a:txBody>
                  <a:tcPr>
                    <a:solidFill>
                      <a:srgbClr val="F8F9FF"/>
                    </a:solidFill>
                  </a:tcPr>
                </a:tc>
                <a:tc>
                  <a:txBody>
                    <a:bodyPr/>
                    <a:lstStyle/>
                    <a:p>
                      <a:r>
                        <a:rPr sz="1000">
                          <a:solidFill>
                            <a:srgbClr val="1A1A2E"/>
                          </a:solidFill>
                          <a:latin typeface="Calibri"/>
                        </a:rPr>
                        <a:t>From ticket to PR without opening an IDE</a:t>
                      </a:r>
                    </a:p>
                  </a:txBody>
                  <a:tcPr>
                    <a:solidFill>
                      <a:srgbClr val="F8F9FF"/>
                    </a:solidFill>
                  </a:tcPr>
                </a:tc>
              </a:tr>
              <a:tr h="347472">
                <a:tc>
                  <a:txBody>
                    <a:bodyPr/>
                    <a:lstStyle/>
                    <a:p>
                      <a:r>
                        <a:rPr sz="1000">
                          <a:solidFill>
                            <a:srgbClr val="1A1A2E"/>
                          </a:solidFill>
                          <a:latin typeface="Calibri"/>
                        </a:rPr>
                        <a:t>Copilot in PRs</a:t>
                      </a:r>
                    </a:p>
                  </a:txBody>
                  <a:tcPr>
                    <a:solidFill>
                      <a:srgbClr val="FFFFFF"/>
                    </a:solidFill>
                  </a:tcPr>
                </a:tc>
                <a:tc>
                  <a:txBody>
                    <a:bodyPr/>
                    <a:lstStyle/>
                    <a:p>
                      <a:r>
                        <a:rPr sz="1000">
                          <a:solidFill>
                            <a:srgbClr val="1A1A2E"/>
                          </a:solidFill>
                          <a:latin typeface="Calibri"/>
                        </a:rPr>
                        <a:t>Reviews every pull request, suggests improvements, summarizes changes</a:t>
                      </a:r>
                    </a:p>
                  </a:txBody>
                  <a:tcPr>
                    <a:solidFill>
                      <a:srgbClr val="FFFFFF"/>
                    </a:solidFill>
                  </a:tcPr>
                </a:tc>
                <a:tc>
                  <a:txBody>
                    <a:bodyPr/>
                    <a:lstStyle/>
                    <a:p>
                      <a:r>
                        <a:rPr sz="1000">
                          <a:solidFill>
                            <a:srgbClr val="1A1A2E"/>
                          </a:solidFill>
                          <a:latin typeface="Calibri"/>
                        </a:rPr>
                        <a:t>Every PR gets an AI review pass before human reviewers</a:t>
                      </a:r>
                    </a:p>
                  </a:txBody>
                  <a:tcPr>
                    <a:solidFill>
                      <a:srgbClr val="FFFFFF"/>
                    </a:solidFill>
                  </a:tcPr>
                </a:tc>
              </a:tr>
              <a:tr h="347472">
                <a:tc>
                  <a:txBody>
                    <a:bodyPr/>
                    <a:lstStyle/>
                    <a:p>
                      <a:r>
                        <a:rPr sz="1000">
                          <a:solidFill>
                            <a:srgbClr val="1A1A2E"/>
                          </a:solidFill>
                          <a:latin typeface="Calibri"/>
                        </a:rPr>
                        <a:t>Copilot Chat</a:t>
                      </a:r>
                    </a:p>
                  </a:txBody>
                  <a:tcPr>
                    <a:solidFill>
                      <a:srgbClr val="F8F9FF"/>
                    </a:solidFill>
                  </a:tcPr>
                </a:tc>
                <a:tc>
                  <a:txBody>
                    <a:bodyPr/>
                    <a:lstStyle/>
                    <a:p>
                      <a:r>
                        <a:rPr sz="1000">
                          <a:solidFill>
                            <a:srgbClr val="1A1A2E"/>
                          </a:solidFill>
                          <a:latin typeface="Calibri"/>
                        </a:rPr>
                        <a:t>Conversational AI about any codebase — ask architecture questions, debug issues</a:t>
                      </a:r>
                    </a:p>
                  </a:txBody>
                  <a:tcPr>
                    <a:solidFill>
                      <a:srgbClr val="F8F9FF"/>
                    </a:solidFill>
                  </a:tcPr>
                </a:tc>
                <a:tc>
                  <a:txBody>
                    <a:bodyPr/>
                    <a:lstStyle/>
                    <a:p>
                      <a:r>
                        <a:rPr sz="1000">
                          <a:solidFill>
                            <a:srgbClr val="1A1A2E"/>
                          </a:solidFill>
                          <a:latin typeface="Calibri"/>
                        </a:rPr>
                        <a:t>Junior developers onboard faster; seniors stay in flow</a:t>
                      </a:r>
                    </a:p>
                  </a:txBody>
                  <a:tcPr>
                    <a:solidFill>
                      <a:srgbClr val="F8F9FF"/>
                    </a:solidFill>
                  </a:tcPr>
                </a:tc>
              </a:tr>
              <a:tr h="347472">
                <a:tc>
                  <a:txBody>
                    <a:bodyPr/>
                    <a:lstStyle/>
                    <a:p>
                      <a:r>
                        <a:rPr sz="1000">
                          <a:solidFill>
                            <a:srgbClr val="1A1A2E"/>
                          </a:solidFill>
                          <a:latin typeface="Calibri"/>
                        </a:rPr>
                        <a:t>Copilot Extensions</a:t>
                      </a:r>
                    </a:p>
                  </a:txBody>
                  <a:tcPr>
                    <a:solidFill>
                      <a:srgbClr val="FFFFFF"/>
                    </a:solidFill>
                  </a:tcPr>
                </a:tc>
                <a:tc>
                  <a:txBody>
                    <a:bodyPr/>
                    <a:lstStyle/>
                    <a:p>
                      <a:r>
                        <a:rPr sz="1000">
                          <a:solidFill>
                            <a:srgbClr val="1A1A2E"/>
                          </a:solidFill>
                          <a:latin typeface="Calibri"/>
                        </a:rPr>
                        <a:t>Connect Jira, Datadog, Sentry, and 30+ tools directly into the chat interface</a:t>
                      </a:r>
                    </a:p>
                  </a:txBody>
                  <a:tcPr>
                    <a:solidFill>
                      <a:srgbClr val="FFFFFF"/>
                    </a:solidFill>
                  </a:tcPr>
                </a:tc>
                <a:tc>
                  <a:txBody>
                    <a:bodyPr/>
                    <a:lstStyle/>
                    <a:p>
                      <a:r>
                        <a:rPr sz="1000">
                          <a:solidFill>
                            <a:srgbClr val="1A1A2E"/>
                          </a:solidFill>
                          <a:latin typeface="Calibri"/>
                        </a:rPr>
                        <a:t>One AI interface for your entire toolchain</a:t>
                      </a:r>
                    </a:p>
                  </a:txBody>
                  <a:tcPr>
                    <a:solidFill>
                      <a:srgbClr val="FFFFFF"/>
                    </a:solidFill>
                  </a:tcPr>
                </a:tc>
              </a:tr>
            </a:tbl>
          </a:graphicData>
        </a:graphic>
      </p:graphicFrame>
      <p:sp>
        <p:nvSpPr>
          <p:cNvPr id="10" name="TextBox 9"/>
          <p:cNvSpPr txBox="1"/>
          <p:nvPr/>
        </p:nvSpPr>
        <p:spPr>
          <a:xfrm>
            <a:off x="457200" y="379476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Why enterprises choose Copilot: It's not always the most capable agent — it's where the code already lives. GitHub manages the org's entire codebase, PR history, and issue backlog. Copilot integrates there, not alongside it.</a:t>
            </a:r>
          </a:p>
          <a:p>
            <a:pPr>
              <a:spcBef>
                <a:spcPts val="200"/>
              </a:spcBef>
              <a:spcAft>
                <a:spcPts val="100"/>
              </a:spcAft>
            </a:pPr>
            <a:r>
              <a:rPr sz="1300" b="1">
                <a:solidFill>
                  <a:srgbClr val="0F3460"/>
                </a:solidFill>
                <a:latin typeface="Calibri"/>
              </a:rPr>
              <a:t>The broader enterprise AI coding ecosystem:</a:t>
            </a:r>
          </a:p>
        </p:txBody>
      </p:sp>
      <p:graphicFrame>
        <p:nvGraphicFramePr>
          <p:cNvPr id="11" name="Table 10"/>
          <p:cNvGraphicFramePr>
            <a:graphicFrameLocks noGrp="1"/>
          </p:cNvGraphicFramePr>
          <p:nvPr/>
        </p:nvGraphicFramePr>
        <p:xfrm>
          <a:off x="457200" y="434340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Tool</a:t>
                      </a:r>
                    </a:p>
                  </a:txBody>
                  <a:tcPr>
                    <a:solidFill>
                      <a:srgbClr val="16213E"/>
                    </a:solidFill>
                  </a:tcPr>
                </a:tc>
                <a:tc>
                  <a:txBody>
                    <a:bodyPr/>
                    <a:lstStyle/>
                    <a:p>
                      <a:pPr algn="l"/>
                      <a:r>
                        <a:rPr sz="1100" b="1">
                          <a:solidFill>
                            <a:srgbClr val="FFFFFF"/>
                          </a:solidFill>
                          <a:latin typeface="Calibri"/>
                        </a:rPr>
                        <a:t>Vendor</a:t>
                      </a:r>
                    </a:p>
                  </a:txBody>
                  <a:tcPr>
                    <a:solidFill>
                      <a:srgbClr val="16213E"/>
                    </a:solidFill>
                  </a:tcPr>
                </a:tc>
                <a:tc>
                  <a:txBody>
                    <a:bodyPr/>
                    <a:lstStyle/>
                    <a:p>
                      <a:pPr algn="l"/>
                      <a:r>
                        <a:rPr sz="1100" b="1">
                          <a:solidFill>
                            <a:srgbClr val="FFFFFF"/>
                          </a:solidFill>
                          <a:latin typeface="Calibri"/>
                        </a:rPr>
                        <a:t>Why It Exists</a:t>
                      </a:r>
                    </a:p>
                  </a:txBody>
                  <a:tcPr>
                    <a:solidFill>
                      <a:srgbClr val="16213E"/>
                    </a:solidFill>
                  </a:tcPr>
                </a:tc>
              </a:tr>
              <a:tr h="347472">
                <a:tc>
                  <a:txBody>
                    <a:bodyPr/>
                    <a:lstStyle/>
                    <a:p>
                      <a:r>
                        <a:rPr sz="1000">
                          <a:solidFill>
                            <a:srgbClr val="1A1A2E"/>
                          </a:solidFill>
                          <a:latin typeface="Calibri"/>
                        </a:rPr>
                        <a:t>Amazon Q Developer</a:t>
                      </a:r>
                    </a:p>
                  </a:txBody>
                  <a:tcPr>
                    <a:solidFill>
                      <a:srgbClr val="FFFFFF"/>
                    </a:solidFill>
                  </a:tcPr>
                </a:tc>
                <a:tc>
                  <a:txBody>
                    <a:bodyPr/>
                    <a:lstStyle/>
                    <a:p>
                      <a:r>
                        <a:rPr sz="1000">
                          <a:solidFill>
                            <a:srgbClr val="1A1A2E"/>
                          </a:solidFill>
                          <a:latin typeface="Calibri"/>
                        </a:rPr>
                        <a:t>AWS</a:t>
                      </a:r>
                    </a:p>
                  </a:txBody>
                  <a:tcPr>
                    <a:solidFill>
                      <a:srgbClr val="FFFFFF"/>
                    </a:solidFill>
                  </a:tcPr>
                </a:tc>
                <a:tc>
                  <a:txBody>
                    <a:bodyPr/>
                    <a:lstStyle/>
                    <a:p>
                      <a:r>
                        <a:rPr sz="1000">
                          <a:solidFill>
                            <a:srgbClr val="1A1A2E"/>
                          </a:solidFill>
                          <a:latin typeface="Calibri"/>
                        </a:rPr>
                        <a:t>Best for teams building on AWS — Lambda, DynamoDB, CDK-aware</a:t>
                      </a:r>
                    </a:p>
                  </a:txBody>
                  <a:tcPr>
                    <a:solidFill>
                      <a:srgbClr val="FFFFFF"/>
                    </a:solidFill>
                  </a:tcPr>
                </a:tc>
              </a:tr>
              <a:tr h="347472">
                <a:tc>
                  <a:txBody>
                    <a:bodyPr/>
                    <a:lstStyle/>
                    <a:p>
                      <a:r>
                        <a:rPr sz="1000">
                          <a:solidFill>
                            <a:srgbClr val="1A1A2E"/>
                          </a:solidFill>
                          <a:latin typeface="Calibri"/>
                        </a:rPr>
                        <a:t>JetBrains AI</a:t>
                      </a:r>
                    </a:p>
                  </a:txBody>
                  <a:tcPr>
                    <a:solidFill>
                      <a:srgbClr val="F8F9FF"/>
                    </a:solidFill>
                  </a:tcPr>
                </a:tc>
                <a:tc>
                  <a:txBody>
                    <a:bodyPr/>
                    <a:lstStyle/>
                    <a:p>
                      <a:r>
                        <a:rPr sz="1000">
                          <a:solidFill>
                            <a:srgbClr val="1A1A2E"/>
                          </a:solidFill>
                          <a:latin typeface="Calibri"/>
                        </a:rPr>
                        <a:t>JetBrains</a:t>
                      </a:r>
                    </a:p>
                  </a:txBody>
                  <a:tcPr>
                    <a:solidFill>
                      <a:srgbClr val="F8F9FF"/>
                    </a:solidFill>
                  </a:tcPr>
                </a:tc>
                <a:tc>
                  <a:txBody>
                    <a:bodyPr/>
                    <a:lstStyle/>
                    <a:p>
                      <a:r>
                        <a:rPr sz="1000">
                          <a:solidFill>
                            <a:srgbClr val="1A1A2E"/>
                          </a:solidFill>
                          <a:latin typeface="Calibri"/>
                        </a:rPr>
                        <a:t>Native in IntelliJ / PyCharm / DataGrip — Java, Kotlin, Python shops</a:t>
                      </a:r>
                    </a:p>
                  </a:txBody>
                  <a:tcPr>
                    <a:solidFill>
                      <a:srgbClr val="F8F9FF"/>
                    </a:solidFill>
                  </a:tcPr>
                </a:tc>
              </a:tr>
              <a:tr h="347472">
                <a:tc>
                  <a:txBody>
                    <a:bodyPr/>
                    <a:lstStyle/>
                    <a:p>
                      <a:r>
                        <a:rPr sz="1000">
                          <a:solidFill>
                            <a:srgbClr val="1A1A2E"/>
                          </a:solidFill>
                          <a:latin typeface="Calibri"/>
                        </a:rPr>
                        <a:t>Tabnine</a:t>
                      </a:r>
                    </a:p>
                  </a:txBody>
                  <a:tcPr>
                    <a:solidFill>
                      <a:srgbClr val="FFFFFF"/>
                    </a:solidFill>
                  </a:tcPr>
                </a:tc>
                <a:tc>
                  <a:txBody>
                    <a:bodyPr/>
                    <a:lstStyle/>
                    <a:p>
                      <a:r>
                        <a:rPr sz="1000">
                          <a:solidFill>
                            <a:srgbClr val="1A1A2E"/>
                          </a:solidFill>
                          <a:latin typeface="Calibri"/>
                        </a:rPr>
                        <a:t>Tabnine</a:t>
                      </a:r>
                    </a:p>
                  </a:txBody>
                  <a:tcPr>
                    <a:solidFill>
                      <a:srgbClr val="FFFFFF"/>
                    </a:solidFill>
                  </a:tcPr>
                </a:tc>
                <a:tc>
                  <a:txBody>
                    <a:bodyPr/>
                    <a:lstStyle/>
                    <a:p>
                      <a:r>
                        <a:rPr sz="1000">
                          <a:solidFill>
                            <a:srgbClr val="1A1A2E"/>
                          </a:solidFill>
                          <a:latin typeface="Calibri"/>
                        </a:rPr>
                        <a:t>On-premises deployment — zero data to cloud, required in some regulated industries</a:t>
                      </a:r>
                    </a:p>
                  </a:txBody>
                  <a:tcPr>
                    <a:solidFill>
                      <a:srgbClr val="FFFFFF"/>
                    </a:solidFill>
                  </a:tcPr>
                </a:tc>
              </a:tr>
              <a:tr h="347472">
                <a:tc>
                  <a:txBody>
                    <a:bodyPr/>
                    <a:lstStyle/>
                    <a:p>
                      <a:r>
                        <a:rPr sz="1000">
                          <a:solidFill>
                            <a:srgbClr val="1A1A2E"/>
                          </a:solidFill>
                          <a:latin typeface="Calibri"/>
                        </a:rPr>
                        <a:t>Replit AI</a:t>
                      </a:r>
                    </a:p>
                  </a:txBody>
                  <a:tcPr>
                    <a:solidFill>
                      <a:srgbClr val="F8F9FF"/>
                    </a:solidFill>
                  </a:tcPr>
                </a:tc>
                <a:tc>
                  <a:txBody>
                    <a:bodyPr/>
                    <a:lstStyle/>
                    <a:p>
                      <a:r>
                        <a:rPr sz="1000">
                          <a:solidFill>
                            <a:srgbClr val="1A1A2E"/>
                          </a:solidFill>
                          <a:latin typeface="Calibri"/>
                        </a:rPr>
                        <a:t>Replit</a:t>
                      </a:r>
                    </a:p>
                  </a:txBody>
                  <a:tcPr>
                    <a:solidFill>
                      <a:srgbClr val="F8F9FF"/>
                    </a:solidFill>
                  </a:tcPr>
                </a:tc>
                <a:tc>
                  <a:txBody>
                    <a:bodyPr/>
                    <a:lstStyle/>
                    <a:p>
                      <a:r>
                        <a:rPr sz="1000">
                          <a:solidFill>
                            <a:srgbClr val="1A1A2E"/>
                          </a:solidFill>
                          <a:latin typeface="Calibri"/>
                        </a:rPr>
                        <a:t>Browser-based, no install — ideal for learning and quick prototypes</a:t>
                      </a:r>
                    </a:p>
                  </a:txBody>
                  <a:tcPr>
                    <a:solidFill>
                      <a:srgbClr val="F8F9FF"/>
                    </a:solidFill>
                  </a:tcPr>
                </a:tc>
              </a:tr>
            </a:tbl>
          </a:graphicData>
        </a:graphic>
      </p:graphicFrame>
      <p:sp>
        <p:nvSpPr>
          <p:cNvPr id="12" name="TextBox 11"/>
          <p:cNvSpPr txBox="1"/>
          <p:nvPr/>
        </p:nvSpPr>
        <p:spPr>
          <a:xfrm>
            <a:off x="457200" y="6190488"/>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Free access for students: GitHub Copilot Pro is included in the GitHub Student Developer Pack at no cost. Apply at github.com/education with your UTD email.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AI Coding Tools — Full Comparison and Decision Guide</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Choosing the Right Tool for Your Work</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19</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Head-to-head comparison:</a:t>
            </a:r>
          </a:p>
        </p:txBody>
      </p:sp>
      <p:graphicFrame>
        <p:nvGraphicFramePr>
          <p:cNvPr id="9" name="Table 8"/>
          <p:cNvGraphicFramePr>
            <a:graphicFrameLocks noGrp="1"/>
          </p:cNvGraphicFramePr>
          <p:nvPr/>
        </p:nvGraphicFramePr>
        <p:xfrm>
          <a:off x="457200" y="1600200"/>
          <a:ext cx="11277295" cy="2432304"/>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347472">
                <a:tc>
                  <a:txBody>
                    <a:bodyPr/>
                    <a:lstStyle/>
                    <a:p>
                      <a:pPr algn="l"/>
                      <a:r>
                        <a:rPr sz="1100" b="1">
                          <a:solidFill>
                            <a:srgbClr val="FFFFFF"/>
                          </a:solidFill>
                          <a:latin typeface="Calibri"/>
                        </a:rPr>
                        <a:t>Tool</a:t>
                      </a:r>
                    </a:p>
                  </a:txBody>
                  <a:tcPr>
                    <a:solidFill>
                      <a:srgbClr val="16213E"/>
                    </a:solidFill>
                  </a:tcPr>
                </a:tc>
                <a:tc>
                  <a:txBody>
                    <a:bodyPr/>
                    <a:lstStyle/>
                    <a:p>
                      <a:pPr algn="l"/>
                      <a:r>
                        <a:rPr sz="1100" b="1">
                          <a:solidFill>
                            <a:srgbClr val="FFFFFF"/>
                          </a:solidFill>
                          <a:latin typeface="Calibri"/>
                        </a:rPr>
                        <a:t>Interface</a:t>
                      </a:r>
                    </a:p>
                  </a:txBody>
                  <a:tcPr>
                    <a:solidFill>
                      <a:srgbClr val="16213E"/>
                    </a:solidFill>
                  </a:tcPr>
                </a:tc>
                <a:tc>
                  <a:txBody>
                    <a:bodyPr/>
                    <a:lstStyle/>
                    <a:p>
                      <a:pPr algn="l"/>
                      <a:r>
                        <a:rPr sz="1100" b="1">
                          <a:solidFill>
                            <a:srgbClr val="FFFFFF"/>
                          </a:solidFill>
                          <a:latin typeface="Calibri"/>
                        </a:rPr>
                        <a:t>Autonomy</a:t>
                      </a:r>
                    </a:p>
                  </a:txBody>
                  <a:tcPr>
                    <a:solidFill>
                      <a:srgbClr val="16213E"/>
                    </a:solidFill>
                  </a:tcPr>
                </a:tc>
                <a:tc>
                  <a:txBody>
                    <a:bodyPr/>
                    <a:lstStyle/>
                    <a:p>
                      <a:pPr algn="l"/>
                      <a:r>
                        <a:rPr sz="1100" b="1">
                          <a:solidFill>
                            <a:srgbClr val="FFFFFF"/>
                          </a:solidFill>
                          <a:latin typeface="Calibri"/>
                        </a:rPr>
                        <a:t>Model Quality</a:t>
                      </a:r>
                    </a:p>
                  </a:txBody>
                  <a:tcPr>
                    <a:solidFill>
                      <a:srgbClr val="16213E"/>
                    </a:solidFill>
                  </a:tcPr>
                </a:tc>
                <a:tc>
                  <a:txBody>
                    <a:bodyPr/>
                    <a:lstStyle/>
                    <a:p>
                      <a:pPr algn="l"/>
                      <a:r>
                        <a:rPr sz="1100" b="1">
                          <a:solidFill>
                            <a:srgbClr val="FFFFFF"/>
                          </a:solidFill>
                          <a:latin typeface="Calibri"/>
                        </a:rPr>
                        <a:t>Free Tier</a:t>
                      </a:r>
                    </a:p>
                  </a:txBody>
                  <a:tcPr>
                    <a:solidFill>
                      <a:srgbClr val="16213E"/>
                    </a:solidFill>
                  </a:tcPr>
                </a:tc>
                <a:tc>
                  <a:txBody>
                    <a:bodyPr/>
                    <a:lstStyle/>
                    <a:p>
                      <a:pPr algn="l"/>
                      <a:r>
                        <a:rPr sz="1100" b="1">
                          <a:solidFill>
                            <a:srgbClr val="FFFFFF"/>
                          </a:solidFill>
                          <a:latin typeface="Calibri"/>
                        </a:rPr>
                        <a:t>Paid Tier</a:t>
                      </a:r>
                    </a:p>
                  </a:txBody>
                  <a:tcPr>
                    <a:solidFill>
                      <a:srgbClr val="16213E"/>
                    </a:solidFill>
                  </a:tcPr>
                </a:tc>
                <a:tc>
                  <a:txBody>
                    <a:bodyPr/>
                    <a:lstStyle/>
                    <a:p>
                      <a:pPr algn="l"/>
                      <a:r>
                        <a:rPr sz="1100" b="1">
                          <a:solidFill>
                            <a:srgbClr val="FFFFFF"/>
                          </a:solidFill>
                          <a:latin typeface="Calibri"/>
                        </a:rPr>
                        <a:t>Best For</a:t>
                      </a:r>
                    </a:p>
                  </a:txBody>
                  <a:tcPr>
                    <a:solidFill>
                      <a:srgbClr val="16213E"/>
                    </a:solidFill>
                  </a:tcPr>
                </a:tc>
              </a:tr>
              <a:tr h="347472">
                <a:tc>
                  <a:txBody>
                    <a:bodyPr/>
                    <a:lstStyle/>
                    <a:p>
                      <a:r>
                        <a:rPr sz="1000">
                          <a:solidFill>
                            <a:srgbClr val="1A1A2E"/>
                          </a:solidFill>
                          <a:latin typeface="Calibri"/>
                        </a:rPr>
                        <a:t>Claude Code</a:t>
                      </a:r>
                    </a:p>
                  </a:txBody>
                  <a:tcPr>
                    <a:solidFill>
                      <a:srgbClr val="FFFFFF"/>
                    </a:solidFill>
                  </a:tcPr>
                </a:tc>
                <a:tc>
                  <a:txBody>
                    <a:bodyPr/>
                    <a:lstStyle/>
                    <a:p>
                      <a:r>
                        <a:rPr sz="1000">
                          <a:solidFill>
                            <a:srgbClr val="1A1A2E"/>
                          </a:solidFill>
                          <a:latin typeface="Calibri"/>
                        </a:rPr>
                        <a:t>Terminal CLI</a:t>
                      </a:r>
                    </a:p>
                  </a:txBody>
                  <a:tcPr>
                    <a:solidFill>
                      <a:srgbClr val="FFFFFF"/>
                    </a:solidFill>
                  </a:tcPr>
                </a:tc>
                <a:tc>
                  <a:txBody>
                    <a:bodyPr/>
                    <a:lstStyle/>
                    <a:p>
                      <a:r>
                        <a:rPr sz="1000">
                          <a:solidFill>
                            <a:srgbClr val="1A1A2E"/>
                          </a:solidFill>
                          <a:latin typeface="Calibri"/>
                        </a:rPr>
                        <a:t>★★★★★</a:t>
                      </a:r>
                    </a:p>
                  </a:txBody>
                  <a:tcPr>
                    <a:solidFill>
                      <a:srgbClr val="FFFFFF"/>
                    </a:solidFill>
                  </a:tcPr>
                </a:tc>
                <a:tc>
                  <a:txBody>
                    <a:bodyPr/>
                    <a:lstStyle/>
                    <a:p>
                      <a:r>
                        <a:rPr sz="1000">
                          <a:solidFill>
                            <a:srgbClr val="1A1A2E"/>
                          </a:solidFill>
                          <a:latin typeface="Calibri"/>
                        </a:rPr>
                        <a:t>Claude 3.7 (best coder)</a:t>
                      </a:r>
                    </a:p>
                  </a:txBody>
                  <a:tcPr>
                    <a:solidFill>
                      <a:srgbClr val="FFFFFF"/>
                    </a:solidFill>
                  </a:tcPr>
                </a:tc>
                <a:tc>
                  <a:txBody>
                    <a:bodyPr/>
                    <a:lstStyle/>
                    <a:p>
                      <a:r>
                        <a:rPr sz="1000">
                          <a:solidFill>
                            <a:srgbClr val="1A1A2E"/>
                          </a:solidFill>
                          <a:latin typeface="Calibri"/>
                        </a:rPr>
                        <a:t>Pay-as-you-go</a:t>
                      </a:r>
                    </a:p>
                  </a:txBody>
                  <a:tcPr>
                    <a:solidFill>
                      <a:srgbClr val="FFFFFF"/>
                    </a:solidFill>
                  </a:tcPr>
                </a:tc>
                <a:tc>
                  <a:txBody>
                    <a:bodyPr/>
                    <a:lstStyle/>
                    <a:p>
                      <a:r>
                        <a:rPr sz="1000">
                          <a:solidFill>
                            <a:srgbClr val="1A1A2E"/>
                          </a:solidFill>
                          <a:latin typeface="Calibri"/>
                        </a:rPr>
                        <a:t>~$20/mo typical</a:t>
                      </a:r>
                    </a:p>
                  </a:txBody>
                  <a:tcPr>
                    <a:solidFill>
                      <a:srgbClr val="FFFFFF"/>
                    </a:solidFill>
                  </a:tcPr>
                </a:tc>
                <a:tc>
                  <a:txBody>
                    <a:bodyPr/>
                    <a:lstStyle/>
                    <a:p>
                      <a:r>
                        <a:rPr sz="1000">
                          <a:solidFill>
                            <a:srgbClr val="1A1A2E"/>
                          </a:solidFill>
                          <a:latin typeface="Calibri"/>
                        </a:rPr>
                        <a:t>Agentic tasks, multi-file changes</a:t>
                      </a:r>
                    </a:p>
                  </a:txBody>
                  <a:tcPr>
                    <a:solidFill>
                      <a:srgbClr val="FFFFFF"/>
                    </a:solidFill>
                  </a:tcPr>
                </a:tc>
              </a:tr>
              <a:tr h="347472">
                <a:tc>
                  <a:txBody>
                    <a:bodyPr/>
                    <a:lstStyle/>
                    <a:p>
                      <a:r>
                        <a:rPr sz="1000">
                          <a:solidFill>
                            <a:srgbClr val="1A1A2E"/>
                          </a:solidFill>
                          <a:latin typeface="Calibri"/>
                        </a:rPr>
                        <a:t>Cursor</a:t>
                      </a:r>
                    </a:p>
                  </a:txBody>
                  <a:tcPr>
                    <a:solidFill>
                      <a:srgbClr val="F8F9FF"/>
                    </a:solidFill>
                  </a:tcPr>
                </a:tc>
                <a:tc>
                  <a:txBody>
                    <a:bodyPr/>
                    <a:lstStyle/>
                    <a:p>
                      <a:r>
                        <a:rPr sz="1000">
                          <a:solidFill>
                            <a:srgbClr val="1A1A2E"/>
                          </a:solidFill>
                          <a:latin typeface="Calibri"/>
                        </a:rPr>
                        <a:t>IDE (VS Code)</a:t>
                      </a:r>
                    </a:p>
                  </a:txBody>
                  <a:tcPr>
                    <a:solidFill>
                      <a:srgbClr val="F8F9FF"/>
                    </a:solidFill>
                  </a:tcPr>
                </a:tc>
                <a:tc>
                  <a:txBody>
                    <a:bodyPr/>
                    <a:lstStyle/>
                    <a:p>
                      <a:r>
                        <a:rPr sz="1000">
                          <a:solidFill>
                            <a:srgbClr val="1A1A2E"/>
                          </a:solidFill>
                          <a:latin typeface="Calibri"/>
                        </a:rPr>
                        <a:t>★★★★☆</a:t>
                      </a:r>
                    </a:p>
                  </a:txBody>
                  <a:tcPr>
                    <a:solidFill>
                      <a:srgbClr val="F8F9FF"/>
                    </a:solidFill>
                  </a:tcPr>
                </a:tc>
                <a:tc>
                  <a:txBody>
                    <a:bodyPr/>
                    <a:lstStyle/>
                    <a:p>
                      <a:r>
                        <a:rPr sz="1000">
                          <a:solidFill>
                            <a:srgbClr val="1A1A2E"/>
                          </a:solidFill>
                          <a:latin typeface="Calibri"/>
                        </a:rPr>
                        <a:t>GPT-4o, Claude, Gemini</a:t>
                      </a:r>
                    </a:p>
                  </a:txBody>
                  <a:tcPr>
                    <a:solidFill>
                      <a:srgbClr val="F8F9FF"/>
                    </a:solidFill>
                  </a:tcPr>
                </a:tc>
                <a:tc>
                  <a:txBody>
                    <a:bodyPr/>
                    <a:lstStyle/>
                    <a:p>
                      <a:r>
                        <a:rPr sz="1000">
                          <a:solidFill>
                            <a:srgbClr val="1A1A2E"/>
                          </a:solidFill>
                          <a:latin typeface="Calibri"/>
                        </a:rPr>
                        <a:t>2,000 completions</a:t>
                      </a:r>
                    </a:p>
                  </a:txBody>
                  <a:tcPr>
                    <a:solidFill>
                      <a:srgbClr val="F8F9FF"/>
                    </a:solidFill>
                  </a:tcPr>
                </a:tc>
                <a:tc>
                  <a:txBody>
                    <a:bodyPr/>
                    <a:lstStyle/>
                    <a:p>
                      <a:r>
                        <a:rPr sz="1000">
                          <a:solidFill>
                            <a:srgbClr val="1A1A2E"/>
                          </a:solidFill>
                          <a:latin typeface="Calibri"/>
                        </a:rPr>
                        <a:t>$20/mo</a:t>
                      </a:r>
                    </a:p>
                  </a:txBody>
                  <a:tcPr>
                    <a:solidFill>
                      <a:srgbClr val="F8F9FF"/>
                    </a:solidFill>
                  </a:tcPr>
                </a:tc>
                <a:tc>
                  <a:txBody>
                    <a:bodyPr/>
                    <a:lstStyle/>
                    <a:p>
                      <a:r>
                        <a:rPr sz="1000">
                          <a:solidFill>
                            <a:srgbClr val="1A1A2E"/>
                          </a:solidFill>
                          <a:latin typeface="Calibri"/>
                        </a:rPr>
                        <a:t>Daily dev work, large codebases</a:t>
                      </a:r>
                    </a:p>
                  </a:txBody>
                  <a:tcPr>
                    <a:solidFill>
                      <a:srgbClr val="F8F9FF"/>
                    </a:solidFill>
                  </a:tcPr>
                </a:tc>
              </a:tr>
              <a:tr h="347472">
                <a:tc>
                  <a:txBody>
                    <a:bodyPr/>
                    <a:lstStyle/>
                    <a:p>
                      <a:r>
                        <a:rPr sz="1000">
                          <a:solidFill>
                            <a:srgbClr val="1A1A2E"/>
                          </a:solidFill>
                          <a:latin typeface="Calibri"/>
                        </a:rPr>
                        <a:t>Windsurf</a:t>
                      </a:r>
                    </a:p>
                  </a:txBody>
                  <a:tcPr>
                    <a:solidFill>
                      <a:srgbClr val="FFFFFF"/>
                    </a:solidFill>
                  </a:tcPr>
                </a:tc>
                <a:tc>
                  <a:txBody>
                    <a:bodyPr/>
                    <a:lstStyle/>
                    <a:p>
                      <a:r>
                        <a:rPr sz="1000">
                          <a:solidFill>
                            <a:srgbClr val="1A1A2E"/>
                          </a:solidFill>
                          <a:latin typeface="Calibri"/>
                        </a:rPr>
                        <a:t>IDE (VS Code)</a:t>
                      </a:r>
                    </a:p>
                  </a:txBody>
                  <a:tcPr>
                    <a:solidFill>
                      <a:srgbClr val="FFFFFF"/>
                    </a:solidFill>
                  </a:tcPr>
                </a:tc>
                <a:tc>
                  <a:txBody>
                    <a:bodyPr/>
                    <a:lstStyle/>
                    <a:p>
                      <a:r>
                        <a:rPr sz="1000">
                          <a:solidFill>
                            <a:srgbClr val="1A1A2E"/>
                          </a:solidFill>
                          <a:latin typeface="Calibri"/>
                        </a:rPr>
                        <a:t>★★★★☆</a:t>
                      </a:r>
                    </a:p>
                  </a:txBody>
                  <a:tcPr>
                    <a:solidFill>
                      <a:srgbClr val="FFFFFF"/>
                    </a:solidFill>
                  </a:tcPr>
                </a:tc>
                <a:tc>
                  <a:txBody>
                    <a:bodyPr/>
                    <a:lstStyle/>
                    <a:p>
                      <a:r>
                        <a:rPr sz="1000">
                          <a:solidFill>
                            <a:srgbClr val="1A1A2E"/>
                          </a:solidFill>
                          <a:latin typeface="Calibri"/>
                        </a:rPr>
                        <a:t>Claude, GPT-4o</a:t>
                      </a:r>
                    </a:p>
                  </a:txBody>
                  <a:tcPr>
                    <a:solidFill>
                      <a:srgbClr val="FFFFFF"/>
                    </a:solidFill>
                  </a:tcPr>
                </a:tc>
                <a:tc>
                  <a:txBody>
                    <a:bodyPr/>
                    <a:lstStyle/>
                    <a:p>
                      <a:r>
                        <a:rPr sz="1000">
                          <a:solidFill>
                            <a:srgbClr val="1A1A2E"/>
                          </a:solidFill>
                          <a:latin typeface="Calibri"/>
                        </a:rPr>
                        <a:t>5 flows/day</a:t>
                      </a:r>
                    </a:p>
                  </a:txBody>
                  <a:tcPr>
                    <a:solidFill>
                      <a:srgbClr val="FFFFFF"/>
                    </a:solidFill>
                  </a:tcPr>
                </a:tc>
                <a:tc>
                  <a:txBody>
                    <a:bodyPr/>
                    <a:lstStyle/>
                    <a:p>
                      <a:r>
                        <a:rPr sz="1000">
                          <a:solidFill>
                            <a:srgbClr val="1A1A2E"/>
                          </a:solidFill>
                          <a:latin typeface="Calibri"/>
                        </a:rPr>
                        <a:t>$15/mo</a:t>
                      </a:r>
                    </a:p>
                  </a:txBody>
                  <a:tcPr>
                    <a:solidFill>
                      <a:srgbClr val="FFFFFF"/>
                    </a:solidFill>
                  </a:tcPr>
                </a:tc>
                <a:tc>
                  <a:txBody>
                    <a:bodyPr/>
                    <a:lstStyle/>
                    <a:p>
                      <a:r>
                        <a:rPr sz="1000">
                          <a:solidFill>
                            <a:srgbClr val="1A1A2E"/>
                          </a:solidFill>
                          <a:latin typeface="Calibri"/>
                        </a:rPr>
                        <a:t>New features, long tasks</a:t>
                      </a:r>
                    </a:p>
                  </a:txBody>
                  <a:tcPr>
                    <a:solidFill>
                      <a:srgbClr val="FFFFFF"/>
                    </a:solidFill>
                  </a:tcPr>
                </a:tc>
              </a:tr>
              <a:tr h="347472">
                <a:tc>
                  <a:txBody>
                    <a:bodyPr/>
                    <a:lstStyle/>
                    <a:p>
                      <a:r>
                        <a:rPr sz="1000">
                          <a:solidFill>
                            <a:srgbClr val="1A1A2E"/>
                          </a:solidFill>
                          <a:latin typeface="Calibri"/>
                        </a:rPr>
                        <a:t>GitHub Copilot</a:t>
                      </a:r>
                    </a:p>
                  </a:txBody>
                  <a:tcPr>
                    <a:solidFill>
                      <a:srgbClr val="F8F9FF"/>
                    </a:solidFill>
                  </a:tcPr>
                </a:tc>
                <a:tc>
                  <a:txBody>
                    <a:bodyPr/>
                    <a:lstStyle/>
                    <a:p>
                      <a:r>
                        <a:rPr sz="1000">
                          <a:solidFill>
                            <a:srgbClr val="1A1A2E"/>
                          </a:solidFill>
                          <a:latin typeface="Calibri"/>
                        </a:rPr>
                        <a:t>IDE + GitHub</a:t>
                      </a:r>
                    </a:p>
                  </a:txBody>
                  <a:tcPr>
                    <a:solidFill>
                      <a:srgbClr val="F8F9FF"/>
                    </a:solidFill>
                  </a:tcPr>
                </a:tc>
                <a:tc>
                  <a:txBody>
                    <a:bodyPr/>
                    <a:lstStyle/>
                    <a:p>
                      <a:r>
                        <a:rPr sz="1000">
                          <a:solidFill>
                            <a:srgbClr val="1A1A2E"/>
                          </a:solidFill>
                          <a:latin typeface="Calibri"/>
                        </a:rPr>
                        <a:t>★★★☆☆</a:t>
                      </a:r>
                    </a:p>
                  </a:txBody>
                  <a:tcPr>
                    <a:solidFill>
                      <a:srgbClr val="F8F9FF"/>
                    </a:solidFill>
                  </a:tcPr>
                </a:tc>
                <a:tc>
                  <a:txBody>
                    <a:bodyPr/>
                    <a:lstStyle/>
                    <a:p>
                      <a:r>
                        <a:rPr sz="1000">
                          <a:solidFill>
                            <a:srgbClr val="1A1A2E"/>
                          </a:solidFill>
                          <a:latin typeface="Calibri"/>
                        </a:rPr>
                        <a:t>GPT-4o</a:t>
                      </a:r>
                    </a:p>
                  </a:txBody>
                  <a:tcPr>
                    <a:solidFill>
                      <a:srgbClr val="F8F9FF"/>
                    </a:solidFill>
                  </a:tcPr>
                </a:tc>
                <a:tc>
                  <a:txBody>
                    <a:bodyPr/>
                    <a:lstStyle/>
                    <a:p>
                      <a:r>
                        <a:rPr sz="1000">
                          <a:solidFill>
                            <a:srgbClr val="1A1A2E"/>
                          </a:solidFill>
                          <a:latin typeface="Calibri"/>
                        </a:rPr>
                        <a:t>Yes (limited)</a:t>
                      </a:r>
                    </a:p>
                  </a:txBody>
                  <a:tcPr>
                    <a:solidFill>
                      <a:srgbClr val="F8F9FF"/>
                    </a:solidFill>
                  </a:tcPr>
                </a:tc>
                <a:tc>
                  <a:txBody>
                    <a:bodyPr/>
                    <a:lstStyle/>
                    <a:p>
                      <a:r>
                        <a:rPr sz="1000">
                          <a:solidFill>
                            <a:srgbClr val="1A1A2E"/>
                          </a:solidFill>
                          <a:latin typeface="Calibri"/>
                        </a:rPr>
                        <a:t>$19/mo</a:t>
                      </a:r>
                    </a:p>
                  </a:txBody>
                  <a:tcPr>
                    <a:solidFill>
                      <a:srgbClr val="F8F9FF"/>
                    </a:solidFill>
                  </a:tcPr>
                </a:tc>
                <a:tc>
                  <a:txBody>
                    <a:bodyPr/>
                    <a:lstStyle/>
                    <a:p>
                      <a:r>
                        <a:rPr sz="1000">
                          <a:solidFill>
                            <a:srgbClr val="1A1A2E"/>
                          </a:solidFill>
                          <a:latin typeface="Calibri"/>
                        </a:rPr>
                        <a:t>Enterprise, GitHub-integrated teams</a:t>
                      </a:r>
                    </a:p>
                  </a:txBody>
                  <a:tcPr>
                    <a:solidFill>
                      <a:srgbClr val="F8F9FF"/>
                    </a:solidFill>
                  </a:tcPr>
                </a:tc>
              </a:tr>
              <a:tr h="347472">
                <a:tc>
                  <a:txBody>
                    <a:bodyPr/>
                    <a:lstStyle/>
                    <a:p>
                      <a:r>
                        <a:rPr sz="1000">
                          <a:solidFill>
                            <a:srgbClr val="1A1A2E"/>
                          </a:solidFill>
                          <a:latin typeface="Calibri"/>
                        </a:rPr>
                        <a:t>Amazon Q</a:t>
                      </a:r>
                    </a:p>
                  </a:txBody>
                  <a:tcPr>
                    <a:solidFill>
                      <a:srgbClr val="FFFFFF"/>
                    </a:solidFill>
                  </a:tcPr>
                </a:tc>
                <a:tc>
                  <a:txBody>
                    <a:bodyPr/>
                    <a:lstStyle/>
                    <a:p>
                      <a:r>
                        <a:rPr sz="1000">
                          <a:solidFill>
                            <a:srgbClr val="1A1A2E"/>
                          </a:solidFill>
                          <a:latin typeface="Calibri"/>
                        </a:rPr>
                        <a:t>IDE + CLI</a:t>
                      </a:r>
                    </a:p>
                  </a:txBody>
                  <a:tcPr>
                    <a:solidFill>
                      <a:srgbClr val="FFFFFF"/>
                    </a:solidFill>
                  </a:tcPr>
                </a:tc>
                <a:tc>
                  <a:txBody>
                    <a:bodyPr/>
                    <a:lstStyle/>
                    <a:p>
                      <a:r>
                        <a:rPr sz="1000">
                          <a:solidFill>
                            <a:srgbClr val="1A1A2E"/>
                          </a:solidFill>
                          <a:latin typeface="Calibri"/>
                        </a:rPr>
                        <a:t>★★★☆☆</a:t>
                      </a:r>
                    </a:p>
                  </a:txBody>
                  <a:tcPr>
                    <a:solidFill>
                      <a:srgbClr val="FFFFFF"/>
                    </a:solidFill>
                  </a:tcPr>
                </a:tc>
                <a:tc>
                  <a:txBody>
                    <a:bodyPr/>
                    <a:lstStyle/>
                    <a:p>
                      <a:r>
                        <a:rPr sz="1000">
                          <a:solidFill>
                            <a:srgbClr val="1A1A2E"/>
                          </a:solidFill>
                          <a:latin typeface="Calibri"/>
                        </a:rPr>
                        <a:t>Claude-powered</a:t>
                      </a:r>
                    </a:p>
                  </a:txBody>
                  <a:tcPr>
                    <a:solidFill>
                      <a:srgbClr val="FFFFFF"/>
                    </a:solidFill>
                  </a:tcPr>
                </a:tc>
                <a:tc>
                  <a:txBody>
                    <a:bodyPr/>
                    <a:lstStyle/>
                    <a:p>
                      <a:r>
                        <a:rPr sz="1000">
                          <a:solidFill>
                            <a:srgbClr val="1A1A2E"/>
                          </a:solidFill>
                          <a:latin typeface="Calibri"/>
                        </a:rPr>
                        <a:t>Yes</a:t>
                      </a:r>
                    </a:p>
                  </a:txBody>
                  <a:tcPr>
                    <a:solidFill>
                      <a:srgbClr val="FFFFFF"/>
                    </a:solidFill>
                  </a:tcPr>
                </a:tc>
                <a:tc>
                  <a:txBody>
                    <a:bodyPr/>
                    <a:lstStyle/>
                    <a:p>
                      <a:r>
                        <a:rPr sz="1000">
                          <a:solidFill>
                            <a:srgbClr val="1A1A2E"/>
                          </a:solidFill>
                          <a:latin typeface="Calibri"/>
                        </a:rPr>
                        <a:t>$19/mo</a:t>
                      </a:r>
                    </a:p>
                  </a:txBody>
                  <a:tcPr>
                    <a:solidFill>
                      <a:srgbClr val="FFFFFF"/>
                    </a:solidFill>
                  </a:tcPr>
                </a:tc>
                <a:tc>
                  <a:txBody>
                    <a:bodyPr/>
                    <a:lstStyle/>
                    <a:p>
                      <a:r>
                        <a:rPr sz="1000">
                          <a:solidFill>
                            <a:srgbClr val="1A1A2E"/>
                          </a:solidFill>
                          <a:latin typeface="Calibri"/>
                        </a:rPr>
                        <a:t>AWS-native development</a:t>
                      </a:r>
                    </a:p>
                  </a:txBody>
                  <a:tcPr>
                    <a:solidFill>
                      <a:srgbClr val="FFFFFF"/>
                    </a:solidFill>
                  </a:tcPr>
                </a:tc>
              </a:tr>
              <a:tr h="347472">
                <a:tc>
                  <a:txBody>
                    <a:bodyPr/>
                    <a:lstStyle/>
                    <a:p>
                      <a:r>
                        <a:rPr sz="1000">
                          <a:solidFill>
                            <a:srgbClr val="1A1A2E"/>
                          </a:solidFill>
                          <a:latin typeface="Calibri"/>
                        </a:rPr>
                        <a:t>Replit AI</a:t>
                      </a:r>
                    </a:p>
                  </a:txBody>
                  <a:tcPr>
                    <a:solidFill>
                      <a:srgbClr val="F8F9FF"/>
                    </a:solidFill>
                  </a:tcPr>
                </a:tc>
                <a:tc>
                  <a:txBody>
                    <a:bodyPr/>
                    <a:lstStyle/>
                    <a:p>
                      <a:r>
                        <a:rPr sz="1000">
                          <a:solidFill>
                            <a:srgbClr val="1A1A2E"/>
                          </a:solidFill>
                          <a:latin typeface="Calibri"/>
                        </a:rPr>
                        <a:t>Browser</a:t>
                      </a:r>
                    </a:p>
                  </a:txBody>
                  <a:tcPr>
                    <a:solidFill>
                      <a:srgbClr val="F8F9FF"/>
                    </a:solidFill>
                  </a:tcPr>
                </a:tc>
                <a:tc>
                  <a:txBody>
                    <a:bodyPr/>
                    <a:lstStyle/>
                    <a:p>
                      <a:r>
                        <a:rPr sz="1000">
                          <a:solidFill>
                            <a:srgbClr val="1A1A2E"/>
                          </a:solidFill>
                          <a:latin typeface="Calibri"/>
                        </a:rPr>
                        <a:t>★★☆☆☆</a:t>
                      </a:r>
                    </a:p>
                  </a:txBody>
                  <a:tcPr>
                    <a:solidFill>
                      <a:srgbClr val="F8F9FF"/>
                    </a:solidFill>
                  </a:tcPr>
                </a:tc>
                <a:tc>
                  <a:txBody>
                    <a:bodyPr/>
                    <a:lstStyle/>
                    <a:p>
                      <a:r>
                        <a:rPr sz="1000">
                          <a:solidFill>
                            <a:srgbClr val="1A1A2E"/>
                          </a:solidFill>
                          <a:latin typeface="Calibri"/>
                        </a:rPr>
                        <a:t>GPT-4o</a:t>
                      </a:r>
                    </a:p>
                  </a:txBody>
                  <a:tcPr>
                    <a:solidFill>
                      <a:srgbClr val="F8F9FF"/>
                    </a:solidFill>
                  </a:tcPr>
                </a:tc>
                <a:tc>
                  <a:txBody>
                    <a:bodyPr/>
                    <a:lstStyle/>
                    <a:p>
                      <a:r>
                        <a:rPr sz="1000">
                          <a:solidFill>
                            <a:srgbClr val="1A1A2E"/>
                          </a:solidFill>
                          <a:latin typeface="Calibri"/>
                        </a:rPr>
                        <a:t>Yes (limited)</a:t>
                      </a:r>
                    </a:p>
                  </a:txBody>
                  <a:tcPr>
                    <a:solidFill>
                      <a:srgbClr val="F8F9FF"/>
                    </a:solidFill>
                  </a:tcPr>
                </a:tc>
                <a:tc>
                  <a:txBody>
                    <a:bodyPr/>
                    <a:lstStyle/>
                    <a:p>
                      <a:r>
                        <a:rPr sz="1000">
                          <a:solidFill>
                            <a:srgbClr val="1A1A2E"/>
                          </a:solidFill>
                          <a:latin typeface="Calibri"/>
                        </a:rPr>
                        <a:t>$20/mo</a:t>
                      </a:r>
                    </a:p>
                  </a:txBody>
                  <a:tcPr>
                    <a:solidFill>
                      <a:srgbClr val="F8F9FF"/>
                    </a:solidFill>
                  </a:tcPr>
                </a:tc>
                <a:tc>
                  <a:txBody>
                    <a:bodyPr/>
                    <a:lstStyle/>
                    <a:p>
                      <a:r>
                        <a:rPr sz="1000">
                          <a:solidFill>
                            <a:srgbClr val="1A1A2E"/>
                          </a:solidFill>
                          <a:latin typeface="Calibri"/>
                        </a:rPr>
                        <a:t>Learning, no-install prototypes</a:t>
                      </a:r>
                    </a:p>
                  </a:txBody>
                  <a:tcPr>
                    <a:solidFill>
                      <a:srgbClr val="F8F9FF"/>
                    </a:solidFill>
                  </a:tcPr>
                </a:tc>
              </a:tr>
            </a:tbl>
          </a:graphicData>
        </a:graphic>
      </p:graphicFrame>
      <p:sp>
        <p:nvSpPr>
          <p:cNvPr id="10" name="TextBox 9"/>
          <p:cNvSpPr txBox="1"/>
          <p:nvPr/>
        </p:nvSpPr>
        <p:spPr>
          <a:xfrm>
            <a:off x="457200" y="414223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Decision guide by situation:</a:t>
            </a:r>
          </a:p>
          <a:p>
            <a:pPr>
              <a:spcBef>
                <a:spcPts val="200"/>
              </a:spcBef>
              <a:spcAft>
                <a:spcPts val="100"/>
              </a:spcAft>
            </a:pPr>
            <a:r>
              <a:rPr sz="1300">
                <a:solidFill>
                  <a:srgbClr val="0EA5E9"/>
                </a:solidFill>
                <a:latin typeface="Calibri"/>
              </a:rPr>
              <a:t>• </a:t>
            </a:r>
            <a:r>
              <a:rPr sz="1300" b="0">
                <a:solidFill>
                  <a:srgbClr val="1A1A2E"/>
                </a:solidFill>
                <a:latin typeface="Calibri"/>
              </a:rPr>
              <a:t>In an enterprise with IT governance requirements → GitHub Copilot (approved vendor, SOC2, audit logs)</a:t>
            </a:r>
          </a:p>
          <a:p>
            <a:pPr>
              <a:spcBef>
                <a:spcPts val="200"/>
              </a:spcBef>
              <a:spcAft>
                <a:spcPts val="100"/>
              </a:spcAft>
            </a:pPr>
            <a:r>
              <a:rPr sz="1300">
                <a:solidFill>
                  <a:srgbClr val="0EA5E9"/>
                </a:solidFill>
                <a:latin typeface="Calibri"/>
              </a:rPr>
              <a:t>• </a:t>
            </a:r>
            <a:r>
              <a:rPr sz="1300" b="0">
                <a:solidFill>
                  <a:srgbClr val="1A1A2E"/>
                </a:solidFill>
                <a:latin typeface="Calibri"/>
              </a:rPr>
              <a:t>Building Python data pipelines and analytics → Cursor or Claude Code</a:t>
            </a:r>
          </a:p>
          <a:p>
            <a:pPr>
              <a:spcBef>
                <a:spcPts val="200"/>
              </a:spcBef>
              <a:spcAft>
                <a:spcPts val="100"/>
              </a:spcAft>
            </a:pPr>
            <a:r>
              <a:rPr sz="1300">
                <a:solidFill>
                  <a:srgbClr val="0EA5E9"/>
                </a:solidFill>
                <a:latin typeface="Calibri"/>
              </a:rPr>
              <a:t>• </a:t>
            </a:r>
            <a:r>
              <a:rPr sz="1300" b="0">
                <a:solidFill>
                  <a:srgbClr val="1A1A2E"/>
                </a:solidFill>
                <a:latin typeface="Calibri"/>
              </a:rPr>
              <a:t>Starting a new project from scratch → Windsurf Cascade for the first build</a:t>
            </a:r>
          </a:p>
          <a:p>
            <a:pPr>
              <a:spcBef>
                <a:spcPts val="200"/>
              </a:spcBef>
              <a:spcAft>
                <a:spcPts val="100"/>
              </a:spcAft>
            </a:pPr>
            <a:r>
              <a:rPr sz="1300">
                <a:solidFill>
                  <a:srgbClr val="0EA5E9"/>
                </a:solidFill>
                <a:latin typeface="Calibri"/>
              </a:rPr>
              <a:t>• </a:t>
            </a:r>
            <a:r>
              <a:rPr sz="1300" b="0">
                <a:solidFill>
                  <a:srgbClr val="1A1A2E"/>
                </a:solidFill>
                <a:latin typeface="Calibri"/>
              </a:rPr>
              <a:t>Want maximum autonomy, hands-off task completion → Claude Code</a:t>
            </a:r>
          </a:p>
          <a:p>
            <a:pPr>
              <a:spcBef>
                <a:spcPts val="200"/>
              </a:spcBef>
              <a:spcAft>
                <a:spcPts val="100"/>
              </a:spcAft>
            </a:pPr>
            <a:r>
              <a:rPr sz="1300">
                <a:solidFill>
                  <a:srgbClr val="0EA5E9"/>
                </a:solidFill>
                <a:latin typeface="Calibri"/>
              </a:rPr>
              <a:t>• </a:t>
            </a:r>
            <a:r>
              <a:rPr sz="1300" b="0">
                <a:solidFill>
                  <a:srgbClr val="1A1A2E"/>
                </a:solidFill>
                <a:latin typeface="Calibri"/>
              </a:rPr>
              <a:t>Student learning to code → Replit AI (browser, no setup) or Windsurf (generous free tier)</a:t>
            </a:r>
          </a:p>
          <a:p>
            <a:pPr>
              <a:spcBef>
                <a:spcPts val="200"/>
              </a:spcBef>
              <a:spcAft>
                <a:spcPts val="100"/>
              </a:spcAft>
            </a:pPr>
            <a:r>
              <a:rPr sz="1300">
                <a:solidFill>
                  <a:srgbClr val="0EA5E9"/>
                </a:solidFill>
                <a:latin typeface="Calibri"/>
              </a:rPr>
              <a:t>• </a:t>
            </a:r>
            <a:r>
              <a:rPr sz="1300" b="0">
                <a:solidFill>
                  <a:srgbClr val="1A1A2E"/>
                </a:solidFill>
                <a:latin typeface="Calibri"/>
              </a:rPr>
              <a:t>AWS-heavy stack → Amazon Q Developer</a:t>
            </a:r>
          </a:p>
          <a:p>
            <a:pPr>
              <a:spcBef>
                <a:spcPts val="200"/>
              </a:spcBef>
              <a:spcAft>
                <a:spcPts val="100"/>
              </a:spcAft>
            </a:pPr>
            <a:r>
              <a:rPr sz="1200" b="0">
                <a:solidFill>
                  <a:srgbClr val="2D3748"/>
                </a:solidFill>
                <a:latin typeface="Calibri"/>
              </a:rPr>
              <a:t>The meta-lesson: These tools are skills, not features. Developers who spend time learning to prompt them well — how to give clear context, how to validate output, when to take manual control — get dramatically more value than those who just install and hope. Pick one and go deep before expanding.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058400" cy="640080"/>
          </a:xfrm>
          <a:prstGeom prst="rect">
            <a:avLst/>
          </a:prstGeom>
          <a:noFill/>
        </p:spPr>
        <p:txBody>
          <a:bodyPr wrap="none">
            <a:spAutoFit/>
          </a:bodyPr>
          <a:lstStyle/>
          <a:p>
            <a:r>
              <a:rPr sz="2200" b="1">
                <a:solidFill>
                  <a:srgbClr val="0EA5E9"/>
                </a:solidFill>
                <a:latin typeface="Calibri"/>
              </a:rPr>
              <a:t>Section 4</a:t>
            </a:r>
          </a:p>
        </p:txBody>
      </p:sp>
      <p:sp>
        <p:nvSpPr>
          <p:cNvPr id="5" name="TextBox 4"/>
          <p:cNvSpPr txBox="1"/>
          <p:nvPr/>
        </p:nvSpPr>
        <p:spPr>
          <a:xfrm>
            <a:off x="914400" y="2606040"/>
            <a:ext cx="10058400" cy="1097280"/>
          </a:xfrm>
          <a:prstGeom prst="rect">
            <a:avLst/>
          </a:prstGeom>
          <a:noFill/>
        </p:spPr>
        <p:txBody>
          <a:bodyPr wrap="none">
            <a:spAutoFit/>
          </a:bodyPr>
          <a:lstStyle/>
          <a:p>
            <a:r>
              <a:rPr sz="3600" b="1">
                <a:solidFill>
                  <a:srgbClr val="FFFFFF"/>
                </a:solidFill>
                <a:latin typeface="Calibri"/>
              </a:rPr>
              <a:t>Business Automation &amp; Multimodal 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AI Business Automation — The Convergence</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When Workflow Automation Meets Intelligence</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20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20</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Two technologies, each powerful alone — together, transformative:</a:t>
            </a:r>
          </a:p>
        </p:txBody>
      </p:sp>
      <p:graphicFrame>
        <p:nvGraphicFramePr>
          <p:cNvPr id="11" name="Table 10"/>
          <p:cNvGraphicFramePr>
            <a:graphicFrameLocks noGrp="1"/>
          </p:cNvGraphicFramePr>
          <p:nvPr/>
        </p:nvGraphicFramePr>
        <p:xfrm>
          <a:off x="457200" y="1600200"/>
          <a:ext cx="6492240" cy="2084832"/>
        </p:xfrm>
        <a:graphic>
          <a:graphicData uri="http://schemas.openxmlformats.org/drawingml/2006/table">
            <a:tbl>
              <a:tblPr firstRow="1" bandRow="1">
                <a:tableStyleId>{5C22544A-7EE6-4342-B048-85BDC9FD1C3A}</a:tableStyleId>
              </a:tblPr>
              <a:tblGrid>
                <a:gridCol w="3246120"/>
                <a:gridCol w="3246120"/>
              </a:tblGrid>
              <a:tr h="347472">
                <a:tc>
                  <a:txBody>
                    <a:bodyPr/>
                    <a:lstStyle/>
                    <a:p>
                      <a:pPr algn="l"/>
                      <a:r>
                        <a:rPr sz="1100" b="1">
                          <a:solidFill>
                            <a:srgbClr val="FFFFFF"/>
                          </a:solidFill>
                          <a:latin typeface="Calibri"/>
                        </a:rPr>
                        <a:t>Traditional Automation (Zapier/Make/n8n)</a:t>
                      </a:r>
                    </a:p>
                  </a:txBody>
                  <a:tcPr>
                    <a:solidFill>
                      <a:srgbClr val="16213E"/>
                    </a:solidFill>
                  </a:tcPr>
                </a:tc>
                <a:tc>
                  <a:txBody>
                    <a:bodyPr/>
                    <a:lstStyle/>
                    <a:p>
                      <a:pPr algn="l"/>
                      <a:r>
                        <a:rPr sz="1100" b="1">
                          <a:solidFill>
                            <a:srgbClr val="FFFFFF"/>
                          </a:solidFill>
                          <a:latin typeface="Calibri"/>
                        </a:rPr>
                        <a:t>AI (LLMs, Vision, Voice)</a:t>
                      </a:r>
                    </a:p>
                  </a:txBody>
                  <a:tcPr>
                    <a:solidFill>
                      <a:srgbClr val="16213E"/>
                    </a:solidFill>
                  </a:tcPr>
                </a:tc>
              </a:tr>
              <a:tr h="347472">
                <a:tc>
                  <a:txBody>
                    <a:bodyPr/>
                    <a:lstStyle/>
                    <a:p>
                      <a:r>
                        <a:rPr sz="1000">
                          <a:solidFill>
                            <a:srgbClr val="1A1A2E"/>
                          </a:solidFill>
                          <a:latin typeface="Calibri"/>
                        </a:rPr>
                        <a:t>Rule-based: if X then Y</a:t>
                      </a:r>
                    </a:p>
                  </a:txBody>
                  <a:tcPr>
                    <a:solidFill>
                      <a:srgbClr val="FFFFFF"/>
                    </a:solidFill>
                  </a:tcPr>
                </a:tc>
                <a:tc>
                  <a:txBody>
                    <a:bodyPr/>
                    <a:lstStyle/>
                    <a:p>
                      <a:r>
                        <a:rPr sz="1000">
                          <a:solidFill>
                            <a:srgbClr val="1A1A2E"/>
                          </a:solidFill>
                          <a:latin typeface="Calibri"/>
                        </a:rPr>
                        <a:t>Judgment-based: understand X, decide Y</a:t>
                      </a:r>
                    </a:p>
                  </a:txBody>
                  <a:tcPr>
                    <a:solidFill>
                      <a:srgbClr val="FFFFFF"/>
                    </a:solidFill>
                  </a:tcPr>
                </a:tc>
              </a:tr>
              <a:tr h="347472">
                <a:tc>
                  <a:txBody>
                    <a:bodyPr/>
                    <a:lstStyle/>
                    <a:p>
                      <a:r>
                        <a:rPr sz="1000">
                          <a:solidFill>
                            <a:srgbClr val="1A1A2E"/>
                          </a:solidFill>
                          <a:latin typeface="Calibri"/>
                        </a:rPr>
                        <a:t>Only handles structured data</a:t>
                      </a:r>
                    </a:p>
                  </a:txBody>
                  <a:tcPr>
                    <a:solidFill>
                      <a:srgbClr val="F8F9FF"/>
                    </a:solidFill>
                  </a:tcPr>
                </a:tc>
                <a:tc>
                  <a:txBody>
                    <a:bodyPr/>
                    <a:lstStyle/>
                    <a:p>
                      <a:r>
                        <a:rPr sz="1000">
                          <a:solidFill>
                            <a:srgbClr val="1A1A2E"/>
                          </a:solidFill>
                          <a:latin typeface="Calibri"/>
                        </a:rPr>
                        <a:t>Handles text, images, audio, documents</a:t>
                      </a:r>
                    </a:p>
                  </a:txBody>
                  <a:tcPr>
                    <a:solidFill>
                      <a:srgbClr val="F8F9FF"/>
                    </a:solidFill>
                  </a:tcPr>
                </a:tc>
              </a:tr>
              <a:tr h="347472">
                <a:tc>
                  <a:txBody>
                    <a:bodyPr/>
                    <a:lstStyle/>
                    <a:p>
                      <a:r>
                        <a:rPr sz="1000">
                          <a:solidFill>
                            <a:srgbClr val="1A1A2E"/>
                          </a:solidFill>
                          <a:latin typeface="Calibri"/>
                        </a:rPr>
                        <a:t>Brittle — breaks on edge cases</a:t>
                      </a:r>
                    </a:p>
                  </a:txBody>
                  <a:tcPr>
                    <a:solidFill>
                      <a:srgbClr val="FFFFFF"/>
                    </a:solidFill>
                  </a:tcPr>
                </a:tc>
                <a:tc>
                  <a:txBody>
                    <a:bodyPr/>
                    <a:lstStyle/>
                    <a:p>
                      <a:r>
                        <a:rPr sz="1000">
                          <a:solidFill>
                            <a:srgbClr val="1A1A2E"/>
                          </a:solidFill>
                          <a:latin typeface="Calibri"/>
                        </a:rPr>
                        <a:t>Adaptive — handles variation and ambiguity</a:t>
                      </a:r>
                    </a:p>
                  </a:txBody>
                  <a:tcPr>
                    <a:solidFill>
                      <a:srgbClr val="FFFFFF"/>
                    </a:solidFill>
                  </a:tcPr>
                </a:tc>
              </a:tr>
              <a:tr h="347472">
                <a:tc>
                  <a:txBody>
                    <a:bodyPr/>
                    <a:lstStyle/>
                    <a:p>
                      <a:r>
                        <a:rPr sz="1000">
                          <a:solidFill>
                            <a:srgbClr val="1A1A2E"/>
                          </a:solidFill>
                          <a:latin typeface="Calibri"/>
                        </a:rPr>
                        <a:t>"If email arrives → create ticket"</a:t>
                      </a:r>
                    </a:p>
                  </a:txBody>
                  <a:tcPr>
                    <a:solidFill>
                      <a:srgbClr val="F8F9FF"/>
                    </a:solidFill>
                  </a:tcPr>
                </a:tc>
                <a:tc>
                  <a:txBody>
                    <a:bodyPr/>
                    <a:lstStyle/>
                    <a:p>
                      <a:r>
                        <a:rPr sz="1000">
                          <a:solidFill>
                            <a:srgbClr val="1A1A2E"/>
                          </a:solidFill>
                          <a:latin typeface="Calibri"/>
                        </a:rPr>
                        <a:t>"Read email, understand intent, draft reply, route to right team"</a:t>
                      </a:r>
                    </a:p>
                  </a:txBody>
                  <a:tcPr>
                    <a:solidFill>
                      <a:srgbClr val="F8F9FF"/>
                    </a:solidFill>
                  </a:tcPr>
                </a:tc>
              </a:tr>
              <a:tr h="347472">
                <a:tc>
                  <a:txBody>
                    <a:bodyPr/>
                    <a:lstStyle/>
                    <a:p>
                      <a:r>
                        <a:rPr sz="1000">
                          <a:solidFill>
                            <a:srgbClr val="1A1A2E"/>
                          </a:solidFill>
                          <a:latin typeface="Calibri"/>
                        </a:rPr>
                        <a:t>Replaces mechanical steps</a:t>
                      </a:r>
                    </a:p>
                  </a:txBody>
                  <a:tcPr>
                    <a:solidFill>
                      <a:srgbClr val="FFFFFF"/>
                    </a:solidFill>
                  </a:tcPr>
                </a:tc>
                <a:tc>
                  <a:txBody>
                    <a:bodyPr/>
                    <a:lstStyle/>
                    <a:p>
                      <a:r>
                        <a:rPr sz="1000">
                          <a:solidFill>
                            <a:srgbClr val="1A1A2E"/>
                          </a:solidFill>
                          <a:latin typeface="Calibri"/>
                        </a:rPr>
                        <a:t>Replaces judgment steps</a:t>
                      </a:r>
                    </a:p>
                  </a:txBody>
                  <a:tcPr>
                    <a:solidFill>
                      <a:srgbClr val="FFFFFF"/>
                    </a:solidFill>
                  </a:tcPr>
                </a:tc>
              </a:tr>
            </a:tbl>
          </a:graphicData>
        </a:graphic>
      </p:graphicFrame>
      <p:sp>
        <p:nvSpPr>
          <p:cNvPr id="12" name="TextBox 11"/>
          <p:cNvSpPr txBox="1"/>
          <p:nvPr/>
        </p:nvSpPr>
        <p:spPr>
          <a:xfrm>
            <a:off x="457200" y="379476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resulting productivity impact — measured across 2025–2026 deployments:</a:t>
            </a:r>
          </a:p>
        </p:txBody>
      </p:sp>
      <p:graphicFrame>
        <p:nvGraphicFramePr>
          <p:cNvPr id="13" name="Table 12"/>
          <p:cNvGraphicFramePr>
            <a:graphicFrameLocks noGrp="1"/>
          </p:cNvGraphicFramePr>
          <p:nvPr/>
        </p:nvGraphicFramePr>
        <p:xfrm>
          <a:off x="457200" y="4069080"/>
          <a:ext cx="6492240" cy="2084832"/>
        </p:xfrm>
        <a:graphic>
          <a:graphicData uri="http://schemas.openxmlformats.org/drawingml/2006/table">
            <a:tbl>
              <a:tblPr firstRow="1" bandRow="1">
                <a:tableStyleId>{5C22544A-7EE6-4342-B048-85BDC9FD1C3A}</a:tableStyleId>
              </a:tblPr>
              <a:tblGrid>
                <a:gridCol w="1298448"/>
                <a:gridCol w="1298448"/>
                <a:gridCol w="1298448"/>
                <a:gridCol w="1298448"/>
                <a:gridCol w="1298448"/>
              </a:tblGrid>
              <a:tr h="347472">
                <a:tc>
                  <a:txBody>
                    <a:bodyPr/>
                    <a:lstStyle/>
                    <a:p>
                      <a:pPr algn="l"/>
                      <a:r>
                        <a:rPr sz="1100" b="1">
                          <a:solidFill>
                            <a:srgbClr val="FFFFFF"/>
                          </a:solidFill>
                          <a:latin typeface="Calibri"/>
                        </a:rPr>
                        <a:t>Business Process</a:t>
                      </a:r>
                    </a:p>
                  </a:txBody>
                  <a:tcPr>
                    <a:solidFill>
                      <a:srgbClr val="16213E"/>
                    </a:solidFill>
                  </a:tcPr>
                </a:tc>
                <a:tc>
                  <a:txBody>
                    <a:bodyPr/>
                    <a:lstStyle/>
                    <a:p>
                      <a:pPr algn="l"/>
                      <a:r>
                        <a:rPr sz="1100" b="1">
                          <a:solidFill>
                            <a:srgbClr val="FFFFFF"/>
                          </a:solidFill>
                          <a:latin typeface="Calibri"/>
                        </a:rPr>
                        <a:t>Manual Time</a:t>
                      </a:r>
                    </a:p>
                  </a:txBody>
                  <a:tcPr>
                    <a:solidFill>
                      <a:srgbClr val="16213E"/>
                    </a:solidFill>
                  </a:tcPr>
                </a:tc>
                <a:tc>
                  <a:txBody>
                    <a:bodyPr/>
                    <a:lstStyle/>
                    <a:p>
                      <a:pPr algn="l"/>
                      <a:r>
                        <a:rPr sz="1100" b="1">
                          <a:solidFill>
                            <a:srgbClr val="FFFFFF"/>
                          </a:solidFill>
                          <a:latin typeface="Calibri"/>
                        </a:rPr>
                        <a:t>With AI Automation</a:t>
                      </a:r>
                    </a:p>
                  </a:txBody>
                  <a:tcPr>
                    <a:solidFill>
                      <a:srgbClr val="16213E"/>
                    </a:solidFill>
                  </a:tcPr>
                </a:tc>
                <a:tc>
                  <a:txBody>
                    <a:bodyPr/>
                    <a:lstStyle/>
                    <a:p>
                      <a:pPr algn="l"/>
                      <a:r>
                        <a:rPr sz="1100" b="1">
                          <a:solidFill>
                            <a:srgbClr val="FFFFFF"/>
                          </a:solidFill>
                          <a:latin typeface="Calibri"/>
                        </a:rPr>
                        <a:t>Time Saved</a:t>
                      </a:r>
                    </a:p>
                  </a:txBody>
                  <a:tcPr>
                    <a:solidFill>
                      <a:srgbClr val="16213E"/>
                    </a:solidFill>
                  </a:tcPr>
                </a:tc>
                <a:tc>
                  <a:txBody>
                    <a:bodyPr/>
                    <a:lstStyle/>
                    <a:p>
                      <a:pPr algn="l"/>
                      <a:r>
                        <a:rPr sz="1100" b="1">
                          <a:solidFill>
                            <a:srgbClr val="FFFFFF"/>
                          </a:solidFill>
                          <a:latin typeface="Calibri"/>
                        </a:rPr>
                        <a:t>Typical Cost/Run</a:t>
                      </a:r>
                    </a:p>
                  </a:txBody>
                  <a:tcPr>
                    <a:solidFill>
                      <a:srgbClr val="16213E"/>
                    </a:solidFill>
                  </a:tcPr>
                </a:tc>
              </a:tr>
              <a:tr h="347472">
                <a:tc>
                  <a:txBody>
                    <a:bodyPr/>
                    <a:lstStyle/>
                    <a:p>
                      <a:r>
                        <a:rPr sz="1000">
                          <a:solidFill>
                            <a:srgbClr val="1A1A2E"/>
                          </a:solidFill>
                          <a:latin typeface="Calibri"/>
                        </a:rPr>
                        <a:t>Invoice processing (extract, validate, route)</a:t>
                      </a:r>
                    </a:p>
                  </a:txBody>
                  <a:tcPr>
                    <a:solidFill>
                      <a:srgbClr val="FFFFFF"/>
                    </a:solidFill>
                  </a:tcPr>
                </a:tc>
                <a:tc>
                  <a:txBody>
                    <a:bodyPr/>
                    <a:lstStyle/>
                    <a:p>
                      <a:r>
                        <a:rPr sz="1000">
                          <a:solidFill>
                            <a:srgbClr val="1A1A2E"/>
                          </a:solidFill>
                          <a:latin typeface="Calibri"/>
                        </a:rPr>
                        <a:t>5 min/invoice</a:t>
                      </a:r>
                    </a:p>
                  </a:txBody>
                  <a:tcPr>
                    <a:solidFill>
                      <a:srgbClr val="FFFFFF"/>
                    </a:solidFill>
                  </a:tcPr>
                </a:tc>
                <a:tc>
                  <a:txBody>
                    <a:bodyPr/>
                    <a:lstStyle/>
                    <a:p>
                      <a:r>
                        <a:rPr sz="1000">
                          <a:solidFill>
                            <a:srgbClr val="1A1A2E"/>
                          </a:solidFill>
                          <a:latin typeface="Calibri"/>
                        </a:rPr>
                        <a:t>10 seconds</a:t>
                      </a:r>
                    </a:p>
                  </a:txBody>
                  <a:tcPr>
                    <a:solidFill>
                      <a:srgbClr val="FFFFFF"/>
                    </a:solidFill>
                  </a:tcPr>
                </a:tc>
                <a:tc>
                  <a:txBody>
                    <a:bodyPr/>
                    <a:lstStyle/>
                    <a:p>
                      <a:r>
                        <a:rPr sz="1000">
                          <a:solidFill>
                            <a:srgbClr val="1A1A2E"/>
                          </a:solidFill>
                          <a:latin typeface="Calibri"/>
                        </a:rPr>
                        <a:t>97%</a:t>
                      </a:r>
                    </a:p>
                  </a:txBody>
                  <a:tcPr>
                    <a:solidFill>
                      <a:srgbClr val="FFFFFF"/>
                    </a:solidFill>
                  </a:tcPr>
                </a:tc>
                <a:tc>
                  <a:txBody>
                    <a:bodyPr/>
                    <a:lstStyle/>
                    <a:p>
                      <a:r>
                        <a:rPr sz="1000">
                          <a:solidFill>
                            <a:srgbClr val="1A1A2E"/>
                          </a:solidFill>
                          <a:latin typeface="Calibri"/>
                        </a:rPr>
                        <a:t>&lt;$0.01</a:t>
                      </a:r>
                    </a:p>
                  </a:txBody>
                  <a:tcPr>
                    <a:solidFill>
                      <a:srgbClr val="FFFFFF"/>
                    </a:solidFill>
                  </a:tcPr>
                </a:tc>
              </a:tr>
              <a:tr h="347472">
                <a:tc>
                  <a:txBody>
                    <a:bodyPr/>
                    <a:lstStyle/>
                    <a:p>
                      <a:r>
                        <a:rPr sz="1000">
                          <a:solidFill>
                            <a:srgbClr val="1A1A2E"/>
                          </a:solidFill>
                          <a:latin typeface="Calibri"/>
                        </a:rPr>
                        <a:t>Customer support ticket triage + draft reply</a:t>
                      </a:r>
                    </a:p>
                  </a:txBody>
                  <a:tcPr>
                    <a:solidFill>
                      <a:srgbClr val="F8F9FF"/>
                    </a:solidFill>
                  </a:tcPr>
                </a:tc>
                <a:tc>
                  <a:txBody>
                    <a:bodyPr/>
                    <a:lstStyle/>
                    <a:p>
                      <a:r>
                        <a:rPr sz="1000">
                          <a:solidFill>
                            <a:srgbClr val="1A1A2E"/>
                          </a:solidFill>
                          <a:latin typeface="Calibri"/>
                        </a:rPr>
                        <a:t>8 min/ticket</a:t>
                      </a:r>
                    </a:p>
                  </a:txBody>
                  <a:tcPr>
                    <a:solidFill>
                      <a:srgbClr val="F8F9FF"/>
                    </a:solidFill>
                  </a:tcPr>
                </a:tc>
                <a:tc>
                  <a:txBody>
                    <a:bodyPr/>
                    <a:lstStyle/>
                    <a:p>
                      <a:r>
                        <a:rPr sz="1000">
                          <a:solidFill>
                            <a:srgbClr val="1A1A2E"/>
                          </a:solidFill>
                          <a:latin typeface="Calibri"/>
                        </a:rPr>
                        <a:t>45 seconds</a:t>
                      </a:r>
                    </a:p>
                  </a:txBody>
                  <a:tcPr>
                    <a:solidFill>
                      <a:srgbClr val="F8F9FF"/>
                    </a:solidFill>
                  </a:tcPr>
                </a:tc>
                <a:tc>
                  <a:txBody>
                    <a:bodyPr/>
                    <a:lstStyle/>
                    <a:p>
                      <a:r>
                        <a:rPr sz="1000">
                          <a:solidFill>
                            <a:srgbClr val="1A1A2E"/>
                          </a:solidFill>
                          <a:latin typeface="Calibri"/>
                        </a:rPr>
                        <a:t>91%</a:t>
                      </a:r>
                    </a:p>
                  </a:txBody>
                  <a:tcPr>
                    <a:solidFill>
                      <a:srgbClr val="F8F9FF"/>
                    </a:solidFill>
                  </a:tcPr>
                </a:tc>
                <a:tc>
                  <a:txBody>
                    <a:bodyPr/>
                    <a:lstStyle/>
                    <a:p>
                      <a:r>
                        <a:rPr sz="1000">
                          <a:solidFill>
                            <a:srgbClr val="1A1A2E"/>
                          </a:solidFill>
                          <a:latin typeface="Calibri"/>
                        </a:rPr>
                        <a:t>~$0.05</a:t>
                      </a:r>
                    </a:p>
                  </a:txBody>
                  <a:tcPr>
                    <a:solidFill>
                      <a:srgbClr val="F8F9FF"/>
                    </a:solidFill>
                  </a:tcPr>
                </a:tc>
              </a:tr>
              <a:tr h="347472">
                <a:tc>
                  <a:txBody>
                    <a:bodyPr/>
                    <a:lstStyle/>
                    <a:p>
                      <a:r>
                        <a:rPr sz="1000">
                          <a:solidFill>
                            <a:srgbClr val="1A1A2E"/>
                          </a:solidFill>
                          <a:latin typeface="Calibri"/>
                        </a:rPr>
                        <a:t>Contract risk review (50-page document)</a:t>
                      </a:r>
                    </a:p>
                  </a:txBody>
                  <a:tcPr>
                    <a:solidFill>
                      <a:srgbClr val="FFFFFF"/>
                    </a:solidFill>
                  </a:tcPr>
                </a:tc>
                <a:tc>
                  <a:txBody>
                    <a:bodyPr/>
                    <a:lstStyle/>
                    <a:p>
                      <a:r>
                        <a:rPr sz="1000">
                          <a:solidFill>
                            <a:srgbClr val="1A1A2E"/>
                          </a:solidFill>
                          <a:latin typeface="Calibri"/>
                        </a:rPr>
                        <a:t>2–3 hours</a:t>
                      </a:r>
                    </a:p>
                  </a:txBody>
                  <a:tcPr>
                    <a:solidFill>
                      <a:srgbClr val="FFFFFF"/>
                    </a:solidFill>
                  </a:tcPr>
                </a:tc>
                <a:tc>
                  <a:txBody>
                    <a:bodyPr/>
                    <a:lstStyle/>
                    <a:p>
                      <a:r>
                        <a:rPr sz="1000">
                          <a:solidFill>
                            <a:srgbClr val="1A1A2E"/>
                          </a:solidFill>
                          <a:latin typeface="Calibri"/>
                        </a:rPr>
                        <a:t>3 minutes</a:t>
                      </a:r>
                    </a:p>
                  </a:txBody>
                  <a:tcPr>
                    <a:solidFill>
                      <a:srgbClr val="FFFFFF"/>
                    </a:solidFill>
                  </a:tcPr>
                </a:tc>
                <a:tc>
                  <a:txBody>
                    <a:bodyPr/>
                    <a:lstStyle/>
                    <a:p>
                      <a:r>
                        <a:rPr sz="1000">
                          <a:solidFill>
                            <a:srgbClr val="1A1A2E"/>
                          </a:solidFill>
                          <a:latin typeface="Calibri"/>
                        </a:rPr>
                        <a:t>97%</a:t>
                      </a:r>
                    </a:p>
                  </a:txBody>
                  <a:tcPr>
                    <a:solidFill>
                      <a:srgbClr val="FFFFFF"/>
                    </a:solidFill>
                  </a:tcPr>
                </a:tc>
                <a:tc>
                  <a:txBody>
                    <a:bodyPr/>
                    <a:lstStyle/>
                    <a:p>
                      <a:r>
                        <a:rPr sz="1000">
                          <a:solidFill>
                            <a:srgbClr val="1A1A2E"/>
                          </a:solidFill>
                          <a:latin typeface="Calibri"/>
                        </a:rPr>
                        <a:t>~$0.30</a:t>
                      </a:r>
                    </a:p>
                  </a:txBody>
                  <a:tcPr>
                    <a:solidFill>
                      <a:srgbClr val="FFFFFF"/>
                    </a:solidFill>
                  </a:tcPr>
                </a:tc>
              </a:tr>
              <a:tr h="347472">
                <a:tc>
                  <a:txBody>
                    <a:bodyPr/>
                    <a:lstStyle/>
                    <a:p>
                      <a:r>
                        <a:rPr sz="1000">
                          <a:solidFill>
                            <a:srgbClr val="1A1A2E"/>
                          </a:solidFill>
                          <a:latin typeface="Calibri"/>
                        </a:rPr>
                        <a:t>Competitive intelligence report (weekly)</a:t>
                      </a:r>
                    </a:p>
                  </a:txBody>
                  <a:tcPr>
                    <a:solidFill>
                      <a:srgbClr val="F8F9FF"/>
                    </a:solidFill>
                  </a:tcPr>
                </a:tc>
                <a:tc>
                  <a:txBody>
                    <a:bodyPr/>
                    <a:lstStyle/>
                    <a:p>
                      <a:r>
                        <a:rPr sz="1000">
                          <a:solidFill>
                            <a:srgbClr val="1A1A2E"/>
                          </a:solidFill>
                          <a:latin typeface="Calibri"/>
                        </a:rPr>
                        <a:t>6 hours</a:t>
                      </a:r>
                    </a:p>
                  </a:txBody>
                  <a:tcPr>
                    <a:solidFill>
                      <a:srgbClr val="F8F9FF"/>
                    </a:solidFill>
                  </a:tcPr>
                </a:tc>
                <a:tc>
                  <a:txBody>
                    <a:bodyPr/>
                    <a:lstStyle/>
                    <a:p>
                      <a:r>
                        <a:rPr sz="1000">
                          <a:solidFill>
                            <a:srgbClr val="1A1A2E"/>
                          </a:solidFill>
                          <a:latin typeface="Calibri"/>
                        </a:rPr>
                        <a:t>20 minutes</a:t>
                      </a:r>
                    </a:p>
                  </a:txBody>
                  <a:tcPr>
                    <a:solidFill>
                      <a:srgbClr val="F8F9FF"/>
                    </a:solidFill>
                  </a:tcPr>
                </a:tc>
                <a:tc>
                  <a:txBody>
                    <a:bodyPr/>
                    <a:lstStyle/>
                    <a:p>
                      <a:r>
                        <a:rPr sz="1000">
                          <a:solidFill>
                            <a:srgbClr val="1A1A2E"/>
                          </a:solidFill>
                          <a:latin typeface="Calibri"/>
                        </a:rPr>
                        <a:t>94%</a:t>
                      </a:r>
                    </a:p>
                  </a:txBody>
                  <a:tcPr>
                    <a:solidFill>
                      <a:srgbClr val="F8F9FF"/>
                    </a:solidFill>
                  </a:tcPr>
                </a:tc>
                <a:tc>
                  <a:txBody>
                    <a:bodyPr/>
                    <a:lstStyle/>
                    <a:p>
                      <a:r>
                        <a:rPr sz="1000">
                          <a:solidFill>
                            <a:srgbClr val="1A1A2E"/>
                          </a:solidFill>
                          <a:latin typeface="Calibri"/>
                        </a:rPr>
                        <a:t>~$1.00</a:t>
                      </a:r>
                    </a:p>
                  </a:txBody>
                  <a:tcPr>
                    <a:solidFill>
                      <a:srgbClr val="F8F9FF"/>
                    </a:solidFill>
                  </a:tcPr>
                </a:tc>
              </a:tr>
              <a:tr h="347472">
                <a:tc>
                  <a:txBody>
                    <a:bodyPr/>
                    <a:lstStyle/>
                    <a:p>
                      <a:r>
                        <a:rPr sz="1000">
                          <a:solidFill>
                            <a:srgbClr val="1A1A2E"/>
                          </a:solidFill>
                          <a:latin typeface="Calibri"/>
                        </a:rPr>
                        <a:t>Meeting transcript → action items + summary</a:t>
                      </a:r>
                    </a:p>
                  </a:txBody>
                  <a:tcPr>
                    <a:solidFill>
                      <a:srgbClr val="FFFFFF"/>
                    </a:solidFill>
                  </a:tcPr>
                </a:tc>
                <a:tc>
                  <a:txBody>
                    <a:bodyPr/>
                    <a:lstStyle/>
                    <a:p>
                      <a:r>
                        <a:rPr sz="1000">
                          <a:solidFill>
                            <a:srgbClr val="1A1A2E"/>
                          </a:solidFill>
                          <a:latin typeface="Calibri"/>
                        </a:rPr>
                        <a:t>30 min</a:t>
                      </a:r>
                    </a:p>
                  </a:txBody>
                  <a:tcPr>
                    <a:solidFill>
                      <a:srgbClr val="FFFFFF"/>
                    </a:solidFill>
                  </a:tcPr>
                </a:tc>
                <a:tc>
                  <a:txBody>
                    <a:bodyPr/>
                    <a:lstStyle/>
                    <a:p>
                      <a:r>
                        <a:rPr sz="1000">
                          <a:solidFill>
                            <a:srgbClr val="1A1A2E"/>
                          </a:solidFill>
                          <a:latin typeface="Calibri"/>
                        </a:rPr>
                        <a:t>2 minutes</a:t>
                      </a:r>
                    </a:p>
                  </a:txBody>
                  <a:tcPr>
                    <a:solidFill>
                      <a:srgbClr val="FFFFFF"/>
                    </a:solidFill>
                  </a:tcPr>
                </a:tc>
                <a:tc>
                  <a:txBody>
                    <a:bodyPr/>
                    <a:lstStyle/>
                    <a:p>
                      <a:r>
                        <a:rPr sz="1000">
                          <a:solidFill>
                            <a:srgbClr val="1A1A2E"/>
                          </a:solidFill>
                          <a:latin typeface="Calibri"/>
                        </a:rPr>
                        <a:t>93%</a:t>
                      </a:r>
                    </a:p>
                  </a:txBody>
                  <a:tcPr>
                    <a:solidFill>
                      <a:srgbClr val="FFFFFF"/>
                    </a:solidFill>
                  </a:tcPr>
                </a:tc>
                <a:tc>
                  <a:txBody>
                    <a:bodyPr/>
                    <a:lstStyle/>
                    <a:p>
                      <a:r>
                        <a:rPr sz="1000">
                          <a:solidFill>
                            <a:srgbClr val="1A1A2E"/>
                          </a:solidFill>
                          <a:latin typeface="Calibri"/>
                        </a:rPr>
                        <a:t>~$0.10</a:t>
                      </a:r>
                    </a:p>
                  </a:txBody>
                  <a:tcPr>
                    <a:solidFill>
                      <a:srgbClr val="FFFFFF"/>
                    </a:solidFill>
                  </a:tcPr>
                </a:tc>
              </a:tr>
            </a:tbl>
          </a:graphicData>
        </a:graphic>
      </p:graphicFrame>
      <p:sp>
        <p:nvSpPr>
          <p:cNvPr id="14" name="TextBox 13"/>
          <p:cNvSpPr txBox="1"/>
          <p:nvPr/>
        </p:nvSpPr>
        <p:spPr>
          <a:xfrm>
            <a:off x="457200" y="626364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The shift in what humans do: Professionals stop spending 70% of their time on gathering, extracting, formatting, and routing — and spend it instead on judgment calls, client relationships, and strategy. The work becomes higher-leverage, not just faster.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n8n — Open Source AI Automation</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When Privacy and Flexibility Matter</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21</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n8n (pronounced "nodemation") is the open-source alternative to Zapier — self-hostable, developer-extensible, and with native AI integration built for production workloads.</a:t>
            </a:r>
          </a:p>
          <a:p>
            <a:pPr>
              <a:spcBef>
                <a:spcPts val="200"/>
              </a:spcBef>
              <a:spcAft>
                <a:spcPts val="100"/>
              </a:spcAft>
            </a:pPr>
            <a:r>
              <a:rPr sz="1300" b="1">
                <a:solidFill>
                  <a:srgbClr val="0F3460"/>
                </a:solidFill>
                <a:latin typeface="Calibri"/>
              </a:rPr>
              <a:t>Why organizations choose n8n over Zapier for AI workflows:</a:t>
            </a:r>
          </a:p>
        </p:txBody>
      </p:sp>
      <p:graphicFrame>
        <p:nvGraphicFramePr>
          <p:cNvPr id="9" name="Table 8"/>
          <p:cNvGraphicFramePr>
            <a:graphicFrameLocks noGrp="1"/>
          </p:cNvGraphicFramePr>
          <p:nvPr/>
        </p:nvGraphicFramePr>
        <p:xfrm>
          <a:off x="457200" y="1874520"/>
          <a:ext cx="11277295" cy="2432304"/>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Criterion</a:t>
                      </a:r>
                    </a:p>
                  </a:txBody>
                  <a:tcPr>
                    <a:solidFill>
                      <a:srgbClr val="16213E"/>
                    </a:solidFill>
                  </a:tcPr>
                </a:tc>
                <a:tc>
                  <a:txBody>
                    <a:bodyPr/>
                    <a:lstStyle/>
                    <a:p>
                      <a:pPr algn="l"/>
                      <a:r>
                        <a:rPr sz="1100" b="1">
                          <a:solidFill>
                            <a:srgbClr val="FFFFFF"/>
                          </a:solidFill>
                          <a:latin typeface="Calibri"/>
                        </a:rPr>
                        <a:t>n8n</a:t>
                      </a:r>
                    </a:p>
                  </a:txBody>
                  <a:tcPr>
                    <a:solidFill>
                      <a:srgbClr val="16213E"/>
                    </a:solidFill>
                  </a:tcPr>
                </a:tc>
                <a:tc>
                  <a:txBody>
                    <a:bodyPr/>
                    <a:lstStyle/>
                    <a:p>
                      <a:pPr algn="l"/>
                      <a:r>
                        <a:rPr sz="1100" b="1">
                          <a:solidFill>
                            <a:srgbClr val="FFFFFF"/>
                          </a:solidFill>
                          <a:latin typeface="Calibri"/>
                        </a:rPr>
                        <a:t>Zapier</a:t>
                      </a:r>
                    </a:p>
                  </a:txBody>
                  <a:tcPr>
                    <a:solidFill>
                      <a:srgbClr val="16213E"/>
                    </a:solidFill>
                  </a:tcPr>
                </a:tc>
              </a:tr>
              <a:tr h="347472">
                <a:tc>
                  <a:txBody>
                    <a:bodyPr/>
                    <a:lstStyle/>
                    <a:p>
                      <a:r>
                        <a:rPr sz="1000">
                          <a:solidFill>
                            <a:srgbClr val="1A1A2E"/>
                          </a:solidFill>
                          <a:latin typeface="Calibri"/>
                        </a:rPr>
                        <a:t>Data hosting</a:t>
                      </a:r>
                    </a:p>
                  </a:txBody>
                  <a:tcPr>
                    <a:solidFill>
                      <a:srgbClr val="FFFFFF"/>
                    </a:solidFill>
                  </a:tcPr>
                </a:tc>
                <a:tc>
                  <a:txBody>
                    <a:bodyPr/>
                    <a:lstStyle/>
                    <a:p>
                      <a:r>
                        <a:rPr sz="1000">
                          <a:solidFill>
                            <a:srgbClr val="1A1A2E"/>
                          </a:solidFill>
                          <a:latin typeface="Calibri"/>
                        </a:rPr>
                        <a:t>Self-hosted on your servers — data never leaves</a:t>
                      </a:r>
                    </a:p>
                  </a:txBody>
                  <a:tcPr>
                    <a:solidFill>
                      <a:srgbClr val="FFFFFF"/>
                    </a:solidFill>
                  </a:tcPr>
                </a:tc>
                <a:tc>
                  <a:txBody>
                    <a:bodyPr/>
                    <a:lstStyle/>
                    <a:p>
                      <a:r>
                        <a:rPr sz="1000">
                          <a:solidFill>
                            <a:srgbClr val="1A1A2E"/>
                          </a:solidFill>
                          <a:latin typeface="Calibri"/>
                        </a:rPr>
                        <a:t>All data flows through Zapier's US cloud</a:t>
                      </a:r>
                    </a:p>
                  </a:txBody>
                  <a:tcPr>
                    <a:solidFill>
                      <a:srgbClr val="FFFFFF"/>
                    </a:solidFill>
                  </a:tcPr>
                </a:tc>
              </a:tr>
              <a:tr h="347472">
                <a:tc>
                  <a:txBody>
                    <a:bodyPr/>
                    <a:lstStyle/>
                    <a:p>
                      <a:r>
                        <a:rPr sz="1000">
                          <a:solidFill>
                            <a:srgbClr val="1A1A2E"/>
                          </a:solidFill>
                          <a:latin typeface="Calibri"/>
                        </a:rPr>
                        <a:t>AI model support</a:t>
                      </a:r>
                    </a:p>
                  </a:txBody>
                  <a:tcPr>
                    <a:solidFill>
                      <a:srgbClr val="F8F9FF"/>
                    </a:solidFill>
                  </a:tcPr>
                </a:tc>
                <a:tc>
                  <a:txBody>
                    <a:bodyPr/>
                    <a:lstStyle/>
                    <a:p>
                      <a:r>
                        <a:rPr sz="1000">
                          <a:solidFill>
                            <a:srgbClr val="1A1A2E"/>
                          </a:solidFill>
                          <a:latin typeface="Calibri"/>
                        </a:rPr>
                        <a:t>Claude, GPT, Gemini, Ollama (local) — full choice</a:t>
                      </a:r>
                    </a:p>
                  </a:txBody>
                  <a:tcPr>
                    <a:solidFill>
                      <a:srgbClr val="F8F9FF"/>
                    </a:solidFill>
                  </a:tcPr>
                </a:tc>
                <a:tc>
                  <a:txBody>
                    <a:bodyPr/>
                    <a:lstStyle/>
                    <a:p>
                      <a:r>
                        <a:rPr sz="1000">
                          <a:solidFill>
                            <a:srgbClr val="1A1A2E"/>
                          </a:solidFill>
                          <a:latin typeface="Calibri"/>
                        </a:rPr>
                        <a:t>OpenAI + limited others</a:t>
                      </a:r>
                    </a:p>
                  </a:txBody>
                  <a:tcPr>
                    <a:solidFill>
                      <a:srgbClr val="F8F9FF"/>
                    </a:solidFill>
                  </a:tcPr>
                </a:tc>
              </a:tr>
              <a:tr h="347472">
                <a:tc>
                  <a:txBody>
                    <a:bodyPr/>
                    <a:lstStyle/>
                    <a:p>
                      <a:r>
                        <a:rPr sz="1000">
                          <a:solidFill>
                            <a:srgbClr val="1A1A2E"/>
                          </a:solidFill>
                          <a:latin typeface="Calibri"/>
                        </a:rPr>
                        <a:t>Cost at scale</a:t>
                      </a:r>
                    </a:p>
                  </a:txBody>
                  <a:tcPr>
                    <a:solidFill>
                      <a:srgbClr val="FFFFFF"/>
                    </a:solidFill>
                  </a:tcPr>
                </a:tc>
                <a:tc>
                  <a:txBody>
                    <a:bodyPr/>
                    <a:lstStyle/>
                    <a:p>
                      <a:r>
                        <a:rPr sz="1000">
                          <a:solidFill>
                            <a:srgbClr val="1A1A2E"/>
                          </a:solidFill>
                          <a:latin typeface="Calibri"/>
                        </a:rPr>
                        <a:t>Fixed server cost — unlimited operations</a:t>
                      </a:r>
                    </a:p>
                  </a:txBody>
                  <a:tcPr>
                    <a:solidFill>
                      <a:srgbClr val="FFFFFF"/>
                    </a:solidFill>
                  </a:tcPr>
                </a:tc>
                <a:tc>
                  <a:txBody>
                    <a:bodyPr/>
                    <a:lstStyle/>
                    <a:p>
                      <a:r>
                        <a:rPr sz="1000">
                          <a:solidFill>
                            <a:srgbClr val="1A1A2E"/>
                          </a:solidFill>
                          <a:latin typeface="Calibri"/>
                        </a:rPr>
                        <a:t>Per-operation pricing, expensive at scale</a:t>
                      </a:r>
                    </a:p>
                  </a:txBody>
                  <a:tcPr>
                    <a:solidFill>
                      <a:srgbClr val="FFFFFF"/>
                    </a:solidFill>
                  </a:tcPr>
                </a:tc>
              </a:tr>
              <a:tr h="347472">
                <a:tc>
                  <a:txBody>
                    <a:bodyPr/>
                    <a:lstStyle/>
                    <a:p>
                      <a:r>
                        <a:rPr sz="1000">
                          <a:solidFill>
                            <a:srgbClr val="1A1A2E"/>
                          </a:solidFill>
                          <a:latin typeface="Calibri"/>
                        </a:rPr>
                        <a:t>Customization</a:t>
                      </a:r>
                    </a:p>
                  </a:txBody>
                  <a:tcPr>
                    <a:solidFill>
                      <a:srgbClr val="F8F9FF"/>
                    </a:solidFill>
                  </a:tcPr>
                </a:tc>
                <a:tc>
                  <a:txBody>
                    <a:bodyPr/>
                    <a:lstStyle/>
                    <a:p>
                      <a:r>
                        <a:rPr sz="1000">
                          <a:solidFill>
                            <a:srgbClr val="1A1A2E"/>
                          </a:solidFill>
                          <a:latin typeface="Calibri"/>
                        </a:rPr>
                        <a:t>Full JavaScript/Python custom nodes</a:t>
                      </a:r>
                    </a:p>
                  </a:txBody>
                  <a:tcPr>
                    <a:solidFill>
                      <a:srgbClr val="F8F9FF"/>
                    </a:solidFill>
                  </a:tcPr>
                </a:tc>
                <a:tc>
                  <a:txBody>
                    <a:bodyPr/>
                    <a:lstStyle/>
                    <a:p>
                      <a:r>
                        <a:rPr sz="1000">
                          <a:solidFill>
                            <a:srgbClr val="1A1A2E"/>
                          </a:solidFill>
                          <a:latin typeface="Calibri"/>
                        </a:rPr>
                        <a:t>Limited to available integrations</a:t>
                      </a:r>
                    </a:p>
                  </a:txBody>
                  <a:tcPr>
                    <a:solidFill>
                      <a:srgbClr val="F8F9FF"/>
                    </a:solidFill>
                  </a:tcPr>
                </a:tc>
              </a:tr>
              <a:tr h="347472">
                <a:tc>
                  <a:txBody>
                    <a:bodyPr/>
                    <a:lstStyle/>
                    <a:p>
                      <a:r>
                        <a:rPr sz="1000">
                          <a:solidFill>
                            <a:srgbClr val="1A1A2E"/>
                          </a:solidFill>
                          <a:latin typeface="Calibri"/>
                        </a:rPr>
                        <a:t>Open source</a:t>
                      </a:r>
                    </a:p>
                  </a:txBody>
                  <a:tcPr>
                    <a:solidFill>
                      <a:srgbClr val="FFFFFF"/>
                    </a:solidFill>
                  </a:tcPr>
                </a:tc>
                <a:tc>
                  <a:txBody>
                    <a:bodyPr/>
                    <a:lstStyle/>
                    <a:p>
                      <a:r>
                        <a:rPr sz="1000">
                          <a:solidFill>
                            <a:srgbClr val="1A1A2E"/>
                          </a:solidFill>
                          <a:latin typeface="Calibri"/>
                        </a:rPr>
                        <a:t>Yes — auditable, forkable, extensible</a:t>
                      </a:r>
                    </a:p>
                  </a:txBody>
                  <a:tcPr>
                    <a:solidFill>
                      <a:srgbClr val="FFFFFF"/>
                    </a:solidFill>
                  </a:tcPr>
                </a:tc>
                <a:tc>
                  <a:txBody>
                    <a:bodyPr/>
                    <a:lstStyle/>
                    <a:p>
                      <a:r>
                        <a:rPr sz="1000">
                          <a:solidFill>
                            <a:srgbClr val="1A1A2E"/>
                          </a:solidFill>
                          <a:latin typeface="Calibri"/>
                        </a:rPr>
                        <a:t>No</a:t>
                      </a:r>
                    </a:p>
                  </a:txBody>
                  <a:tcPr>
                    <a:solidFill>
                      <a:srgbClr val="FFFFFF"/>
                    </a:solidFill>
                  </a:tcPr>
                </a:tc>
              </a:tr>
              <a:tr h="347472">
                <a:tc>
                  <a:txBody>
                    <a:bodyPr/>
                    <a:lstStyle/>
                    <a:p>
                      <a:r>
                        <a:rPr sz="1000">
                          <a:solidFill>
                            <a:srgbClr val="1A1A2E"/>
                          </a:solidFill>
                          <a:latin typeface="Calibri"/>
                        </a:rPr>
                        <a:t>Setup complexity</a:t>
                      </a:r>
                    </a:p>
                  </a:txBody>
                  <a:tcPr>
                    <a:solidFill>
                      <a:srgbClr val="F8F9FF"/>
                    </a:solidFill>
                  </a:tcPr>
                </a:tc>
                <a:tc>
                  <a:txBody>
                    <a:bodyPr/>
                    <a:lstStyle/>
                    <a:p>
                      <a:r>
                        <a:rPr sz="1000">
                          <a:solidFill>
                            <a:srgbClr val="1A1A2E"/>
                          </a:solidFill>
                          <a:latin typeface="Calibri"/>
                        </a:rPr>
                        <a:t>Medium (Docker, 30 minutes)</a:t>
                      </a:r>
                    </a:p>
                  </a:txBody>
                  <a:tcPr>
                    <a:solidFill>
                      <a:srgbClr val="F8F9FF"/>
                    </a:solidFill>
                  </a:tcPr>
                </a:tc>
                <a:tc>
                  <a:txBody>
                    <a:bodyPr/>
                    <a:lstStyle/>
                    <a:p>
                      <a:r>
                        <a:rPr sz="1000">
                          <a:solidFill>
                            <a:srgbClr val="1A1A2E"/>
                          </a:solidFill>
                          <a:latin typeface="Calibri"/>
                        </a:rPr>
                        <a:t>Low (browser, 5 minutes)</a:t>
                      </a:r>
                    </a:p>
                  </a:txBody>
                  <a:tcPr>
                    <a:solidFill>
                      <a:srgbClr val="F8F9FF"/>
                    </a:solidFill>
                  </a:tcPr>
                </a:tc>
              </a:tr>
            </a:tbl>
          </a:graphicData>
        </a:graphic>
      </p:graphicFrame>
      <p:sp>
        <p:nvSpPr>
          <p:cNvPr id="10" name="TextBox 9"/>
          <p:cNvSpPr txBox="1"/>
          <p:nvPr/>
        </p:nvSpPr>
        <p:spPr>
          <a:xfrm>
            <a:off x="457200" y="441655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A production AI workflow in n8n — intelligent email routing:</a:t>
            </a:r>
          </a:p>
          <a:p>
            <a:pPr>
              <a:spcBef>
                <a:spcPts val="200"/>
              </a:spcBef>
              <a:spcAft>
                <a:spcPts val="100"/>
              </a:spcAft>
            </a:pPr>
            <a:r>
              <a:rPr sz="1300">
                <a:solidFill>
                  <a:srgbClr val="0EA5E9"/>
                </a:solidFill>
                <a:latin typeface="Calibri"/>
              </a:rPr>
              <a:t>• </a:t>
            </a:r>
            <a:r>
              <a:rPr sz="1300" b="0">
                <a:solidFill>
                  <a:srgbClr val="1A1A2E"/>
                </a:solidFill>
                <a:latin typeface="Calibri"/>
              </a:rPr>
              <a:t>Trigger: New email arrives (Gmail / Outlook webhook)</a:t>
            </a:r>
          </a:p>
          <a:p>
            <a:pPr>
              <a:spcBef>
                <a:spcPts val="200"/>
              </a:spcBef>
              <a:spcAft>
                <a:spcPts val="100"/>
              </a:spcAft>
            </a:pPr>
            <a:r>
              <a:rPr sz="1300">
                <a:solidFill>
                  <a:srgbClr val="0EA5E9"/>
                </a:solidFill>
                <a:latin typeface="Calibri"/>
              </a:rPr>
              <a:t>• </a:t>
            </a:r>
            <a:r>
              <a:rPr sz="1300" b="0">
                <a:solidFill>
                  <a:srgbClr val="1A1A2E"/>
                </a:solidFill>
                <a:latin typeface="Calibri"/>
              </a:rPr>
              <a:t>AI Agent Node (Claude): Read full email → classify as [Sales / Support / Billing / Internal / Spam] → extract key information (sender intent, urgency, required action, deadline)</a:t>
            </a:r>
          </a:p>
          <a:p>
            <a:pPr>
              <a:spcBef>
                <a:spcPts val="200"/>
              </a:spcBef>
              <a:spcAft>
                <a:spcPts val="100"/>
              </a:spcAft>
            </a:pPr>
            <a:r>
              <a:rPr sz="1300">
                <a:solidFill>
                  <a:srgbClr val="0EA5E9"/>
                </a:solidFill>
                <a:latin typeface="Calibri"/>
              </a:rPr>
              <a:t>• </a:t>
            </a:r>
            <a:r>
              <a:rPr sz="1300" b="0">
                <a:solidFill>
                  <a:srgbClr val="1A1A2E"/>
                </a:solidFill>
                <a:latin typeface="Calibri"/>
              </a:rPr>
              <a:t>Branch by classification:</a:t>
            </a:r>
          </a:p>
          <a:p>
            <a:pPr lvl="1">
              <a:spcBef>
                <a:spcPts val="200"/>
              </a:spcBef>
              <a:spcAft>
                <a:spcPts val="100"/>
              </a:spcAft>
            </a:pPr>
            <a:r>
              <a:rPr sz="1100">
                <a:solidFill>
                  <a:srgbClr val="0EA5E9"/>
                </a:solidFill>
                <a:latin typeface="Calibri"/>
              </a:rPr>
              <a:t>› </a:t>
            </a:r>
            <a:r>
              <a:rPr sz="1100" b="0">
                <a:solidFill>
                  <a:srgbClr val="2D3748"/>
                </a:solidFill>
                <a:latin typeface="Calibri"/>
              </a:rPr>
              <a:t>Sales → Create HubSpot lead → Notify sales channel in Slack with AI summary</a:t>
            </a:r>
          </a:p>
          <a:p>
            <a:pPr lvl="1">
              <a:spcBef>
                <a:spcPts val="200"/>
              </a:spcBef>
              <a:spcAft>
                <a:spcPts val="100"/>
              </a:spcAft>
            </a:pPr>
            <a:r>
              <a:rPr sz="1100">
                <a:solidFill>
                  <a:srgbClr val="0EA5E9"/>
                </a:solidFill>
                <a:latin typeface="Calibri"/>
              </a:rPr>
              <a:t>› </a:t>
            </a:r>
            <a:r>
              <a:rPr sz="1100" b="0">
                <a:solidFill>
                  <a:srgbClr val="2D3748"/>
                </a:solidFill>
                <a:latin typeface="Calibri"/>
              </a:rPr>
              <a:t>Support → Create Zendesk ticket + AI-generated first draft reply for agent to edit</a:t>
            </a:r>
          </a:p>
          <a:p>
            <a:pPr lvl="1">
              <a:spcBef>
                <a:spcPts val="200"/>
              </a:spcBef>
              <a:spcAft>
                <a:spcPts val="100"/>
              </a:spcAft>
            </a:pPr>
            <a:r>
              <a:rPr sz="1100">
                <a:solidFill>
                  <a:srgbClr val="0EA5E9"/>
                </a:solidFill>
                <a:latin typeface="Calibri"/>
              </a:rPr>
              <a:t>› </a:t>
            </a:r>
            <a:r>
              <a:rPr sz="1100" b="0">
                <a:solidFill>
                  <a:srgbClr val="2D3748"/>
                </a:solidFill>
                <a:latin typeface="Calibri"/>
              </a:rPr>
              <a:t>Billing → Route to billing team email with extracted invoice details</a:t>
            </a:r>
          </a:p>
          <a:p>
            <a:pPr lvl="1">
              <a:spcBef>
                <a:spcPts val="200"/>
              </a:spcBef>
              <a:spcAft>
                <a:spcPts val="100"/>
              </a:spcAft>
            </a:pPr>
            <a:r>
              <a:rPr sz="1100">
                <a:solidFill>
                  <a:srgbClr val="0EA5E9"/>
                </a:solidFill>
                <a:latin typeface="Calibri"/>
              </a:rPr>
              <a:t>› </a:t>
            </a:r>
            <a:r>
              <a:rPr sz="1100" b="0">
                <a:solidFill>
                  <a:srgbClr val="2D3748"/>
                </a:solidFill>
                <a:latin typeface="Calibri"/>
              </a:rPr>
              <a:t>Spam → Archive silently</a:t>
            </a:r>
          </a:p>
          <a:p>
            <a:pPr>
              <a:spcBef>
                <a:spcPts val="200"/>
              </a:spcBef>
              <a:spcAft>
                <a:spcPts val="100"/>
              </a:spcAft>
            </a:pPr>
            <a:r>
              <a:rPr sz="1300">
                <a:solidFill>
                  <a:srgbClr val="0EA5E9"/>
                </a:solidFill>
                <a:latin typeface="Calibri"/>
              </a:rPr>
              <a:t>• </a:t>
            </a:r>
            <a:r>
              <a:rPr sz="1300" b="0">
                <a:solidFill>
                  <a:srgbClr val="1A1A2E"/>
                </a:solidFill>
                <a:latin typeface="Calibri"/>
              </a:rPr>
              <a:t>Logging: All actions logged to Google Sheets for weekly review</a:t>
            </a:r>
          </a:p>
          <a:p>
            <a:pPr>
              <a:spcBef>
                <a:spcPts val="200"/>
              </a:spcBef>
              <a:spcAft>
                <a:spcPts val="100"/>
              </a:spcAft>
            </a:pPr>
            <a:r>
              <a:rPr sz="1300" b="1">
                <a:solidFill>
                  <a:srgbClr val="0F3460"/>
                </a:solidFill>
                <a:latin typeface="Calibri"/>
              </a:rPr>
              <a:t>Getting started:</a:t>
            </a:r>
          </a:p>
        </p:txBody>
      </p:sp>
      <p:sp>
        <p:nvSpPr>
          <p:cNvPr id="11" name="TextBox 10"/>
          <p:cNvSpPr txBox="1"/>
          <p:nvPr/>
        </p:nvSpPr>
        <p:spPr>
          <a:xfrm>
            <a:off x="457200" y="7159752"/>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The Ollama integration is n8n's killer feature for regulated industries: run Llama 4 or Phi-4 locally inside n8n, processing sensitive documents with zero data leaving your network.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Make and Zapier — No-Code AI Automation</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Tools Your Non-Technical Colleagues Are Already Using</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22</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Make (formerly Integromat) — Visual, Flexible, Powerful</a:t>
            </a:r>
          </a:p>
          <a:p>
            <a:pPr>
              <a:spcBef>
                <a:spcPts val="200"/>
              </a:spcBef>
              <a:spcAft>
                <a:spcPts val="100"/>
              </a:spcAft>
            </a:pPr>
            <a:r>
              <a:rPr sz="1200" b="0">
                <a:solidFill>
                  <a:srgbClr val="2D3748"/>
                </a:solidFill>
                <a:latin typeface="Calibri"/>
              </a:rPr>
              <a:t>Make's scenario builder is a visual flowchart: modules are connected with wires, data flows are visible, and branching logic is explicit. It occupies the middle ground between Zapier's simplicity and n8n's technical depth.</a:t>
            </a:r>
          </a:p>
          <a:p>
            <a:pPr>
              <a:spcBef>
                <a:spcPts val="200"/>
              </a:spcBef>
              <a:spcAft>
                <a:spcPts val="100"/>
              </a:spcAft>
            </a:pPr>
            <a:r>
              <a:rPr sz="1300" b="1">
                <a:solidFill>
                  <a:srgbClr val="0F3460"/>
                </a:solidFill>
                <a:latin typeface="Calibri"/>
              </a:rPr>
              <a:t>Make AI features added in 2025:</a:t>
            </a:r>
          </a:p>
        </p:txBody>
      </p:sp>
      <p:graphicFrame>
        <p:nvGraphicFramePr>
          <p:cNvPr id="9" name="Table 8"/>
          <p:cNvGraphicFramePr>
            <a:graphicFrameLocks noGrp="1"/>
          </p:cNvGraphicFramePr>
          <p:nvPr/>
        </p:nvGraphicFramePr>
        <p:xfrm>
          <a:off x="457200" y="214884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Feature</a:t>
                      </a:r>
                    </a:p>
                  </a:txBody>
                  <a:tcPr>
                    <a:solidFill>
                      <a:srgbClr val="16213E"/>
                    </a:solidFill>
                  </a:tcPr>
                </a:tc>
                <a:tc>
                  <a:txBody>
                    <a:bodyPr/>
                    <a:lstStyle/>
                    <a:p>
                      <a:pPr algn="l"/>
                      <a:r>
                        <a:rPr sz="1100" b="1">
                          <a:solidFill>
                            <a:srgbClr val="FFFFFF"/>
                          </a:solidFill>
                          <a:latin typeface="Calibri"/>
                        </a:rPr>
                        <a:t>What It Does</a:t>
                      </a:r>
                    </a:p>
                  </a:txBody>
                  <a:tcPr>
                    <a:solidFill>
                      <a:srgbClr val="16213E"/>
                    </a:solidFill>
                  </a:tcPr>
                </a:tc>
                <a:tc>
                  <a:txBody>
                    <a:bodyPr/>
                    <a:lstStyle/>
                    <a:p>
                      <a:pPr algn="l"/>
                      <a:r>
                        <a:rPr sz="1100" b="1">
                          <a:solidFill>
                            <a:srgbClr val="FFFFFF"/>
                          </a:solidFill>
                          <a:latin typeface="Calibri"/>
                        </a:rPr>
                        <a:t>Business Example</a:t>
                      </a:r>
                    </a:p>
                  </a:txBody>
                  <a:tcPr>
                    <a:solidFill>
                      <a:srgbClr val="16213E"/>
                    </a:solidFill>
                  </a:tcPr>
                </a:tc>
              </a:tr>
              <a:tr h="347472">
                <a:tc>
                  <a:txBody>
                    <a:bodyPr/>
                    <a:lstStyle/>
                    <a:p>
                      <a:r>
                        <a:rPr sz="1000">
                          <a:solidFill>
                            <a:srgbClr val="1A1A2E"/>
                          </a:solidFill>
                          <a:latin typeface="Calibri"/>
                        </a:rPr>
                        <a:t>AI Scenario Builder</a:t>
                      </a:r>
                    </a:p>
                  </a:txBody>
                  <a:tcPr>
                    <a:solidFill>
                      <a:srgbClr val="FFFFFF"/>
                    </a:solidFill>
                  </a:tcPr>
                </a:tc>
                <a:tc>
                  <a:txBody>
                    <a:bodyPr/>
                    <a:lstStyle/>
                    <a:p>
                      <a:r>
                        <a:rPr sz="1000">
                          <a:solidFill>
                            <a:srgbClr val="1A1A2E"/>
                          </a:solidFill>
                          <a:latin typeface="Calibri"/>
                        </a:rPr>
                        <a:t>Describe what you want in natural language → Make builds first draft</a:t>
                      </a:r>
                    </a:p>
                  </a:txBody>
                  <a:tcPr>
                    <a:solidFill>
                      <a:srgbClr val="FFFFFF"/>
                    </a:solidFill>
                  </a:tcPr>
                </a:tc>
                <a:tc>
                  <a:txBody>
                    <a:bodyPr/>
                    <a:lstStyle/>
                    <a:p>
                      <a:r>
                        <a:rPr sz="1000">
                          <a:solidFill>
                            <a:srgbClr val="1A1A2E"/>
                          </a:solidFill>
                          <a:latin typeface="Calibri"/>
                        </a:rPr>
                        <a:t>"When a form is submitted, classify it and email the right department"</a:t>
                      </a:r>
                    </a:p>
                  </a:txBody>
                  <a:tcPr>
                    <a:solidFill>
                      <a:srgbClr val="FFFFFF"/>
                    </a:solidFill>
                  </a:tcPr>
                </a:tc>
              </a:tr>
              <a:tr h="347472">
                <a:tc>
                  <a:txBody>
                    <a:bodyPr/>
                    <a:lstStyle/>
                    <a:p>
                      <a:r>
                        <a:rPr sz="1000">
                          <a:solidFill>
                            <a:srgbClr val="1A1A2E"/>
                          </a:solidFill>
                          <a:latin typeface="Calibri"/>
                        </a:rPr>
                        <a:t>OpenAI / Claude Module</a:t>
                      </a:r>
                    </a:p>
                  </a:txBody>
                  <a:tcPr>
                    <a:solidFill>
                      <a:srgbClr val="F8F9FF"/>
                    </a:solidFill>
                  </a:tcPr>
                </a:tc>
                <a:tc>
                  <a:txBody>
                    <a:bodyPr/>
                    <a:lstStyle/>
                    <a:p>
                      <a:r>
                        <a:rPr sz="1000">
                          <a:solidFill>
                            <a:srgbClr val="1A1A2E"/>
                          </a:solidFill>
                          <a:latin typeface="Calibri"/>
                        </a:rPr>
                        <a:t>LLM step in any scenario</a:t>
                      </a:r>
                    </a:p>
                  </a:txBody>
                  <a:tcPr>
                    <a:solidFill>
                      <a:srgbClr val="F8F9FF"/>
                    </a:solidFill>
                  </a:tcPr>
                </a:tc>
                <a:tc>
                  <a:txBody>
                    <a:bodyPr/>
                    <a:lstStyle/>
                    <a:p>
                      <a:r>
                        <a:rPr sz="1000">
                          <a:solidFill>
                            <a:srgbClr val="1A1A2E"/>
                          </a:solidFill>
                          <a:latin typeface="Calibri"/>
                        </a:rPr>
                        <a:t>Summarize, classify, extract, generate — anywhere in the flow</a:t>
                      </a:r>
                    </a:p>
                  </a:txBody>
                  <a:tcPr>
                    <a:solidFill>
                      <a:srgbClr val="F8F9FF"/>
                    </a:solidFill>
                  </a:tcPr>
                </a:tc>
              </a:tr>
              <a:tr h="347472">
                <a:tc>
                  <a:txBody>
                    <a:bodyPr/>
                    <a:lstStyle/>
                    <a:p>
                      <a:r>
                        <a:rPr sz="1000">
                          <a:solidFill>
                            <a:srgbClr val="1A1A2E"/>
                          </a:solidFill>
                          <a:latin typeface="Calibri"/>
                        </a:rPr>
                        <a:t>AI Data Transform</a:t>
                      </a:r>
                    </a:p>
                  </a:txBody>
                  <a:tcPr>
                    <a:solidFill>
                      <a:srgbClr val="FFFFFF"/>
                    </a:solidFill>
                  </a:tcPr>
                </a:tc>
                <a:tc>
                  <a:txBody>
                    <a:bodyPr/>
                    <a:lstStyle/>
                    <a:p>
                      <a:r>
                        <a:rPr sz="1000">
                          <a:solidFill>
                            <a:srgbClr val="1A1A2E"/>
                          </a:solidFill>
                          <a:latin typeface="Calibri"/>
                        </a:rPr>
                        <a:t>"Convert this messy incoming JSON to this clean format" — no regex needed</a:t>
                      </a:r>
                    </a:p>
                  </a:txBody>
                  <a:tcPr>
                    <a:solidFill>
                      <a:srgbClr val="FFFFFF"/>
                    </a:solidFill>
                  </a:tcPr>
                </a:tc>
                <a:tc>
                  <a:txBody>
                    <a:bodyPr/>
                    <a:lstStyle/>
                    <a:p>
                      <a:r>
                        <a:rPr sz="1000">
                          <a:solidFill>
                            <a:srgbClr val="1A1A2E"/>
                          </a:solidFill>
                          <a:latin typeface="Calibri"/>
                        </a:rPr>
                        <a:t>Normalize data from 5 different vendors into one schema</a:t>
                      </a:r>
                    </a:p>
                  </a:txBody>
                  <a:tcPr>
                    <a:solidFill>
                      <a:srgbClr val="FFFFFF"/>
                    </a:solidFill>
                  </a:tcPr>
                </a:tc>
              </a:tr>
              <a:tr h="347472">
                <a:tc>
                  <a:txBody>
                    <a:bodyPr/>
                    <a:lstStyle/>
                    <a:p>
                      <a:r>
                        <a:rPr sz="1000">
                          <a:solidFill>
                            <a:srgbClr val="1A1A2E"/>
                          </a:solidFill>
                          <a:latin typeface="Calibri"/>
                        </a:rPr>
                        <a:t>Make AI Chat</a:t>
                      </a:r>
                    </a:p>
                  </a:txBody>
                  <a:tcPr>
                    <a:solidFill>
                      <a:srgbClr val="F8F9FF"/>
                    </a:solidFill>
                  </a:tcPr>
                </a:tc>
                <a:tc>
                  <a:txBody>
                    <a:bodyPr/>
                    <a:lstStyle/>
                    <a:p>
                      <a:r>
                        <a:rPr sz="1000">
                          <a:solidFill>
                            <a:srgbClr val="1A1A2E"/>
                          </a:solidFill>
                          <a:latin typeface="Calibri"/>
                        </a:rPr>
                        <a:t>Conversational debugging — "Why did this scenario fail?"</a:t>
                      </a:r>
                    </a:p>
                  </a:txBody>
                  <a:tcPr>
                    <a:solidFill>
                      <a:srgbClr val="F8F9FF"/>
                    </a:solidFill>
                  </a:tcPr>
                </a:tc>
                <a:tc>
                  <a:txBody>
                    <a:bodyPr/>
                    <a:lstStyle/>
                    <a:p>
                      <a:r>
                        <a:rPr sz="1000">
                          <a:solidFill>
                            <a:srgbClr val="1A1A2E"/>
                          </a:solidFill>
                          <a:latin typeface="Calibri"/>
                        </a:rPr>
                        <a:t>Reduce troubleshooting time from hours to minutes</a:t>
                      </a:r>
                    </a:p>
                  </a:txBody>
                  <a:tcPr>
                    <a:solidFill>
                      <a:srgbClr val="F8F9FF"/>
                    </a:solidFill>
                  </a:tcPr>
                </a:tc>
              </a:tr>
            </a:tbl>
          </a:graphicData>
        </a:graphic>
      </p:graphicFrame>
      <p:sp>
        <p:nvSpPr>
          <p:cNvPr id="10" name="TextBox 9"/>
          <p:cNvSpPr txBox="1"/>
          <p:nvPr/>
        </p:nvSpPr>
        <p:spPr>
          <a:xfrm>
            <a:off x="457200" y="3995928"/>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Pricing: Free (1,000 ops/mo) · Basic $9/mo · Pro $16/mo · Teams $29/mo</a:t>
            </a:r>
          </a:p>
          <a:p>
            <a:pPr>
              <a:spcBef>
                <a:spcPts val="200"/>
              </a:spcBef>
              <a:spcAft>
                <a:spcPts val="100"/>
              </a:spcAft>
            </a:pPr>
            <a:r>
              <a:rPr sz="1200" b="0">
                <a:solidFill>
                  <a:srgbClr val="2D3748"/>
                </a:solidFill>
                <a:latin typeface="Calibri"/>
              </a:rPr>
              <a:t>Zapier — The Largest Integration Ecosystem</a:t>
            </a:r>
          </a:p>
          <a:p>
            <a:pPr>
              <a:spcBef>
                <a:spcPts val="200"/>
              </a:spcBef>
              <a:spcAft>
                <a:spcPts val="100"/>
              </a:spcAft>
            </a:pPr>
            <a:r>
              <a:rPr sz="1200" b="0">
                <a:solidFill>
                  <a:srgbClr val="2D3748"/>
                </a:solidFill>
                <a:latin typeface="Calibri"/>
              </a:rPr>
              <a:t>7,000+ app integrations. The easiest setup. The most non-technical-friendly interface. And in 2024–2025, Zapier added AI across the entire platform:</a:t>
            </a:r>
          </a:p>
        </p:txBody>
      </p:sp>
      <p:graphicFrame>
        <p:nvGraphicFramePr>
          <p:cNvPr id="11" name="Table 10"/>
          <p:cNvGraphicFramePr>
            <a:graphicFrameLocks noGrp="1"/>
          </p:cNvGraphicFramePr>
          <p:nvPr/>
        </p:nvGraphicFramePr>
        <p:xfrm>
          <a:off x="457200" y="4818888"/>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Zapier AI Feature</a:t>
                      </a:r>
                    </a:p>
                  </a:txBody>
                  <a:tcPr>
                    <a:solidFill>
                      <a:srgbClr val="16213E"/>
                    </a:solidFill>
                  </a:tcPr>
                </a:tc>
                <a:tc>
                  <a:txBody>
                    <a:bodyPr/>
                    <a:lstStyle/>
                    <a:p>
                      <a:pPr algn="l"/>
                      <a:r>
                        <a:rPr sz="1100" b="1">
                          <a:solidFill>
                            <a:srgbClr val="FFFFFF"/>
                          </a:solidFill>
                          <a:latin typeface="Calibri"/>
                        </a:rPr>
                        <a:t>Description</a:t>
                      </a:r>
                    </a:p>
                  </a:txBody>
                  <a:tcPr>
                    <a:solidFill>
                      <a:srgbClr val="16213E"/>
                    </a:solidFill>
                  </a:tcPr>
                </a:tc>
                <a:tc>
                  <a:txBody>
                    <a:bodyPr/>
                    <a:lstStyle/>
                    <a:p>
                      <a:pPr algn="l"/>
                      <a:r>
                        <a:rPr sz="1100" b="1">
                          <a:solidFill>
                            <a:srgbClr val="FFFFFF"/>
                          </a:solidFill>
                          <a:latin typeface="Calibri"/>
                        </a:rPr>
                        <a:t>Use Case</a:t>
                      </a:r>
                    </a:p>
                  </a:txBody>
                  <a:tcPr>
                    <a:solidFill>
                      <a:srgbClr val="16213E"/>
                    </a:solidFill>
                  </a:tcPr>
                </a:tc>
              </a:tr>
              <a:tr h="347472">
                <a:tc>
                  <a:txBody>
                    <a:bodyPr/>
                    <a:lstStyle/>
                    <a:p>
                      <a:r>
                        <a:rPr sz="1000">
                          <a:solidFill>
                            <a:srgbClr val="1A1A2E"/>
                          </a:solidFill>
                          <a:latin typeface="Calibri"/>
                        </a:rPr>
                        <a:t>AI Actions</a:t>
                      </a:r>
                    </a:p>
                  </a:txBody>
                  <a:tcPr>
                    <a:solidFill>
                      <a:srgbClr val="FFFFFF"/>
                    </a:solidFill>
                  </a:tcPr>
                </a:tc>
                <a:tc>
                  <a:txBody>
                    <a:bodyPr/>
                    <a:lstStyle/>
                    <a:p>
                      <a:r>
                        <a:rPr sz="1000">
                          <a:solidFill>
                            <a:srgbClr val="1A1A2E"/>
                          </a:solidFill>
                          <a:latin typeface="Calibri"/>
                        </a:rPr>
                        <a:t>GPT-4o as a step in any Zap — generate, analyze, decide</a:t>
                      </a:r>
                    </a:p>
                  </a:txBody>
                  <a:tcPr>
                    <a:solidFill>
                      <a:srgbClr val="FFFFFF"/>
                    </a:solidFill>
                  </a:tcPr>
                </a:tc>
                <a:tc>
                  <a:txBody>
                    <a:bodyPr/>
                    <a:lstStyle/>
                    <a:p>
                      <a:r>
                        <a:rPr sz="1000">
                          <a:solidFill>
                            <a:srgbClr val="1A1A2E"/>
                          </a:solidFill>
                          <a:latin typeface="Calibri"/>
                        </a:rPr>
                        <a:t>Classify a lead's industry from their job title</a:t>
                      </a:r>
                    </a:p>
                  </a:txBody>
                  <a:tcPr>
                    <a:solidFill>
                      <a:srgbClr val="FFFFFF"/>
                    </a:solidFill>
                  </a:tcPr>
                </a:tc>
              </a:tr>
              <a:tr h="347472">
                <a:tc>
                  <a:txBody>
                    <a:bodyPr/>
                    <a:lstStyle/>
                    <a:p>
                      <a:r>
                        <a:rPr sz="1000">
                          <a:solidFill>
                            <a:srgbClr val="1A1A2E"/>
                          </a:solidFill>
                          <a:latin typeface="Calibri"/>
                        </a:rPr>
                        <a:t>Zapier Agents</a:t>
                      </a:r>
                    </a:p>
                  </a:txBody>
                  <a:tcPr>
                    <a:solidFill>
                      <a:srgbClr val="F8F9FF"/>
                    </a:solidFill>
                  </a:tcPr>
                </a:tc>
                <a:tc>
                  <a:txBody>
                    <a:bodyPr/>
                    <a:lstStyle/>
                    <a:p>
                      <a:r>
                        <a:rPr sz="1000">
                          <a:solidFill>
                            <a:srgbClr val="1A1A2E"/>
                          </a:solidFill>
                          <a:latin typeface="Calibri"/>
                        </a:rPr>
                        <a:t>Fully autonomous agents with no fixed trigger/action structure</a:t>
                      </a:r>
                    </a:p>
                  </a:txBody>
                  <a:tcPr>
                    <a:solidFill>
                      <a:srgbClr val="F8F9FF"/>
                    </a:solidFill>
                  </a:tcPr>
                </a:tc>
                <a:tc>
                  <a:txBody>
                    <a:bodyPr/>
                    <a:lstStyle/>
                    <a:p>
                      <a:r>
                        <a:rPr sz="1000">
                          <a:solidFill>
                            <a:srgbClr val="1A1A2E"/>
                          </a:solidFill>
                          <a:latin typeface="Calibri"/>
                        </a:rPr>
                        <a:t>Monitor a Slack channel and take action on relevant messages</a:t>
                      </a:r>
                    </a:p>
                  </a:txBody>
                  <a:tcPr>
                    <a:solidFill>
                      <a:srgbClr val="F8F9FF"/>
                    </a:solidFill>
                  </a:tcPr>
                </a:tc>
              </a:tr>
              <a:tr h="347472">
                <a:tc>
                  <a:txBody>
                    <a:bodyPr/>
                    <a:lstStyle/>
                    <a:p>
                      <a:r>
                        <a:rPr sz="1000">
                          <a:solidFill>
                            <a:srgbClr val="1A1A2E"/>
                          </a:solidFill>
                          <a:latin typeface="Calibri"/>
                        </a:rPr>
                        <a:t>Canvas</a:t>
                      </a:r>
                    </a:p>
                  </a:txBody>
                  <a:tcPr>
                    <a:solidFill>
                      <a:srgbClr val="FFFFFF"/>
                    </a:solidFill>
                  </a:tcPr>
                </a:tc>
                <a:tc>
                  <a:txBody>
                    <a:bodyPr/>
                    <a:lstStyle/>
                    <a:p>
                      <a:r>
                        <a:rPr sz="1000">
                          <a:solidFill>
                            <a:srgbClr val="1A1A2E"/>
                          </a:solidFill>
                          <a:latin typeface="Calibri"/>
                        </a:rPr>
                        <a:t>Visual drag-and-drop workspace for planning AI workflows</a:t>
                      </a:r>
                    </a:p>
                  </a:txBody>
                  <a:tcPr>
                    <a:solidFill>
                      <a:srgbClr val="FFFFFF"/>
                    </a:solidFill>
                  </a:tcPr>
                </a:tc>
                <a:tc>
                  <a:txBody>
                    <a:bodyPr/>
                    <a:lstStyle/>
                    <a:p>
                      <a:r>
                        <a:rPr sz="1000">
                          <a:solidFill>
                            <a:srgbClr val="1A1A2E"/>
                          </a:solidFill>
                          <a:latin typeface="Calibri"/>
                        </a:rPr>
                        <a:t>Design complex pipelines before building them</a:t>
                      </a:r>
                    </a:p>
                  </a:txBody>
                  <a:tcPr>
                    <a:solidFill>
                      <a:srgbClr val="FFFFFF"/>
                    </a:solidFill>
                  </a:tcPr>
                </a:tc>
              </a:tr>
              <a:tr h="347472">
                <a:tc>
                  <a:txBody>
                    <a:bodyPr/>
                    <a:lstStyle/>
                    <a:p>
                      <a:r>
                        <a:rPr sz="1000">
                          <a:solidFill>
                            <a:srgbClr val="1A1A2E"/>
                          </a:solidFill>
                          <a:latin typeface="Calibri"/>
                        </a:rPr>
                        <a:t>Zapier Chatbots</a:t>
                      </a:r>
                    </a:p>
                  </a:txBody>
                  <a:tcPr>
                    <a:solidFill>
                      <a:srgbClr val="F8F9FF"/>
                    </a:solidFill>
                  </a:tcPr>
                </a:tc>
                <a:tc>
                  <a:txBody>
                    <a:bodyPr/>
                    <a:lstStyle/>
                    <a:p>
                      <a:r>
                        <a:rPr sz="1000">
                          <a:solidFill>
                            <a:srgbClr val="1A1A2E"/>
                          </a:solidFill>
                          <a:latin typeface="Calibri"/>
                        </a:rPr>
                        <a:t>Deploy a customer-facing AI chatbot connected to your data</a:t>
                      </a:r>
                    </a:p>
                  </a:txBody>
                  <a:tcPr>
                    <a:solidFill>
                      <a:srgbClr val="F8F9FF"/>
                    </a:solidFill>
                  </a:tcPr>
                </a:tc>
                <a:tc>
                  <a:txBody>
                    <a:bodyPr/>
                    <a:lstStyle/>
                    <a:p>
                      <a:r>
                        <a:rPr sz="1000">
                          <a:solidFill>
                            <a:srgbClr val="1A1A2E"/>
                          </a:solidFill>
                          <a:latin typeface="Calibri"/>
                        </a:rPr>
                        <a:t>Answer product FAQs using your documentation</a:t>
                      </a:r>
                    </a:p>
                  </a:txBody>
                  <a:tcPr>
                    <a:solidFill>
                      <a:srgbClr val="F8F9FF"/>
                    </a:solidFill>
                  </a:tcPr>
                </a:tc>
              </a:tr>
            </a:tbl>
          </a:graphicData>
        </a:graphic>
      </p:graphicFrame>
      <p:sp>
        <p:nvSpPr>
          <p:cNvPr id="12" name="TextBox 11"/>
          <p:cNvSpPr txBox="1"/>
          <p:nvPr/>
        </p:nvSpPr>
        <p:spPr>
          <a:xfrm>
            <a:off x="457200" y="6665976"/>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Tool selection guide: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Multimodal AI — Vision and Audio in Business</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The Business Data That Wasn't Accessible — Now Is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23</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The shift: In 2022, AI worked on text. By 2026, leading models natively process text, images, PDFs, audio, and video in a single API call. This unlocks enormous amounts of previously inaccessible business data.</a:t>
            </a:r>
          </a:p>
          <a:p>
            <a:pPr>
              <a:spcBef>
                <a:spcPts val="200"/>
              </a:spcBef>
              <a:spcAft>
                <a:spcPts val="100"/>
              </a:spcAft>
            </a:pPr>
            <a:r>
              <a:rPr sz="1300" b="1">
                <a:solidFill>
                  <a:srgbClr val="0F3460"/>
                </a:solidFill>
                <a:latin typeface="Calibri"/>
              </a:rPr>
              <a:t>Vision AI — what's production-ready today:</a:t>
            </a:r>
          </a:p>
        </p:txBody>
      </p:sp>
      <p:graphicFrame>
        <p:nvGraphicFramePr>
          <p:cNvPr id="9" name="Table 8"/>
          <p:cNvGraphicFramePr>
            <a:graphicFrameLocks noGrp="1"/>
          </p:cNvGraphicFramePr>
          <p:nvPr/>
        </p:nvGraphicFramePr>
        <p:xfrm>
          <a:off x="457200" y="1874520"/>
          <a:ext cx="11277295" cy="208483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algn="l"/>
                      <a:r>
                        <a:rPr sz="1100" b="1">
                          <a:solidFill>
                            <a:srgbClr val="FFFFFF"/>
                          </a:solidFill>
                          <a:latin typeface="Calibri"/>
                        </a:rPr>
                        <a:t>Capability</a:t>
                      </a:r>
                    </a:p>
                  </a:txBody>
                  <a:tcPr>
                    <a:solidFill>
                      <a:srgbClr val="16213E"/>
                    </a:solidFill>
                  </a:tcPr>
                </a:tc>
                <a:tc>
                  <a:txBody>
                    <a:bodyPr/>
                    <a:lstStyle/>
                    <a:p>
                      <a:pPr algn="l"/>
                      <a:r>
                        <a:rPr sz="1100" b="1">
                          <a:solidFill>
                            <a:srgbClr val="FFFFFF"/>
                          </a:solidFill>
                          <a:latin typeface="Calibri"/>
                        </a:rPr>
                        <a:t>Best Model</a:t>
                      </a:r>
                    </a:p>
                  </a:txBody>
                  <a:tcPr>
                    <a:solidFill>
                      <a:srgbClr val="16213E"/>
                    </a:solidFill>
                  </a:tcPr>
                </a:tc>
                <a:tc>
                  <a:txBody>
                    <a:bodyPr/>
                    <a:lstStyle/>
                    <a:p>
                      <a:pPr algn="l"/>
                      <a:r>
                        <a:rPr sz="1100" b="1">
                          <a:solidFill>
                            <a:srgbClr val="FFFFFF"/>
                          </a:solidFill>
                          <a:latin typeface="Calibri"/>
                        </a:rPr>
                        <a:t>Business Application</a:t>
                      </a:r>
                    </a:p>
                  </a:txBody>
                  <a:tcPr>
                    <a:solidFill>
                      <a:srgbClr val="16213E"/>
                    </a:solidFill>
                  </a:tcPr>
                </a:tc>
                <a:tc>
                  <a:txBody>
                    <a:bodyPr/>
                    <a:lstStyle/>
                    <a:p>
                      <a:pPr algn="l"/>
                      <a:r>
                        <a:rPr sz="1100" b="1">
                          <a:solidFill>
                            <a:srgbClr val="FFFFFF"/>
                          </a:solidFill>
                          <a:latin typeface="Calibri"/>
                        </a:rPr>
                        <a:t>Accuracy Level</a:t>
                      </a:r>
                    </a:p>
                  </a:txBody>
                  <a:tcPr>
                    <a:solidFill>
                      <a:srgbClr val="16213E"/>
                    </a:solidFill>
                  </a:tcPr>
                </a:tc>
              </a:tr>
              <a:tr h="347472">
                <a:tc>
                  <a:txBody>
                    <a:bodyPr/>
                    <a:lstStyle/>
                    <a:p>
                      <a:r>
                        <a:rPr sz="1000">
                          <a:solidFill>
                            <a:srgbClr val="1A1A2E"/>
                          </a:solidFill>
                          <a:latin typeface="Calibri"/>
                        </a:rPr>
                        <a:t>Invoice / receipt extraction</a:t>
                      </a:r>
                    </a:p>
                  </a:txBody>
                  <a:tcPr>
                    <a:solidFill>
                      <a:srgbClr val="FFFFFF"/>
                    </a:solidFill>
                  </a:tcPr>
                </a:tc>
                <a:tc>
                  <a:txBody>
                    <a:bodyPr/>
                    <a:lstStyle/>
                    <a:p>
                      <a:r>
                        <a:rPr sz="1000">
                          <a:solidFill>
                            <a:srgbClr val="1A1A2E"/>
                          </a:solidFill>
                          <a:latin typeface="Calibri"/>
                        </a:rPr>
                        <a:t>GPT-4o, Claude 3.7</a:t>
                      </a:r>
                    </a:p>
                  </a:txBody>
                  <a:tcPr>
                    <a:solidFill>
                      <a:srgbClr val="FFFFFF"/>
                    </a:solidFill>
                  </a:tcPr>
                </a:tc>
                <a:tc>
                  <a:txBody>
                    <a:bodyPr/>
                    <a:lstStyle/>
                    <a:p>
                      <a:r>
                        <a:rPr sz="1000">
                          <a:solidFill>
                            <a:srgbClr val="1A1A2E"/>
                          </a:solidFill>
                          <a:latin typeface="Calibri"/>
                        </a:rPr>
                        <a:t>Extract vendor, amount, date, line items → structured JSON</a:t>
                      </a:r>
                    </a:p>
                  </a:txBody>
                  <a:tcPr>
                    <a:solidFill>
                      <a:srgbClr val="FFFFFF"/>
                    </a:solidFill>
                  </a:tcPr>
                </a:tc>
                <a:tc>
                  <a:txBody>
                    <a:bodyPr/>
                    <a:lstStyle/>
                    <a:p>
                      <a:r>
                        <a:rPr sz="1000">
                          <a:solidFill>
                            <a:srgbClr val="1A1A2E"/>
                          </a:solidFill>
                          <a:latin typeface="Calibri"/>
                        </a:rPr>
                        <a:t>95–98% on clean scans</a:t>
                      </a:r>
                    </a:p>
                  </a:txBody>
                  <a:tcPr>
                    <a:solidFill>
                      <a:srgbClr val="FFFFFF"/>
                    </a:solidFill>
                  </a:tcPr>
                </a:tc>
              </a:tr>
              <a:tr h="347472">
                <a:tc>
                  <a:txBody>
                    <a:bodyPr/>
                    <a:lstStyle/>
                    <a:p>
                      <a:r>
                        <a:rPr sz="1000">
                          <a:solidFill>
                            <a:srgbClr val="1A1A2E"/>
                          </a:solidFill>
                          <a:latin typeface="Calibri"/>
                        </a:rPr>
                        <a:t>Contract / legal document review</a:t>
                      </a:r>
                    </a:p>
                  </a:txBody>
                  <a:tcPr>
                    <a:solidFill>
                      <a:srgbClr val="F8F9FF"/>
                    </a:solidFill>
                  </a:tcPr>
                </a:tc>
                <a:tc>
                  <a:txBody>
                    <a:bodyPr/>
                    <a:lstStyle/>
                    <a:p>
                      <a:r>
                        <a:rPr sz="1000">
                          <a:solidFill>
                            <a:srgbClr val="1A1A2E"/>
                          </a:solidFill>
                          <a:latin typeface="Calibri"/>
                        </a:rPr>
                        <a:t>Claude 3.7 (200K ctx)</a:t>
                      </a:r>
                    </a:p>
                  </a:txBody>
                  <a:tcPr>
                    <a:solidFill>
                      <a:srgbClr val="F8F9FF"/>
                    </a:solidFill>
                  </a:tcPr>
                </a:tc>
                <a:tc>
                  <a:txBody>
                    <a:bodyPr/>
                    <a:lstStyle/>
                    <a:p>
                      <a:r>
                        <a:rPr sz="1000">
                          <a:solidFill>
                            <a:srgbClr val="1A1A2E"/>
                          </a:solidFill>
                          <a:latin typeface="Calibri"/>
                        </a:rPr>
                        <a:t>Flag risky clauses, extract dates, obligations</a:t>
                      </a:r>
                    </a:p>
                  </a:txBody>
                  <a:tcPr>
                    <a:solidFill>
                      <a:srgbClr val="F8F9FF"/>
                    </a:solidFill>
                  </a:tcPr>
                </a:tc>
                <a:tc>
                  <a:txBody>
                    <a:bodyPr/>
                    <a:lstStyle/>
                    <a:p>
                      <a:r>
                        <a:rPr sz="1000">
                          <a:solidFill>
                            <a:srgbClr val="1A1A2E"/>
                          </a:solidFill>
                          <a:latin typeface="Calibri"/>
                        </a:rPr>
                        <a:t>Strong — needs human review for legal decisions</a:t>
                      </a:r>
                    </a:p>
                  </a:txBody>
                  <a:tcPr>
                    <a:solidFill>
                      <a:srgbClr val="F8F9FF"/>
                    </a:solidFill>
                  </a:tcPr>
                </a:tc>
              </a:tr>
              <a:tr h="347472">
                <a:tc>
                  <a:txBody>
                    <a:bodyPr/>
                    <a:lstStyle/>
                    <a:p>
                      <a:r>
                        <a:rPr sz="1000">
                          <a:solidFill>
                            <a:srgbClr val="1A1A2E"/>
                          </a:solidFill>
                          <a:latin typeface="Calibri"/>
                        </a:rPr>
                        <a:t>Dashboard / chart reading</a:t>
                      </a:r>
                    </a:p>
                  </a:txBody>
                  <a:tcPr>
                    <a:solidFill>
                      <a:srgbClr val="FFFFFF"/>
                    </a:solidFill>
                  </a:tcPr>
                </a:tc>
                <a:tc>
                  <a:txBody>
                    <a:bodyPr/>
                    <a:lstStyle/>
                    <a:p>
                      <a:r>
                        <a:rPr sz="1000">
                          <a:solidFill>
                            <a:srgbClr val="1A1A2E"/>
                          </a:solidFill>
                          <a:latin typeface="Calibri"/>
                        </a:rPr>
                        <a:t>Gemini 2.5, GPT-4o</a:t>
                      </a:r>
                    </a:p>
                  </a:txBody>
                  <a:tcPr>
                    <a:solidFill>
                      <a:srgbClr val="FFFFFF"/>
                    </a:solidFill>
                  </a:tcPr>
                </a:tc>
                <a:tc>
                  <a:txBody>
                    <a:bodyPr/>
                    <a:lstStyle/>
                    <a:p>
                      <a:r>
                        <a:rPr sz="1000">
                          <a:solidFill>
                            <a:srgbClr val="1A1A2E"/>
                          </a:solidFill>
                          <a:latin typeface="Calibri"/>
                        </a:rPr>
                        <a:t>"What does this chart tell us? What's the trend?"</a:t>
                      </a:r>
                    </a:p>
                  </a:txBody>
                  <a:tcPr>
                    <a:solidFill>
                      <a:srgbClr val="FFFFFF"/>
                    </a:solidFill>
                  </a:tcPr>
                </a:tc>
                <a:tc>
                  <a:txBody>
                    <a:bodyPr/>
                    <a:lstStyle/>
                    <a:p>
                      <a:r>
                        <a:rPr sz="1000">
                          <a:solidFill>
                            <a:srgbClr val="1A1A2E"/>
                          </a:solidFill>
                          <a:latin typeface="Calibri"/>
                        </a:rPr>
                        <a:t>Very good on standard chart types</a:t>
                      </a:r>
                    </a:p>
                  </a:txBody>
                  <a:tcPr>
                    <a:solidFill>
                      <a:srgbClr val="FFFFFF"/>
                    </a:solidFill>
                  </a:tcPr>
                </a:tc>
              </a:tr>
              <a:tr h="347472">
                <a:tc>
                  <a:txBody>
                    <a:bodyPr/>
                    <a:lstStyle/>
                    <a:p>
                      <a:r>
                        <a:rPr sz="1000">
                          <a:solidFill>
                            <a:srgbClr val="1A1A2E"/>
                          </a:solidFill>
                          <a:latin typeface="Calibri"/>
                        </a:rPr>
                        <a:t>Product photo QA</a:t>
                      </a:r>
                    </a:p>
                  </a:txBody>
                  <a:tcPr>
                    <a:solidFill>
                      <a:srgbClr val="F8F9FF"/>
                    </a:solidFill>
                  </a:tcPr>
                </a:tc>
                <a:tc>
                  <a:txBody>
                    <a:bodyPr/>
                    <a:lstStyle/>
                    <a:p>
                      <a:r>
                        <a:rPr sz="1000">
                          <a:solidFill>
                            <a:srgbClr val="1A1A2E"/>
                          </a:solidFill>
                          <a:latin typeface="Calibri"/>
                        </a:rPr>
                        <a:t>Gemini 2.5 Pro</a:t>
                      </a:r>
                    </a:p>
                  </a:txBody>
                  <a:tcPr>
                    <a:solidFill>
                      <a:srgbClr val="F8F9FF"/>
                    </a:solidFill>
                  </a:tcPr>
                </a:tc>
                <a:tc>
                  <a:txBody>
                    <a:bodyPr/>
                    <a:lstStyle/>
                    <a:p>
                      <a:r>
                        <a:rPr sz="1000">
                          <a:solidFill>
                            <a:srgbClr val="1A1A2E"/>
                          </a:solidFill>
                          <a:latin typeface="Calibri"/>
                        </a:rPr>
                        <a:t>Flag defects, verify packaging, check planogram compliance</a:t>
                      </a:r>
                    </a:p>
                  </a:txBody>
                  <a:tcPr>
                    <a:solidFill>
                      <a:srgbClr val="F8F9FF"/>
                    </a:solidFill>
                  </a:tcPr>
                </a:tc>
                <a:tc>
                  <a:txBody>
                    <a:bodyPr/>
                    <a:lstStyle/>
                    <a:p>
                      <a:r>
                        <a:rPr sz="1000">
                          <a:solidFill>
                            <a:srgbClr val="1A1A2E"/>
                          </a:solidFill>
                          <a:latin typeface="Calibri"/>
                        </a:rPr>
                        <a:t>Varies by defect complexity</a:t>
                      </a:r>
                    </a:p>
                  </a:txBody>
                  <a:tcPr>
                    <a:solidFill>
                      <a:srgbClr val="F8F9FF"/>
                    </a:solidFill>
                  </a:tcPr>
                </a:tc>
              </a:tr>
              <a:tr h="347472">
                <a:tc>
                  <a:txBody>
                    <a:bodyPr/>
                    <a:lstStyle/>
                    <a:p>
                      <a:r>
                        <a:rPr sz="1000">
                          <a:solidFill>
                            <a:srgbClr val="1A1A2E"/>
                          </a:solidFill>
                          <a:latin typeface="Calibri"/>
                        </a:rPr>
                        <a:t>Screen / UI automation</a:t>
                      </a:r>
                    </a:p>
                  </a:txBody>
                  <a:tcPr>
                    <a:solidFill>
                      <a:srgbClr val="FFFFFF"/>
                    </a:solidFill>
                  </a:tcPr>
                </a:tc>
                <a:tc>
                  <a:txBody>
                    <a:bodyPr/>
                    <a:lstStyle/>
                    <a:p>
                      <a:r>
                        <a:rPr sz="1000">
                          <a:solidFill>
                            <a:srgbClr val="1A1A2E"/>
                          </a:solidFill>
                          <a:latin typeface="Calibri"/>
                        </a:rPr>
                        <a:t>Claude Computer Use</a:t>
                      </a:r>
                    </a:p>
                  </a:txBody>
                  <a:tcPr>
                    <a:solidFill>
                      <a:srgbClr val="FFFFFF"/>
                    </a:solidFill>
                  </a:tcPr>
                </a:tc>
                <a:tc>
                  <a:txBody>
                    <a:bodyPr/>
                    <a:lstStyle/>
                    <a:p>
                      <a:r>
                        <a:rPr sz="1000">
                          <a:solidFill>
                            <a:srgbClr val="1A1A2E"/>
                          </a:solidFill>
                          <a:latin typeface="Calibri"/>
                        </a:rPr>
                        <a:t>Click through any application, fill forms, extract data from GUIs</a:t>
                      </a:r>
                    </a:p>
                  </a:txBody>
                  <a:tcPr>
                    <a:solidFill>
                      <a:srgbClr val="FFFFFF"/>
                    </a:solidFill>
                  </a:tcPr>
                </a:tc>
                <a:tc>
                  <a:txBody>
                    <a:bodyPr/>
                    <a:lstStyle/>
                    <a:p>
                      <a:r>
                        <a:rPr sz="1000">
                          <a:solidFill>
                            <a:srgbClr val="1A1A2E"/>
                          </a:solidFill>
                          <a:latin typeface="Calibri"/>
                        </a:rPr>
                        <a:t>Production-ready for structured UIs</a:t>
                      </a:r>
                    </a:p>
                  </a:txBody>
                  <a:tcPr>
                    <a:solidFill>
                      <a:srgbClr val="FFFFFF"/>
                    </a:solidFill>
                  </a:tcPr>
                </a:tc>
              </a:tr>
            </a:tbl>
          </a:graphicData>
        </a:graphic>
      </p:graphicFrame>
      <p:sp>
        <p:nvSpPr>
          <p:cNvPr id="10" name="TextBox 9"/>
          <p:cNvSpPr txBox="1"/>
          <p:nvPr/>
        </p:nvSpPr>
        <p:spPr>
          <a:xfrm>
            <a:off x="457200" y="40690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Audio AI — what's production-ready today:</a:t>
            </a:r>
          </a:p>
        </p:txBody>
      </p:sp>
      <p:graphicFrame>
        <p:nvGraphicFramePr>
          <p:cNvPr id="11" name="Table 10"/>
          <p:cNvGraphicFramePr>
            <a:graphicFrameLocks noGrp="1"/>
          </p:cNvGraphicFramePr>
          <p:nvPr/>
        </p:nvGraphicFramePr>
        <p:xfrm>
          <a:off x="457200" y="4343400"/>
          <a:ext cx="11277295" cy="208483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algn="l"/>
                      <a:r>
                        <a:rPr sz="1100" b="1">
                          <a:solidFill>
                            <a:srgbClr val="FFFFFF"/>
                          </a:solidFill>
                          <a:latin typeface="Calibri"/>
                        </a:rPr>
                        <a:t>Capability</a:t>
                      </a:r>
                    </a:p>
                  </a:txBody>
                  <a:tcPr>
                    <a:solidFill>
                      <a:srgbClr val="16213E"/>
                    </a:solidFill>
                  </a:tcPr>
                </a:tc>
                <a:tc>
                  <a:txBody>
                    <a:bodyPr/>
                    <a:lstStyle/>
                    <a:p>
                      <a:pPr algn="l"/>
                      <a:r>
                        <a:rPr sz="1100" b="1">
                          <a:solidFill>
                            <a:srgbClr val="FFFFFF"/>
                          </a:solidFill>
                          <a:latin typeface="Calibri"/>
                        </a:rPr>
                        <a:t>Best Tool</a:t>
                      </a:r>
                    </a:p>
                  </a:txBody>
                  <a:tcPr>
                    <a:solidFill>
                      <a:srgbClr val="16213E"/>
                    </a:solidFill>
                  </a:tcPr>
                </a:tc>
                <a:tc>
                  <a:txBody>
                    <a:bodyPr/>
                    <a:lstStyle/>
                    <a:p>
                      <a:pPr algn="l"/>
                      <a:r>
                        <a:rPr sz="1100" b="1">
                          <a:solidFill>
                            <a:srgbClr val="FFFFFF"/>
                          </a:solidFill>
                          <a:latin typeface="Calibri"/>
                        </a:rPr>
                        <a:t>Business Application</a:t>
                      </a:r>
                    </a:p>
                  </a:txBody>
                  <a:tcPr>
                    <a:solidFill>
                      <a:srgbClr val="16213E"/>
                    </a:solidFill>
                  </a:tcPr>
                </a:tc>
                <a:tc>
                  <a:txBody>
                    <a:bodyPr/>
                    <a:lstStyle/>
                    <a:p>
                      <a:pPr algn="l"/>
                      <a:r>
                        <a:rPr sz="1100" b="1">
                          <a:solidFill>
                            <a:srgbClr val="FFFFFF"/>
                          </a:solidFill>
                          <a:latin typeface="Calibri"/>
                        </a:rPr>
                        <a:t>Notes</a:t>
                      </a:r>
                    </a:p>
                  </a:txBody>
                  <a:tcPr>
                    <a:solidFill>
                      <a:srgbClr val="16213E"/>
                    </a:solidFill>
                  </a:tcPr>
                </a:tc>
              </a:tr>
              <a:tr h="347472">
                <a:tc>
                  <a:txBody>
                    <a:bodyPr/>
                    <a:lstStyle/>
                    <a:p>
                      <a:r>
                        <a:rPr sz="1000">
                          <a:solidFill>
                            <a:srgbClr val="1A1A2E"/>
                          </a:solidFill>
                          <a:latin typeface="Calibri"/>
                        </a:rPr>
                        <a:t>Meeting transcription</a:t>
                      </a:r>
                    </a:p>
                  </a:txBody>
                  <a:tcPr>
                    <a:solidFill>
                      <a:srgbClr val="FFFFFF"/>
                    </a:solidFill>
                  </a:tcPr>
                </a:tc>
                <a:tc>
                  <a:txBody>
                    <a:bodyPr/>
                    <a:lstStyle/>
                    <a:p>
                      <a:r>
                        <a:rPr sz="1000">
                          <a:solidFill>
                            <a:srgbClr val="1A1A2E"/>
                          </a:solidFill>
                          <a:latin typeface="Calibri"/>
                        </a:rPr>
                        <a:t>Whisper (OpenAI), Deepgram</a:t>
                      </a:r>
                    </a:p>
                  </a:txBody>
                  <a:tcPr>
                    <a:solidFill>
                      <a:srgbClr val="FFFFFF"/>
                    </a:solidFill>
                  </a:tcPr>
                </a:tc>
                <a:tc>
                  <a:txBody>
                    <a:bodyPr/>
                    <a:lstStyle/>
                    <a:p>
                      <a:r>
                        <a:rPr sz="1000">
                          <a:solidFill>
                            <a:srgbClr val="1A1A2E"/>
                          </a:solidFill>
                          <a:latin typeface="Calibri"/>
                        </a:rPr>
                        <a:t>Accurate transcripts + speaker diarization</a:t>
                      </a:r>
                    </a:p>
                  </a:txBody>
                  <a:tcPr>
                    <a:solidFill>
                      <a:srgbClr val="FFFFFF"/>
                    </a:solidFill>
                  </a:tcPr>
                </a:tc>
                <a:tc>
                  <a:txBody>
                    <a:bodyPr/>
                    <a:lstStyle/>
                    <a:p>
                      <a:r>
                        <a:rPr sz="1000">
                          <a:solidFill>
                            <a:srgbClr val="1A1A2E"/>
                          </a:solidFill>
                          <a:latin typeface="Calibri"/>
                        </a:rPr>
                        <a:t>Handles accents, technical terms well</a:t>
                      </a:r>
                    </a:p>
                  </a:txBody>
                  <a:tcPr>
                    <a:solidFill>
                      <a:srgbClr val="FFFFFF"/>
                    </a:solidFill>
                  </a:tcPr>
                </a:tc>
              </a:tr>
              <a:tr h="347472">
                <a:tc>
                  <a:txBody>
                    <a:bodyPr/>
                    <a:lstStyle/>
                    <a:p>
                      <a:r>
                        <a:rPr sz="1000">
                          <a:solidFill>
                            <a:srgbClr val="1A1A2E"/>
                          </a:solidFill>
                          <a:latin typeface="Calibri"/>
                        </a:rPr>
                        <a:t>Real-time voice agents</a:t>
                      </a:r>
                    </a:p>
                  </a:txBody>
                  <a:tcPr>
                    <a:solidFill>
                      <a:srgbClr val="F8F9FF"/>
                    </a:solidFill>
                  </a:tcPr>
                </a:tc>
                <a:tc>
                  <a:txBody>
                    <a:bodyPr/>
                    <a:lstStyle/>
                    <a:p>
                      <a:r>
                        <a:rPr sz="1000">
                          <a:solidFill>
                            <a:srgbClr val="1A1A2E"/>
                          </a:solidFill>
                          <a:latin typeface="Calibri"/>
                        </a:rPr>
                        <a:t>GPT-4o Voice, Gemini Live</a:t>
                      </a:r>
                    </a:p>
                  </a:txBody>
                  <a:tcPr>
                    <a:solidFill>
                      <a:srgbClr val="F8F9FF"/>
                    </a:solidFill>
                  </a:tcPr>
                </a:tc>
                <a:tc>
                  <a:txBody>
                    <a:bodyPr/>
                    <a:lstStyle/>
                    <a:p>
                      <a:r>
                        <a:rPr sz="1000">
                          <a:solidFill>
                            <a:srgbClr val="1A1A2E"/>
                          </a:solidFill>
                          <a:latin typeface="Calibri"/>
                        </a:rPr>
                        <a:t>Phone-based customer service, voice data entry</a:t>
                      </a:r>
                    </a:p>
                  </a:txBody>
                  <a:tcPr>
                    <a:solidFill>
                      <a:srgbClr val="F8F9FF"/>
                    </a:solidFill>
                  </a:tcPr>
                </a:tc>
                <a:tc>
                  <a:txBody>
                    <a:bodyPr/>
                    <a:lstStyle/>
                    <a:p>
                      <a:r>
                        <a:rPr sz="1000">
                          <a:solidFill>
                            <a:srgbClr val="1A1A2E"/>
                          </a:solidFill>
                          <a:latin typeface="Calibri"/>
                        </a:rPr>
                        <a:t>Latency &lt; 500ms — natural conversation</a:t>
                      </a:r>
                    </a:p>
                  </a:txBody>
                  <a:tcPr>
                    <a:solidFill>
                      <a:srgbClr val="F8F9FF"/>
                    </a:solidFill>
                  </a:tcPr>
                </a:tc>
              </a:tr>
              <a:tr h="347472">
                <a:tc>
                  <a:txBody>
                    <a:bodyPr/>
                    <a:lstStyle/>
                    <a:p>
                      <a:r>
                        <a:rPr sz="1000">
                          <a:solidFill>
                            <a:srgbClr val="1A1A2E"/>
                          </a:solidFill>
                          <a:latin typeface="Calibri"/>
                        </a:rPr>
                        <a:t>Text-to-speech</a:t>
                      </a:r>
                    </a:p>
                  </a:txBody>
                  <a:tcPr>
                    <a:solidFill>
                      <a:srgbClr val="FFFFFF"/>
                    </a:solidFill>
                  </a:tcPr>
                </a:tc>
                <a:tc>
                  <a:txBody>
                    <a:bodyPr/>
                    <a:lstStyle/>
                    <a:p>
                      <a:r>
                        <a:rPr sz="1000">
                          <a:solidFill>
                            <a:srgbClr val="1A1A2E"/>
                          </a:solidFill>
                          <a:latin typeface="Calibri"/>
                        </a:rPr>
                        <a:t>ElevenLabs, OpenAI TTS</a:t>
                      </a:r>
                    </a:p>
                  </a:txBody>
                  <a:tcPr>
                    <a:solidFill>
                      <a:srgbClr val="FFFFFF"/>
                    </a:solidFill>
                  </a:tcPr>
                </a:tc>
                <a:tc>
                  <a:txBody>
                    <a:bodyPr/>
                    <a:lstStyle/>
                    <a:p>
                      <a:r>
                        <a:rPr sz="1000">
                          <a:solidFill>
                            <a:srgbClr val="1A1A2E"/>
                          </a:solidFill>
                          <a:latin typeface="Calibri"/>
                        </a:rPr>
                        <a:t>Narrate reports, e-learning, training content</a:t>
                      </a:r>
                    </a:p>
                  </a:txBody>
                  <a:tcPr>
                    <a:solidFill>
                      <a:srgbClr val="FFFFFF"/>
                    </a:solidFill>
                  </a:tcPr>
                </a:tc>
                <a:tc>
                  <a:txBody>
                    <a:bodyPr/>
                    <a:lstStyle/>
                    <a:p>
                      <a:r>
                        <a:rPr sz="1000">
                          <a:solidFill>
                            <a:srgbClr val="1A1A2E"/>
                          </a:solidFill>
                          <a:latin typeface="Calibri"/>
                        </a:rPr>
                        <a:t>Near-human quality at $0.15–$0.30/1K chars</a:t>
                      </a:r>
                    </a:p>
                  </a:txBody>
                  <a:tcPr>
                    <a:solidFill>
                      <a:srgbClr val="FFFFFF"/>
                    </a:solidFill>
                  </a:tcPr>
                </a:tc>
              </a:tr>
              <a:tr h="347472">
                <a:tc>
                  <a:txBody>
                    <a:bodyPr/>
                    <a:lstStyle/>
                    <a:p>
                      <a:r>
                        <a:rPr sz="1000">
                          <a:solidFill>
                            <a:srgbClr val="1A1A2E"/>
                          </a:solidFill>
                          <a:latin typeface="Calibri"/>
                        </a:rPr>
                        <a:t>Voice cloning</a:t>
                      </a:r>
                    </a:p>
                  </a:txBody>
                  <a:tcPr>
                    <a:solidFill>
                      <a:srgbClr val="F8F9FF"/>
                    </a:solidFill>
                  </a:tcPr>
                </a:tc>
                <a:tc>
                  <a:txBody>
                    <a:bodyPr/>
                    <a:lstStyle/>
                    <a:p>
                      <a:r>
                        <a:rPr sz="1000">
                          <a:solidFill>
                            <a:srgbClr val="1A1A2E"/>
                          </a:solidFill>
                          <a:latin typeface="Calibri"/>
                        </a:rPr>
                        <a:t>ElevenLabs</a:t>
                      </a:r>
                    </a:p>
                  </a:txBody>
                  <a:tcPr>
                    <a:solidFill>
                      <a:srgbClr val="F8F9FF"/>
                    </a:solidFill>
                  </a:tcPr>
                </a:tc>
                <a:tc>
                  <a:txBody>
                    <a:bodyPr/>
                    <a:lstStyle/>
                    <a:p>
                      <a:r>
                        <a:rPr sz="1000">
                          <a:solidFill>
                            <a:srgbClr val="1A1A2E"/>
                          </a:solidFill>
                          <a:latin typeface="Calibri"/>
                        </a:rPr>
                        <a:t>Consistent brand voice across all content</a:t>
                      </a:r>
                    </a:p>
                  </a:txBody>
                  <a:tcPr>
                    <a:solidFill>
                      <a:srgbClr val="F8F9FF"/>
                    </a:solidFill>
                  </a:tcPr>
                </a:tc>
                <a:tc>
                  <a:txBody>
                    <a:bodyPr/>
                    <a:lstStyle/>
                    <a:p>
                      <a:r>
                        <a:rPr sz="1000">
                          <a:solidFill>
                            <a:srgbClr val="1A1A2E"/>
                          </a:solidFill>
                          <a:latin typeface="Calibri"/>
                        </a:rPr>
                        <a:t>Requires explicit consent for use</a:t>
                      </a:r>
                    </a:p>
                  </a:txBody>
                  <a:tcPr>
                    <a:solidFill>
                      <a:srgbClr val="F8F9FF"/>
                    </a:solidFill>
                  </a:tcPr>
                </a:tc>
              </a:tr>
              <a:tr h="347472">
                <a:tc>
                  <a:txBody>
                    <a:bodyPr/>
                    <a:lstStyle/>
                    <a:p>
                      <a:r>
                        <a:rPr sz="1000">
                          <a:solidFill>
                            <a:srgbClr val="1A1A2E"/>
                          </a:solidFill>
                          <a:latin typeface="Calibri"/>
                        </a:rPr>
                        <a:t>Meeting → action items</a:t>
                      </a:r>
                    </a:p>
                  </a:txBody>
                  <a:tcPr>
                    <a:solidFill>
                      <a:srgbClr val="FFFFFF"/>
                    </a:solidFill>
                  </a:tcPr>
                </a:tc>
                <a:tc>
                  <a:txBody>
                    <a:bodyPr/>
                    <a:lstStyle/>
                    <a:p>
                      <a:r>
                        <a:rPr sz="1000">
                          <a:solidFill>
                            <a:srgbClr val="1A1A2E"/>
                          </a:solidFill>
                          <a:latin typeface="Calibri"/>
                        </a:rPr>
                        <a:t>Otter.ai, Fireflies + LLM</a:t>
                      </a:r>
                    </a:p>
                  </a:txBody>
                  <a:tcPr>
                    <a:solidFill>
                      <a:srgbClr val="FFFFFF"/>
                    </a:solidFill>
                  </a:tcPr>
                </a:tc>
                <a:tc>
                  <a:txBody>
                    <a:bodyPr/>
                    <a:lstStyle/>
                    <a:p>
                      <a:r>
                        <a:rPr sz="1000">
                          <a:solidFill>
                            <a:srgbClr val="1A1A2E"/>
                          </a:solidFill>
                          <a:latin typeface="Calibri"/>
                        </a:rPr>
                        <a:t>Auto-generate summary + task list from call recording</a:t>
                      </a:r>
                    </a:p>
                  </a:txBody>
                  <a:tcPr>
                    <a:solidFill>
                      <a:srgbClr val="FFFFFF"/>
                    </a:solidFill>
                  </a:tcPr>
                </a:tc>
                <a:tc>
                  <a:txBody>
                    <a:bodyPr/>
                    <a:lstStyle/>
                    <a:p>
                      <a:r>
                        <a:rPr sz="1000">
                          <a:solidFill>
                            <a:srgbClr val="1A1A2E"/>
                          </a:solidFill>
                          <a:latin typeface="Calibri"/>
                        </a:rPr>
                        <a:t>Standard practice at many companies</a:t>
                      </a:r>
                    </a:p>
                  </a:txBody>
                  <a:tcP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Video Generation — Where Business Use Is Ready</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What's Production-Ready vs. What Still Has Limitations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24</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The 2026 state of AI video — platform comparison:</a:t>
            </a:r>
          </a:p>
        </p:txBody>
      </p:sp>
      <p:graphicFrame>
        <p:nvGraphicFramePr>
          <p:cNvPr id="9" name="Table 8"/>
          <p:cNvGraphicFramePr>
            <a:graphicFrameLocks noGrp="1"/>
          </p:cNvGraphicFramePr>
          <p:nvPr/>
        </p:nvGraphicFramePr>
        <p:xfrm>
          <a:off x="457200" y="1600200"/>
          <a:ext cx="11277295" cy="243230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47472">
                <a:tc>
                  <a:txBody>
                    <a:bodyPr/>
                    <a:lstStyle/>
                    <a:p>
                      <a:pPr algn="l"/>
                      <a:r>
                        <a:rPr sz="1100" b="1">
                          <a:solidFill>
                            <a:srgbClr val="FFFFFF"/>
                          </a:solidFill>
                          <a:latin typeface="Calibri"/>
                        </a:rPr>
                        <a:t>Platform</a:t>
                      </a:r>
                    </a:p>
                  </a:txBody>
                  <a:tcPr>
                    <a:solidFill>
                      <a:srgbClr val="16213E"/>
                    </a:solidFill>
                  </a:tcPr>
                </a:tc>
                <a:tc>
                  <a:txBody>
                    <a:bodyPr/>
                    <a:lstStyle/>
                    <a:p>
                      <a:pPr algn="l"/>
                      <a:r>
                        <a:rPr sz="1100" b="1">
                          <a:solidFill>
                            <a:srgbClr val="FFFFFF"/>
                          </a:solidFill>
                          <a:latin typeface="Calibri"/>
                        </a:rPr>
                        <a:t>Creator</a:t>
                      </a:r>
                    </a:p>
                  </a:txBody>
                  <a:tcPr>
                    <a:solidFill>
                      <a:srgbClr val="16213E"/>
                    </a:solidFill>
                  </a:tcPr>
                </a:tc>
                <a:tc>
                  <a:txBody>
                    <a:bodyPr/>
                    <a:lstStyle/>
                    <a:p>
                      <a:pPr algn="l"/>
                      <a:r>
                        <a:rPr sz="1100" b="1">
                          <a:solidFill>
                            <a:srgbClr val="FFFFFF"/>
                          </a:solidFill>
                          <a:latin typeface="Calibri"/>
                        </a:rPr>
                        <a:t>Max Length</a:t>
                      </a:r>
                    </a:p>
                  </a:txBody>
                  <a:tcPr>
                    <a:solidFill>
                      <a:srgbClr val="16213E"/>
                    </a:solidFill>
                  </a:tcPr>
                </a:tc>
                <a:tc>
                  <a:txBody>
                    <a:bodyPr/>
                    <a:lstStyle/>
                    <a:p>
                      <a:pPr algn="l"/>
                      <a:r>
                        <a:rPr sz="1100" b="1">
                          <a:solidFill>
                            <a:srgbClr val="FFFFFF"/>
                          </a:solidFill>
                          <a:latin typeface="Calibri"/>
                        </a:rPr>
                        <a:t>Strengths</a:t>
                      </a:r>
                    </a:p>
                  </a:txBody>
                  <a:tcPr>
                    <a:solidFill>
                      <a:srgbClr val="16213E"/>
                    </a:solidFill>
                  </a:tcPr>
                </a:tc>
                <a:tc>
                  <a:txBody>
                    <a:bodyPr/>
                    <a:lstStyle/>
                    <a:p>
                      <a:pPr algn="l"/>
                      <a:r>
                        <a:rPr sz="1100" b="1">
                          <a:solidFill>
                            <a:srgbClr val="FFFFFF"/>
                          </a:solidFill>
                          <a:latin typeface="Calibri"/>
                        </a:rPr>
                        <a:t>Weaknesses</a:t>
                      </a:r>
                    </a:p>
                  </a:txBody>
                  <a:tcPr>
                    <a:solidFill>
                      <a:srgbClr val="16213E"/>
                    </a:solidFill>
                  </a:tcPr>
                </a:tc>
                <a:tc>
                  <a:txBody>
                    <a:bodyPr/>
                    <a:lstStyle/>
                    <a:p>
                      <a:pPr algn="l"/>
                      <a:r>
                        <a:rPr sz="1100" b="1">
                          <a:solidFill>
                            <a:srgbClr val="FFFFFF"/>
                          </a:solidFill>
                          <a:latin typeface="Calibri"/>
                        </a:rPr>
                        <a:t>Best Business Use</a:t>
                      </a:r>
                    </a:p>
                  </a:txBody>
                  <a:tcPr>
                    <a:solidFill>
                      <a:srgbClr val="16213E"/>
                    </a:solidFill>
                  </a:tcPr>
                </a:tc>
              </a:tr>
              <a:tr h="347472">
                <a:tc>
                  <a:txBody>
                    <a:bodyPr/>
                    <a:lstStyle/>
                    <a:p>
                      <a:r>
                        <a:rPr sz="1000">
                          <a:solidFill>
                            <a:srgbClr val="1A1A2E"/>
                          </a:solidFill>
                          <a:latin typeface="Calibri"/>
                        </a:rPr>
                        <a:t>Sora</a:t>
                      </a:r>
                    </a:p>
                  </a:txBody>
                  <a:tcPr>
                    <a:solidFill>
                      <a:srgbClr val="FFFFFF"/>
                    </a:solidFill>
                  </a:tcPr>
                </a:tc>
                <a:tc>
                  <a:txBody>
                    <a:bodyPr/>
                    <a:lstStyle/>
                    <a:p>
                      <a:r>
                        <a:rPr sz="1000">
                          <a:solidFill>
                            <a:srgbClr val="1A1A2E"/>
                          </a:solidFill>
                          <a:latin typeface="Calibri"/>
                        </a:rPr>
                        <a:t>OpenAI</a:t>
                      </a:r>
                    </a:p>
                  </a:txBody>
                  <a:tcPr>
                    <a:solidFill>
                      <a:srgbClr val="FFFFFF"/>
                    </a:solidFill>
                  </a:tcPr>
                </a:tc>
                <a:tc>
                  <a:txBody>
                    <a:bodyPr/>
                    <a:lstStyle/>
                    <a:p>
                      <a:r>
                        <a:rPr sz="1000">
                          <a:solidFill>
                            <a:srgbClr val="1A1A2E"/>
                          </a:solidFill>
                          <a:latin typeface="Calibri"/>
                        </a:rPr>
                        <a:t>~1 min</a:t>
                      </a:r>
                    </a:p>
                  </a:txBody>
                  <a:tcPr>
                    <a:solidFill>
                      <a:srgbClr val="FFFFFF"/>
                    </a:solidFill>
                  </a:tcPr>
                </a:tc>
                <a:tc>
                  <a:txBody>
                    <a:bodyPr/>
                    <a:lstStyle/>
                    <a:p>
                      <a:r>
                        <a:rPr sz="1000">
                          <a:solidFill>
                            <a:srgbClr val="1A1A2E"/>
                          </a:solidFill>
                          <a:latin typeface="Calibri"/>
                        </a:rPr>
                        <a:t>Highest photorealism, strong scene consistency</a:t>
                      </a:r>
                    </a:p>
                  </a:txBody>
                  <a:tcPr>
                    <a:solidFill>
                      <a:srgbClr val="FFFFFF"/>
                    </a:solidFill>
                  </a:tcPr>
                </a:tc>
                <a:tc>
                  <a:txBody>
                    <a:bodyPr/>
                    <a:lstStyle/>
                    <a:p>
                      <a:r>
                        <a:rPr sz="1000">
                          <a:solidFill>
                            <a:srgbClr val="1A1A2E"/>
                          </a:solidFill>
                          <a:latin typeface="Calibri"/>
                        </a:rPr>
                        <a:t>Expensive ($200/mo), limited control</a:t>
                      </a:r>
                    </a:p>
                  </a:txBody>
                  <a:tcPr>
                    <a:solidFill>
                      <a:srgbClr val="FFFFFF"/>
                    </a:solidFill>
                  </a:tcPr>
                </a:tc>
                <a:tc>
                  <a:txBody>
                    <a:bodyPr/>
                    <a:lstStyle/>
                    <a:p>
                      <a:r>
                        <a:rPr sz="1000">
                          <a:solidFill>
                            <a:srgbClr val="1A1A2E"/>
                          </a:solidFill>
                          <a:latin typeface="Calibri"/>
                        </a:rPr>
                        <a:t>Premium marketing, brand films</a:t>
                      </a:r>
                    </a:p>
                  </a:txBody>
                  <a:tcPr>
                    <a:solidFill>
                      <a:srgbClr val="FFFFFF"/>
                    </a:solidFill>
                  </a:tcPr>
                </a:tc>
              </a:tr>
              <a:tr h="347472">
                <a:tc>
                  <a:txBody>
                    <a:bodyPr/>
                    <a:lstStyle/>
                    <a:p>
                      <a:r>
                        <a:rPr sz="1000">
                          <a:solidFill>
                            <a:srgbClr val="1A1A2E"/>
                          </a:solidFill>
                          <a:latin typeface="Calibri"/>
                        </a:rPr>
                        <a:t>Runway Gen-3</a:t>
                      </a:r>
                    </a:p>
                  </a:txBody>
                  <a:tcPr>
                    <a:solidFill>
                      <a:srgbClr val="F8F9FF"/>
                    </a:solidFill>
                  </a:tcPr>
                </a:tc>
                <a:tc>
                  <a:txBody>
                    <a:bodyPr/>
                    <a:lstStyle/>
                    <a:p>
                      <a:r>
                        <a:rPr sz="1000">
                          <a:solidFill>
                            <a:srgbClr val="1A1A2E"/>
                          </a:solidFill>
                          <a:latin typeface="Calibri"/>
                        </a:rPr>
                        <a:t>Runway</a:t>
                      </a:r>
                    </a:p>
                  </a:txBody>
                  <a:tcPr>
                    <a:solidFill>
                      <a:srgbClr val="F8F9FF"/>
                    </a:solidFill>
                  </a:tcPr>
                </a:tc>
                <a:tc>
                  <a:txBody>
                    <a:bodyPr/>
                    <a:lstStyle/>
                    <a:p>
                      <a:r>
                        <a:rPr sz="1000">
                          <a:solidFill>
                            <a:srgbClr val="1A1A2E"/>
                          </a:solidFill>
                          <a:latin typeface="Calibri"/>
                        </a:rPr>
                        <a:t>10–30 sec</a:t>
                      </a:r>
                    </a:p>
                  </a:txBody>
                  <a:tcPr>
                    <a:solidFill>
                      <a:srgbClr val="F8F9FF"/>
                    </a:solidFill>
                  </a:tcPr>
                </a:tc>
                <a:tc>
                  <a:txBody>
                    <a:bodyPr/>
                    <a:lstStyle/>
                    <a:p>
                      <a:r>
                        <a:rPr sz="1000">
                          <a:solidFill>
                            <a:srgbClr val="1A1A2E"/>
                          </a:solidFill>
                          <a:latin typeface="Calibri"/>
                        </a:rPr>
                        <a:t>Film-quality, fine camera control, good motion</a:t>
                      </a:r>
                    </a:p>
                  </a:txBody>
                  <a:tcPr>
                    <a:solidFill>
                      <a:srgbClr val="F8F9FF"/>
                    </a:solidFill>
                  </a:tcPr>
                </a:tc>
                <a:tc>
                  <a:txBody>
                    <a:bodyPr/>
                    <a:lstStyle/>
                    <a:p>
                      <a:r>
                        <a:rPr sz="1000">
                          <a:solidFill>
                            <a:srgbClr val="1A1A2E"/>
                          </a:solidFill>
                          <a:latin typeface="Calibri"/>
                        </a:rPr>
                        <a:t>Short clips only</a:t>
                      </a:r>
                    </a:p>
                  </a:txBody>
                  <a:tcPr>
                    <a:solidFill>
                      <a:srgbClr val="F8F9FF"/>
                    </a:solidFill>
                  </a:tcPr>
                </a:tc>
                <a:tc>
                  <a:txBody>
                    <a:bodyPr/>
                    <a:lstStyle/>
                    <a:p>
                      <a:r>
                        <a:rPr sz="1000">
                          <a:solidFill>
                            <a:srgbClr val="1A1A2E"/>
                          </a:solidFill>
                          <a:latin typeface="Calibri"/>
                        </a:rPr>
                        <a:t>High-end social content</a:t>
                      </a:r>
                    </a:p>
                  </a:txBody>
                  <a:tcPr>
                    <a:solidFill>
                      <a:srgbClr val="F8F9FF"/>
                    </a:solidFill>
                  </a:tcPr>
                </a:tc>
              </a:tr>
              <a:tr h="347472">
                <a:tc>
                  <a:txBody>
                    <a:bodyPr/>
                    <a:lstStyle/>
                    <a:p>
                      <a:r>
                        <a:rPr sz="1000">
                          <a:solidFill>
                            <a:srgbClr val="1A1A2E"/>
                          </a:solidFill>
                          <a:latin typeface="Calibri"/>
                        </a:rPr>
                        <a:t>Google Veo 2</a:t>
                      </a:r>
                    </a:p>
                  </a:txBody>
                  <a:tcPr>
                    <a:solidFill>
                      <a:srgbClr val="FFFFFF"/>
                    </a:solidFill>
                  </a:tcPr>
                </a:tc>
                <a:tc>
                  <a:txBody>
                    <a:bodyPr/>
                    <a:lstStyle/>
                    <a:p>
                      <a:r>
                        <a:rPr sz="1000">
                          <a:solidFill>
                            <a:srgbClr val="1A1A2E"/>
                          </a:solidFill>
                          <a:latin typeface="Calibri"/>
                        </a:rPr>
                        <a:t>Google</a:t>
                      </a:r>
                    </a:p>
                  </a:txBody>
                  <a:tcPr>
                    <a:solidFill>
                      <a:srgbClr val="FFFFFF"/>
                    </a:solidFill>
                  </a:tcPr>
                </a:tc>
                <a:tc>
                  <a:txBody>
                    <a:bodyPr/>
                    <a:lstStyle/>
                    <a:p>
                      <a:r>
                        <a:rPr sz="1000">
                          <a:solidFill>
                            <a:srgbClr val="1A1A2E"/>
                          </a:solidFill>
                          <a:latin typeface="Calibri"/>
                        </a:rPr>
                        <a:t>Several min</a:t>
                      </a:r>
                    </a:p>
                  </a:txBody>
                  <a:tcPr>
                    <a:solidFill>
                      <a:srgbClr val="FFFFFF"/>
                    </a:solidFill>
                  </a:tcPr>
                </a:tc>
                <a:tc>
                  <a:txBody>
                    <a:bodyPr/>
                    <a:lstStyle/>
                    <a:p>
                      <a:r>
                        <a:rPr sz="1000">
                          <a:solidFill>
                            <a:srgbClr val="1A1A2E"/>
                          </a:solidFill>
                          <a:latin typeface="Calibri"/>
                        </a:rPr>
                        <a:t>Long clips, photorealistic, API access</a:t>
                      </a:r>
                    </a:p>
                  </a:txBody>
                  <a:tcPr>
                    <a:solidFill>
                      <a:srgbClr val="FFFFFF"/>
                    </a:solidFill>
                  </a:tcPr>
                </a:tc>
                <a:tc>
                  <a:txBody>
                    <a:bodyPr/>
                    <a:lstStyle/>
                    <a:p>
                      <a:r>
                        <a:rPr sz="1000">
                          <a:solidFill>
                            <a:srgbClr val="1A1A2E"/>
                          </a:solidFill>
                          <a:latin typeface="Calibri"/>
                        </a:rPr>
                        <a:t>Limited availability</a:t>
                      </a:r>
                    </a:p>
                  </a:txBody>
                  <a:tcPr>
                    <a:solidFill>
                      <a:srgbClr val="FFFFFF"/>
                    </a:solidFill>
                  </a:tcPr>
                </a:tc>
                <a:tc>
                  <a:txBody>
                    <a:bodyPr/>
                    <a:lstStyle/>
                    <a:p>
                      <a:r>
                        <a:rPr sz="1000">
                          <a:solidFill>
                            <a:srgbClr val="1A1A2E"/>
                          </a:solidFill>
                          <a:latin typeface="Calibri"/>
                        </a:rPr>
                        <a:t>Enterprise video at scale</a:t>
                      </a:r>
                    </a:p>
                  </a:txBody>
                  <a:tcPr>
                    <a:solidFill>
                      <a:srgbClr val="FFFFFF"/>
                    </a:solidFill>
                  </a:tcPr>
                </a:tc>
              </a:tr>
              <a:tr h="347472">
                <a:tc>
                  <a:txBody>
                    <a:bodyPr/>
                    <a:lstStyle/>
                    <a:p>
                      <a:r>
                        <a:rPr sz="1000">
                          <a:solidFill>
                            <a:srgbClr val="1A1A2E"/>
                          </a:solidFill>
                          <a:latin typeface="Calibri"/>
                        </a:rPr>
                        <a:t>Kling 2.0</a:t>
                      </a:r>
                    </a:p>
                  </a:txBody>
                  <a:tcPr>
                    <a:solidFill>
                      <a:srgbClr val="F8F9FF"/>
                    </a:solidFill>
                  </a:tcPr>
                </a:tc>
                <a:tc>
                  <a:txBody>
                    <a:bodyPr/>
                    <a:lstStyle/>
                    <a:p>
                      <a:r>
                        <a:rPr sz="1000">
                          <a:solidFill>
                            <a:srgbClr val="1A1A2E"/>
                          </a:solidFill>
                          <a:latin typeface="Calibri"/>
                        </a:rPr>
                        <a:t>Kuaishou</a:t>
                      </a:r>
                    </a:p>
                  </a:txBody>
                  <a:tcPr>
                    <a:solidFill>
                      <a:srgbClr val="F8F9FF"/>
                    </a:solidFill>
                  </a:tcPr>
                </a:tc>
                <a:tc>
                  <a:txBody>
                    <a:bodyPr/>
                    <a:lstStyle/>
                    <a:p>
                      <a:r>
                        <a:rPr sz="1000">
                          <a:solidFill>
                            <a:srgbClr val="1A1A2E"/>
                          </a:solidFill>
                          <a:latin typeface="Calibri"/>
                        </a:rPr>
                        <a:t>2–3 min</a:t>
                      </a:r>
                    </a:p>
                  </a:txBody>
                  <a:tcPr>
                    <a:solidFill>
                      <a:srgbClr val="F8F9FF"/>
                    </a:solidFill>
                  </a:tcPr>
                </a:tc>
                <a:tc>
                  <a:txBody>
                    <a:bodyPr/>
                    <a:lstStyle/>
                    <a:p>
                      <a:r>
                        <a:rPr sz="1000">
                          <a:solidFill>
                            <a:srgbClr val="1A1A2E"/>
                          </a:solidFill>
                          <a:latin typeface="Calibri"/>
                        </a:rPr>
                        <a:t>Fast, good quality, generous free tier</a:t>
                      </a:r>
                    </a:p>
                  </a:txBody>
                  <a:tcPr>
                    <a:solidFill>
                      <a:srgbClr val="F8F9FF"/>
                    </a:solidFill>
                  </a:tcPr>
                </a:tc>
                <a:tc>
                  <a:txBody>
                    <a:bodyPr/>
                    <a:lstStyle/>
                    <a:p>
                      <a:r>
                        <a:rPr sz="1000">
                          <a:solidFill>
                            <a:srgbClr val="1A1A2E"/>
                          </a:solidFill>
                          <a:latin typeface="Calibri"/>
                        </a:rPr>
                        <a:t>Occasional consistency issues</a:t>
                      </a:r>
                    </a:p>
                  </a:txBody>
                  <a:tcPr>
                    <a:solidFill>
                      <a:srgbClr val="F8F9FF"/>
                    </a:solidFill>
                  </a:tcPr>
                </a:tc>
                <a:tc>
                  <a:txBody>
                    <a:bodyPr/>
                    <a:lstStyle/>
                    <a:p>
                      <a:r>
                        <a:rPr sz="1000">
                          <a:solidFill>
                            <a:srgbClr val="1A1A2E"/>
                          </a:solidFill>
                          <a:latin typeface="Calibri"/>
                        </a:rPr>
                        <a:t>Social media, product demos</a:t>
                      </a:r>
                    </a:p>
                  </a:txBody>
                  <a:tcPr>
                    <a:solidFill>
                      <a:srgbClr val="F8F9FF"/>
                    </a:solidFill>
                  </a:tcPr>
                </a:tc>
              </a:tr>
              <a:tr h="347472">
                <a:tc>
                  <a:txBody>
                    <a:bodyPr/>
                    <a:lstStyle/>
                    <a:p>
                      <a:r>
                        <a:rPr sz="1000">
                          <a:solidFill>
                            <a:srgbClr val="1A1A2E"/>
                          </a:solidFill>
                          <a:latin typeface="Calibri"/>
                        </a:rPr>
                        <a:t>HeyGen</a:t>
                      </a:r>
                    </a:p>
                  </a:txBody>
                  <a:tcPr>
                    <a:solidFill>
                      <a:srgbClr val="FFFFFF"/>
                    </a:solidFill>
                  </a:tcPr>
                </a:tc>
                <a:tc>
                  <a:txBody>
                    <a:bodyPr/>
                    <a:lstStyle/>
                    <a:p>
                      <a:r>
                        <a:rPr sz="1000">
                          <a:solidFill>
                            <a:srgbClr val="1A1A2E"/>
                          </a:solidFill>
                          <a:latin typeface="Calibri"/>
                        </a:rPr>
                        <a:t>HeyGen</a:t>
                      </a:r>
                    </a:p>
                  </a:txBody>
                  <a:tcPr>
                    <a:solidFill>
                      <a:srgbClr val="FFFFFF"/>
                    </a:solidFill>
                  </a:tcPr>
                </a:tc>
                <a:tc>
                  <a:txBody>
                    <a:bodyPr/>
                    <a:lstStyle/>
                    <a:p>
                      <a:r>
                        <a:rPr sz="1000">
                          <a:solidFill>
                            <a:srgbClr val="1A1A2E"/>
                          </a:solidFill>
                          <a:latin typeface="Calibri"/>
                        </a:rPr>
                        <a:t>Unlimited</a:t>
                      </a:r>
                    </a:p>
                  </a:txBody>
                  <a:tcPr>
                    <a:solidFill>
                      <a:srgbClr val="FFFFFF"/>
                    </a:solidFill>
                  </a:tcPr>
                </a:tc>
                <a:tc>
                  <a:txBody>
                    <a:bodyPr/>
                    <a:lstStyle/>
                    <a:p>
                      <a:r>
                        <a:rPr sz="1000">
                          <a:solidFill>
                            <a:srgbClr val="1A1A2E"/>
                          </a:solidFill>
                          <a:latin typeface="Calibri"/>
                        </a:rPr>
                        <a:t>AI talking-head avatars, multilingual</a:t>
                      </a:r>
                    </a:p>
                  </a:txBody>
                  <a:tcPr>
                    <a:solidFill>
                      <a:srgbClr val="FFFFFF"/>
                    </a:solidFill>
                  </a:tcPr>
                </a:tc>
                <a:tc>
                  <a:txBody>
                    <a:bodyPr/>
                    <a:lstStyle/>
                    <a:p>
                      <a:r>
                        <a:rPr sz="1000">
                          <a:solidFill>
                            <a:srgbClr val="1A1A2E"/>
                          </a:solidFill>
                          <a:latin typeface="Calibri"/>
                        </a:rPr>
                        <a:t>Presenters only, no scene generation</a:t>
                      </a:r>
                    </a:p>
                  </a:txBody>
                  <a:tcPr>
                    <a:solidFill>
                      <a:srgbClr val="FFFFFF"/>
                    </a:solidFill>
                  </a:tcPr>
                </a:tc>
                <a:tc>
                  <a:txBody>
                    <a:bodyPr/>
                    <a:lstStyle/>
                    <a:p>
                      <a:r>
                        <a:rPr sz="1000">
                          <a:solidFill>
                            <a:srgbClr val="1A1A2E"/>
                          </a:solidFill>
                          <a:latin typeface="Calibri"/>
                        </a:rPr>
                        <a:t>Training, onboarding, explainer videos</a:t>
                      </a:r>
                    </a:p>
                  </a:txBody>
                  <a:tcPr>
                    <a:solidFill>
                      <a:srgbClr val="FFFFFF"/>
                    </a:solidFill>
                  </a:tcPr>
                </a:tc>
              </a:tr>
              <a:tr h="347472">
                <a:tc>
                  <a:txBody>
                    <a:bodyPr/>
                    <a:lstStyle/>
                    <a:p>
                      <a:r>
                        <a:rPr sz="1000">
                          <a:solidFill>
                            <a:srgbClr val="1A1A2E"/>
                          </a:solidFill>
                          <a:latin typeface="Calibri"/>
                        </a:rPr>
                        <a:t>Synthesia</a:t>
                      </a:r>
                    </a:p>
                  </a:txBody>
                  <a:tcPr>
                    <a:solidFill>
                      <a:srgbClr val="F8F9FF"/>
                    </a:solidFill>
                  </a:tcPr>
                </a:tc>
                <a:tc>
                  <a:txBody>
                    <a:bodyPr/>
                    <a:lstStyle/>
                    <a:p>
                      <a:r>
                        <a:rPr sz="1000">
                          <a:solidFill>
                            <a:srgbClr val="1A1A2E"/>
                          </a:solidFill>
                          <a:latin typeface="Calibri"/>
                        </a:rPr>
                        <a:t>Synthesia</a:t>
                      </a:r>
                    </a:p>
                  </a:txBody>
                  <a:tcPr>
                    <a:solidFill>
                      <a:srgbClr val="F8F9FF"/>
                    </a:solidFill>
                  </a:tcPr>
                </a:tc>
                <a:tc>
                  <a:txBody>
                    <a:bodyPr/>
                    <a:lstStyle/>
                    <a:p>
                      <a:r>
                        <a:rPr sz="1000">
                          <a:solidFill>
                            <a:srgbClr val="1A1A2E"/>
                          </a:solidFill>
                          <a:latin typeface="Calibri"/>
                        </a:rPr>
                        <a:t>Unlimited</a:t>
                      </a:r>
                    </a:p>
                  </a:txBody>
                  <a:tcPr>
                    <a:solidFill>
                      <a:srgbClr val="F8F9FF"/>
                    </a:solidFill>
                  </a:tcPr>
                </a:tc>
                <a:tc>
                  <a:txBody>
                    <a:bodyPr/>
                    <a:lstStyle/>
                    <a:p>
                      <a:r>
                        <a:rPr sz="1000">
                          <a:solidFill>
                            <a:srgbClr val="1A1A2E"/>
                          </a:solidFill>
                          <a:latin typeface="Calibri"/>
                        </a:rPr>
                        <a:t>Enterprise-grade, 140+ languages, compliance</a:t>
                      </a:r>
                    </a:p>
                  </a:txBody>
                  <a:tcPr>
                    <a:solidFill>
                      <a:srgbClr val="F8F9FF"/>
                    </a:solidFill>
                  </a:tcPr>
                </a:tc>
                <a:tc>
                  <a:txBody>
                    <a:bodyPr/>
                    <a:lstStyle/>
                    <a:p>
                      <a:r>
                        <a:rPr sz="1000">
                          <a:solidFill>
                            <a:srgbClr val="1A1A2E"/>
                          </a:solidFill>
                          <a:latin typeface="Calibri"/>
                        </a:rPr>
                        <a:t>Template-based, less creative flexibility</a:t>
                      </a:r>
                    </a:p>
                  </a:txBody>
                  <a:tcPr>
                    <a:solidFill>
                      <a:srgbClr val="F8F9FF"/>
                    </a:solidFill>
                  </a:tcPr>
                </a:tc>
                <a:tc>
                  <a:txBody>
                    <a:bodyPr/>
                    <a:lstStyle/>
                    <a:p>
                      <a:r>
                        <a:rPr sz="1000">
                          <a:solidFill>
                            <a:srgbClr val="1A1A2E"/>
                          </a:solidFill>
                          <a:latin typeface="Calibri"/>
                        </a:rPr>
                        <a:t>Corporate training, L&amp;D</a:t>
                      </a:r>
                    </a:p>
                  </a:txBody>
                  <a:tcPr>
                    <a:solidFill>
                      <a:srgbClr val="F8F9FF"/>
                    </a:solidFill>
                  </a:tcPr>
                </a:tc>
              </a:tr>
            </a:tbl>
          </a:graphicData>
        </a:graphic>
      </p:graphicFrame>
      <p:sp>
        <p:nvSpPr>
          <p:cNvPr id="10" name="TextBox 9"/>
          <p:cNvSpPr txBox="1"/>
          <p:nvPr/>
        </p:nvSpPr>
        <p:spPr>
          <a:xfrm>
            <a:off x="457200" y="414223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What's genuinely production-ready for business in 2026:</a:t>
            </a:r>
          </a:p>
          <a:p>
            <a:pPr>
              <a:spcBef>
                <a:spcPts val="200"/>
              </a:spcBef>
              <a:spcAft>
                <a:spcPts val="100"/>
              </a:spcAft>
            </a:pPr>
            <a:r>
              <a:rPr sz="1300">
                <a:solidFill>
                  <a:srgbClr val="0EA5E9"/>
                </a:solidFill>
                <a:latin typeface="Calibri"/>
              </a:rPr>
              <a:t>• </a:t>
            </a:r>
            <a:r>
              <a:rPr sz="1300" b="0">
                <a:solidFill>
                  <a:srgbClr val="1A1A2E"/>
                </a:solidFill>
                <a:latin typeface="Calibri"/>
              </a:rPr>
              <a:t>Training and onboarding videos (HeyGen / Synthesia): AI avatar presents content. Update the script → instantly regenerate. Translate to 30 languages at no added cost. Proven ROI: companies report 60–80% reduction in L&amp;D video production time.</a:t>
            </a:r>
          </a:p>
          <a:p>
            <a:pPr>
              <a:spcBef>
                <a:spcPts val="200"/>
              </a:spcBef>
              <a:spcAft>
                <a:spcPts val="100"/>
              </a:spcAft>
            </a:pPr>
            <a:r>
              <a:rPr sz="1300">
                <a:solidFill>
                  <a:srgbClr val="0EA5E9"/>
                </a:solidFill>
                <a:latin typeface="Calibri"/>
              </a:rPr>
              <a:t>• </a:t>
            </a:r>
            <a:r>
              <a:rPr sz="1300" b="0">
                <a:solidFill>
                  <a:srgbClr val="1A1A2E"/>
                </a:solidFill>
                <a:latin typeface="Calibri"/>
              </a:rPr>
              <a:t>Short-form marketing content: 15–30 second product clips, social media visuals, ad creative variants. Generate 20 variants in an hour for A/B testing. Cost: $0.50–$2.00 per clip.</a:t>
            </a:r>
          </a:p>
          <a:p>
            <a:pPr>
              <a:spcBef>
                <a:spcPts val="200"/>
              </a:spcBef>
              <a:spcAft>
                <a:spcPts val="100"/>
              </a:spcAft>
            </a:pPr>
            <a:r>
              <a:rPr sz="1300">
                <a:solidFill>
                  <a:srgbClr val="0EA5E9"/>
                </a:solidFill>
                <a:latin typeface="Calibri"/>
              </a:rPr>
              <a:t>• </a:t>
            </a:r>
            <a:r>
              <a:rPr sz="1300" b="0">
                <a:solidFill>
                  <a:srgbClr val="1A1A2E"/>
                </a:solidFill>
                <a:latin typeface="Calibri"/>
              </a:rPr>
              <a:t>Product demonstration videos: Walk through software UI or product features. No reshooting when features change — regenerate from updated screenshots.</a:t>
            </a:r>
          </a:p>
          <a:p>
            <a:pPr>
              <a:spcBef>
                <a:spcPts val="200"/>
              </a:spcBef>
              <a:spcAft>
                <a:spcPts val="100"/>
              </a:spcAft>
            </a:pPr>
            <a:r>
              <a:rPr sz="1300" b="1">
                <a:solidFill>
                  <a:srgbClr val="0F3460"/>
                </a:solidFill>
                <a:latin typeface="Calibri"/>
              </a:rPr>
              <a:t>Current limitations (be honest with stakeholders):</a:t>
            </a:r>
          </a:p>
          <a:p>
            <a:pPr>
              <a:spcBef>
                <a:spcPts val="200"/>
              </a:spcBef>
              <a:spcAft>
                <a:spcPts val="100"/>
              </a:spcAft>
            </a:pPr>
            <a:r>
              <a:rPr sz="1300">
                <a:solidFill>
                  <a:srgbClr val="0EA5E9"/>
                </a:solidFill>
                <a:latin typeface="Calibri"/>
              </a:rPr>
              <a:t>• </a:t>
            </a:r>
            <a:r>
              <a:rPr sz="1300" b="0">
                <a:solidFill>
                  <a:srgbClr val="1A1A2E"/>
                </a:solidFill>
                <a:latin typeface="Calibri"/>
              </a:rPr>
              <a:t>Clips longer than 2 minutes often have consistency issues</a:t>
            </a:r>
          </a:p>
          <a:p>
            <a:pPr>
              <a:spcBef>
                <a:spcPts val="200"/>
              </a:spcBef>
              <a:spcAft>
                <a:spcPts val="100"/>
              </a:spcAft>
            </a:pPr>
            <a:r>
              <a:rPr sz="1300">
                <a:solidFill>
                  <a:srgbClr val="0EA5E9"/>
                </a:solidFill>
                <a:latin typeface="Calibri"/>
              </a:rPr>
              <a:t>• </a:t>
            </a:r>
            <a:r>
              <a:rPr sz="1300" b="0">
                <a:solidFill>
                  <a:srgbClr val="1A1A2E"/>
                </a:solidFill>
                <a:latin typeface="Calibri"/>
              </a:rPr>
              <a:t>Human faces and hands still occasionally distort — always review before publishing</a:t>
            </a:r>
          </a:p>
          <a:p>
            <a:pPr>
              <a:spcBef>
                <a:spcPts val="200"/>
              </a:spcBef>
              <a:spcAft>
                <a:spcPts val="100"/>
              </a:spcAft>
            </a:pPr>
            <a:r>
              <a:rPr sz="1300">
                <a:solidFill>
                  <a:srgbClr val="0EA5E9"/>
                </a:solidFill>
                <a:latin typeface="Calibri"/>
              </a:rPr>
              <a:t>• </a:t>
            </a:r>
            <a:r>
              <a:rPr sz="1300" b="0">
                <a:solidFill>
                  <a:srgbClr val="1A1A2E"/>
                </a:solidFill>
                <a:latin typeface="Calibri"/>
              </a:rPr>
              <a:t>Complex narrative scenes with multiple characters remain difficult</a:t>
            </a:r>
          </a:p>
          <a:p>
            <a:pPr>
              <a:spcBef>
                <a:spcPts val="200"/>
              </a:spcBef>
              <a:spcAft>
                <a:spcPts val="100"/>
              </a:spcAft>
            </a:pPr>
            <a:r>
              <a:rPr sz="1300">
                <a:solidFill>
                  <a:srgbClr val="0EA5E9"/>
                </a:solidFill>
                <a:latin typeface="Calibri"/>
              </a:rPr>
              <a:t>• </a:t>
            </a:r>
            <a:r>
              <a:rPr sz="1300" b="0">
                <a:solidFill>
                  <a:srgbClr val="1A1A2E"/>
                </a:solidFill>
                <a:latin typeface="Calibri"/>
              </a:rPr>
              <a:t>Always disclose AI-generated content — audience trust matters more than the cost savings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Industry Applications — Where AI Is Creating Measurable Value</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Real Deployments, Real Numbers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25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25</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Finance and Banking</a:t>
            </a:r>
          </a:p>
        </p:txBody>
      </p:sp>
      <p:graphicFrame>
        <p:nvGraphicFramePr>
          <p:cNvPr id="11" name="Table 10"/>
          <p:cNvGraphicFramePr>
            <a:graphicFrameLocks noGrp="1"/>
          </p:cNvGraphicFramePr>
          <p:nvPr/>
        </p:nvGraphicFramePr>
        <p:xfrm>
          <a:off x="457200" y="1600200"/>
          <a:ext cx="6492240" cy="1737360"/>
        </p:xfrm>
        <a:graphic>
          <a:graphicData uri="http://schemas.openxmlformats.org/drawingml/2006/table">
            <a:tbl>
              <a:tblPr firstRow="1" bandRow="1">
                <a:tableStyleId>{5C22544A-7EE6-4342-B048-85BDC9FD1C3A}</a:tableStyleId>
              </a:tblPr>
              <a:tblGrid>
                <a:gridCol w="2164080"/>
                <a:gridCol w="2164080"/>
                <a:gridCol w="2164080"/>
              </a:tblGrid>
              <a:tr h="347472">
                <a:tc>
                  <a:txBody>
                    <a:bodyPr/>
                    <a:lstStyle/>
                    <a:p>
                      <a:pPr algn="l"/>
                      <a:r>
                        <a:rPr sz="1100" b="1">
                          <a:solidFill>
                            <a:srgbClr val="FFFFFF"/>
                          </a:solidFill>
                          <a:latin typeface="Calibri"/>
                        </a:rPr>
                        <a:t>Application</a:t>
                      </a:r>
                    </a:p>
                  </a:txBody>
                  <a:tcPr>
                    <a:solidFill>
                      <a:srgbClr val="16213E"/>
                    </a:solidFill>
                  </a:tcPr>
                </a:tc>
                <a:tc>
                  <a:txBody>
                    <a:bodyPr/>
                    <a:lstStyle/>
                    <a:p>
                      <a:pPr algn="l"/>
                      <a:r>
                        <a:rPr sz="1100" b="1">
                          <a:solidFill>
                            <a:srgbClr val="FFFFFF"/>
                          </a:solidFill>
                          <a:latin typeface="Calibri"/>
                        </a:rPr>
                        <a:t>AI Tools</a:t>
                      </a:r>
                    </a:p>
                  </a:txBody>
                  <a:tcPr>
                    <a:solidFill>
                      <a:srgbClr val="16213E"/>
                    </a:solidFill>
                  </a:tcPr>
                </a:tc>
                <a:tc>
                  <a:txBody>
                    <a:bodyPr/>
                    <a:lstStyle/>
                    <a:p>
                      <a:pPr algn="l"/>
                      <a:r>
                        <a:rPr sz="1100" b="1">
                          <a:solidFill>
                            <a:srgbClr val="FFFFFF"/>
                          </a:solidFill>
                          <a:latin typeface="Calibri"/>
                        </a:rPr>
                        <a:t>Measured Impact</a:t>
                      </a:r>
                    </a:p>
                  </a:txBody>
                  <a:tcPr>
                    <a:solidFill>
                      <a:srgbClr val="16213E"/>
                    </a:solidFill>
                  </a:tcPr>
                </a:tc>
              </a:tr>
              <a:tr h="347472">
                <a:tc>
                  <a:txBody>
                    <a:bodyPr/>
                    <a:lstStyle/>
                    <a:p>
                      <a:r>
                        <a:rPr sz="1000">
                          <a:solidFill>
                            <a:srgbClr val="1A1A2E"/>
                          </a:solidFill>
                          <a:latin typeface="Calibri"/>
                        </a:rPr>
                        <a:t>Earnings call analysis and Q&amp;A</a:t>
                      </a:r>
                    </a:p>
                  </a:txBody>
                  <a:tcPr>
                    <a:solidFill>
                      <a:srgbClr val="FFFFFF"/>
                    </a:solidFill>
                  </a:tcPr>
                </a:tc>
                <a:tc>
                  <a:txBody>
                    <a:bodyPr/>
                    <a:lstStyle/>
                    <a:p>
                      <a:r>
                        <a:rPr sz="1000">
                          <a:solidFill>
                            <a:srgbClr val="1A1A2E"/>
                          </a:solidFill>
                          <a:latin typeface="Calibri"/>
                        </a:rPr>
                        <a:t>Claude 3.7, GPT-4o</a:t>
                      </a:r>
                    </a:p>
                  </a:txBody>
                  <a:tcPr>
                    <a:solidFill>
                      <a:srgbClr val="FFFFFF"/>
                    </a:solidFill>
                  </a:tcPr>
                </a:tc>
                <a:tc>
                  <a:txBody>
                    <a:bodyPr/>
                    <a:lstStyle/>
                    <a:p>
                      <a:r>
                        <a:rPr sz="1000">
                          <a:solidFill>
                            <a:srgbClr val="1A1A2E"/>
                          </a:solidFill>
                          <a:latin typeface="Calibri"/>
                        </a:rPr>
                        <a:t>Analyst prep time: 2 hours → 8 minutes</a:t>
                      </a:r>
                    </a:p>
                  </a:txBody>
                  <a:tcPr>
                    <a:solidFill>
                      <a:srgbClr val="FFFFFF"/>
                    </a:solidFill>
                  </a:tcPr>
                </a:tc>
              </a:tr>
              <a:tr h="347472">
                <a:tc>
                  <a:txBody>
                    <a:bodyPr/>
                    <a:lstStyle/>
                    <a:p>
                      <a:r>
                        <a:rPr sz="1000">
                          <a:solidFill>
                            <a:srgbClr val="1A1A2E"/>
                          </a:solidFill>
                          <a:latin typeface="Calibri"/>
                        </a:rPr>
                        <a:t>Credit risk narrative generation</a:t>
                      </a:r>
                    </a:p>
                  </a:txBody>
                  <a:tcPr>
                    <a:solidFill>
                      <a:srgbClr val="F8F9FF"/>
                    </a:solidFill>
                  </a:tcPr>
                </a:tc>
                <a:tc>
                  <a:txBody>
                    <a:bodyPr/>
                    <a:lstStyle/>
                    <a:p>
                      <a:r>
                        <a:rPr sz="1000">
                          <a:solidFill>
                            <a:srgbClr val="1A1A2E"/>
                          </a:solidFill>
                          <a:latin typeface="Calibri"/>
                        </a:rPr>
                        <a:t>Fine-tuned LLM + RAG</a:t>
                      </a:r>
                    </a:p>
                  </a:txBody>
                  <a:tcPr>
                    <a:solidFill>
                      <a:srgbClr val="F8F9FF"/>
                    </a:solidFill>
                  </a:tcPr>
                </a:tc>
                <a:tc>
                  <a:txBody>
                    <a:bodyPr/>
                    <a:lstStyle/>
                    <a:p>
                      <a:r>
                        <a:rPr sz="1000">
                          <a:solidFill>
                            <a:srgbClr val="1A1A2E"/>
                          </a:solidFill>
                          <a:latin typeface="Calibri"/>
                        </a:rPr>
                        <a:t>Decision documentation: 40% faster</a:t>
                      </a:r>
                    </a:p>
                  </a:txBody>
                  <a:tcPr>
                    <a:solidFill>
                      <a:srgbClr val="F8F9FF"/>
                    </a:solidFill>
                  </a:tcPr>
                </a:tc>
              </a:tr>
              <a:tr h="347472">
                <a:tc>
                  <a:txBody>
                    <a:bodyPr/>
                    <a:lstStyle/>
                    <a:p>
                      <a:r>
                        <a:rPr sz="1000">
                          <a:solidFill>
                            <a:srgbClr val="1A1A2E"/>
                          </a:solidFill>
                          <a:latin typeface="Calibri"/>
                        </a:rPr>
                        <a:t>Regulatory gap analysis</a:t>
                      </a:r>
                    </a:p>
                  </a:txBody>
                  <a:tcPr>
                    <a:solidFill>
                      <a:srgbClr val="FFFFFF"/>
                    </a:solidFill>
                  </a:tcPr>
                </a:tc>
                <a:tc>
                  <a:txBody>
                    <a:bodyPr/>
                    <a:lstStyle/>
                    <a:p>
                      <a:r>
                        <a:rPr sz="1000">
                          <a:solidFill>
                            <a:srgbClr val="1A1A2E"/>
                          </a:solidFill>
                          <a:latin typeface="Calibri"/>
                        </a:rPr>
                        <a:t>Claude (200K context)</a:t>
                      </a:r>
                    </a:p>
                  </a:txBody>
                  <a:tcPr>
                    <a:solidFill>
                      <a:srgbClr val="FFFFFF"/>
                    </a:solidFill>
                  </a:tcPr>
                </a:tc>
                <a:tc>
                  <a:txBody>
                    <a:bodyPr/>
                    <a:lstStyle/>
                    <a:p>
                      <a:r>
                        <a:rPr sz="1000">
                          <a:solidFill>
                            <a:srgbClr val="1A1A2E"/>
                          </a:solidFill>
                          <a:latin typeface="Calibri"/>
                        </a:rPr>
                        <a:t>Compliance review: days → hours</a:t>
                      </a:r>
                    </a:p>
                  </a:txBody>
                  <a:tcPr>
                    <a:solidFill>
                      <a:srgbClr val="FFFFFF"/>
                    </a:solidFill>
                  </a:tcPr>
                </a:tc>
              </a:tr>
              <a:tr h="347472">
                <a:tc>
                  <a:txBody>
                    <a:bodyPr/>
                    <a:lstStyle/>
                    <a:p>
                      <a:r>
                        <a:rPr sz="1000">
                          <a:solidFill>
                            <a:srgbClr val="1A1A2E"/>
                          </a:solidFill>
                          <a:latin typeface="Calibri"/>
                        </a:rPr>
                        <a:t>Trade surveillance reports</a:t>
                      </a:r>
                    </a:p>
                  </a:txBody>
                  <a:tcPr>
                    <a:solidFill>
                      <a:srgbClr val="F8F9FF"/>
                    </a:solidFill>
                  </a:tcPr>
                </a:tc>
                <a:tc>
                  <a:txBody>
                    <a:bodyPr/>
                    <a:lstStyle/>
                    <a:p>
                      <a:r>
                        <a:rPr sz="1000">
                          <a:solidFill>
                            <a:srgbClr val="1A1A2E"/>
                          </a:solidFill>
                          <a:latin typeface="Calibri"/>
                        </a:rPr>
                        <a:t>LLM + structured ML</a:t>
                      </a:r>
                    </a:p>
                  </a:txBody>
                  <a:tcPr>
                    <a:solidFill>
                      <a:srgbClr val="F8F9FF"/>
                    </a:solidFill>
                  </a:tcPr>
                </a:tc>
                <a:tc>
                  <a:txBody>
                    <a:bodyPr/>
                    <a:lstStyle/>
                    <a:p>
                      <a:r>
                        <a:rPr sz="1000">
                          <a:solidFill>
                            <a:srgbClr val="1A1A2E"/>
                          </a:solidFill>
                          <a:latin typeface="Calibri"/>
                        </a:rPr>
                        <a:t>Alert investigation: 50% faster triage</a:t>
                      </a:r>
                    </a:p>
                  </a:txBody>
                  <a:tcPr>
                    <a:solidFill>
                      <a:srgbClr val="F8F9FF"/>
                    </a:solidFill>
                  </a:tcPr>
                </a:tc>
              </a:tr>
            </a:tbl>
          </a:graphicData>
        </a:graphic>
      </p:graphicFrame>
      <p:sp>
        <p:nvSpPr>
          <p:cNvPr id="12" name="TextBox 11"/>
          <p:cNvSpPr txBox="1"/>
          <p:nvPr/>
        </p:nvSpPr>
        <p:spPr>
          <a:xfrm>
            <a:off x="457200" y="3447288"/>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Healthcare and Life Sciences</a:t>
            </a:r>
          </a:p>
        </p:txBody>
      </p:sp>
      <p:graphicFrame>
        <p:nvGraphicFramePr>
          <p:cNvPr id="13" name="Table 12"/>
          <p:cNvGraphicFramePr>
            <a:graphicFrameLocks noGrp="1"/>
          </p:cNvGraphicFramePr>
          <p:nvPr/>
        </p:nvGraphicFramePr>
        <p:xfrm>
          <a:off x="457200" y="3721608"/>
          <a:ext cx="6492240" cy="1737360"/>
        </p:xfrm>
        <a:graphic>
          <a:graphicData uri="http://schemas.openxmlformats.org/drawingml/2006/table">
            <a:tbl>
              <a:tblPr firstRow="1" bandRow="1">
                <a:tableStyleId>{5C22544A-7EE6-4342-B048-85BDC9FD1C3A}</a:tableStyleId>
              </a:tblPr>
              <a:tblGrid>
                <a:gridCol w="2164080"/>
                <a:gridCol w="2164080"/>
                <a:gridCol w="2164080"/>
              </a:tblGrid>
              <a:tr h="347472">
                <a:tc>
                  <a:txBody>
                    <a:bodyPr/>
                    <a:lstStyle/>
                    <a:p>
                      <a:pPr algn="l"/>
                      <a:r>
                        <a:rPr sz="1100" b="1">
                          <a:solidFill>
                            <a:srgbClr val="FFFFFF"/>
                          </a:solidFill>
                          <a:latin typeface="Calibri"/>
                        </a:rPr>
                        <a:t>Application</a:t>
                      </a:r>
                    </a:p>
                  </a:txBody>
                  <a:tcPr>
                    <a:solidFill>
                      <a:srgbClr val="16213E"/>
                    </a:solidFill>
                  </a:tcPr>
                </a:tc>
                <a:tc>
                  <a:txBody>
                    <a:bodyPr/>
                    <a:lstStyle/>
                    <a:p>
                      <a:pPr algn="l"/>
                      <a:r>
                        <a:rPr sz="1100" b="1">
                          <a:solidFill>
                            <a:srgbClr val="FFFFFF"/>
                          </a:solidFill>
                          <a:latin typeface="Calibri"/>
                        </a:rPr>
                        <a:t>AI Tools</a:t>
                      </a:r>
                    </a:p>
                  </a:txBody>
                  <a:tcPr>
                    <a:solidFill>
                      <a:srgbClr val="16213E"/>
                    </a:solidFill>
                  </a:tcPr>
                </a:tc>
                <a:tc>
                  <a:txBody>
                    <a:bodyPr/>
                    <a:lstStyle/>
                    <a:p>
                      <a:pPr algn="l"/>
                      <a:r>
                        <a:rPr sz="1100" b="1">
                          <a:solidFill>
                            <a:srgbClr val="FFFFFF"/>
                          </a:solidFill>
                          <a:latin typeface="Calibri"/>
                        </a:rPr>
                        <a:t>Measured Impact</a:t>
                      </a:r>
                    </a:p>
                  </a:txBody>
                  <a:tcPr>
                    <a:solidFill>
                      <a:srgbClr val="16213E"/>
                    </a:solidFill>
                  </a:tcPr>
                </a:tc>
              </a:tr>
              <a:tr h="347472">
                <a:tc>
                  <a:txBody>
                    <a:bodyPr/>
                    <a:lstStyle/>
                    <a:p>
                      <a:r>
                        <a:rPr sz="1000">
                          <a:solidFill>
                            <a:srgbClr val="1A1A2E"/>
                          </a:solidFill>
                          <a:latin typeface="Calibri"/>
                        </a:rPr>
                        <a:t>Clinical note drafting (ambient AI)</a:t>
                      </a:r>
                    </a:p>
                  </a:txBody>
                  <a:tcPr>
                    <a:solidFill>
                      <a:srgbClr val="FFFFFF"/>
                    </a:solidFill>
                  </a:tcPr>
                </a:tc>
                <a:tc>
                  <a:txBody>
                    <a:bodyPr/>
                    <a:lstStyle/>
                    <a:p>
                      <a:r>
                        <a:rPr sz="1000">
                          <a:solidFill>
                            <a:srgbClr val="1A1A2E"/>
                          </a:solidFill>
                          <a:latin typeface="Calibri"/>
                        </a:rPr>
                        <a:t>Specialized models + voice</a:t>
                      </a:r>
                    </a:p>
                  </a:txBody>
                  <a:tcPr>
                    <a:solidFill>
                      <a:srgbClr val="FFFFFF"/>
                    </a:solidFill>
                  </a:tcPr>
                </a:tc>
                <a:tc>
                  <a:txBody>
                    <a:bodyPr/>
                    <a:lstStyle/>
                    <a:p>
                      <a:r>
                        <a:rPr sz="1000">
                          <a:solidFill>
                            <a:srgbClr val="1A1A2E"/>
                          </a:solidFill>
                          <a:latin typeface="Calibri"/>
                        </a:rPr>
                        <a:t>Physician documentation: −2 hrs/day</a:t>
                      </a:r>
                    </a:p>
                  </a:txBody>
                  <a:tcPr>
                    <a:solidFill>
                      <a:srgbClr val="FFFFFF"/>
                    </a:solidFill>
                  </a:tcPr>
                </a:tc>
              </a:tr>
              <a:tr h="347472">
                <a:tc>
                  <a:txBody>
                    <a:bodyPr/>
                    <a:lstStyle/>
                    <a:p>
                      <a:r>
                        <a:rPr sz="1000">
                          <a:solidFill>
                            <a:srgbClr val="1A1A2E"/>
                          </a:solidFill>
                          <a:latin typeface="Calibri"/>
                        </a:rPr>
                        <a:t>Prior authorization letters</a:t>
                      </a:r>
                    </a:p>
                  </a:txBody>
                  <a:tcPr>
                    <a:solidFill>
                      <a:srgbClr val="F8F9FF"/>
                    </a:solidFill>
                  </a:tcPr>
                </a:tc>
                <a:tc>
                  <a:txBody>
                    <a:bodyPr/>
                    <a:lstStyle/>
                    <a:p>
                      <a:r>
                        <a:rPr sz="1000">
                          <a:solidFill>
                            <a:srgbClr val="1A1A2E"/>
                          </a:solidFill>
                          <a:latin typeface="Calibri"/>
                        </a:rPr>
                        <a:t>Fine-tuned LLM</a:t>
                      </a:r>
                    </a:p>
                  </a:txBody>
                  <a:tcPr>
                    <a:solidFill>
                      <a:srgbClr val="F8F9FF"/>
                    </a:solidFill>
                  </a:tcPr>
                </a:tc>
                <a:tc>
                  <a:txBody>
                    <a:bodyPr/>
                    <a:lstStyle/>
                    <a:p>
                      <a:r>
                        <a:rPr sz="1000">
                          <a:solidFill>
                            <a:srgbClr val="1A1A2E"/>
                          </a:solidFill>
                          <a:latin typeface="Calibri"/>
                        </a:rPr>
                        <a:t>Drafting time: 45 min → 4 min</a:t>
                      </a:r>
                    </a:p>
                  </a:txBody>
                  <a:tcPr>
                    <a:solidFill>
                      <a:srgbClr val="F8F9FF"/>
                    </a:solidFill>
                  </a:tcPr>
                </a:tc>
              </a:tr>
              <a:tr h="347472">
                <a:tc>
                  <a:txBody>
                    <a:bodyPr/>
                    <a:lstStyle/>
                    <a:p>
                      <a:r>
                        <a:rPr sz="1000">
                          <a:solidFill>
                            <a:srgbClr val="1A1A2E"/>
                          </a:solidFill>
                          <a:latin typeface="Calibri"/>
                        </a:rPr>
                        <a:t>Clinical trial site matching</a:t>
                      </a:r>
                    </a:p>
                  </a:txBody>
                  <a:tcPr>
                    <a:solidFill>
                      <a:srgbClr val="FFFFFF"/>
                    </a:solidFill>
                  </a:tcPr>
                </a:tc>
                <a:tc>
                  <a:txBody>
                    <a:bodyPr/>
                    <a:lstStyle/>
                    <a:p>
                      <a:r>
                        <a:rPr sz="1000">
                          <a:solidFill>
                            <a:srgbClr val="1A1A2E"/>
                          </a:solidFill>
                          <a:latin typeface="Calibri"/>
                        </a:rPr>
                        <a:t>RAG + LLMs</a:t>
                      </a:r>
                    </a:p>
                  </a:txBody>
                  <a:tcPr>
                    <a:solidFill>
                      <a:srgbClr val="FFFFFF"/>
                    </a:solidFill>
                  </a:tcPr>
                </a:tc>
                <a:tc>
                  <a:txBody>
                    <a:bodyPr/>
                    <a:lstStyle/>
                    <a:p>
                      <a:r>
                        <a:rPr sz="1000">
                          <a:solidFill>
                            <a:srgbClr val="1A1A2E"/>
                          </a:solidFill>
                          <a:latin typeface="Calibri"/>
                        </a:rPr>
                        <a:t>Patient screening: 3× faster</a:t>
                      </a:r>
                    </a:p>
                  </a:txBody>
                  <a:tcPr>
                    <a:solidFill>
                      <a:srgbClr val="FFFFFF"/>
                    </a:solidFill>
                  </a:tcPr>
                </a:tc>
              </a:tr>
              <a:tr h="347472">
                <a:tc>
                  <a:txBody>
                    <a:bodyPr/>
                    <a:lstStyle/>
                    <a:p>
                      <a:r>
                        <a:rPr sz="1000">
                          <a:solidFill>
                            <a:srgbClr val="1A1A2E"/>
                          </a:solidFill>
                          <a:latin typeface="Calibri"/>
                        </a:rPr>
                        <a:t>Imaging report first draft</a:t>
                      </a:r>
                    </a:p>
                  </a:txBody>
                  <a:tcPr>
                    <a:solidFill>
                      <a:srgbClr val="F8F9FF"/>
                    </a:solidFill>
                  </a:tcPr>
                </a:tc>
                <a:tc>
                  <a:txBody>
                    <a:bodyPr/>
                    <a:lstStyle/>
                    <a:p>
                      <a:r>
                        <a:rPr sz="1000">
                          <a:solidFill>
                            <a:srgbClr val="1A1A2E"/>
                          </a:solidFill>
                          <a:latin typeface="Calibri"/>
                        </a:rPr>
                        <a:t>Multimodal AI</a:t>
                      </a:r>
                    </a:p>
                  </a:txBody>
                  <a:tcPr>
                    <a:solidFill>
                      <a:srgbClr val="F8F9FF"/>
                    </a:solidFill>
                  </a:tcPr>
                </a:tc>
                <a:tc>
                  <a:txBody>
                    <a:bodyPr/>
                    <a:lstStyle/>
                    <a:p>
                      <a:r>
                        <a:rPr sz="1000">
                          <a:solidFill>
                            <a:srgbClr val="1A1A2E"/>
                          </a:solidFill>
                          <a:latin typeface="Calibri"/>
                        </a:rPr>
                        <a:t>Radiologist throughput: +20–30%</a:t>
                      </a:r>
                    </a:p>
                  </a:txBody>
                  <a:tcPr>
                    <a:solidFill>
                      <a:srgbClr val="F8F9FF"/>
                    </a:solidFill>
                  </a:tcPr>
                </a:tc>
              </a:tr>
            </a:tbl>
          </a:graphicData>
        </a:graphic>
      </p:graphicFrame>
      <p:sp>
        <p:nvSpPr>
          <p:cNvPr id="14" name="TextBox 13"/>
          <p:cNvSpPr txBox="1"/>
          <p:nvPr/>
        </p:nvSpPr>
        <p:spPr>
          <a:xfrm>
            <a:off x="457200" y="5568696"/>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Retail and E-commerce</a:t>
            </a:r>
          </a:p>
        </p:txBody>
      </p:sp>
      <p:graphicFrame>
        <p:nvGraphicFramePr>
          <p:cNvPr id="15" name="Table 14"/>
          <p:cNvGraphicFramePr>
            <a:graphicFrameLocks noGrp="1"/>
          </p:cNvGraphicFramePr>
          <p:nvPr/>
        </p:nvGraphicFramePr>
        <p:xfrm>
          <a:off x="457200" y="5843016"/>
          <a:ext cx="6492240" cy="740660"/>
        </p:xfrm>
        <a:graphic>
          <a:graphicData uri="http://schemas.openxmlformats.org/drawingml/2006/table">
            <a:tbl>
              <a:tblPr firstRow="1" bandRow="1">
                <a:tableStyleId>{5C22544A-7EE6-4342-B048-85BDC9FD1C3A}</a:tableStyleId>
              </a:tblPr>
              <a:tblGrid>
                <a:gridCol w="2164080"/>
                <a:gridCol w="2164080"/>
                <a:gridCol w="2164080"/>
              </a:tblGrid>
              <a:tr h="148132">
                <a:tc>
                  <a:txBody>
                    <a:bodyPr/>
                    <a:lstStyle/>
                    <a:p>
                      <a:pPr algn="l"/>
                      <a:r>
                        <a:rPr sz="1100" b="1">
                          <a:solidFill>
                            <a:srgbClr val="FFFFFF"/>
                          </a:solidFill>
                          <a:latin typeface="Calibri"/>
                        </a:rPr>
                        <a:t>Application</a:t>
                      </a:r>
                    </a:p>
                  </a:txBody>
                  <a:tcPr>
                    <a:solidFill>
                      <a:srgbClr val="16213E"/>
                    </a:solidFill>
                  </a:tcPr>
                </a:tc>
                <a:tc>
                  <a:txBody>
                    <a:bodyPr/>
                    <a:lstStyle/>
                    <a:p>
                      <a:pPr algn="l"/>
                      <a:r>
                        <a:rPr sz="1100" b="1">
                          <a:solidFill>
                            <a:srgbClr val="FFFFFF"/>
                          </a:solidFill>
                          <a:latin typeface="Calibri"/>
                        </a:rPr>
                        <a:t>AI Tools</a:t>
                      </a:r>
                    </a:p>
                  </a:txBody>
                  <a:tcPr>
                    <a:solidFill>
                      <a:srgbClr val="16213E"/>
                    </a:solidFill>
                  </a:tcPr>
                </a:tc>
                <a:tc>
                  <a:txBody>
                    <a:bodyPr/>
                    <a:lstStyle/>
                    <a:p>
                      <a:pPr algn="l"/>
                      <a:r>
                        <a:rPr sz="1100" b="1">
                          <a:solidFill>
                            <a:srgbClr val="FFFFFF"/>
                          </a:solidFill>
                          <a:latin typeface="Calibri"/>
                        </a:rPr>
                        <a:t>Measured Impact</a:t>
                      </a:r>
                    </a:p>
                  </a:txBody>
                  <a:tcPr>
                    <a:solidFill>
                      <a:srgbClr val="16213E"/>
                    </a:solidFill>
                  </a:tcPr>
                </a:tc>
              </a:tr>
              <a:tr h="148132">
                <a:tc>
                  <a:txBody>
                    <a:bodyPr/>
                    <a:lstStyle/>
                    <a:p>
                      <a:r>
                        <a:rPr sz="1000">
                          <a:solidFill>
                            <a:srgbClr val="1A1A2E"/>
                          </a:solidFill>
                          <a:latin typeface="Calibri"/>
                        </a:rPr>
                        <a:t>Product description generation</a:t>
                      </a:r>
                    </a:p>
                  </a:txBody>
                  <a:tcPr>
                    <a:solidFill>
                      <a:srgbClr val="FFFFFF"/>
                    </a:solidFill>
                  </a:tcPr>
                </a:tc>
                <a:tc>
                  <a:txBody>
                    <a:bodyPr/>
                    <a:lstStyle/>
                    <a:p>
                      <a:r>
                        <a:rPr sz="1000">
                          <a:solidFill>
                            <a:srgbClr val="1A1A2E"/>
                          </a:solidFill>
                          <a:latin typeface="Calibri"/>
                        </a:rPr>
                        <a:t>GPT-4.1, Claude</a:t>
                      </a:r>
                    </a:p>
                  </a:txBody>
                  <a:tcPr>
                    <a:solidFill>
                      <a:srgbClr val="FFFFFF"/>
                    </a:solidFill>
                  </a:tcPr>
                </a:tc>
                <a:tc>
                  <a:txBody>
                    <a:bodyPr/>
                    <a:lstStyle/>
                    <a:p>
                      <a:r>
                        <a:rPr sz="1000">
                          <a:solidFill>
                            <a:srgbClr val="1A1A2E"/>
                          </a:solidFill>
                          <a:latin typeface="Calibri"/>
                        </a:rPr>
                        <a:t>10,000 SKUs/hour vs. 100/day manual</a:t>
                      </a:r>
                    </a:p>
                  </a:txBody>
                  <a:tcPr>
                    <a:solidFill>
                      <a:srgbClr val="FFFFFF"/>
                    </a:solidFill>
                  </a:tcPr>
                </a:tc>
              </a:tr>
              <a:tr h="148132">
                <a:tc>
                  <a:txBody>
                    <a:bodyPr/>
                    <a:lstStyle/>
                    <a:p>
                      <a:r>
                        <a:rPr sz="1000">
                          <a:solidFill>
                            <a:srgbClr val="1A1A2E"/>
                          </a:solidFill>
                          <a:latin typeface="Calibri"/>
                        </a:rPr>
                        <a:t>Returns reason classification</a:t>
                      </a:r>
                    </a:p>
                  </a:txBody>
                  <a:tcPr>
                    <a:solidFill>
                      <a:srgbClr val="F8F9FF"/>
                    </a:solidFill>
                  </a:tcPr>
                </a:tc>
                <a:tc>
                  <a:txBody>
                    <a:bodyPr/>
                    <a:lstStyle/>
                    <a:p>
                      <a:r>
                        <a:rPr sz="1000">
                          <a:solidFill>
                            <a:srgbClr val="1A1A2E"/>
                          </a:solidFill>
                          <a:latin typeface="Calibri"/>
                        </a:rPr>
                        <a:t>Fine-tuned LLM</a:t>
                      </a:r>
                    </a:p>
                  </a:txBody>
                  <a:tcPr>
                    <a:solidFill>
                      <a:srgbClr val="F8F9FF"/>
                    </a:solidFill>
                  </a:tcPr>
                </a:tc>
                <a:tc>
                  <a:txBody>
                    <a:bodyPr/>
                    <a:lstStyle/>
                    <a:p>
                      <a:r>
                        <a:rPr sz="1000">
                          <a:solidFill>
                            <a:srgbClr val="1A1A2E"/>
                          </a:solidFill>
                          <a:latin typeface="Calibri"/>
                        </a:rPr>
                        <a:t>Routing accuracy: 94% (vs. 71% rule-based)</a:t>
                      </a:r>
                    </a:p>
                  </a:txBody>
                  <a:tcPr>
                    <a:solidFill>
                      <a:srgbClr val="F8F9FF"/>
                    </a:solidFill>
                  </a:tcPr>
                </a:tc>
              </a:tr>
              <a:tr h="148132">
                <a:tc>
                  <a:txBody>
                    <a:bodyPr/>
                    <a:lstStyle/>
                    <a:p>
                      <a:r>
                        <a:rPr sz="1000">
                          <a:solidFill>
                            <a:srgbClr val="1A1A2E"/>
                          </a:solidFill>
                          <a:latin typeface="Calibri"/>
                        </a:rPr>
                        <a:t>Customer chat resolution</a:t>
                      </a:r>
                    </a:p>
                  </a:txBody>
                  <a:tcPr>
                    <a:solidFill>
                      <a:srgbClr val="FFFFFF"/>
                    </a:solidFill>
                  </a:tcPr>
                </a:tc>
                <a:tc>
                  <a:txBody>
                    <a:bodyPr/>
                    <a:lstStyle/>
                    <a:p>
                      <a:r>
                        <a:rPr sz="1000">
                          <a:solidFill>
                            <a:srgbClr val="1A1A2E"/>
                          </a:solidFill>
                          <a:latin typeface="Calibri"/>
                        </a:rPr>
                        <a:t>Fine-tuned LLM</a:t>
                      </a:r>
                    </a:p>
                  </a:txBody>
                  <a:tcPr>
                    <a:solidFill>
                      <a:srgbClr val="FFFFFF"/>
                    </a:solidFill>
                  </a:tcPr>
                </a:tc>
                <a:tc>
                  <a:txBody>
                    <a:bodyPr/>
                    <a:lstStyle/>
                    <a:p>
                      <a:r>
                        <a:rPr sz="1000">
                          <a:solidFill>
                            <a:srgbClr val="1A1A2E"/>
                          </a:solidFill>
                          <a:latin typeface="Calibri"/>
                        </a:rPr>
                        <a:t>70% resolved without human agent</a:t>
                      </a:r>
                    </a:p>
                  </a:txBody>
                  <a:tcPr>
                    <a:solidFill>
                      <a:srgbClr val="FFFFFF"/>
                    </a:solidFill>
                  </a:tcPr>
                </a:tc>
              </a:tr>
              <a:tr h="148132">
                <a:tc>
                  <a:txBody>
                    <a:bodyPr/>
                    <a:lstStyle/>
                    <a:p>
                      <a:r>
                        <a:rPr sz="1000">
                          <a:solidFill>
                            <a:srgbClr val="1A1A2E"/>
                          </a:solidFill>
                          <a:latin typeface="Calibri"/>
                        </a:rPr>
                        <a:t>Trend-driven copywriting</a:t>
                      </a:r>
                    </a:p>
                  </a:txBody>
                  <a:tcPr>
                    <a:solidFill>
                      <a:srgbClr val="F8F9FF"/>
                    </a:solidFill>
                  </a:tcPr>
                </a:tc>
                <a:tc>
                  <a:txBody>
                    <a:bodyPr/>
                    <a:lstStyle/>
                    <a:p>
                      <a:r>
                        <a:rPr sz="1000">
                          <a:solidFill>
                            <a:srgbClr val="1A1A2E"/>
                          </a:solidFill>
                          <a:latin typeface="Calibri"/>
                        </a:rPr>
                        <a:t>Claude + RAG</a:t>
                      </a:r>
                    </a:p>
                  </a:txBody>
                  <a:tcPr>
                    <a:solidFill>
                      <a:srgbClr val="F8F9FF"/>
                    </a:solidFill>
                  </a:tcPr>
                </a:tc>
                <a:tc>
                  <a:txBody>
                    <a:bodyPr/>
                    <a:lstStyle/>
                    <a:p>
                      <a:r>
                        <a:rPr sz="1000">
                          <a:solidFill>
                            <a:srgbClr val="1A1A2E"/>
                          </a:solidFill>
                          <a:latin typeface="Calibri"/>
                        </a:rPr>
                        <a:t>Campaign brief to copy: hours → minutes</a:t>
                      </a:r>
                    </a:p>
                  </a:txBody>
                  <a:tcPr>
                    <a:solidFill>
                      <a:srgbClr val="F8F9FF"/>
                    </a:solidFill>
                  </a:tcPr>
                </a:tc>
              </a:tr>
            </a:tbl>
          </a:graphicData>
        </a:graphic>
      </p:graphicFrame>
      <p:sp>
        <p:nvSpPr>
          <p:cNvPr id="16" name="TextBox 15"/>
          <p:cNvSpPr txBox="1"/>
          <p:nvPr/>
        </p:nvSpPr>
        <p:spPr>
          <a:xfrm>
            <a:off x="457200" y="7690104"/>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Consulting and Professional Services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058400" cy="640080"/>
          </a:xfrm>
          <a:prstGeom prst="rect">
            <a:avLst/>
          </a:prstGeom>
          <a:noFill/>
        </p:spPr>
        <p:txBody>
          <a:bodyPr wrap="none">
            <a:spAutoFit/>
          </a:bodyPr>
          <a:lstStyle/>
          <a:p>
            <a:r>
              <a:rPr sz="2200" b="1">
                <a:solidFill>
                  <a:srgbClr val="0EA5E9"/>
                </a:solidFill>
                <a:latin typeface="Calibri"/>
              </a:rPr>
              <a:t>Section 5</a:t>
            </a:r>
          </a:p>
        </p:txBody>
      </p:sp>
      <p:sp>
        <p:nvSpPr>
          <p:cNvPr id="5" name="TextBox 4"/>
          <p:cNvSpPr txBox="1"/>
          <p:nvPr/>
        </p:nvSpPr>
        <p:spPr>
          <a:xfrm>
            <a:off x="914400" y="2606040"/>
            <a:ext cx="10058400" cy="1097280"/>
          </a:xfrm>
          <a:prstGeom prst="rect">
            <a:avLst/>
          </a:prstGeom>
          <a:noFill/>
        </p:spPr>
        <p:txBody>
          <a:bodyPr wrap="none">
            <a:spAutoFit/>
          </a:bodyPr>
          <a:lstStyle/>
          <a:p>
            <a:r>
              <a:rPr sz="3600" b="1">
                <a:solidFill>
                  <a:srgbClr val="FFFFFF"/>
                </a:solidFill>
                <a:latin typeface="Calibri"/>
              </a:rPr>
              <a:t>Key Trends &amp; Strategic Outlook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RAG in 2026 — Beyond Basic Retrieval</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From Prototype to Production-Grade Knowledge Systems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26</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What RAG does: Connects an LLM to your proprietary data so it answers questions grounded in your knowledge — policies, products, client history, research — not just its training data.</a:t>
            </a:r>
          </a:p>
          <a:p>
            <a:pPr>
              <a:spcBef>
                <a:spcPts val="200"/>
              </a:spcBef>
              <a:spcAft>
                <a:spcPts val="100"/>
              </a:spcAft>
            </a:pPr>
            <a:r>
              <a:rPr sz="1300" b="1">
                <a:solidFill>
                  <a:srgbClr val="0F3460"/>
                </a:solidFill>
                <a:latin typeface="Calibri"/>
              </a:rPr>
              <a:t>Why RAG beats fine-tuning for most knowledge use cases:</a:t>
            </a:r>
          </a:p>
        </p:txBody>
      </p:sp>
      <p:graphicFrame>
        <p:nvGraphicFramePr>
          <p:cNvPr id="9" name="Table 8"/>
          <p:cNvGraphicFramePr>
            <a:graphicFrameLocks noGrp="1"/>
          </p:cNvGraphicFramePr>
          <p:nvPr/>
        </p:nvGraphicFramePr>
        <p:xfrm>
          <a:off x="457200" y="1874520"/>
          <a:ext cx="11277295" cy="2432304"/>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Criterion</a:t>
                      </a:r>
                    </a:p>
                  </a:txBody>
                  <a:tcPr>
                    <a:solidFill>
                      <a:srgbClr val="16213E"/>
                    </a:solidFill>
                  </a:tcPr>
                </a:tc>
                <a:tc>
                  <a:txBody>
                    <a:bodyPr/>
                    <a:lstStyle/>
                    <a:p>
                      <a:pPr algn="l"/>
                      <a:r>
                        <a:rPr sz="1100" b="1">
                          <a:solidFill>
                            <a:srgbClr val="FFFFFF"/>
                          </a:solidFill>
                          <a:latin typeface="Calibri"/>
                        </a:rPr>
                        <a:t>RAG</a:t>
                      </a:r>
                    </a:p>
                  </a:txBody>
                  <a:tcPr>
                    <a:solidFill>
                      <a:srgbClr val="16213E"/>
                    </a:solidFill>
                  </a:tcPr>
                </a:tc>
                <a:tc>
                  <a:txBody>
                    <a:bodyPr/>
                    <a:lstStyle/>
                    <a:p>
                      <a:pPr algn="l"/>
                      <a:r>
                        <a:rPr sz="1100" b="1">
                          <a:solidFill>
                            <a:srgbClr val="FFFFFF"/>
                          </a:solidFill>
                          <a:latin typeface="Calibri"/>
                        </a:rPr>
                        <a:t>Fine-tuning</a:t>
                      </a:r>
                    </a:p>
                  </a:txBody>
                  <a:tcPr>
                    <a:solidFill>
                      <a:srgbClr val="16213E"/>
                    </a:solidFill>
                  </a:tcPr>
                </a:tc>
              </a:tr>
              <a:tr h="347472">
                <a:tc>
                  <a:txBody>
                    <a:bodyPr/>
                    <a:lstStyle/>
                    <a:p>
                      <a:r>
                        <a:rPr sz="1000">
                          <a:solidFill>
                            <a:srgbClr val="1A1A2E"/>
                          </a:solidFill>
                          <a:latin typeface="Calibri"/>
                        </a:rPr>
                        <a:t>Updates when data changes</a:t>
                      </a:r>
                    </a:p>
                  </a:txBody>
                  <a:tcPr>
                    <a:solidFill>
                      <a:srgbClr val="FFFFFF"/>
                    </a:solidFill>
                  </a:tcPr>
                </a:tc>
                <a:tc>
                  <a:txBody>
                    <a:bodyPr/>
                    <a:lstStyle/>
                    <a:p>
                      <a:r>
                        <a:rPr sz="1000">
                          <a:solidFill>
                            <a:srgbClr val="1A1A2E"/>
                          </a:solidFill>
                          <a:latin typeface="Calibri"/>
                        </a:rPr>
                        <a:t>Yes — re-index the new document</a:t>
                      </a:r>
                    </a:p>
                  </a:txBody>
                  <a:tcPr>
                    <a:solidFill>
                      <a:srgbClr val="FFFFFF"/>
                    </a:solidFill>
                  </a:tcPr>
                </a:tc>
                <a:tc>
                  <a:txBody>
                    <a:bodyPr/>
                    <a:lstStyle/>
                    <a:p>
                      <a:r>
                        <a:rPr sz="1000">
                          <a:solidFill>
                            <a:srgbClr val="1A1A2E"/>
                          </a:solidFill>
                          <a:latin typeface="Calibri"/>
                        </a:rPr>
                        <a:t>No — requires retraining</a:t>
                      </a:r>
                    </a:p>
                  </a:txBody>
                  <a:tcPr>
                    <a:solidFill>
                      <a:srgbClr val="FFFFFF"/>
                    </a:solidFill>
                  </a:tcPr>
                </a:tc>
              </a:tr>
              <a:tr h="347472">
                <a:tc>
                  <a:txBody>
                    <a:bodyPr/>
                    <a:lstStyle/>
                    <a:p>
                      <a:r>
                        <a:rPr sz="1000">
                          <a:solidFill>
                            <a:srgbClr val="1A1A2E"/>
                          </a:solidFill>
                          <a:latin typeface="Calibri"/>
                        </a:rPr>
                        <a:t>Cites sources</a:t>
                      </a:r>
                    </a:p>
                  </a:txBody>
                  <a:tcPr>
                    <a:solidFill>
                      <a:srgbClr val="F8F9FF"/>
                    </a:solidFill>
                  </a:tcPr>
                </a:tc>
                <a:tc>
                  <a:txBody>
                    <a:bodyPr/>
                    <a:lstStyle/>
                    <a:p>
                      <a:r>
                        <a:rPr sz="1000">
                          <a:solidFill>
                            <a:srgbClr val="1A1A2E"/>
                          </a:solidFill>
                          <a:latin typeface="Calibri"/>
                        </a:rPr>
                        <a:t>Yes — provenance is built in</a:t>
                      </a:r>
                    </a:p>
                  </a:txBody>
                  <a:tcPr>
                    <a:solidFill>
                      <a:srgbClr val="F8F9FF"/>
                    </a:solidFill>
                  </a:tcPr>
                </a:tc>
                <a:tc>
                  <a:txBody>
                    <a:bodyPr/>
                    <a:lstStyle/>
                    <a:p>
                      <a:r>
                        <a:rPr sz="1000">
                          <a:solidFill>
                            <a:srgbClr val="1A1A2E"/>
                          </a:solidFill>
                          <a:latin typeface="Calibri"/>
                        </a:rPr>
                        <a:t>No — model "knows" it but can't cite</a:t>
                      </a:r>
                    </a:p>
                  </a:txBody>
                  <a:tcPr>
                    <a:solidFill>
                      <a:srgbClr val="F8F9FF"/>
                    </a:solidFill>
                  </a:tcPr>
                </a:tc>
              </a:tr>
              <a:tr h="347472">
                <a:tc>
                  <a:txBody>
                    <a:bodyPr/>
                    <a:lstStyle/>
                    <a:p>
                      <a:r>
                        <a:rPr sz="1000">
                          <a:solidFill>
                            <a:srgbClr val="1A1A2E"/>
                          </a:solidFill>
                          <a:latin typeface="Calibri"/>
                        </a:rPr>
                        <a:t>Cost to implement</a:t>
                      </a:r>
                    </a:p>
                  </a:txBody>
                  <a:tcPr>
                    <a:solidFill>
                      <a:srgbClr val="FFFFFF"/>
                    </a:solidFill>
                  </a:tcPr>
                </a:tc>
                <a:tc>
                  <a:txBody>
                    <a:bodyPr/>
                    <a:lstStyle/>
                    <a:p>
                      <a:r>
                        <a:rPr sz="1000">
                          <a:solidFill>
                            <a:srgbClr val="1A1A2E"/>
                          </a:solidFill>
                          <a:latin typeface="Calibri"/>
                        </a:rPr>
                        <a:t>Low to medium</a:t>
                      </a:r>
                    </a:p>
                  </a:txBody>
                  <a:tcPr>
                    <a:solidFill>
                      <a:srgbClr val="FFFFFF"/>
                    </a:solidFill>
                  </a:tcPr>
                </a:tc>
                <a:tc>
                  <a:txBody>
                    <a:bodyPr/>
                    <a:lstStyle/>
                    <a:p>
                      <a:r>
                        <a:rPr sz="1000">
                          <a:solidFill>
                            <a:srgbClr val="1A1A2E"/>
                          </a:solidFill>
                          <a:latin typeface="Calibri"/>
                        </a:rPr>
                        <a:t>High</a:t>
                      </a:r>
                    </a:p>
                  </a:txBody>
                  <a:tcPr>
                    <a:solidFill>
                      <a:srgbClr val="FFFFFF"/>
                    </a:solidFill>
                  </a:tcPr>
                </a:tc>
              </a:tr>
              <a:tr h="347472">
                <a:tc>
                  <a:txBody>
                    <a:bodyPr/>
                    <a:lstStyle/>
                    <a:p>
                      <a:r>
                        <a:rPr sz="1000">
                          <a:solidFill>
                            <a:srgbClr val="1A1A2E"/>
                          </a:solidFill>
                          <a:latin typeface="Calibri"/>
                        </a:rPr>
                        <a:t>Time to production</a:t>
                      </a:r>
                    </a:p>
                  </a:txBody>
                  <a:tcPr>
                    <a:solidFill>
                      <a:srgbClr val="F8F9FF"/>
                    </a:solidFill>
                  </a:tcPr>
                </a:tc>
                <a:tc>
                  <a:txBody>
                    <a:bodyPr/>
                    <a:lstStyle/>
                    <a:p>
                      <a:r>
                        <a:rPr sz="1000">
                          <a:solidFill>
                            <a:srgbClr val="1A1A2E"/>
                          </a:solidFill>
                          <a:latin typeface="Calibri"/>
                        </a:rPr>
                        <a:t>Days to weeks</a:t>
                      </a:r>
                    </a:p>
                  </a:txBody>
                  <a:tcPr>
                    <a:solidFill>
                      <a:srgbClr val="F8F9FF"/>
                    </a:solidFill>
                  </a:tcPr>
                </a:tc>
                <a:tc>
                  <a:txBody>
                    <a:bodyPr/>
                    <a:lstStyle/>
                    <a:p>
                      <a:r>
                        <a:rPr sz="1000">
                          <a:solidFill>
                            <a:srgbClr val="1A1A2E"/>
                          </a:solidFill>
                          <a:latin typeface="Calibri"/>
                        </a:rPr>
                        <a:t>Weeks to months</a:t>
                      </a:r>
                    </a:p>
                  </a:txBody>
                  <a:tcPr>
                    <a:solidFill>
                      <a:srgbClr val="F8F9FF"/>
                    </a:solidFill>
                  </a:tcPr>
                </a:tc>
              </a:tr>
              <a:tr h="347472">
                <a:tc>
                  <a:txBody>
                    <a:bodyPr/>
                    <a:lstStyle/>
                    <a:p>
                      <a:r>
                        <a:rPr sz="1000">
                          <a:solidFill>
                            <a:srgbClr val="1A1A2E"/>
                          </a:solidFill>
                          <a:latin typeface="Calibri"/>
                        </a:rPr>
                        <a:t>Handles proprietary facts</a:t>
                      </a:r>
                    </a:p>
                  </a:txBody>
                  <a:tcPr>
                    <a:solidFill>
                      <a:srgbClr val="FFFFFF"/>
                    </a:solidFill>
                  </a:tcPr>
                </a:tc>
                <a:tc>
                  <a:txBody>
                    <a:bodyPr/>
                    <a:lstStyle/>
                    <a:p>
                      <a:r>
                        <a:rPr sz="1000">
                          <a:solidFill>
                            <a:srgbClr val="1A1A2E"/>
                          </a:solidFill>
                          <a:latin typeface="Calibri"/>
                        </a:rPr>
                        <a:t>Yes</a:t>
                      </a:r>
                    </a:p>
                  </a:txBody>
                  <a:tcPr>
                    <a:solidFill>
                      <a:srgbClr val="FFFFFF"/>
                    </a:solidFill>
                  </a:tcPr>
                </a:tc>
                <a:tc>
                  <a:txBody>
                    <a:bodyPr/>
                    <a:lstStyle/>
                    <a:p>
                      <a:r>
                        <a:rPr sz="1000">
                          <a:solidFill>
                            <a:srgbClr val="1A1A2E"/>
                          </a:solidFill>
                          <a:latin typeface="Calibri"/>
                        </a:rPr>
                        <a:t>Yes</a:t>
                      </a:r>
                    </a:p>
                  </a:txBody>
                  <a:tcPr>
                    <a:solidFill>
                      <a:srgbClr val="FFFFFF"/>
                    </a:solidFill>
                  </a:tcPr>
                </a:tc>
              </a:tr>
              <a:tr h="347472">
                <a:tc>
                  <a:txBody>
                    <a:bodyPr/>
                    <a:lstStyle/>
                    <a:p>
                      <a:r>
                        <a:rPr sz="1000">
                          <a:solidFill>
                            <a:srgbClr val="1A1A2E"/>
                          </a:solidFill>
                          <a:latin typeface="Calibri"/>
                        </a:rPr>
                        <a:t>Requires ML expertise</a:t>
                      </a:r>
                    </a:p>
                  </a:txBody>
                  <a:tcPr>
                    <a:solidFill>
                      <a:srgbClr val="F8F9FF"/>
                    </a:solidFill>
                  </a:tcPr>
                </a:tc>
                <a:tc>
                  <a:txBody>
                    <a:bodyPr/>
                    <a:lstStyle/>
                    <a:p>
                      <a:r>
                        <a:rPr sz="1000">
                          <a:solidFill>
                            <a:srgbClr val="1A1A2E"/>
                          </a:solidFill>
                          <a:latin typeface="Calibri"/>
                        </a:rPr>
                        <a:t>No</a:t>
                      </a:r>
                    </a:p>
                  </a:txBody>
                  <a:tcPr>
                    <a:solidFill>
                      <a:srgbClr val="F8F9FF"/>
                    </a:solidFill>
                  </a:tcPr>
                </a:tc>
                <a:tc>
                  <a:txBody>
                    <a:bodyPr/>
                    <a:lstStyle/>
                    <a:p>
                      <a:r>
                        <a:rPr sz="1000">
                          <a:solidFill>
                            <a:srgbClr val="1A1A2E"/>
                          </a:solidFill>
                          <a:latin typeface="Calibri"/>
                        </a:rPr>
                        <a:t>Yes</a:t>
                      </a:r>
                    </a:p>
                  </a:txBody>
                  <a:tcPr>
                    <a:solidFill>
                      <a:srgbClr val="F8F9FF"/>
                    </a:solidFill>
                  </a:tcPr>
                </a:tc>
              </a:tr>
            </a:tbl>
          </a:graphicData>
        </a:graphic>
      </p:graphicFrame>
      <p:sp>
        <p:nvSpPr>
          <p:cNvPr id="10" name="TextBox 9"/>
          <p:cNvSpPr txBox="1"/>
          <p:nvPr/>
        </p:nvSpPr>
        <p:spPr>
          <a:xfrm>
            <a:off x="457200" y="441655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The 2025–2026 RAG improvements that matter for production:</a:t>
            </a:r>
          </a:p>
        </p:txBody>
      </p:sp>
      <p:graphicFrame>
        <p:nvGraphicFramePr>
          <p:cNvPr id="11" name="Table 10"/>
          <p:cNvGraphicFramePr>
            <a:graphicFrameLocks noGrp="1"/>
          </p:cNvGraphicFramePr>
          <p:nvPr/>
        </p:nvGraphicFramePr>
        <p:xfrm>
          <a:off x="457200" y="4690872"/>
          <a:ext cx="11277295" cy="1892808"/>
        </p:xfrm>
        <a:graphic>
          <a:graphicData uri="http://schemas.openxmlformats.org/drawingml/2006/table">
            <a:tbl>
              <a:tblPr firstRow="1" bandRow="1">
                <a:tableStyleId>{5C22544A-7EE6-4342-B048-85BDC9FD1C3A}</a:tableStyleId>
              </a:tblPr>
              <a:tblGrid>
                <a:gridCol w="3759098"/>
                <a:gridCol w="3759098"/>
                <a:gridCol w="3759099"/>
              </a:tblGrid>
              <a:tr h="315468">
                <a:tc>
                  <a:txBody>
                    <a:bodyPr/>
                    <a:lstStyle/>
                    <a:p>
                      <a:pPr algn="l"/>
                      <a:r>
                        <a:rPr sz="1100" b="1">
                          <a:solidFill>
                            <a:srgbClr val="FFFFFF"/>
                          </a:solidFill>
                          <a:latin typeface="Calibri"/>
                        </a:rPr>
                        <a:t>Advancement</a:t>
                      </a:r>
                    </a:p>
                  </a:txBody>
                  <a:tcPr>
                    <a:solidFill>
                      <a:srgbClr val="16213E"/>
                    </a:solidFill>
                  </a:tcPr>
                </a:tc>
                <a:tc>
                  <a:txBody>
                    <a:bodyPr/>
                    <a:lstStyle/>
                    <a:p>
                      <a:pPr algn="l"/>
                      <a:r>
                        <a:rPr sz="1100" b="1">
                          <a:solidFill>
                            <a:srgbClr val="FFFFFF"/>
                          </a:solidFill>
                          <a:latin typeface="Calibri"/>
                        </a:rPr>
                        <a:t>What It Does</a:t>
                      </a:r>
                    </a:p>
                  </a:txBody>
                  <a:tcPr>
                    <a:solidFill>
                      <a:srgbClr val="16213E"/>
                    </a:solidFill>
                  </a:tcPr>
                </a:tc>
                <a:tc>
                  <a:txBody>
                    <a:bodyPr/>
                    <a:lstStyle/>
                    <a:p>
                      <a:pPr algn="l"/>
                      <a:r>
                        <a:rPr sz="1100" b="1">
                          <a:solidFill>
                            <a:srgbClr val="FFFFFF"/>
                          </a:solidFill>
                          <a:latin typeface="Calibri"/>
                        </a:rPr>
                        <a:t>When You Need It</a:t>
                      </a:r>
                    </a:p>
                  </a:txBody>
                  <a:tcPr>
                    <a:solidFill>
                      <a:srgbClr val="16213E"/>
                    </a:solidFill>
                  </a:tcPr>
                </a:tc>
              </a:tr>
              <a:tr h="315468">
                <a:tc>
                  <a:txBody>
                    <a:bodyPr/>
                    <a:lstStyle/>
                    <a:p>
                      <a:r>
                        <a:rPr sz="1000">
                          <a:solidFill>
                            <a:srgbClr val="1A1A2E"/>
                          </a:solidFill>
                          <a:latin typeface="Calibri"/>
                        </a:rPr>
                        <a:t>Hybrid search</a:t>
                      </a:r>
                    </a:p>
                  </a:txBody>
                  <a:tcPr>
                    <a:solidFill>
                      <a:srgbClr val="FFFFFF"/>
                    </a:solidFill>
                  </a:tcPr>
                </a:tc>
                <a:tc>
                  <a:txBody>
                    <a:bodyPr/>
                    <a:lstStyle/>
                    <a:p>
                      <a:r>
                        <a:rPr sz="1000">
                          <a:solidFill>
                            <a:srgbClr val="1A1A2E"/>
                          </a:solidFill>
                          <a:latin typeface="Calibri"/>
                        </a:rPr>
                        <a:t>Combines keyword + semantic similarity</a:t>
                      </a:r>
                    </a:p>
                  </a:txBody>
                  <a:tcPr>
                    <a:solidFill>
                      <a:srgbClr val="FFFFFF"/>
                    </a:solidFill>
                  </a:tcPr>
                </a:tc>
                <a:tc>
                  <a:txBody>
                    <a:bodyPr/>
                    <a:lstStyle/>
                    <a:p>
                      <a:r>
                        <a:rPr sz="1000">
                          <a:solidFill>
                            <a:srgbClr val="1A1A2E"/>
                          </a:solidFill>
                          <a:latin typeface="Calibri"/>
                        </a:rPr>
                        <a:t>When your documents use technical jargon or product names</a:t>
                      </a:r>
                    </a:p>
                  </a:txBody>
                  <a:tcPr>
                    <a:solidFill>
                      <a:srgbClr val="FFFFFF"/>
                    </a:solidFill>
                  </a:tcPr>
                </a:tc>
              </a:tr>
              <a:tr h="315468">
                <a:tc>
                  <a:txBody>
                    <a:bodyPr/>
                    <a:lstStyle/>
                    <a:p>
                      <a:r>
                        <a:rPr sz="1000">
                          <a:solidFill>
                            <a:srgbClr val="1A1A2E"/>
                          </a:solidFill>
                          <a:latin typeface="Calibri"/>
                        </a:rPr>
                        <a:t>Reranking</a:t>
                      </a:r>
                    </a:p>
                  </a:txBody>
                  <a:tcPr>
                    <a:solidFill>
                      <a:srgbClr val="F8F9FF"/>
                    </a:solidFill>
                  </a:tcPr>
                </a:tc>
                <a:tc>
                  <a:txBody>
                    <a:bodyPr/>
                    <a:lstStyle/>
                    <a:p>
                      <a:r>
                        <a:rPr sz="1000">
                          <a:solidFill>
                            <a:srgbClr val="1A1A2E"/>
                          </a:solidFill>
                          <a:latin typeface="Calibri"/>
                        </a:rPr>
                        <a:t>Second model re-scores retrieved chunks for relevance</a:t>
                      </a:r>
                    </a:p>
                  </a:txBody>
                  <a:tcPr>
                    <a:solidFill>
                      <a:srgbClr val="F8F9FF"/>
                    </a:solidFill>
                  </a:tcPr>
                </a:tc>
                <a:tc>
                  <a:txBody>
                    <a:bodyPr/>
                    <a:lstStyle/>
                    <a:p>
                      <a:r>
                        <a:rPr sz="1000">
                          <a:solidFill>
                            <a:srgbClr val="1A1A2E"/>
                          </a:solidFill>
                          <a:latin typeface="Calibri"/>
                        </a:rPr>
                        <a:t>When retrieval quality is inconsistent</a:t>
                      </a:r>
                    </a:p>
                  </a:txBody>
                  <a:tcPr>
                    <a:solidFill>
                      <a:srgbClr val="F8F9FF"/>
                    </a:solidFill>
                  </a:tcPr>
                </a:tc>
              </a:tr>
              <a:tr h="315468">
                <a:tc>
                  <a:txBody>
                    <a:bodyPr/>
                    <a:lstStyle/>
                    <a:p>
                      <a:r>
                        <a:rPr sz="1000">
                          <a:solidFill>
                            <a:srgbClr val="1A1A2E"/>
                          </a:solidFill>
                          <a:latin typeface="Calibri"/>
                        </a:rPr>
                        <a:t>GraphRAG</a:t>
                      </a:r>
                    </a:p>
                  </a:txBody>
                  <a:tcPr>
                    <a:solidFill>
                      <a:srgbClr val="FFFFFF"/>
                    </a:solidFill>
                  </a:tcPr>
                </a:tc>
                <a:tc>
                  <a:txBody>
                    <a:bodyPr/>
                    <a:lstStyle/>
                    <a:p>
                      <a:r>
                        <a:rPr sz="1000">
                          <a:solidFill>
                            <a:srgbClr val="1A1A2E"/>
                          </a:solidFill>
                          <a:latin typeface="Calibri"/>
                        </a:rPr>
                        <a:t>Understands entity relationships across documents</a:t>
                      </a:r>
                    </a:p>
                  </a:txBody>
                  <a:tcPr>
                    <a:solidFill>
                      <a:srgbClr val="FFFFFF"/>
                    </a:solidFill>
                  </a:tcPr>
                </a:tc>
                <a:tc>
                  <a:txBody>
                    <a:bodyPr/>
                    <a:lstStyle/>
                    <a:p>
                      <a:r>
                        <a:rPr sz="1000">
                          <a:solidFill>
                            <a:srgbClr val="1A1A2E"/>
                          </a:solidFill>
                          <a:latin typeface="Calibri"/>
                        </a:rPr>
                        <a:t>Complex, interconnected knowledge (org charts, product dependencies)</a:t>
                      </a:r>
                    </a:p>
                  </a:txBody>
                  <a:tcPr>
                    <a:solidFill>
                      <a:srgbClr val="FFFFFF"/>
                    </a:solidFill>
                  </a:tcPr>
                </a:tc>
              </a:tr>
              <a:tr h="315468">
                <a:tc>
                  <a:txBody>
                    <a:bodyPr/>
                    <a:lstStyle/>
                    <a:p>
                      <a:r>
                        <a:rPr sz="1000">
                          <a:solidFill>
                            <a:srgbClr val="1A1A2E"/>
                          </a:solidFill>
                          <a:latin typeface="Calibri"/>
                        </a:rPr>
                        <a:t>Multimodal RAG</a:t>
                      </a:r>
                    </a:p>
                  </a:txBody>
                  <a:tcPr>
                    <a:solidFill>
                      <a:srgbClr val="F8F9FF"/>
                    </a:solidFill>
                  </a:tcPr>
                </a:tc>
                <a:tc>
                  <a:txBody>
                    <a:bodyPr/>
                    <a:lstStyle/>
                    <a:p>
                      <a:r>
                        <a:rPr sz="1000">
                          <a:solidFill>
                            <a:srgbClr val="1A1A2E"/>
                          </a:solidFill>
                          <a:latin typeface="Calibri"/>
                        </a:rPr>
                        <a:t>Retrieves from PDFs with charts, tables, images</a:t>
                      </a:r>
                    </a:p>
                  </a:txBody>
                  <a:tcPr>
                    <a:solidFill>
                      <a:srgbClr val="F8F9FF"/>
                    </a:solidFill>
                  </a:tcPr>
                </a:tc>
                <a:tc>
                  <a:txBody>
                    <a:bodyPr/>
                    <a:lstStyle/>
                    <a:p>
                      <a:r>
                        <a:rPr sz="1000">
                          <a:solidFill>
                            <a:srgbClr val="1A1A2E"/>
                          </a:solidFill>
                          <a:latin typeface="Calibri"/>
                        </a:rPr>
                        <a:t>Real business documents — most have mixed content</a:t>
                      </a:r>
                    </a:p>
                  </a:txBody>
                  <a:tcPr>
                    <a:solidFill>
                      <a:srgbClr val="F8F9FF"/>
                    </a:solidFill>
                  </a:tcPr>
                </a:tc>
              </a:tr>
              <a:tr h="315468">
                <a:tc>
                  <a:txBody>
                    <a:bodyPr/>
                    <a:lstStyle/>
                    <a:p>
                      <a:r>
                        <a:rPr sz="1000">
                          <a:solidFill>
                            <a:srgbClr val="1A1A2E"/>
                          </a:solidFill>
                          <a:latin typeface="Calibri"/>
                        </a:rPr>
                        <a:t>Agentic RAG</a:t>
                      </a:r>
                    </a:p>
                  </a:txBody>
                  <a:tcPr>
                    <a:solidFill>
                      <a:srgbClr val="FFFFFF"/>
                    </a:solidFill>
                  </a:tcPr>
                </a:tc>
                <a:tc>
                  <a:txBody>
                    <a:bodyPr/>
                    <a:lstStyle/>
                    <a:p>
                      <a:r>
                        <a:rPr sz="1000">
                          <a:solidFill>
                            <a:srgbClr val="1A1A2E"/>
                          </a:solidFill>
                          <a:latin typeface="Calibri"/>
                        </a:rPr>
                        <a:t>Model decides what to retrieve, and can do multiple retrieval passes</a:t>
                      </a:r>
                    </a:p>
                  </a:txBody>
                  <a:tcPr>
                    <a:solidFill>
                      <a:srgbClr val="FFFFFF"/>
                    </a:solidFill>
                  </a:tcPr>
                </a:tc>
                <a:tc>
                  <a:txBody>
                    <a:bodyPr/>
                    <a:lstStyle/>
                    <a:p>
                      <a:r>
                        <a:rPr sz="1000">
                          <a:solidFill>
                            <a:srgbClr val="1A1A2E"/>
                          </a:solidFill>
                          <a:latin typeface="Calibri"/>
                        </a:rPr>
                        <a:t>Multi-hop questions requiring information from many places</a:t>
                      </a:r>
                    </a:p>
                  </a:txBody>
                  <a:tcPr>
                    <a:solidFill>
                      <a:srgbClr val="FFFFFF"/>
                    </a:solidFill>
                  </a:tcPr>
                </a:tc>
              </a:tr>
            </a:tbl>
          </a:graphicData>
        </a:graphic>
      </p:graphicFrame>
      <p:sp>
        <p:nvSpPr>
          <p:cNvPr id="12" name="TextBox 11"/>
          <p:cNvSpPr txBox="1"/>
          <p:nvPr/>
        </p:nvSpPr>
        <p:spPr>
          <a:xfrm>
            <a:off x="457200" y="688543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Minimal production RAG stack (2026):</a:t>
            </a:r>
          </a:p>
        </p:txBody>
      </p:sp>
      <p:sp>
        <p:nvSpPr>
          <p:cNvPr id="13" name="TextBox 12"/>
          <p:cNvSpPr txBox="1"/>
          <p:nvPr/>
        </p:nvSpPr>
        <p:spPr>
          <a:xfrm>
            <a:off x="457200" y="7159752"/>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Cost benchmark: Indexing 1,000 documents ≈ $0.50. Answering a query ≈ $0.02–$0.10.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Fine-Tuning Accessibility in 2026</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From Research Lab to Business Tool</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27</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Fine-tuning definition: Continue training a pre-trained model on your specific data — producing a model that reflects your domain language, output style, and task requirements.</a:t>
            </a:r>
          </a:p>
          <a:p>
            <a:pPr>
              <a:spcBef>
                <a:spcPts val="200"/>
              </a:spcBef>
              <a:spcAft>
                <a:spcPts val="100"/>
              </a:spcAft>
            </a:pPr>
            <a:r>
              <a:rPr sz="1300" b="1">
                <a:solidFill>
                  <a:srgbClr val="0F3460"/>
                </a:solidFill>
                <a:latin typeface="Calibri"/>
              </a:rPr>
              <a:t>When fine-tuning is the right answer (and when it isn't):</a:t>
            </a:r>
          </a:p>
        </p:txBody>
      </p:sp>
      <p:graphicFrame>
        <p:nvGraphicFramePr>
          <p:cNvPr id="9" name="Table 8"/>
          <p:cNvGraphicFramePr>
            <a:graphicFrameLocks noGrp="1"/>
          </p:cNvGraphicFramePr>
          <p:nvPr/>
        </p:nvGraphicFramePr>
        <p:xfrm>
          <a:off x="457200" y="1874520"/>
          <a:ext cx="11277295" cy="2084832"/>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algn="l"/>
                      <a:r>
                        <a:rPr sz="1100" b="1">
                          <a:solidFill>
                            <a:srgbClr val="FFFFFF"/>
                          </a:solidFill>
                          <a:latin typeface="Calibri"/>
                        </a:rPr>
                        <a:t>Scenario</a:t>
                      </a:r>
                    </a:p>
                  </a:txBody>
                  <a:tcPr>
                    <a:solidFill>
                      <a:srgbClr val="16213E"/>
                    </a:solidFill>
                  </a:tcPr>
                </a:tc>
                <a:tc>
                  <a:txBody>
                    <a:bodyPr/>
                    <a:lstStyle/>
                    <a:p>
                      <a:pPr algn="l"/>
                      <a:r>
                        <a:rPr sz="1100" b="1">
                          <a:solidFill>
                            <a:srgbClr val="FFFFFF"/>
                          </a:solidFill>
                          <a:latin typeface="Calibri"/>
                        </a:rPr>
                        <a:t>Best Approach</a:t>
                      </a:r>
                    </a:p>
                  </a:txBody>
                  <a:tcPr>
                    <a:solidFill>
                      <a:srgbClr val="16213E"/>
                    </a:solidFill>
                  </a:tcPr>
                </a:tc>
                <a:tc>
                  <a:txBody>
                    <a:bodyPr/>
                    <a:lstStyle/>
                    <a:p>
                      <a:pPr algn="l"/>
                      <a:r>
                        <a:rPr sz="1100" b="1">
                          <a:solidFill>
                            <a:srgbClr val="FFFFFF"/>
                          </a:solidFill>
                          <a:latin typeface="Calibri"/>
                        </a:rPr>
                        <a:t>Why</a:t>
                      </a:r>
                    </a:p>
                  </a:txBody>
                  <a:tcPr>
                    <a:solidFill>
                      <a:srgbClr val="16213E"/>
                    </a:solidFill>
                  </a:tcPr>
                </a:tc>
              </a:tr>
              <a:tr h="347472">
                <a:tc>
                  <a:txBody>
                    <a:bodyPr/>
                    <a:lstStyle/>
                    <a:p>
                      <a:r>
                        <a:rPr sz="1000">
                          <a:solidFill>
                            <a:srgbClr val="1A1A2E"/>
                          </a:solidFill>
                          <a:latin typeface="Calibri"/>
                        </a:rPr>
                        <a:t>Need factual knowledge from your documents</a:t>
                      </a:r>
                    </a:p>
                  </a:txBody>
                  <a:tcPr>
                    <a:solidFill>
                      <a:srgbClr val="FFFFFF"/>
                    </a:solidFill>
                  </a:tcPr>
                </a:tc>
                <a:tc>
                  <a:txBody>
                    <a:bodyPr/>
                    <a:lstStyle/>
                    <a:p>
                      <a:r>
                        <a:rPr sz="1000">
                          <a:solidFill>
                            <a:srgbClr val="1A1A2E"/>
                          </a:solidFill>
                          <a:latin typeface="Calibri"/>
                        </a:rPr>
                        <a:t>RAG</a:t>
                      </a:r>
                    </a:p>
                  </a:txBody>
                  <a:tcPr>
                    <a:solidFill>
                      <a:srgbClr val="FFFFFF"/>
                    </a:solidFill>
                  </a:tcPr>
                </a:tc>
                <a:tc>
                  <a:txBody>
                    <a:bodyPr/>
                    <a:lstStyle/>
                    <a:p>
                      <a:r>
                        <a:rPr sz="1000">
                          <a:solidFill>
                            <a:srgbClr val="1A1A2E"/>
                          </a:solidFill>
                          <a:latin typeface="Calibri"/>
                        </a:rPr>
                        <a:t>Fine-tuning doesn't reliably memorize facts</a:t>
                      </a:r>
                    </a:p>
                  </a:txBody>
                  <a:tcPr>
                    <a:solidFill>
                      <a:srgbClr val="FFFFFF"/>
                    </a:solidFill>
                  </a:tcPr>
                </a:tc>
              </a:tr>
              <a:tr h="347472">
                <a:tc>
                  <a:txBody>
                    <a:bodyPr/>
                    <a:lstStyle/>
                    <a:p>
                      <a:r>
                        <a:rPr sz="1000">
                          <a:solidFill>
                            <a:srgbClr val="1A1A2E"/>
                          </a:solidFill>
                          <a:latin typeface="Calibri"/>
                        </a:rPr>
                        <a:t>Need consistent output format or writing style</a:t>
                      </a:r>
                    </a:p>
                  </a:txBody>
                  <a:tcPr>
                    <a:solidFill>
                      <a:srgbClr val="F8F9FF"/>
                    </a:solidFill>
                  </a:tcPr>
                </a:tc>
                <a:tc>
                  <a:txBody>
                    <a:bodyPr/>
                    <a:lstStyle/>
                    <a:p>
                      <a:r>
                        <a:rPr sz="1000">
                          <a:solidFill>
                            <a:srgbClr val="1A1A2E"/>
                          </a:solidFill>
                          <a:latin typeface="Calibri"/>
                        </a:rPr>
                        <a:t>Fine-tuning</a:t>
                      </a:r>
                    </a:p>
                  </a:txBody>
                  <a:tcPr>
                    <a:solidFill>
                      <a:srgbClr val="F8F9FF"/>
                    </a:solidFill>
                  </a:tcPr>
                </a:tc>
                <a:tc>
                  <a:txBody>
                    <a:bodyPr/>
                    <a:lstStyle/>
                    <a:p>
                      <a:r>
                        <a:rPr sz="1000">
                          <a:solidFill>
                            <a:srgbClr val="1A1A2E"/>
                          </a:solidFill>
                          <a:latin typeface="Calibri"/>
                        </a:rPr>
                        <a:t>Style is baked in — no per-call prompting needed</a:t>
                      </a:r>
                    </a:p>
                  </a:txBody>
                  <a:tcPr>
                    <a:solidFill>
                      <a:srgbClr val="F8F9FF"/>
                    </a:solidFill>
                  </a:tcPr>
                </a:tc>
              </a:tr>
              <a:tr h="347472">
                <a:tc>
                  <a:txBody>
                    <a:bodyPr/>
                    <a:lstStyle/>
                    <a:p>
                      <a:r>
                        <a:rPr sz="1000">
                          <a:solidFill>
                            <a:srgbClr val="1A1A2E"/>
                          </a:solidFill>
                          <a:latin typeface="Calibri"/>
                        </a:rPr>
                        <a:t>Domain-specific terminology and reasoning</a:t>
                      </a:r>
                    </a:p>
                  </a:txBody>
                  <a:tcPr>
                    <a:solidFill>
                      <a:srgbClr val="FFFFFF"/>
                    </a:solidFill>
                  </a:tcPr>
                </a:tc>
                <a:tc>
                  <a:txBody>
                    <a:bodyPr/>
                    <a:lstStyle/>
                    <a:p>
                      <a:r>
                        <a:rPr sz="1000">
                          <a:solidFill>
                            <a:srgbClr val="1A1A2E"/>
                          </a:solidFill>
                          <a:latin typeface="Calibri"/>
                        </a:rPr>
                        <a:t>Fine-tuning</a:t>
                      </a:r>
                    </a:p>
                  </a:txBody>
                  <a:tcPr>
                    <a:solidFill>
                      <a:srgbClr val="FFFFFF"/>
                    </a:solidFill>
                  </a:tcPr>
                </a:tc>
                <a:tc>
                  <a:txBody>
                    <a:bodyPr/>
                    <a:lstStyle/>
                    <a:p>
                      <a:r>
                        <a:rPr sz="1000">
                          <a:solidFill>
                            <a:srgbClr val="1A1A2E"/>
                          </a:solidFill>
                          <a:latin typeface="Calibri"/>
                        </a:rPr>
                        <a:t>Model learns your language, not just your content</a:t>
                      </a:r>
                    </a:p>
                  </a:txBody>
                  <a:tcPr>
                    <a:solidFill>
                      <a:srgbClr val="FFFFFF"/>
                    </a:solidFill>
                  </a:tcPr>
                </a:tc>
              </a:tr>
              <a:tr h="347472">
                <a:tc>
                  <a:txBody>
                    <a:bodyPr/>
                    <a:lstStyle/>
                    <a:p>
                      <a:r>
                        <a:rPr sz="1000">
                          <a:solidFill>
                            <a:srgbClr val="1A1A2E"/>
                          </a:solidFill>
                          <a:latin typeface="Calibri"/>
                        </a:rPr>
                        <a:t>Running 10M+ calls/month, cost is critical</a:t>
                      </a:r>
                    </a:p>
                  </a:txBody>
                  <a:tcPr>
                    <a:solidFill>
                      <a:srgbClr val="F8F9FF"/>
                    </a:solidFill>
                  </a:tcPr>
                </a:tc>
                <a:tc>
                  <a:txBody>
                    <a:bodyPr/>
                    <a:lstStyle/>
                    <a:p>
                      <a:r>
                        <a:rPr sz="1000">
                          <a:solidFill>
                            <a:srgbClr val="1A1A2E"/>
                          </a:solidFill>
                          <a:latin typeface="Calibri"/>
                        </a:rPr>
                        <a:t>Fine-tuning on a small model</a:t>
                      </a:r>
                    </a:p>
                  </a:txBody>
                  <a:tcPr>
                    <a:solidFill>
                      <a:srgbClr val="F8F9FF"/>
                    </a:solidFill>
                  </a:tcPr>
                </a:tc>
                <a:tc>
                  <a:txBody>
                    <a:bodyPr/>
                    <a:lstStyle/>
                    <a:p>
                      <a:r>
                        <a:rPr sz="1000">
                          <a:solidFill>
                            <a:srgbClr val="1A1A2E"/>
                          </a:solidFill>
                          <a:latin typeface="Calibri"/>
                        </a:rPr>
                        <a:t>Fine-tuned small model outperforms large model on your task at 1/10th the cost</a:t>
                      </a:r>
                    </a:p>
                  </a:txBody>
                  <a:tcPr>
                    <a:solidFill>
                      <a:srgbClr val="F8F9FF"/>
                    </a:solidFill>
                  </a:tcPr>
                </a:tc>
              </a:tr>
              <a:tr h="347472">
                <a:tc>
                  <a:txBody>
                    <a:bodyPr/>
                    <a:lstStyle/>
                    <a:p>
                      <a:r>
                        <a:rPr sz="1000">
                          <a:solidFill>
                            <a:srgbClr val="1A1A2E"/>
                          </a:solidFill>
                          <a:latin typeface="Calibri"/>
                        </a:rPr>
                        <a:t>Data is fresh / changes frequently</a:t>
                      </a:r>
                    </a:p>
                  </a:txBody>
                  <a:tcPr>
                    <a:solidFill>
                      <a:srgbClr val="FFFFFF"/>
                    </a:solidFill>
                  </a:tcPr>
                </a:tc>
                <a:tc>
                  <a:txBody>
                    <a:bodyPr/>
                    <a:lstStyle/>
                    <a:p>
                      <a:r>
                        <a:rPr sz="1000">
                          <a:solidFill>
                            <a:srgbClr val="1A1A2E"/>
                          </a:solidFill>
                          <a:latin typeface="Calibri"/>
                        </a:rPr>
                        <a:t>RAG</a:t>
                      </a:r>
                    </a:p>
                  </a:txBody>
                  <a:tcPr>
                    <a:solidFill>
                      <a:srgbClr val="FFFFFF"/>
                    </a:solidFill>
                  </a:tcPr>
                </a:tc>
                <a:tc>
                  <a:txBody>
                    <a:bodyPr/>
                    <a:lstStyle/>
                    <a:p>
                      <a:r>
                        <a:rPr sz="1000">
                          <a:solidFill>
                            <a:srgbClr val="1A1A2E"/>
                          </a:solidFill>
                          <a:latin typeface="Calibri"/>
                        </a:rPr>
                        <a:t>Re-indexing is instant; retraining is slow</a:t>
                      </a:r>
                    </a:p>
                  </a:txBody>
                  <a:tcPr>
                    <a:solidFill>
                      <a:srgbClr val="FFFFFF"/>
                    </a:solidFill>
                  </a:tcPr>
                </a:tc>
              </a:tr>
            </a:tbl>
          </a:graphicData>
        </a:graphic>
      </p:graphicFrame>
      <p:sp>
        <p:nvSpPr>
          <p:cNvPr id="10" name="TextBox 9"/>
          <p:cNvSpPr txBox="1"/>
          <p:nvPr/>
        </p:nvSpPr>
        <p:spPr>
          <a:xfrm>
            <a:off x="457200" y="40690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What's accessible in 2026 — no PhD required:</a:t>
            </a:r>
          </a:p>
          <a:p>
            <a:pPr>
              <a:spcBef>
                <a:spcPts val="200"/>
              </a:spcBef>
              <a:spcAft>
                <a:spcPts val="100"/>
              </a:spcAft>
            </a:pPr>
            <a:r>
              <a:rPr sz="1300" b="1">
                <a:solidFill>
                  <a:srgbClr val="0F3460"/>
                </a:solidFill>
                <a:latin typeface="Calibri"/>
              </a:rPr>
              <a:t>OpenAI Fine-Tuning API (cloud):</a:t>
            </a:r>
          </a:p>
        </p:txBody>
      </p:sp>
      <p:sp>
        <p:nvSpPr>
          <p:cNvPr id="11" name="Rectangle 10"/>
          <p:cNvSpPr/>
          <p:nvPr/>
        </p:nvSpPr>
        <p:spPr>
          <a:xfrm>
            <a:off x="457200" y="4617720"/>
            <a:ext cx="11277295" cy="202082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709160"/>
            <a:ext cx="11002975" cy="1837944"/>
          </a:xfrm>
          <a:prstGeom prst="rect">
            <a:avLst/>
          </a:prstGeom>
          <a:noFill/>
        </p:spPr>
        <p:txBody>
          <a:bodyPr wrap="none">
            <a:spAutoFit/>
          </a:bodyPr>
          <a:lstStyle/>
          <a:p>
            <a:r>
              <a:rPr sz="900">
                <a:solidFill>
                  <a:srgbClr val="E2E8F0"/>
                </a:solidFill>
                <a:latin typeface="Courier New"/>
              </a:rPr>
              <a:t># Format: JSONL file with {"messages": [...]} examples</a:t>
            </a:r>
          </a:p>
          <a:p>
            <a:r>
              <a:rPr sz="900">
                <a:solidFill>
                  <a:srgbClr val="E2E8F0"/>
                </a:solidFill>
                <a:latin typeface="Courier New"/>
              </a:rPr>
              <a:t># Minimum: ~50 high-quality examples; optimal: 200–500+</a:t>
            </a:r>
          </a:p>
          <a:p>
            <a:r>
              <a:rPr sz="900">
                <a:solidFill>
                  <a:srgbClr val="E2E8F0"/>
                </a:solidFill>
                <a:latin typeface="Courier New"/>
              </a:rPr>
              <a:t>job = client.fine_tuning.jobs.create(</a:t>
            </a:r>
          </a:p>
          <a:p>
            <a:r>
              <a:rPr sz="900">
                <a:solidFill>
                  <a:srgbClr val="E2E8F0"/>
                </a:solidFill>
                <a:latin typeface="Courier New"/>
              </a:rPr>
              <a:t>    training_file="file-abc123",</a:t>
            </a:r>
          </a:p>
          <a:p>
            <a:r>
              <a:rPr sz="900">
                <a:solidFill>
                  <a:srgbClr val="E2E8F0"/>
                </a:solidFill>
                <a:latin typeface="Courier New"/>
              </a:rPr>
              <a:t>    model="gpt-4o-mini"     # Fine-tune the cheap model to match GPT-4o quality on your task</a:t>
            </a:r>
          </a:p>
          <a:p>
            <a:r>
              <a:rPr sz="900">
                <a:solidFill>
                  <a:srgbClr val="E2E8F0"/>
                </a:solidFill>
                <a:latin typeface="Courier New"/>
              </a:rPr>
              <a:t>)</a:t>
            </a:r>
          </a:p>
          <a:p>
            <a:r>
              <a:rPr sz="900">
                <a:solidFill>
                  <a:srgbClr val="E2E8F0"/>
                </a:solidFill>
                <a:latin typeface="Courier New"/>
              </a:rPr>
              <a:t># Cost: ~$3–8 per 1M training tokens; inference 2–4× cheaper than base model</a:t>
            </a:r>
          </a:p>
        </p:txBody>
      </p:sp>
      <p:sp>
        <p:nvSpPr>
          <p:cNvPr id="13" name="TextBox 12"/>
          <p:cNvSpPr txBox="1"/>
          <p:nvPr/>
        </p:nvSpPr>
        <p:spPr>
          <a:xfrm>
            <a:off x="457200" y="6748272"/>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LoRA / QLoRA (local, open source):</a:t>
            </a:r>
          </a:p>
          <a:p>
            <a:pPr>
              <a:spcBef>
                <a:spcPts val="200"/>
              </a:spcBef>
              <a:spcAft>
                <a:spcPts val="100"/>
              </a:spcAft>
            </a:pPr>
            <a:r>
              <a:rPr sz="1300">
                <a:solidFill>
                  <a:srgbClr val="0EA5E9"/>
                </a:solidFill>
                <a:latin typeface="Calibri"/>
              </a:rPr>
              <a:t>• </a:t>
            </a:r>
            <a:r>
              <a:rPr sz="1300" b="0">
                <a:solidFill>
                  <a:srgbClr val="1A1A2E"/>
                </a:solidFill>
                <a:latin typeface="Calibri"/>
              </a:rPr>
              <a:t>LoRA: Trains a small adapter on top of frozen base weights — 90% fewer trainable parameters, same quality improvement</a:t>
            </a:r>
          </a:p>
          <a:p>
            <a:pPr>
              <a:spcBef>
                <a:spcPts val="200"/>
              </a:spcBef>
              <a:spcAft>
                <a:spcPts val="100"/>
              </a:spcAft>
            </a:pPr>
            <a:r>
              <a:rPr sz="1300">
                <a:solidFill>
                  <a:srgbClr val="0EA5E9"/>
                </a:solidFill>
                <a:latin typeface="Calibri"/>
              </a:rPr>
              <a:t>• </a:t>
            </a:r>
            <a:r>
              <a:rPr sz="1300" b="0">
                <a:solidFill>
                  <a:srgbClr val="1A1A2E"/>
                </a:solidFill>
                <a:latin typeface="Calibri"/>
              </a:rPr>
              <a:t>QLoRA: LoRA + 4-bit quantization — fine-tune a 7B model on a single consumer GPU in 1–3 hours</a:t>
            </a:r>
          </a:p>
          <a:p>
            <a:pPr>
              <a:spcBef>
                <a:spcPts val="200"/>
              </a:spcBef>
              <a:spcAft>
                <a:spcPts val="100"/>
              </a:spcAft>
            </a:pPr>
            <a:r>
              <a:rPr sz="1300">
                <a:solidFill>
                  <a:srgbClr val="0EA5E9"/>
                </a:solidFill>
                <a:latin typeface="Calibri"/>
              </a:rPr>
              <a:t>• </a:t>
            </a:r>
            <a:r>
              <a:rPr sz="1300" b="0">
                <a:solidFill>
                  <a:srgbClr val="1A1A2E"/>
                </a:solidFill>
                <a:latin typeface="Calibri"/>
              </a:rPr>
              <a:t>Unsloth: Library that makes QLoRA training 2–5× faster; runs free on Google Colab</a:t>
            </a:r>
          </a:p>
          <a:p>
            <a:pPr>
              <a:spcBef>
                <a:spcPts val="200"/>
              </a:spcBef>
              <a:spcAft>
                <a:spcPts val="100"/>
              </a:spcAft>
            </a:pPr>
            <a:r>
              <a:rPr sz="1300" b="1">
                <a:solidFill>
                  <a:srgbClr val="0F3460"/>
                </a:solidFill>
                <a:latin typeface="Calibri"/>
              </a:rPr>
              <a:t>Real business fine-tuning ROI examples:</a:t>
            </a:r>
          </a:p>
          <a:p>
            <a:pPr>
              <a:spcBef>
                <a:spcPts val="200"/>
              </a:spcBef>
              <a:spcAft>
                <a:spcPts val="100"/>
              </a:spcAft>
            </a:pPr>
            <a:r>
              <a:rPr sz="1300">
                <a:solidFill>
                  <a:srgbClr val="0EA5E9"/>
                </a:solidFill>
                <a:latin typeface="Calibri"/>
              </a:rPr>
              <a:t>• </a:t>
            </a:r>
            <a:r>
              <a:rPr sz="1300" b="0">
                <a:solidFill>
                  <a:srgbClr val="1A1A2E"/>
                </a:solidFill>
                <a:latin typeface="Calibri"/>
              </a:rPr>
              <a:t>Law firm: Fine-tuned on 2,000 past contracts → model drafts in firm's exact clause style → partner review time −60%</a:t>
            </a:r>
          </a:p>
          <a:p>
            <a:pPr>
              <a:spcBef>
                <a:spcPts val="200"/>
              </a:spcBef>
              <a:spcAft>
                <a:spcPts val="100"/>
              </a:spcAft>
            </a:pPr>
            <a:r>
              <a:rPr sz="1300">
                <a:solidFill>
                  <a:srgbClr val="0EA5E9"/>
                </a:solidFill>
                <a:latin typeface="Calibri"/>
              </a:rPr>
              <a:t>• </a:t>
            </a:r>
            <a:r>
              <a:rPr sz="1300" b="0">
                <a:solidFill>
                  <a:srgbClr val="1A1A2E"/>
                </a:solidFill>
                <a:latin typeface="Calibri"/>
              </a:rPr>
              <a:t>E-commerce: Fine-tuned on brand voice guide + 500 product descriptions → 10,000 on-brand SKU descriptions/day</a:t>
            </a:r>
          </a:p>
          <a:p>
            <a:pPr>
              <a:spcBef>
                <a:spcPts val="200"/>
              </a:spcBef>
              <a:spcAft>
                <a:spcPts val="100"/>
              </a:spcAft>
            </a:pPr>
            <a:r>
              <a:rPr sz="1300">
                <a:solidFill>
                  <a:srgbClr val="0EA5E9"/>
                </a:solidFill>
                <a:latin typeface="Calibri"/>
              </a:rPr>
              <a:t>• </a:t>
            </a:r>
            <a:r>
              <a:rPr sz="1300" b="0">
                <a:solidFill>
                  <a:srgbClr val="1A1A2E"/>
                </a:solidFill>
                <a:latin typeface="Calibri"/>
              </a:rPr>
              <a:t>Call center: Fine-tuned on 3 years of resolved tickets → model drafts replies matching senior agent quality → handle time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Building Your AI Stack — A Tiered Roadmap</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From Individual Tools to Enterprise AI in 5 Steps</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28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28</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three-tier maturity model:</a:t>
            </a:r>
          </a:p>
        </p:txBody>
      </p:sp>
      <p:graphicFrame>
        <p:nvGraphicFramePr>
          <p:cNvPr id="11" name="Table 10"/>
          <p:cNvGraphicFramePr>
            <a:graphicFrameLocks noGrp="1"/>
          </p:cNvGraphicFramePr>
          <p:nvPr/>
        </p:nvGraphicFramePr>
        <p:xfrm>
          <a:off x="457200" y="1600200"/>
          <a:ext cx="6492240" cy="1389888"/>
        </p:xfrm>
        <a:graphic>
          <a:graphicData uri="http://schemas.openxmlformats.org/drawingml/2006/table">
            <a:tbl>
              <a:tblPr firstRow="1" bandRow="1">
                <a:tableStyleId>{5C22544A-7EE6-4342-B048-85BDC9FD1C3A}</a:tableStyleId>
              </a:tblPr>
              <a:tblGrid>
                <a:gridCol w="1298448"/>
                <a:gridCol w="1298448"/>
                <a:gridCol w="1298448"/>
                <a:gridCol w="1298448"/>
                <a:gridCol w="1298448"/>
              </a:tblGrid>
              <a:tr h="347472">
                <a:tc>
                  <a:txBody>
                    <a:bodyPr/>
                    <a:lstStyle/>
                    <a:p>
                      <a:pPr algn="l"/>
                      <a:r>
                        <a:rPr sz="1100" b="1">
                          <a:solidFill>
                            <a:srgbClr val="FFFFFF"/>
                          </a:solidFill>
                          <a:latin typeface="Calibri"/>
                        </a:rPr>
                        <a:t>Tier</a:t>
                      </a:r>
                    </a:p>
                  </a:txBody>
                  <a:tcPr>
                    <a:solidFill>
                      <a:srgbClr val="16213E"/>
                    </a:solidFill>
                  </a:tcPr>
                </a:tc>
                <a:tc>
                  <a:txBody>
                    <a:bodyPr/>
                    <a:lstStyle/>
                    <a:p>
                      <a:pPr algn="l"/>
                      <a:r>
                        <a:rPr sz="1100" b="1">
                          <a:solidFill>
                            <a:srgbClr val="FFFFFF"/>
                          </a:solidFill>
                          <a:latin typeface="Calibri"/>
                        </a:rPr>
                        <a:t>What You Build</a:t>
                      </a:r>
                    </a:p>
                  </a:txBody>
                  <a:tcPr>
                    <a:solidFill>
                      <a:srgbClr val="16213E"/>
                    </a:solidFill>
                  </a:tcPr>
                </a:tc>
                <a:tc>
                  <a:txBody>
                    <a:bodyPr/>
                    <a:lstStyle/>
                    <a:p>
                      <a:pPr algn="l"/>
                      <a:r>
                        <a:rPr sz="1100" b="1">
                          <a:solidFill>
                            <a:srgbClr val="FFFFFF"/>
                          </a:solidFill>
                          <a:latin typeface="Calibri"/>
                        </a:rPr>
                        <a:t>Tools</a:t>
                      </a:r>
                    </a:p>
                  </a:txBody>
                  <a:tcPr>
                    <a:solidFill>
                      <a:srgbClr val="16213E"/>
                    </a:solidFill>
                  </a:tcPr>
                </a:tc>
                <a:tc>
                  <a:txBody>
                    <a:bodyPr/>
                    <a:lstStyle/>
                    <a:p>
                      <a:pPr algn="l"/>
                      <a:r>
                        <a:rPr sz="1100" b="1">
                          <a:solidFill>
                            <a:srgbClr val="FFFFFF"/>
                          </a:solidFill>
                          <a:latin typeface="Calibri"/>
                        </a:rPr>
                        <a:t>Monthly Cost</a:t>
                      </a:r>
                    </a:p>
                  </a:txBody>
                  <a:tcPr>
                    <a:solidFill>
                      <a:srgbClr val="16213E"/>
                    </a:solidFill>
                  </a:tcPr>
                </a:tc>
                <a:tc>
                  <a:txBody>
                    <a:bodyPr/>
                    <a:lstStyle/>
                    <a:p>
                      <a:pPr algn="l"/>
                      <a:r>
                        <a:rPr sz="1100" b="1">
                          <a:solidFill>
                            <a:srgbClr val="FFFFFF"/>
                          </a:solidFill>
                          <a:latin typeface="Calibri"/>
                        </a:rPr>
                        <a:t>Timeline</a:t>
                      </a:r>
                    </a:p>
                  </a:txBody>
                  <a:tcPr>
                    <a:solidFill>
                      <a:srgbClr val="16213E"/>
                    </a:solidFill>
                  </a:tcPr>
                </a:tc>
              </a:tr>
              <a:tr h="347472">
                <a:tc>
                  <a:txBody>
                    <a:bodyPr/>
                    <a:lstStyle/>
                    <a:p>
                      <a:r>
                        <a:rPr sz="1000">
                          <a:solidFill>
                            <a:srgbClr val="1A1A2E"/>
                          </a:solidFill>
                          <a:latin typeface="Calibri"/>
                        </a:rPr>
                        <a:t>Tier 1: Individual Productivity</a:t>
                      </a:r>
                    </a:p>
                  </a:txBody>
                  <a:tcPr>
                    <a:solidFill>
                      <a:srgbClr val="FFFFFF"/>
                    </a:solidFill>
                  </a:tcPr>
                </a:tc>
                <a:tc>
                  <a:txBody>
                    <a:bodyPr/>
                    <a:lstStyle/>
                    <a:p>
                      <a:r>
                        <a:rPr sz="1000">
                          <a:solidFill>
                            <a:srgbClr val="1A1A2E"/>
                          </a:solidFill>
                          <a:latin typeface="Calibri"/>
                        </a:rPr>
                        <a:t>Personal AI assistants for daily work</a:t>
                      </a:r>
                    </a:p>
                  </a:txBody>
                  <a:tcPr>
                    <a:solidFill>
                      <a:srgbClr val="FFFFFF"/>
                    </a:solidFill>
                  </a:tcPr>
                </a:tc>
                <a:tc>
                  <a:txBody>
                    <a:bodyPr/>
                    <a:lstStyle/>
                    <a:p>
                      <a:r>
                        <a:rPr sz="1000">
                          <a:solidFill>
                            <a:srgbClr val="1A1A2E"/>
                          </a:solidFill>
                          <a:latin typeface="Calibri"/>
                        </a:rPr>
                        <a:t>Claude/ChatGPT/Gemini, Cursor/Copilot, Perplexity</a:t>
                      </a:r>
                    </a:p>
                  </a:txBody>
                  <a:tcPr>
                    <a:solidFill>
                      <a:srgbClr val="FFFFFF"/>
                    </a:solidFill>
                  </a:tcPr>
                </a:tc>
                <a:tc>
                  <a:txBody>
                    <a:bodyPr/>
                    <a:lstStyle/>
                    <a:p>
                      <a:r>
                        <a:rPr sz="1000">
                          <a:solidFill>
                            <a:srgbClr val="1A1A2E"/>
                          </a:solidFill>
                          <a:latin typeface="Calibri"/>
                        </a:rPr>
                        <a:t>$0–$50/person</a:t>
                      </a:r>
                    </a:p>
                  </a:txBody>
                  <a:tcPr>
                    <a:solidFill>
                      <a:srgbClr val="FFFFFF"/>
                    </a:solidFill>
                  </a:tcPr>
                </a:tc>
                <a:tc>
                  <a:txBody>
                    <a:bodyPr/>
                    <a:lstStyle/>
                    <a:p>
                      <a:r>
                        <a:rPr sz="1000">
                          <a:solidFill>
                            <a:srgbClr val="1A1A2E"/>
                          </a:solidFill>
                          <a:latin typeface="Calibri"/>
                        </a:rPr>
                        <a:t>Start now</a:t>
                      </a:r>
                    </a:p>
                  </a:txBody>
                  <a:tcPr>
                    <a:solidFill>
                      <a:srgbClr val="FFFFFF"/>
                    </a:solidFill>
                  </a:tcPr>
                </a:tc>
              </a:tr>
              <a:tr h="347472">
                <a:tc>
                  <a:txBody>
                    <a:bodyPr/>
                    <a:lstStyle/>
                    <a:p>
                      <a:r>
                        <a:rPr sz="1000">
                          <a:solidFill>
                            <a:srgbClr val="1A1A2E"/>
                          </a:solidFill>
                          <a:latin typeface="Calibri"/>
                        </a:rPr>
                        <a:t>Tier 2: Team Workflows</a:t>
                      </a:r>
                    </a:p>
                  </a:txBody>
                  <a:tcPr>
                    <a:solidFill>
                      <a:srgbClr val="F8F9FF"/>
                    </a:solidFill>
                  </a:tcPr>
                </a:tc>
                <a:tc>
                  <a:txBody>
                    <a:bodyPr/>
                    <a:lstStyle/>
                    <a:p>
                      <a:r>
                        <a:rPr sz="1000">
                          <a:solidFill>
                            <a:srgbClr val="1A1A2E"/>
                          </a:solidFill>
                          <a:latin typeface="Calibri"/>
                        </a:rPr>
                        <a:t>Automated processes shared across the team</a:t>
                      </a:r>
                    </a:p>
                  </a:txBody>
                  <a:tcPr>
                    <a:solidFill>
                      <a:srgbClr val="F8F9FF"/>
                    </a:solidFill>
                  </a:tcPr>
                </a:tc>
                <a:tc>
                  <a:txBody>
                    <a:bodyPr/>
                    <a:lstStyle/>
                    <a:p>
                      <a:r>
                        <a:rPr sz="1000">
                          <a:solidFill>
                            <a:srgbClr val="1A1A2E"/>
                          </a:solidFill>
                          <a:latin typeface="Calibri"/>
                        </a:rPr>
                        <a:t>Zapier/Make/n8n, NotebookLM, RAG chatbot on your docs</a:t>
                      </a:r>
                    </a:p>
                  </a:txBody>
                  <a:tcPr>
                    <a:solidFill>
                      <a:srgbClr val="F8F9FF"/>
                    </a:solidFill>
                  </a:tcPr>
                </a:tc>
                <a:tc>
                  <a:txBody>
                    <a:bodyPr/>
                    <a:lstStyle/>
                    <a:p>
                      <a:r>
                        <a:rPr sz="1000">
                          <a:solidFill>
                            <a:srgbClr val="1A1A2E"/>
                          </a:solidFill>
                          <a:latin typeface="Calibri"/>
                        </a:rPr>
                        <a:t>$100–$1,000/month</a:t>
                      </a:r>
                    </a:p>
                  </a:txBody>
                  <a:tcPr>
                    <a:solidFill>
                      <a:srgbClr val="F8F9FF"/>
                    </a:solidFill>
                  </a:tcPr>
                </a:tc>
                <a:tc>
                  <a:txBody>
                    <a:bodyPr/>
                    <a:lstStyle/>
                    <a:p>
                      <a:r>
                        <a:rPr sz="1000">
                          <a:solidFill>
                            <a:srgbClr val="1A1A2E"/>
                          </a:solidFill>
                          <a:latin typeface="Calibri"/>
                        </a:rPr>
                        <a:t>Months 1–6</a:t>
                      </a:r>
                    </a:p>
                  </a:txBody>
                  <a:tcPr>
                    <a:solidFill>
                      <a:srgbClr val="F8F9FF"/>
                    </a:solidFill>
                  </a:tcPr>
                </a:tc>
              </a:tr>
              <a:tr h="347472">
                <a:tc>
                  <a:txBody>
                    <a:bodyPr/>
                    <a:lstStyle/>
                    <a:p>
                      <a:r>
                        <a:rPr sz="1000">
                          <a:solidFill>
                            <a:srgbClr val="1A1A2E"/>
                          </a:solidFill>
                          <a:latin typeface="Calibri"/>
                        </a:rPr>
                        <a:t>Tier 3: Enterprise AI</a:t>
                      </a:r>
                    </a:p>
                  </a:txBody>
                  <a:tcPr>
                    <a:solidFill>
                      <a:srgbClr val="FFFFFF"/>
                    </a:solidFill>
                  </a:tcPr>
                </a:tc>
                <a:tc>
                  <a:txBody>
                    <a:bodyPr/>
                    <a:lstStyle/>
                    <a:p>
                      <a:r>
                        <a:rPr sz="1000">
                          <a:solidFill>
                            <a:srgbClr val="1A1A2E"/>
                          </a:solidFill>
                          <a:latin typeface="Calibri"/>
                        </a:rPr>
                        <a:t>AI-native products and internal platforms</a:t>
                      </a:r>
                    </a:p>
                  </a:txBody>
                  <a:tcPr>
                    <a:solidFill>
                      <a:srgbClr val="FFFFFF"/>
                    </a:solidFill>
                  </a:tcPr>
                </a:tc>
                <a:tc>
                  <a:txBody>
                    <a:bodyPr/>
                    <a:lstStyle/>
                    <a:p>
                      <a:r>
                        <a:rPr sz="1000">
                          <a:solidFill>
                            <a:srgbClr val="1A1A2E"/>
                          </a:solidFill>
                          <a:latin typeface="Calibri"/>
                        </a:rPr>
                        <a:t>Fine-tuned models, multi-agent systems, AI-embedded products</a:t>
                      </a:r>
                    </a:p>
                  </a:txBody>
                  <a:tcPr>
                    <a:solidFill>
                      <a:srgbClr val="FFFFFF"/>
                    </a:solidFill>
                  </a:tcPr>
                </a:tc>
                <a:tc>
                  <a:txBody>
                    <a:bodyPr/>
                    <a:lstStyle/>
                    <a:p>
                      <a:r>
                        <a:rPr sz="1000">
                          <a:solidFill>
                            <a:srgbClr val="1A1A2E"/>
                          </a:solidFill>
                          <a:latin typeface="Calibri"/>
                        </a:rPr>
                        <a:t>$10,000+/month</a:t>
                      </a:r>
                    </a:p>
                  </a:txBody>
                  <a:tcPr>
                    <a:solidFill>
                      <a:srgbClr val="FFFFFF"/>
                    </a:solidFill>
                  </a:tcPr>
                </a:tc>
                <a:tc>
                  <a:txBody>
                    <a:bodyPr/>
                    <a:lstStyle/>
                    <a:p>
                      <a:r>
                        <a:rPr sz="1000">
                          <a:solidFill>
                            <a:srgbClr val="1A1A2E"/>
                          </a:solidFill>
                          <a:latin typeface="Calibri"/>
                        </a:rPr>
                        <a:t>Months 6–18</a:t>
                      </a:r>
                    </a:p>
                  </a:txBody>
                  <a:tcPr>
                    <a:solidFill>
                      <a:srgbClr val="FFFFFF"/>
                    </a:solidFill>
                  </a:tcPr>
                </a:tc>
              </a:tr>
            </a:tbl>
          </a:graphicData>
        </a:graphic>
      </p:graphicFrame>
      <p:sp>
        <p:nvSpPr>
          <p:cNvPr id="12" name="TextBox 11"/>
          <p:cNvSpPr txBox="1"/>
          <p:nvPr/>
        </p:nvSpPr>
        <p:spPr>
          <a:xfrm>
            <a:off x="457200" y="3099816"/>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five-step adoption playbook:</a:t>
            </a:r>
          </a:p>
          <a:p>
            <a:pPr>
              <a:spcBef>
                <a:spcPts val="200"/>
              </a:spcBef>
              <a:spcAft>
                <a:spcPts val="100"/>
              </a:spcAft>
            </a:pPr>
            <a:r>
              <a:rPr sz="1200">
                <a:solidFill>
                  <a:srgbClr val="0EA5E9"/>
                </a:solidFill>
                <a:latin typeface="Calibri"/>
              </a:rPr>
              <a:t>• </a:t>
            </a:r>
            <a:r>
              <a:rPr sz="1200" b="0">
                <a:solidFill>
                  <a:srgbClr val="1A1A2E"/>
                </a:solidFill>
                <a:latin typeface="Calibri"/>
              </a:rPr>
              <a:t>Map: List your 10 most time-consuming, low-judgment repetitive tasks. These are automation candidates.</a:t>
            </a:r>
          </a:p>
          <a:p>
            <a:pPr>
              <a:spcBef>
                <a:spcPts val="200"/>
              </a:spcBef>
              <a:spcAft>
                <a:spcPts val="100"/>
              </a:spcAft>
            </a:pPr>
            <a:r>
              <a:rPr sz="1200">
                <a:solidFill>
                  <a:srgbClr val="0EA5E9"/>
                </a:solidFill>
                <a:latin typeface="Calibri"/>
              </a:rPr>
              <a:t>• </a:t>
            </a:r>
            <a:r>
              <a:rPr sz="1200" b="0">
                <a:solidFill>
                  <a:srgbClr val="1A1A2E"/>
                </a:solidFill>
                <a:latin typeface="Calibri"/>
              </a:rPr>
              <a:t>Pilot: Pick 2–3. Use existing AI tools ($0 incremental cost) to assist with them for 2 weeks.</a:t>
            </a:r>
          </a:p>
          <a:p>
            <a:pPr>
              <a:spcBef>
                <a:spcPts val="200"/>
              </a:spcBef>
              <a:spcAft>
                <a:spcPts val="100"/>
              </a:spcAft>
            </a:pPr>
            <a:r>
              <a:rPr sz="1200">
                <a:solidFill>
                  <a:srgbClr val="0EA5E9"/>
                </a:solidFill>
                <a:latin typeface="Calibri"/>
              </a:rPr>
              <a:t>• </a:t>
            </a:r>
            <a:r>
              <a:rPr sz="1200" b="0">
                <a:solidFill>
                  <a:srgbClr val="1A1A2E"/>
                </a:solidFill>
                <a:latin typeface="Calibri"/>
              </a:rPr>
              <a:t>Measure: Quantify time saved per task. Calculate weekly/monthly hours. Document quality differences.</a:t>
            </a:r>
          </a:p>
          <a:p>
            <a:pPr>
              <a:spcBef>
                <a:spcPts val="200"/>
              </a:spcBef>
              <a:spcAft>
                <a:spcPts val="100"/>
              </a:spcAft>
            </a:pPr>
            <a:r>
              <a:rPr sz="1200">
                <a:solidFill>
                  <a:srgbClr val="0EA5E9"/>
                </a:solidFill>
                <a:latin typeface="Calibri"/>
              </a:rPr>
              <a:t>• </a:t>
            </a:r>
            <a:r>
              <a:rPr sz="1200" b="0">
                <a:solidFill>
                  <a:srgbClr val="1A1A2E"/>
                </a:solidFill>
                <a:latin typeface="Calibri"/>
              </a:rPr>
              <a:t>Scale: Once value is proven, formalize the workflow, automate with n8n/Zapier, roll out to the team.</a:t>
            </a:r>
          </a:p>
          <a:p>
            <a:pPr>
              <a:spcBef>
                <a:spcPts val="200"/>
              </a:spcBef>
              <a:spcAft>
                <a:spcPts val="100"/>
              </a:spcAft>
            </a:pPr>
            <a:r>
              <a:rPr sz="1200">
                <a:solidFill>
                  <a:srgbClr val="0EA5E9"/>
                </a:solidFill>
                <a:latin typeface="Calibri"/>
              </a:rPr>
              <a:t>• </a:t>
            </a:r>
            <a:r>
              <a:rPr sz="1200" b="0">
                <a:solidFill>
                  <a:srgbClr val="1A1A2E"/>
                </a:solidFill>
                <a:latin typeface="Calibri"/>
              </a:rPr>
              <a:t>Invest: With a track record, now consider custom fine-tuning, agents, or product integration.</a:t>
            </a:r>
          </a:p>
          <a:p>
            <a:pPr>
              <a:spcBef>
                <a:spcPts val="200"/>
              </a:spcBef>
              <a:spcAft>
                <a:spcPts val="100"/>
              </a:spcAft>
            </a:pPr>
            <a:r>
              <a:rPr sz="1200" b="1">
                <a:solidFill>
                  <a:srgbClr val="0F3460"/>
                </a:solidFill>
                <a:latin typeface="Calibri"/>
              </a:rPr>
              <a:t>The five mistakes that derail AI adoption:</a:t>
            </a:r>
          </a:p>
        </p:txBody>
      </p:sp>
      <p:graphicFrame>
        <p:nvGraphicFramePr>
          <p:cNvPr id="13" name="Table 12"/>
          <p:cNvGraphicFramePr>
            <a:graphicFrameLocks noGrp="1"/>
          </p:cNvGraphicFramePr>
          <p:nvPr/>
        </p:nvGraphicFramePr>
        <p:xfrm>
          <a:off x="457200" y="5020056"/>
          <a:ext cx="6492240" cy="1563624"/>
        </p:xfrm>
        <a:graphic>
          <a:graphicData uri="http://schemas.openxmlformats.org/drawingml/2006/table">
            <a:tbl>
              <a:tblPr firstRow="1" bandRow="1">
                <a:tableStyleId>{5C22544A-7EE6-4342-B048-85BDC9FD1C3A}</a:tableStyleId>
              </a:tblPr>
              <a:tblGrid>
                <a:gridCol w="2164080"/>
                <a:gridCol w="2164080"/>
                <a:gridCol w="2164080"/>
              </a:tblGrid>
              <a:tr h="260604">
                <a:tc>
                  <a:txBody>
                    <a:bodyPr/>
                    <a:lstStyle/>
                    <a:p>
                      <a:pPr algn="l"/>
                      <a:r>
                        <a:rPr sz="1100" b="1">
                          <a:solidFill>
                            <a:srgbClr val="FFFFFF"/>
                          </a:solidFill>
                          <a:latin typeface="Calibri"/>
                        </a:rPr>
                        <a:t>Mistake</a:t>
                      </a:r>
                    </a:p>
                  </a:txBody>
                  <a:tcPr>
                    <a:solidFill>
                      <a:srgbClr val="16213E"/>
                    </a:solidFill>
                  </a:tcPr>
                </a:tc>
                <a:tc>
                  <a:txBody>
                    <a:bodyPr/>
                    <a:lstStyle/>
                    <a:p>
                      <a:pPr algn="l"/>
                      <a:r>
                        <a:rPr sz="1100" b="1">
                          <a:solidFill>
                            <a:srgbClr val="FFFFFF"/>
                          </a:solidFill>
                          <a:latin typeface="Calibri"/>
                        </a:rPr>
                        <a:t>What Goes Wrong</a:t>
                      </a:r>
                    </a:p>
                  </a:txBody>
                  <a:tcPr>
                    <a:solidFill>
                      <a:srgbClr val="16213E"/>
                    </a:solidFill>
                  </a:tcPr>
                </a:tc>
                <a:tc>
                  <a:txBody>
                    <a:bodyPr/>
                    <a:lstStyle/>
                    <a:p>
                      <a:pPr algn="l"/>
                      <a:r>
                        <a:rPr sz="1100" b="1">
                          <a:solidFill>
                            <a:srgbClr val="FFFFFF"/>
                          </a:solidFill>
                          <a:latin typeface="Calibri"/>
                        </a:rPr>
                        <a:t>The Fix</a:t>
                      </a:r>
                    </a:p>
                  </a:txBody>
                  <a:tcPr>
                    <a:solidFill>
                      <a:srgbClr val="16213E"/>
                    </a:solidFill>
                  </a:tcPr>
                </a:tc>
              </a:tr>
              <a:tr h="260604">
                <a:tc>
                  <a:txBody>
                    <a:bodyPr/>
                    <a:lstStyle/>
                    <a:p>
                      <a:r>
                        <a:rPr sz="1000">
                          <a:solidFill>
                            <a:srgbClr val="1A1A2E"/>
                          </a:solidFill>
                          <a:latin typeface="Calibri"/>
                        </a:rPr>
                        <a:t>Starting at Tier 3</a:t>
                      </a:r>
                    </a:p>
                  </a:txBody>
                  <a:tcPr>
                    <a:solidFill>
                      <a:srgbClr val="FFFFFF"/>
                    </a:solidFill>
                  </a:tcPr>
                </a:tc>
                <a:tc>
                  <a:txBody>
                    <a:bodyPr/>
                    <a:lstStyle/>
                    <a:p>
                      <a:r>
                        <a:rPr sz="1000">
                          <a:solidFill>
                            <a:srgbClr val="1A1A2E"/>
                          </a:solidFill>
                          <a:latin typeface="Calibri"/>
                        </a:rPr>
                        <a:t>"We need an enterprise AI platform" before proving any use case</a:t>
                      </a:r>
                    </a:p>
                  </a:txBody>
                  <a:tcPr>
                    <a:solidFill>
                      <a:srgbClr val="FFFFFF"/>
                    </a:solidFill>
                  </a:tcPr>
                </a:tc>
                <a:tc>
                  <a:txBody>
                    <a:bodyPr/>
                    <a:lstStyle/>
                    <a:p>
                      <a:r>
                        <a:rPr sz="1000">
                          <a:solidFill>
                            <a:srgbClr val="1A1A2E"/>
                          </a:solidFill>
                          <a:latin typeface="Calibri"/>
                        </a:rPr>
                        <a:t>Tier 1 costs $20/month and proves value in week 1</a:t>
                      </a:r>
                    </a:p>
                  </a:txBody>
                  <a:tcPr>
                    <a:solidFill>
                      <a:srgbClr val="FFFFFF"/>
                    </a:solidFill>
                  </a:tcPr>
                </a:tc>
              </a:tr>
              <a:tr h="260604">
                <a:tc>
                  <a:txBody>
                    <a:bodyPr/>
                    <a:lstStyle/>
                    <a:p>
                      <a:r>
                        <a:rPr sz="1000">
                          <a:solidFill>
                            <a:srgbClr val="1A1A2E"/>
                          </a:solidFill>
                          <a:latin typeface="Calibri"/>
                        </a:rPr>
                        <a:t>Vendor lock-in</a:t>
                      </a:r>
                    </a:p>
                  </a:txBody>
                  <a:tcPr>
                    <a:solidFill>
                      <a:srgbClr val="F8F9FF"/>
                    </a:solidFill>
                  </a:tcPr>
                </a:tc>
                <a:tc>
                  <a:txBody>
                    <a:bodyPr/>
                    <a:lstStyle/>
                    <a:p>
                      <a:r>
                        <a:rPr sz="1000">
                          <a:solidFill>
                            <a:srgbClr val="1A1A2E"/>
                          </a:solidFill>
                          <a:latin typeface="Calibri"/>
                        </a:rPr>
                        <a:t>Deep dependency on one LLM provider; painful to migrate</a:t>
                      </a:r>
                    </a:p>
                  </a:txBody>
                  <a:tcPr>
                    <a:solidFill>
                      <a:srgbClr val="F8F9FF"/>
                    </a:solidFill>
                  </a:tcPr>
                </a:tc>
                <a:tc>
                  <a:txBody>
                    <a:bodyPr/>
                    <a:lstStyle/>
                    <a:p>
                      <a:r>
                        <a:rPr sz="1000">
                          <a:solidFill>
                            <a:srgbClr val="1A1A2E"/>
                          </a:solidFill>
                          <a:latin typeface="Calibri"/>
                        </a:rPr>
                        <a:t>Use LiteLLM or LangChain as provider abstraction from day one</a:t>
                      </a:r>
                    </a:p>
                  </a:txBody>
                  <a:tcPr>
                    <a:solidFill>
                      <a:srgbClr val="F8F9FF"/>
                    </a:solidFill>
                  </a:tcPr>
                </a:tc>
              </a:tr>
              <a:tr h="260604">
                <a:tc>
                  <a:txBody>
                    <a:bodyPr/>
                    <a:lstStyle/>
                    <a:p>
                      <a:r>
                        <a:rPr sz="1000">
                          <a:solidFill>
                            <a:srgbClr val="1A1A2E"/>
                          </a:solidFill>
                          <a:latin typeface="Calibri"/>
                        </a:rPr>
                        <a:t>No evaluation framework</a:t>
                      </a:r>
                    </a:p>
                  </a:txBody>
                  <a:tcPr>
                    <a:solidFill>
                      <a:srgbClr val="FFFFFF"/>
                    </a:solidFill>
                  </a:tcPr>
                </a:tc>
                <a:tc>
                  <a:txBody>
                    <a:bodyPr/>
                    <a:lstStyle/>
                    <a:p>
                      <a:r>
                        <a:rPr sz="1000">
                          <a:solidFill>
                            <a:srgbClr val="1A1A2E"/>
                          </a:solidFill>
                          <a:latin typeface="Calibri"/>
                        </a:rPr>
                        <a:t>"It seems good" is not a quality standard</a:t>
                      </a:r>
                    </a:p>
                  </a:txBody>
                  <a:tcPr>
                    <a:solidFill>
                      <a:srgbClr val="FFFFFF"/>
                    </a:solidFill>
                  </a:tcPr>
                </a:tc>
                <a:tc>
                  <a:txBody>
                    <a:bodyPr/>
                    <a:lstStyle/>
                    <a:p>
                      <a:r>
                        <a:rPr sz="1000">
                          <a:solidFill>
                            <a:srgbClr val="1A1A2E"/>
                          </a:solidFill>
                          <a:latin typeface="Calibri"/>
                        </a:rPr>
                        <a:t>Define what good looks like, build a test set, measure it</a:t>
                      </a:r>
                    </a:p>
                  </a:txBody>
                  <a:tcPr>
                    <a:solidFill>
                      <a:srgbClr val="FFFFFF"/>
                    </a:solidFill>
                  </a:tcPr>
                </a:tc>
              </a:tr>
              <a:tr h="260604">
                <a:tc>
                  <a:txBody>
                    <a:bodyPr/>
                    <a:lstStyle/>
                    <a:p>
                      <a:r>
                        <a:rPr sz="1000">
                          <a:solidFill>
                            <a:srgbClr val="1A1A2E"/>
                          </a:solidFill>
                          <a:latin typeface="Calibri"/>
                        </a:rPr>
                        <a:t>Ignoring data privacy</a:t>
                      </a:r>
                    </a:p>
                  </a:txBody>
                  <a:tcPr>
                    <a:solidFill>
                      <a:srgbClr val="F8F9FF"/>
                    </a:solidFill>
                  </a:tcPr>
                </a:tc>
                <a:tc>
                  <a:txBody>
                    <a:bodyPr/>
                    <a:lstStyle/>
                    <a:p>
                      <a:r>
                        <a:rPr sz="1000">
                          <a:solidFill>
                            <a:srgbClr val="1A1A2E"/>
                          </a:solidFill>
                          <a:latin typeface="Calibri"/>
                        </a:rPr>
                        <a:t>Sensitive data in cloud AI APIs before legal review</a:t>
                      </a:r>
                    </a:p>
                  </a:txBody>
                  <a:tcPr>
                    <a:solidFill>
                      <a:srgbClr val="F8F9FF"/>
                    </a:solidFill>
                  </a:tcPr>
                </a:tc>
                <a:tc>
                  <a:txBody>
                    <a:bodyPr/>
                    <a:lstStyle/>
                    <a:p>
                      <a:r>
                        <a:rPr sz="1000">
                          <a:solidFill>
                            <a:srgbClr val="1A1A2E"/>
                          </a:solidFill>
                          <a:latin typeface="Calibri"/>
                        </a:rPr>
                        <a:t>Audit data classification; self-host for regulated data</a:t>
                      </a:r>
                    </a:p>
                  </a:txBody>
                  <a:tcPr>
                    <a:solidFill>
                      <a:srgbClr val="F8F9FF"/>
                    </a:solidFill>
                  </a:tcPr>
                </a:tc>
              </a:tr>
              <a:tr h="260604">
                <a:tc>
                  <a:txBody>
                    <a:bodyPr/>
                    <a:lstStyle/>
                    <a:p>
                      <a:r>
                        <a:rPr sz="1000">
                          <a:solidFill>
                            <a:srgbClr val="1A1A2E"/>
                          </a:solidFill>
                          <a:latin typeface="Calibri"/>
                        </a:rPr>
                        <a:t>Automating broken processes</a:t>
                      </a:r>
                    </a:p>
                  </a:txBody>
                  <a:tcPr>
                    <a:solidFill>
                      <a:srgbClr val="FFFFFF"/>
                    </a:solidFill>
                  </a:tcPr>
                </a:tc>
                <a:tc>
                  <a:txBody>
                    <a:bodyPr/>
                    <a:lstStyle/>
                    <a:p>
                      <a:r>
                        <a:rPr sz="1000">
                          <a:solidFill>
                            <a:srgbClr val="1A1A2E"/>
                          </a:solidFill>
                          <a:latin typeface="Calibri"/>
                        </a:rPr>
                        <a:t>Hoping AI will fix a workflow that was already chaotic</a:t>
                      </a:r>
                    </a:p>
                  </a:txBody>
                  <a:tcPr>
                    <a:solidFill>
                      <a:srgbClr val="FFFFFF"/>
                    </a:solidFill>
                  </a:tcPr>
                </a:tc>
                <a:tc>
                  <a:txBody>
                    <a:bodyPr/>
                    <a:lstStyle/>
                    <a:p>
                      <a:r>
                        <a:rPr sz="1000">
                          <a:solidFill>
                            <a:srgbClr val="1A1A2E"/>
                          </a:solidFill>
                          <a:latin typeface="Calibri"/>
                        </a:rPr>
                        <a:t>Redesign the process first, then automate the clean version</a:t>
                      </a:r>
                    </a:p>
                  </a:txBody>
                  <a:tcP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Six Trends Reshaping Business AI — 2026 and Beyond</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What to Watch, What It Means for You</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29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29</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100" b="0">
                <a:solidFill>
                  <a:srgbClr val="2D3748"/>
                </a:solidFill>
                <a:latin typeface="Calibri"/>
              </a:rPr>
              <a:t>Trend 1: Intelligence cost collapses toward zero</a:t>
            </a:r>
          </a:p>
          <a:p>
            <a:pPr>
              <a:spcBef>
                <a:spcPts val="200"/>
              </a:spcBef>
              <a:spcAft>
                <a:spcPts val="100"/>
              </a:spcAft>
            </a:pPr>
            <a:r>
              <a:rPr sz="1200">
                <a:solidFill>
                  <a:srgbClr val="0EA5E9"/>
                </a:solidFill>
                <a:latin typeface="Calibri"/>
              </a:rPr>
              <a:t>• </a:t>
            </a:r>
            <a:r>
              <a:rPr sz="1200" b="0">
                <a:solidFill>
                  <a:srgbClr val="1A1A2E"/>
                </a:solidFill>
                <a:latin typeface="Calibri"/>
              </a:rPr>
              <a:t>GPT-4 level in 2023: $60/million tokens → Today: $0.50–$2.00 → Projection 2027: $0.10 or less</a:t>
            </a:r>
          </a:p>
          <a:p>
            <a:pPr>
              <a:spcBef>
                <a:spcPts val="200"/>
              </a:spcBef>
              <a:spcAft>
                <a:spcPts val="100"/>
              </a:spcAft>
            </a:pPr>
            <a:r>
              <a:rPr sz="1200">
                <a:solidFill>
                  <a:srgbClr val="0EA5E9"/>
                </a:solidFill>
                <a:latin typeface="Calibri"/>
              </a:rPr>
              <a:t>• </a:t>
            </a:r>
            <a:r>
              <a:rPr sz="1200" b="0">
                <a:solidFill>
                  <a:srgbClr val="1A1A2E"/>
                </a:solidFill>
                <a:latin typeface="Calibri"/>
              </a:rPr>
              <a:t>Implication: Cost is no longer the barrier to AI deployment — trust, integration, and governance are</a:t>
            </a:r>
          </a:p>
          <a:p>
            <a:pPr>
              <a:spcBef>
                <a:spcPts val="200"/>
              </a:spcBef>
              <a:spcAft>
                <a:spcPts val="100"/>
              </a:spcAft>
            </a:pPr>
            <a:r>
              <a:rPr sz="1100" b="0">
                <a:solidFill>
                  <a:srgbClr val="2D3748"/>
                </a:solidFill>
                <a:latin typeface="Calibri"/>
              </a:rPr>
              <a:t>Trend 2: Agentic AI moves from demo to production</a:t>
            </a:r>
          </a:p>
          <a:p>
            <a:pPr>
              <a:spcBef>
                <a:spcPts val="200"/>
              </a:spcBef>
              <a:spcAft>
                <a:spcPts val="100"/>
              </a:spcAft>
            </a:pPr>
            <a:r>
              <a:rPr sz="1200">
                <a:solidFill>
                  <a:srgbClr val="0EA5E9"/>
                </a:solidFill>
                <a:latin typeface="Calibri"/>
              </a:rPr>
              <a:t>• </a:t>
            </a:r>
            <a:r>
              <a:rPr sz="1200" b="0">
                <a:solidFill>
                  <a:srgbClr val="1A1A2E"/>
                </a:solidFill>
                <a:latin typeface="Calibri"/>
              </a:rPr>
              <a:t>2024: Impressive demos. 2025: Pilots. 2026: Production at scale at companies like Klarna, JPMorgan, Salesforce</a:t>
            </a:r>
          </a:p>
          <a:p>
            <a:pPr>
              <a:spcBef>
                <a:spcPts val="200"/>
              </a:spcBef>
              <a:spcAft>
                <a:spcPts val="100"/>
              </a:spcAft>
            </a:pPr>
            <a:r>
              <a:rPr sz="1200">
                <a:solidFill>
                  <a:srgbClr val="0EA5E9"/>
                </a:solidFill>
                <a:latin typeface="Calibri"/>
              </a:rPr>
              <a:t>• </a:t>
            </a:r>
            <a:r>
              <a:rPr sz="1200" b="0">
                <a:solidFill>
                  <a:srgbClr val="1A1A2E"/>
                </a:solidFill>
                <a:latin typeface="Calibri"/>
              </a:rPr>
              <a:t>Agents completing 4-hour knowledge work tasks in 15 minutes is now observable, not aspirational</a:t>
            </a:r>
          </a:p>
          <a:p>
            <a:pPr>
              <a:spcBef>
                <a:spcPts val="200"/>
              </a:spcBef>
              <a:spcAft>
                <a:spcPts val="100"/>
              </a:spcAft>
            </a:pPr>
            <a:r>
              <a:rPr sz="1100" b="0">
                <a:solidFill>
                  <a:srgbClr val="2D3748"/>
                </a:solidFill>
                <a:latin typeface="Calibri"/>
              </a:rPr>
              <a:t>Trend 3: Domain specialization creates competitive moats</a:t>
            </a:r>
          </a:p>
          <a:p>
            <a:pPr>
              <a:spcBef>
                <a:spcPts val="200"/>
              </a:spcBef>
              <a:spcAft>
                <a:spcPts val="100"/>
              </a:spcAft>
            </a:pPr>
            <a:r>
              <a:rPr sz="1200">
                <a:solidFill>
                  <a:srgbClr val="0EA5E9"/>
                </a:solidFill>
                <a:latin typeface="Calibri"/>
              </a:rPr>
              <a:t>• </a:t>
            </a:r>
            <a:r>
              <a:rPr sz="1200" b="0">
                <a:solidFill>
                  <a:srgbClr val="1A1A2E"/>
                </a:solidFill>
                <a:latin typeface="Calibri"/>
              </a:rPr>
              <a:t>General models → domain models: Harvey (legal), Abridge (clinical), BloombergGPT (finance)</a:t>
            </a:r>
          </a:p>
          <a:p>
            <a:pPr>
              <a:spcBef>
                <a:spcPts val="200"/>
              </a:spcBef>
              <a:spcAft>
                <a:spcPts val="100"/>
              </a:spcAft>
            </a:pPr>
            <a:r>
              <a:rPr sz="1200">
                <a:solidFill>
                  <a:srgbClr val="0EA5E9"/>
                </a:solidFill>
                <a:latin typeface="Calibri"/>
              </a:rPr>
              <a:t>• </a:t>
            </a:r>
            <a:r>
              <a:rPr sz="1200" b="0">
                <a:solidFill>
                  <a:srgbClr val="1A1A2E"/>
                </a:solidFill>
                <a:latin typeface="Calibri"/>
              </a:rPr>
              <a:t>Companies that fine-tune on proprietary data create models competitors can't replicate</a:t>
            </a:r>
          </a:p>
          <a:p>
            <a:pPr>
              <a:spcBef>
                <a:spcPts val="200"/>
              </a:spcBef>
              <a:spcAft>
                <a:spcPts val="100"/>
              </a:spcAft>
            </a:pPr>
            <a:r>
              <a:rPr sz="1200">
                <a:solidFill>
                  <a:srgbClr val="0EA5E9"/>
                </a:solidFill>
                <a:latin typeface="Calibri"/>
              </a:rPr>
              <a:t>• </a:t>
            </a:r>
            <a:r>
              <a:rPr sz="1200" b="0">
                <a:solidFill>
                  <a:srgbClr val="1A1A2E"/>
                </a:solidFill>
                <a:latin typeface="Calibri"/>
              </a:rPr>
              <a:t>Your domain expertise × AI = a differentiated capability, not just efficiency</a:t>
            </a:r>
          </a:p>
          <a:p>
            <a:pPr>
              <a:spcBef>
                <a:spcPts val="200"/>
              </a:spcBef>
              <a:spcAft>
                <a:spcPts val="100"/>
              </a:spcAft>
            </a:pPr>
            <a:r>
              <a:rPr sz="1100" b="0">
                <a:solidFill>
                  <a:srgbClr val="2D3748"/>
                </a:solidFill>
                <a:latin typeface="Calibri"/>
              </a:rPr>
              <a:t>Trend 4: Multimodal becomes the baseline</a:t>
            </a:r>
          </a:p>
          <a:p>
            <a:pPr>
              <a:spcBef>
                <a:spcPts val="200"/>
              </a:spcBef>
              <a:spcAft>
                <a:spcPts val="100"/>
              </a:spcAft>
            </a:pPr>
            <a:r>
              <a:rPr sz="1200">
                <a:solidFill>
                  <a:srgbClr val="0EA5E9"/>
                </a:solidFill>
                <a:latin typeface="Calibri"/>
              </a:rPr>
              <a:t>• </a:t>
            </a:r>
            <a:r>
              <a:rPr sz="1200" b="0">
                <a:solidFill>
                  <a:srgbClr val="1A1A2E"/>
                </a:solidFill>
                <a:latin typeface="Calibri"/>
              </a:rPr>
              <a:t>By 2027, the distinction between "text AI" and "vision AI" will be meaningless — all models are multimodal</a:t>
            </a:r>
          </a:p>
          <a:p>
            <a:pPr>
              <a:spcBef>
                <a:spcPts val="200"/>
              </a:spcBef>
              <a:spcAft>
                <a:spcPts val="100"/>
              </a:spcAft>
            </a:pPr>
            <a:r>
              <a:rPr sz="1200">
                <a:solidFill>
                  <a:srgbClr val="0EA5E9"/>
                </a:solidFill>
                <a:latin typeface="Calibri"/>
              </a:rPr>
              <a:t>• </a:t>
            </a:r>
            <a:r>
              <a:rPr sz="1200" b="0">
                <a:solidFill>
                  <a:srgbClr val="1A1A2E"/>
                </a:solidFill>
                <a:latin typeface="Calibri"/>
              </a:rPr>
              <a:t>Every business process touching documents, images, audio, or video becomes automatable</a:t>
            </a:r>
          </a:p>
          <a:p>
            <a:pPr>
              <a:spcBef>
                <a:spcPts val="200"/>
              </a:spcBef>
              <a:spcAft>
                <a:spcPts val="100"/>
              </a:spcAft>
            </a:pPr>
            <a:r>
              <a:rPr sz="1200">
                <a:solidFill>
                  <a:srgbClr val="0EA5E9"/>
                </a:solidFill>
                <a:latin typeface="Calibri"/>
              </a:rPr>
              <a:t>• </a:t>
            </a:r>
            <a:r>
              <a:rPr sz="1200" b="0">
                <a:solidFill>
                  <a:srgbClr val="1A1A2E"/>
                </a:solidFill>
                <a:latin typeface="Calibri"/>
              </a:rPr>
              <a:t>85%+ of business information is currently unstructured — this unlocks most of it</a:t>
            </a:r>
          </a:p>
          <a:p>
            <a:pPr>
              <a:spcBef>
                <a:spcPts val="200"/>
              </a:spcBef>
              <a:spcAft>
                <a:spcPts val="100"/>
              </a:spcAft>
            </a:pPr>
            <a:r>
              <a:rPr sz="1100" b="0">
                <a:solidFill>
                  <a:srgbClr val="2D3748"/>
                </a:solidFill>
                <a:latin typeface="Calibri"/>
              </a:rPr>
              <a:t>Trend 5: AI governance transitions from voluntary to mandatory</a:t>
            </a:r>
          </a:p>
          <a:p>
            <a:pPr>
              <a:spcBef>
                <a:spcPts val="200"/>
              </a:spcBef>
              <a:spcAft>
                <a:spcPts val="100"/>
              </a:spcAft>
            </a:pPr>
            <a:r>
              <a:rPr sz="1200">
                <a:solidFill>
                  <a:srgbClr val="0EA5E9"/>
                </a:solidFill>
                <a:latin typeface="Calibri"/>
              </a:rPr>
              <a:t>• </a:t>
            </a:r>
            <a:r>
              <a:rPr sz="1200" b="0">
                <a:solidFill>
                  <a:srgbClr val="1A1A2E"/>
                </a:solidFill>
                <a:latin typeface="Calibri"/>
              </a:rPr>
              <a:t>EU AI Act enforcement: companies using AI in hiring, credit, healthcare, law enforcement face compliance requirements</a:t>
            </a:r>
          </a:p>
          <a:p>
            <a:pPr>
              <a:spcBef>
                <a:spcPts val="200"/>
              </a:spcBef>
              <a:spcAft>
                <a:spcPts val="100"/>
              </a:spcAft>
            </a:pPr>
            <a:r>
              <a:rPr sz="1200">
                <a:solidFill>
                  <a:srgbClr val="0EA5E9"/>
                </a:solidFill>
                <a:latin typeface="Calibri"/>
              </a:rPr>
              <a:t>• </a:t>
            </a:r>
            <a:r>
              <a:rPr sz="1200" b="0">
                <a:solidFill>
                  <a:srgbClr val="1A1A2E"/>
                </a:solidFill>
                <a:latin typeface="Calibri"/>
              </a:rPr>
              <a:t>Enterprise buyers now require: audit logs, explainability reports, data lineage, bias testing</a:t>
            </a:r>
          </a:p>
          <a:p>
            <a:pPr>
              <a:spcBef>
                <a:spcPts val="200"/>
              </a:spcBef>
              <a:spcAft>
                <a:spcPts val="100"/>
              </a:spcAft>
            </a:pPr>
            <a:r>
              <a:rPr sz="1200">
                <a:solidFill>
                  <a:srgbClr val="0EA5E9"/>
                </a:solidFill>
                <a:latin typeface="Calibri"/>
              </a:rPr>
              <a:t>• </a:t>
            </a:r>
            <a:r>
              <a:rPr sz="1200" b="0">
                <a:solidFill>
                  <a:srgbClr val="1A1A2E"/>
                </a:solidFill>
                <a:latin typeface="Calibri"/>
              </a:rPr>
              <a:t>New job titles appearing: Chief AI Ethics Officer, AI Risk Manager, Model Governance Lead</a:t>
            </a:r>
          </a:p>
          <a:p>
            <a:pPr>
              <a:spcBef>
                <a:spcPts val="200"/>
              </a:spcBef>
              <a:spcAft>
                <a:spcPts val="100"/>
              </a:spcAft>
            </a:pPr>
            <a:r>
              <a:rPr sz="1100" b="0">
                <a:solidFill>
                  <a:srgbClr val="2D3748"/>
                </a:solidFill>
                <a:latin typeface="Calibri"/>
              </a:rPr>
              <a:t>Trend 6: The human role shifts from executor to director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Career Opportunities in the AI Era</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Where Business Analytics Students Fit in 2026</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1325880"/>
            <a:ext cx="22860" cy="534924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30_chart.png"/>
          <p:cNvPicPr>
            <a:picLocks noChangeAspect="1"/>
          </p:cNvPicPr>
          <p:nvPr/>
        </p:nvPicPr>
        <p:blipFill>
          <a:blip r:embed="rId2"/>
          <a:stretch>
            <a:fillRect/>
          </a:stretch>
        </p:blipFill>
        <p:spPr>
          <a:xfrm>
            <a:off x="6995160" y="1417320"/>
            <a:ext cx="4709160" cy="5166360"/>
          </a:xfrm>
          <a:prstGeom prst="rect">
            <a:avLst/>
          </a:prstGeom>
        </p:spPr>
      </p:pic>
      <p:sp>
        <p:nvSpPr>
          <p:cNvPr id="9" name="TextBox 8"/>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30</a:t>
            </a:r>
          </a:p>
        </p:txBody>
      </p:sp>
      <p:sp>
        <p:nvSpPr>
          <p:cNvPr id="10" name="TextBox 9"/>
          <p:cNvSpPr txBox="1"/>
          <p:nvPr/>
        </p:nvSpPr>
        <p:spPr>
          <a:xfrm>
            <a:off x="457200" y="1325880"/>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Roles that barely existed in 2022 — and are now in high demand:</a:t>
            </a:r>
          </a:p>
        </p:txBody>
      </p:sp>
      <p:graphicFrame>
        <p:nvGraphicFramePr>
          <p:cNvPr id="11" name="Table 10"/>
          <p:cNvGraphicFramePr>
            <a:graphicFrameLocks noGrp="1"/>
          </p:cNvGraphicFramePr>
          <p:nvPr/>
        </p:nvGraphicFramePr>
        <p:xfrm>
          <a:off x="457200" y="1600200"/>
          <a:ext cx="6492240" cy="2779776"/>
        </p:xfrm>
        <a:graphic>
          <a:graphicData uri="http://schemas.openxmlformats.org/drawingml/2006/table">
            <a:tbl>
              <a:tblPr firstRow="1" bandRow="1">
                <a:tableStyleId>{5C22544A-7EE6-4342-B048-85BDC9FD1C3A}</a:tableStyleId>
              </a:tblPr>
              <a:tblGrid>
                <a:gridCol w="1623060"/>
                <a:gridCol w="1623060"/>
                <a:gridCol w="1623060"/>
                <a:gridCol w="1623060"/>
              </a:tblGrid>
              <a:tr h="347472">
                <a:tc>
                  <a:txBody>
                    <a:bodyPr/>
                    <a:lstStyle/>
                    <a:p>
                      <a:pPr algn="l"/>
                      <a:r>
                        <a:rPr sz="1100" b="1">
                          <a:solidFill>
                            <a:srgbClr val="FFFFFF"/>
                          </a:solidFill>
                          <a:latin typeface="Calibri"/>
                        </a:rPr>
                        <a:t>Role</a:t>
                      </a:r>
                    </a:p>
                  </a:txBody>
                  <a:tcPr>
                    <a:solidFill>
                      <a:srgbClr val="16213E"/>
                    </a:solidFill>
                  </a:tcPr>
                </a:tc>
                <a:tc>
                  <a:txBody>
                    <a:bodyPr/>
                    <a:lstStyle/>
                    <a:p>
                      <a:pPr algn="l"/>
                      <a:r>
                        <a:rPr sz="1100" b="1">
                          <a:solidFill>
                            <a:srgbClr val="FFFFFF"/>
                          </a:solidFill>
                          <a:latin typeface="Calibri"/>
                        </a:rPr>
                        <a:t>What They Do Day-to-Day</a:t>
                      </a:r>
                    </a:p>
                  </a:txBody>
                  <a:tcPr>
                    <a:solidFill>
                      <a:srgbClr val="16213E"/>
                    </a:solidFill>
                  </a:tcPr>
                </a:tc>
                <a:tc>
                  <a:txBody>
                    <a:bodyPr/>
                    <a:lstStyle/>
                    <a:p>
                      <a:pPr algn="l"/>
                      <a:r>
                        <a:rPr sz="1100" b="1">
                          <a:solidFill>
                            <a:srgbClr val="FFFFFF"/>
                          </a:solidFill>
                          <a:latin typeface="Calibri"/>
                        </a:rPr>
                        <a:t>Salary Range (US)</a:t>
                      </a:r>
                    </a:p>
                  </a:txBody>
                  <a:tcPr>
                    <a:solidFill>
                      <a:srgbClr val="16213E"/>
                    </a:solidFill>
                  </a:tcPr>
                </a:tc>
                <a:tc>
                  <a:txBody>
                    <a:bodyPr/>
                    <a:lstStyle/>
                    <a:p>
                      <a:pPr algn="l"/>
                      <a:r>
                        <a:rPr sz="1100" b="1">
                          <a:solidFill>
                            <a:srgbClr val="FFFFFF"/>
                          </a:solidFill>
                          <a:latin typeface="Calibri"/>
                        </a:rPr>
                        <a:t>Key Skill Stack</a:t>
                      </a:r>
                    </a:p>
                  </a:txBody>
                  <a:tcPr>
                    <a:solidFill>
                      <a:srgbClr val="16213E"/>
                    </a:solidFill>
                  </a:tcPr>
                </a:tc>
              </a:tr>
              <a:tr h="347472">
                <a:tc>
                  <a:txBody>
                    <a:bodyPr/>
                    <a:lstStyle/>
                    <a:p>
                      <a:r>
                        <a:rPr sz="1000">
                          <a:solidFill>
                            <a:srgbClr val="1A1A2E"/>
                          </a:solidFill>
                          <a:latin typeface="Calibri"/>
                        </a:rPr>
                        <a:t>AI Product Manager</a:t>
                      </a:r>
                    </a:p>
                  </a:txBody>
                  <a:tcPr>
                    <a:solidFill>
                      <a:srgbClr val="FFFFFF"/>
                    </a:solidFill>
                  </a:tcPr>
                </a:tc>
                <a:tc>
                  <a:txBody>
                    <a:bodyPr/>
                    <a:lstStyle/>
                    <a:p>
                      <a:r>
                        <a:rPr sz="1000">
                          <a:solidFill>
                            <a:srgbClr val="1A1A2E"/>
                          </a:solidFill>
                          <a:latin typeface="Calibri"/>
                        </a:rPr>
                        <a:t>Define AI features, manage LLM-based products, write evals</a:t>
                      </a:r>
                    </a:p>
                  </a:txBody>
                  <a:tcPr>
                    <a:solidFill>
                      <a:srgbClr val="FFFFFF"/>
                    </a:solidFill>
                  </a:tcPr>
                </a:tc>
                <a:tc>
                  <a:txBody>
                    <a:bodyPr/>
                    <a:lstStyle/>
                    <a:p>
                      <a:r>
                        <a:rPr sz="1000">
                          <a:solidFill>
                            <a:srgbClr val="1A1A2E"/>
                          </a:solidFill>
                          <a:latin typeface="Calibri"/>
                        </a:rPr>
                        <a:t>$140–$210K</a:t>
                      </a:r>
                    </a:p>
                  </a:txBody>
                  <a:tcPr>
                    <a:solidFill>
                      <a:srgbClr val="FFFFFF"/>
                    </a:solidFill>
                  </a:tcPr>
                </a:tc>
                <a:tc>
                  <a:txBody>
                    <a:bodyPr/>
                    <a:lstStyle/>
                    <a:p>
                      <a:r>
                        <a:rPr sz="1000">
                          <a:solidFill>
                            <a:srgbClr val="1A1A2E"/>
                          </a:solidFill>
                          <a:latin typeface="Calibri"/>
                        </a:rPr>
                        <a:t>Product instinct + LLM behavior understanding</a:t>
                      </a:r>
                    </a:p>
                  </a:txBody>
                  <a:tcPr>
                    <a:solidFill>
                      <a:srgbClr val="FFFFFF"/>
                    </a:solidFill>
                  </a:tcPr>
                </a:tc>
              </a:tr>
              <a:tr h="347472">
                <a:tc>
                  <a:txBody>
                    <a:bodyPr/>
                    <a:lstStyle/>
                    <a:p>
                      <a:r>
                        <a:rPr sz="1000">
                          <a:solidFill>
                            <a:srgbClr val="1A1A2E"/>
                          </a:solidFill>
                          <a:latin typeface="Calibri"/>
                        </a:rPr>
                        <a:t>AI Automation Engineer</a:t>
                      </a:r>
                    </a:p>
                  </a:txBody>
                  <a:tcPr>
                    <a:solidFill>
                      <a:srgbClr val="F8F9FF"/>
                    </a:solidFill>
                  </a:tcPr>
                </a:tc>
                <a:tc>
                  <a:txBody>
                    <a:bodyPr/>
                    <a:lstStyle/>
                    <a:p>
                      <a:r>
                        <a:rPr sz="1000">
                          <a:solidFill>
                            <a:srgbClr val="1A1A2E"/>
                          </a:solidFill>
                          <a:latin typeface="Calibri"/>
                        </a:rPr>
                        <a:t>Build agent workflows, connect LLMs to business systems</a:t>
                      </a:r>
                    </a:p>
                  </a:txBody>
                  <a:tcPr>
                    <a:solidFill>
                      <a:srgbClr val="F8F9FF"/>
                    </a:solidFill>
                  </a:tcPr>
                </a:tc>
                <a:tc>
                  <a:txBody>
                    <a:bodyPr/>
                    <a:lstStyle/>
                    <a:p>
                      <a:r>
                        <a:rPr sz="1000">
                          <a:solidFill>
                            <a:srgbClr val="1A1A2E"/>
                          </a:solidFill>
                          <a:latin typeface="Calibri"/>
                        </a:rPr>
                        <a:t>$100–$165K</a:t>
                      </a:r>
                    </a:p>
                  </a:txBody>
                  <a:tcPr>
                    <a:solidFill>
                      <a:srgbClr val="F8F9FF"/>
                    </a:solidFill>
                  </a:tcPr>
                </a:tc>
                <a:tc>
                  <a:txBody>
                    <a:bodyPr/>
                    <a:lstStyle/>
                    <a:p>
                      <a:r>
                        <a:rPr sz="1000">
                          <a:solidFill>
                            <a:srgbClr val="1A1A2E"/>
                          </a:solidFill>
                          <a:latin typeface="Calibri"/>
                        </a:rPr>
                        <a:t>Python, LangChain/n8n, REST APIs, cloud</a:t>
                      </a:r>
                    </a:p>
                  </a:txBody>
                  <a:tcPr>
                    <a:solidFill>
                      <a:srgbClr val="F8F9FF"/>
                    </a:solidFill>
                  </a:tcPr>
                </a:tc>
              </a:tr>
              <a:tr h="347472">
                <a:tc>
                  <a:txBody>
                    <a:bodyPr/>
                    <a:lstStyle/>
                    <a:p>
                      <a:r>
                        <a:rPr sz="1000">
                          <a:solidFill>
                            <a:srgbClr val="1A1A2E"/>
                          </a:solidFill>
                          <a:latin typeface="Calibri"/>
                        </a:rPr>
                        <a:t>Prompt Engineer / LLM Engineer</a:t>
                      </a:r>
                    </a:p>
                  </a:txBody>
                  <a:tcPr>
                    <a:solidFill>
                      <a:srgbClr val="FFFFFF"/>
                    </a:solidFill>
                  </a:tcPr>
                </a:tc>
                <a:tc>
                  <a:txBody>
                    <a:bodyPr/>
                    <a:lstStyle/>
                    <a:p>
                      <a:r>
                        <a:rPr sz="1000">
                          <a:solidFill>
                            <a:srgbClr val="1A1A2E"/>
                          </a:solidFill>
                          <a:latin typeface="Calibri"/>
                        </a:rPr>
                        <a:t>Design prompts, build evals, optimize model behavior</a:t>
                      </a:r>
                    </a:p>
                  </a:txBody>
                  <a:tcPr>
                    <a:solidFill>
                      <a:srgbClr val="FFFFFF"/>
                    </a:solidFill>
                  </a:tcPr>
                </a:tc>
                <a:tc>
                  <a:txBody>
                    <a:bodyPr/>
                    <a:lstStyle/>
                    <a:p>
                      <a:r>
                        <a:rPr sz="1000">
                          <a:solidFill>
                            <a:srgbClr val="1A1A2E"/>
                          </a:solidFill>
                          <a:latin typeface="Calibri"/>
                        </a:rPr>
                        <a:t>$90–$155K</a:t>
                      </a:r>
                    </a:p>
                  </a:txBody>
                  <a:tcPr>
                    <a:solidFill>
                      <a:srgbClr val="FFFFFF"/>
                    </a:solidFill>
                  </a:tcPr>
                </a:tc>
                <a:tc>
                  <a:txBody>
                    <a:bodyPr/>
                    <a:lstStyle/>
                    <a:p>
                      <a:r>
                        <a:rPr sz="1000">
                          <a:solidFill>
                            <a:srgbClr val="1A1A2E"/>
                          </a:solidFill>
                          <a:latin typeface="Calibri"/>
                        </a:rPr>
                        <a:t>LLM internals, eval frameworks, domain expertise</a:t>
                      </a:r>
                    </a:p>
                  </a:txBody>
                  <a:tcPr>
                    <a:solidFill>
                      <a:srgbClr val="FFFFFF"/>
                    </a:solidFill>
                  </a:tcPr>
                </a:tc>
              </a:tr>
              <a:tr h="347472">
                <a:tc>
                  <a:txBody>
                    <a:bodyPr/>
                    <a:lstStyle/>
                    <a:p>
                      <a:r>
                        <a:rPr sz="1000">
                          <a:solidFill>
                            <a:srgbClr val="1A1A2E"/>
                          </a:solidFill>
                          <a:latin typeface="Calibri"/>
                        </a:rPr>
                        <a:t>AI Data Curator</a:t>
                      </a:r>
                    </a:p>
                  </a:txBody>
                  <a:tcPr>
                    <a:solidFill>
                      <a:srgbClr val="F8F9FF"/>
                    </a:solidFill>
                  </a:tcPr>
                </a:tc>
                <a:tc>
                  <a:txBody>
                    <a:bodyPr/>
                    <a:lstStyle/>
                    <a:p>
                      <a:r>
                        <a:rPr sz="1000">
                          <a:solidFill>
                            <a:srgbClr val="1A1A2E"/>
                          </a:solidFill>
                          <a:latin typeface="Calibri"/>
                        </a:rPr>
                        <a:t>Build training and evaluation datasets for fine-tuning</a:t>
                      </a:r>
                    </a:p>
                  </a:txBody>
                  <a:tcPr>
                    <a:solidFill>
                      <a:srgbClr val="F8F9FF"/>
                    </a:solidFill>
                  </a:tcPr>
                </a:tc>
                <a:tc>
                  <a:txBody>
                    <a:bodyPr/>
                    <a:lstStyle/>
                    <a:p>
                      <a:r>
                        <a:rPr sz="1000">
                          <a:solidFill>
                            <a:srgbClr val="1A1A2E"/>
                          </a:solidFill>
                          <a:latin typeface="Calibri"/>
                        </a:rPr>
                        <a:t>$80–$135K</a:t>
                      </a:r>
                    </a:p>
                  </a:txBody>
                  <a:tcPr>
                    <a:solidFill>
                      <a:srgbClr val="F8F9FF"/>
                    </a:solidFill>
                  </a:tcPr>
                </a:tc>
                <a:tc>
                  <a:txBody>
                    <a:bodyPr/>
                    <a:lstStyle/>
                    <a:p>
                      <a:r>
                        <a:rPr sz="1000">
                          <a:solidFill>
                            <a:srgbClr val="1A1A2E"/>
                          </a:solidFill>
                          <a:latin typeface="Calibri"/>
                        </a:rPr>
                        <a:t>Domain expertise + annotation tooling + quality metrics</a:t>
                      </a:r>
                    </a:p>
                  </a:txBody>
                  <a:tcPr>
                    <a:solidFill>
                      <a:srgbClr val="F8F9FF"/>
                    </a:solidFill>
                  </a:tcPr>
                </a:tc>
              </a:tr>
              <a:tr h="347472">
                <a:tc>
                  <a:txBody>
                    <a:bodyPr/>
                    <a:lstStyle/>
                    <a:p>
                      <a:r>
                        <a:rPr sz="1000">
                          <a:solidFill>
                            <a:srgbClr val="1A1A2E"/>
                          </a:solidFill>
                          <a:latin typeface="Calibri"/>
                        </a:rPr>
                        <a:t>ML Ops / AI Ops Engineer</a:t>
                      </a:r>
                    </a:p>
                  </a:txBody>
                  <a:tcPr>
                    <a:solidFill>
                      <a:srgbClr val="FFFFFF"/>
                    </a:solidFill>
                  </a:tcPr>
                </a:tc>
                <a:tc>
                  <a:txBody>
                    <a:bodyPr/>
                    <a:lstStyle/>
                    <a:p>
                      <a:r>
                        <a:rPr sz="1000">
                          <a:solidFill>
                            <a:srgbClr val="1A1A2E"/>
                          </a:solidFill>
                          <a:latin typeface="Calibri"/>
                        </a:rPr>
                        <a:t>Deploy, monitor, and maintain production AI systems</a:t>
                      </a:r>
                    </a:p>
                  </a:txBody>
                  <a:tcPr>
                    <a:solidFill>
                      <a:srgbClr val="FFFFFF"/>
                    </a:solidFill>
                  </a:tcPr>
                </a:tc>
                <a:tc>
                  <a:txBody>
                    <a:bodyPr/>
                    <a:lstStyle/>
                    <a:p>
                      <a:r>
                        <a:rPr sz="1000">
                          <a:solidFill>
                            <a:srgbClr val="1A1A2E"/>
                          </a:solidFill>
                          <a:latin typeface="Calibri"/>
                        </a:rPr>
                        <a:t>$130–$185K</a:t>
                      </a:r>
                    </a:p>
                  </a:txBody>
                  <a:tcPr>
                    <a:solidFill>
                      <a:srgbClr val="FFFFFF"/>
                    </a:solidFill>
                  </a:tcPr>
                </a:tc>
                <a:tc>
                  <a:txBody>
                    <a:bodyPr/>
                    <a:lstStyle/>
                    <a:p>
                      <a:r>
                        <a:rPr sz="1000">
                          <a:solidFill>
                            <a:srgbClr val="1A1A2E"/>
                          </a:solidFill>
                          <a:latin typeface="Calibri"/>
                        </a:rPr>
                        <a:t>Cloud, MLflow, monitoring, cost optimization</a:t>
                      </a:r>
                    </a:p>
                  </a:txBody>
                  <a:tcPr>
                    <a:solidFill>
                      <a:srgbClr val="FFFFFF"/>
                    </a:solidFill>
                  </a:tcPr>
                </a:tc>
              </a:tr>
              <a:tr h="347472">
                <a:tc>
                  <a:txBody>
                    <a:bodyPr/>
                    <a:lstStyle/>
                    <a:p>
                      <a:r>
                        <a:rPr sz="1000">
                          <a:solidFill>
                            <a:srgbClr val="1A1A2E"/>
                          </a:solidFill>
                          <a:latin typeface="Calibri"/>
                        </a:rPr>
                        <a:t>AI Governance Analyst</a:t>
                      </a:r>
                    </a:p>
                  </a:txBody>
                  <a:tcPr>
                    <a:solidFill>
                      <a:srgbClr val="F8F9FF"/>
                    </a:solidFill>
                  </a:tcPr>
                </a:tc>
                <a:tc>
                  <a:txBody>
                    <a:bodyPr/>
                    <a:lstStyle/>
                    <a:p>
                      <a:r>
                        <a:rPr sz="1000">
                          <a:solidFill>
                            <a:srgbClr val="1A1A2E"/>
                          </a:solidFill>
                          <a:latin typeface="Calibri"/>
                        </a:rPr>
                        <a:t>Ensure AI compliance, conduct risk assessments</a:t>
                      </a:r>
                    </a:p>
                  </a:txBody>
                  <a:tcPr>
                    <a:solidFill>
                      <a:srgbClr val="F8F9FF"/>
                    </a:solidFill>
                  </a:tcPr>
                </a:tc>
                <a:tc>
                  <a:txBody>
                    <a:bodyPr/>
                    <a:lstStyle/>
                    <a:p>
                      <a:r>
                        <a:rPr sz="1000">
                          <a:solidFill>
                            <a:srgbClr val="1A1A2E"/>
                          </a:solidFill>
                          <a:latin typeface="Calibri"/>
                        </a:rPr>
                        <a:t>$90–$145K</a:t>
                      </a:r>
                    </a:p>
                  </a:txBody>
                  <a:tcPr>
                    <a:solidFill>
                      <a:srgbClr val="F8F9FF"/>
                    </a:solidFill>
                  </a:tcPr>
                </a:tc>
                <a:tc>
                  <a:txBody>
                    <a:bodyPr/>
                    <a:lstStyle/>
                    <a:p>
                      <a:r>
                        <a:rPr sz="1000">
                          <a:solidFill>
                            <a:srgbClr val="1A1A2E"/>
                          </a:solidFill>
                          <a:latin typeface="Calibri"/>
                        </a:rPr>
                        <a:t>Policy + risk + AI literacy</a:t>
                      </a:r>
                    </a:p>
                  </a:txBody>
                  <a:tcPr>
                    <a:solidFill>
                      <a:srgbClr val="F8F9FF"/>
                    </a:solidFill>
                  </a:tcPr>
                </a:tc>
              </a:tr>
              <a:tr h="347472">
                <a:tc>
                  <a:txBody>
                    <a:bodyPr/>
                    <a:lstStyle/>
                    <a:p>
                      <a:r>
                        <a:rPr sz="1000">
                          <a:solidFill>
                            <a:srgbClr val="1A1A2E"/>
                          </a:solidFill>
                          <a:latin typeface="Calibri"/>
                        </a:rPr>
                        <a:t>Business AI Analyst</a:t>
                      </a:r>
                    </a:p>
                  </a:txBody>
                  <a:tcPr>
                    <a:solidFill>
                      <a:srgbClr val="FFFFFF"/>
                    </a:solidFill>
                  </a:tcPr>
                </a:tc>
                <a:tc>
                  <a:txBody>
                    <a:bodyPr/>
                    <a:lstStyle/>
                    <a:p>
                      <a:r>
                        <a:rPr sz="1000">
                          <a:solidFill>
                            <a:srgbClr val="1A1A2E"/>
                          </a:solidFill>
                          <a:latin typeface="Calibri"/>
                        </a:rPr>
                        <a:t>Find automation opportunities, measure ROI, build business cases</a:t>
                      </a:r>
                    </a:p>
                  </a:txBody>
                  <a:tcPr>
                    <a:solidFill>
                      <a:srgbClr val="FFFFFF"/>
                    </a:solidFill>
                  </a:tcPr>
                </a:tc>
                <a:tc>
                  <a:txBody>
                    <a:bodyPr/>
                    <a:lstStyle/>
                    <a:p>
                      <a:r>
                        <a:rPr sz="1000">
                          <a:solidFill>
                            <a:srgbClr val="1A1A2E"/>
                          </a:solidFill>
                          <a:latin typeface="Calibri"/>
                        </a:rPr>
                        <a:t>$80–$135K</a:t>
                      </a:r>
                    </a:p>
                  </a:txBody>
                  <a:tcPr>
                    <a:solidFill>
                      <a:srgbClr val="FFFFFF"/>
                    </a:solidFill>
                  </a:tcPr>
                </a:tc>
                <a:tc>
                  <a:txBody>
                    <a:bodyPr/>
                    <a:lstStyle/>
                    <a:p>
                      <a:r>
                        <a:rPr sz="1000">
                          <a:solidFill>
                            <a:srgbClr val="1A1A2E"/>
                          </a:solidFill>
                          <a:latin typeface="Calibri"/>
                        </a:rPr>
                        <a:t>Analytics + business acumen + AI tools fluency</a:t>
                      </a:r>
                    </a:p>
                  </a:txBody>
                  <a:tcPr>
                    <a:solidFill>
                      <a:srgbClr val="FFFFFF"/>
                    </a:solidFill>
                  </a:tcPr>
                </a:tc>
              </a:tr>
            </a:tbl>
          </a:graphicData>
        </a:graphic>
      </p:graphicFrame>
      <p:sp>
        <p:nvSpPr>
          <p:cNvPr id="12" name="TextBox 11"/>
          <p:cNvSpPr txBox="1"/>
          <p:nvPr/>
        </p:nvSpPr>
        <p:spPr>
          <a:xfrm>
            <a:off x="457200" y="4489704"/>
            <a:ext cx="6492240" cy="5349240"/>
          </a:xfrm>
          <a:prstGeom prst="rect">
            <a:avLst/>
          </a:prstGeom>
          <a:noFill/>
        </p:spPr>
        <p:txBody>
          <a:bodyPr wrap="square">
            <a:spAutoFit/>
          </a:bodyPr>
          <a:lstStyle/>
          <a:p>
            <a:pPr>
              <a:spcBef>
                <a:spcPts val="200"/>
              </a:spcBef>
              <a:spcAft>
                <a:spcPts val="100"/>
              </a:spcAft>
            </a:pPr>
            <a:r>
              <a:rPr sz="1200" b="1">
                <a:solidFill>
                  <a:srgbClr val="0F3460"/>
                </a:solidFill>
                <a:latin typeface="Calibri"/>
              </a:rPr>
              <a:t>The five skills that compound most in this market:</a:t>
            </a:r>
          </a:p>
          <a:p>
            <a:pPr>
              <a:spcBef>
                <a:spcPts val="200"/>
              </a:spcBef>
              <a:spcAft>
                <a:spcPts val="100"/>
              </a:spcAft>
            </a:pPr>
            <a:r>
              <a:rPr sz="1200">
                <a:solidFill>
                  <a:srgbClr val="0EA5E9"/>
                </a:solidFill>
                <a:latin typeface="Calibri"/>
              </a:rPr>
              <a:t>• </a:t>
            </a:r>
            <a:r>
              <a:rPr sz="1200" b="0">
                <a:solidFill>
                  <a:srgbClr val="1A1A2E"/>
                </a:solidFill>
                <a:latin typeface="Calibri"/>
              </a:rPr>
              <a:t>Python + API integration — the LLM API call is the fundamental unit of AI product development; everything builds on this</a:t>
            </a:r>
          </a:p>
          <a:p>
            <a:pPr>
              <a:spcBef>
                <a:spcPts val="200"/>
              </a:spcBef>
              <a:spcAft>
                <a:spcPts val="100"/>
              </a:spcAft>
            </a:pPr>
            <a:r>
              <a:rPr sz="1200">
                <a:solidFill>
                  <a:srgbClr val="0EA5E9"/>
                </a:solidFill>
                <a:latin typeface="Calibri"/>
              </a:rPr>
              <a:t>• </a:t>
            </a:r>
            <a:r>
              <a:rPr sz="1200" b="0">
                <a:solidFill>
                  <a:srgbClr val="1A1A2E"/>
                </a:solidFill>
                <a:latin typeface="Calibri"/>
              </a:rPr>
              <a:t>RAG and vector databases — the backbone of every enterprise AI deployment; LlamaIndex, LangChain, ChromaDB, Pinecone</a:t>
            </a:r>
          </a:p>
          <a:p>
            <a:pPr>
              <a:spcBef>
                <a:spcPts val="200"/>
              </a:spcBef>
              <a:spcAft>
                <a:spcPts val="100"/>
              </a:spcAft>
            </a:pPr>
            <a:r>
              <a:rPr sz="1200">
                <a:solidFill>
                  <a:srgbClr val="0EA5E9"/>
                </a:solidFill>
                <a:latin typeface="Calibri"/>
              </a:rPr>
              <a:t>• </a:t>
            </a:r>
            <a:r>
              <a:rPr sz="1200" b="0">
                <a:solidFill>
                  <a:srgbClr val="1A1A2E"/>
                </a:solidFill>
                <a:latin typeface="Calibri"/>
              </a:rPr>
              <a:t>Prompt design + evaluation — systematic, measurable approach to getting consistent AI outputs; not art, it's engineering</a:t>
            </a:r>
          </a:p>
          <a:p>
            <a:pPr>
              <a:spcBef>
                <a:spcPts val="200"/>
              </a:spcBef>
              <a:spcAft>
                <a:spcPts val="100"/>
              </a:spcAft>
            </a:pPr>
            <a:r>
              <a:rPr sz="1200">
                <a:solidFill>
                  <a:srgbClr val="0EA5E9"/>
                </a:solidFill>
                <a:latin typeface="Calibri"/>
              </a:rPr>
              <a:t>• </a:t>
            </a:r>
            <a:r>
              <a:rPr sz="1200" b="0">
                <a:solidFill>
                  <a:srgbClr val="1A1A2E"/>
                </a:solidFill>
                <a:latin typeface="Calibri"/>
              </a:rPr>
              <a:t>Agent orchestration — building workflows where AI takes actions, not just answers; Claude SDK, LangGraph, n8n</a:t>
            </a:r>
          </a:p>
          <a:p>
            <a:pPr>
              <a:spcBef>
                <a:spcPts val="200"/>
              </a:spcBef>
              <a:spcAft>
                <a:spcPts val="100"/>
              </a:spcAft>
            </a:pPr>
            <a:r>
              <a:rPr sz="1200">
                <a:solidFill>
                  <a:srgbClr val="0EA5E9"/>
                </a:solidFill>
                <a:latin typeface="Calibri"/>
              </a:rPr>
              <a:t>• </a:t>
            </a:r>
            <a:r>
              <a:rPr sz="1200" b="0">
                <a:solidFill>
                  <a:srgbClr val="1A1A2E"/>
                </a:solidFill>
                <a:latin typeface="Calibri"/>
              </a:rPr>
              <a:t>Domain expertise × AI — knowing your industry deeply means you can direct AI better than a generalist; this is your moat</a:t>
            </a:r>
          </a:p>
          <a:p>
            <a:pPr>
              <a:spcBef>
                <a:spcPts val="200"/>
              </a:spcBef>
              <a:spcAft>
                <a:spcPts val="100"/>
              </a:spcAft>
            </a:pPr>
            <a:r>
              <a:rPr sz="1200" b="1">
                <a:solidFill>
                  <a:srgbClr val="0F3460"/>
                </a:solidFill>
                <a:latin typeface="Calibri"/>
              </a:rPr>
              <a:t>Your portfolio action plan:</a:t>
            </a:r>
          </a:p>
          <a:p>
            <a:pPr>
              <a:spcBef>
                <a:spcPts val="200"/>
              </a:spcBef>
              <a:spcAft>
                <a:spcPts val="100"/>
              </a:spcAft>
            </a:pPr>
            <a:r>
              <a:rPr sz="1200">
                <a:solidFill>
                  <a:srgbClr val="0EA5E9"/>
                </a:solidFill>
                <a:latin typeface="Calibri"/>
              </a:rPr>
              <a:t>• </a:t>
            </a:r>
            <a:r>
              <a:rPr sz="1200" b="0">
                <a:solidFill>
                  <a:srgbClr val="1A1A2E"/>
                </a:solidFill>
                <a:latin typeface="Calibri"/>
              </a:rPr>
              <a:t>Build 2–3 AI projects: one RAG app, one agent, one automation pipeline — put them on GitHub</a:t>
            </a:r>
          </a:p>
          <a:p>
            <a:pPr>
              <a:spcBef>
                <a:spcPts val="200"/>
              </a:spcBef>
              <a:spcAft>
                <a:spcPts val="100"/>
              </a:spcAft>
            </a:pPr>
            <a:r>
              <a:rPr sz="1200">
                <a:solidFill>
                  <a:srgbClr val="0EA5E9"/>
                </a:solidFill>
                <a:latin typeface="Calibri"/>
              </a:rPr>
              <a:t>• </a:t>
            </a:r>
            <a:r>
              <a:rPr sz="1200" b="0">
                <a:solidFill>
                  <a:srgbClr val="1A1A2E"/>
                </a:solidFill>
                <a:latin typeface="Calibri"/>
              </a:rPr>
              <a:t>Write about what you built and what you learned — LinkedIn posts, a blog, anything public</a:t>
            </a:r>
          </a:p>
          <a:p>
            <a:pPr>
              <a:spcBef>
                <a:spcPts val="200"/>
              </a:spcBef>
              <a:spcAft>
                <a:spcPts val="100"/>
              </a:spcAft>
            </a:pPr>
            <a:r>
              <a:rPr sz="1200">
                <a:solidFill>
                  <a:srgbClr val="0EA5E9"/>
                </a:solidFill>
                <a:latin typeface="Calibri"/>
              </a:rPr>
              <a:t>• </a:t>
            </a:r>
            <a:r>
              <a:rPr sz="1200" b="0">
                <a:solidFill>
                  <a:srgbClr val="1A1A2E"/>
                </a:solidFill>
                <a:latin typeface="Calibri"/>
              </a:rPr>
              <a:t>Get certified: Anthropic, OpenAI, Google Cloud AI, AWS Machine Learning — all have free or cheap certifications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68735" cy="685800"/>
          </a:xfrm>
          <a:prstGeom prst="rect">
            <a:avLst/>
          </a:prstGeom>
          <a:noFill/>
        </p:spPr>
        <p:txBody>
          <a:bodyPr wrap="square">
            <a:spAutoFit/>
          </a:bodyPr>
          <a:lstStyle/>
          <a:p>
            <a:r>
              <a:rPr sz="2800" b="1">
                <a:solidFill>
                  <a:srgbClr val="FFFFFF"/>
                </a:solidFill>
                <a:latin typeface="Calibri"/>
              </a:rPr>
              <a:t>Class Wrap-Up — Your AI Landscape Map</a:t>
            </a:r>
          </a:p>
        </p:txBody>
      </p:sp>
      <p:sp>
        <p:nvSpPr>
          <p:cNvPr id="5" name="TextBox 4"/>
          <p:cNvSpPr txBox="1"/>
          <p:nvPr/>
        </p:nvSpPr>
        <p:spPr>
          <a:xfrm>
            <a:off x="411480" y="749808"/>
            <a:ext cx="11368735" cy="411480"/>
          </a:xfrm>
          <a:prstGeom prst="rect">
            <a:avLst/>
          </a:prstGeom>
          <a:noFill/>
        </p:spPr>
        <p:txBody>
          <a:bodyPr wrap="none">
            <a:spAutoFit/>
          </a:bodyPr>
          <a:lstStyle/>
          <a:p>
            <a:r>
              <a:rPr sz="1600">
                <a:solidFill>
                  <a:srgbClr val="0EA5E9"/>
                </a:solidFill>
                <a:latin typeface="Calibri"/>
              </a:rPr>
              <a:t>Six Things to Walk Away Knowing</a:t>
            </a:r>
          </a:p>
        </p:txBody>
      </p:sp>
      <p:sp>
        <p:nvSpPr>
          <p:cNvPr id="6" name="Rectangle 5"/>
          <p:cNvSpPr/>
          <p:nvPr/>
        </p:nvSpPr>
        <p:spPr>
          <a:xfrm>
            <a:off x="0" y="123444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51615" y="6537960"/>
            <a:ext cx="502920" cy="256032"/>
          </a:xfrm>
          <a:prstGeom prst="rect">
            <a:avLst/>
          </a:prstGeom>
          <a:noFill/>
        </p:spPr>
        <p:txBody>
          <a:bodyPr wrap="none">
            <a:spAutoFit/>
          </a:bodyPr>
          <a:lstStyle/>
          <a:p>
            <a:pPr algn="ctr"/>
            <a:r>
              <a:rPr sz="1000">
                <a:solidFill>
                  <a:srgbClr val="AAAABB"/>
                </a:solidFill>
                <a:latin typeface="Calibri"/>
              </a:rPr>
              <a:t>31</a:t>
            </a:r>
          </a:p>
        </p:txBody>
      </p:sp>
      <p:sp>
        <p:nvSpPr>
          <p:cNvPr id="8" name="TextBox 7"/>
          <p:cNvSpPr txBox="1"/>
          <p:nvPr/>
        </p:nvSpPr>
        <p:spPr>
          <a:xfrm>
            <a:off x="457200" y="1325880"/>
            <a:ext cx="11277295" cy="5349240"/>
          </a:xfrm>
          <a:prstGeom prst="rect">
            <a:avLst/>
          </a:prstGeom>
          <a:noFill/>
        </p:spPr>
        <p:txBody>
          <a:bodyPr wrap="square">
            <a:spAutoFit/>
          </a:bodyPr>
          <a:lstStyle/>
          <a:p>
            <a:pPr>
              <a:spcBef>
                <a:spcPts val="200"/>
              </a:spcBef>
              <a:spcAft>
                <a:spcPts val="100"/>
              </a:spcAft>
            </a:pPr>
            <a:r>
              <a:rPr sz="1300" b="1">
                <a:solidFill>
                  <a:srgbClr val="0F3460"/>
                </a:solidFill>
                <a:latin typeface="Calibri"/>
              </a:rPr>
              <a:t>What today's class gave you:</a:t>
            </a:r>
          </a:p>
          <a:p>
            <a:pPr>
              <a:spcBef>
                <a:spcPts val="200"/>
              </a:spcBef>
              <a:spcAft>
                <a:spcPts val="100"/>
              </a:spcAft>
            </a:pPr>
            <a:r>
              <a:rPr sz="1200" b="0">
                <a:solidFill>
                  <a:srgbClr val="2D3748"/>
                </a:solidFill>
                <a:latin typeface="Calibri"/>
              </a:rPr>
              <a:t>1. The model landscape is rich, competitive, and fast-moving</a:t>
            </a:r>
          </a:p>
          <a:p>
            <a:pPr>
              <a:spcBef>
                <a:spcPts val="200"/>
              </a:spcBef>
              <a:spcAft>
                <a:spcPts val="100"/>
              </a:spcAft>
            </a:pPr>
            <a:r>
              <a:rPr sz="1200" b="0">
                <a:solidFill>
                  <a:srgbClr val="2D3748"/>
                </a:solidFill>
                <a:latin typeface="Calibri"/>
              </a:rPr>
              <a:t>GPT-4.1, Claude 3.7, Gemini 2.5, and open-source models like Llama 4 and DeepSeek all compete at the frontier. Choose by use case, data requirements, and cost — not by brand loyalty. The best model changes every 3–6 months.</a:t>
            </a:r>
          </a:p>
          <a:p>
            <a:pPr>
              <a:spcBef>
                <a:spcPts val="200"/>
              </a:spcBef>
              <a:spcAft>
                <a:spcPts val="100"/>
              </a:spcAft>
            </a:pPr>
            <a:r>
              <a:rPr sz="1200" b="0">
                <a:solidFill>
                  <a:srgbClr val="2D3748"/>
                </a:solidFill>
                <a:latin typeface="Calibri"/>
              </a:rPr>
              <a:t>2. Agents are the most important architectural shift since ChatGPT</a:t>
            </a:r>
          </a:p>
          <a:p>
            <a:pPr>
              <a:spcBef>
                <a:spcPts val="200"/>
              </a:spcBef>
              <a:spcAft>
                <a:spcPts val="100"/>
              </a:spcAft>
            </a:pPr>
            <a:r>
              <a:rPr sz="1200" b="0">
                <a:solidFill>
                  <a:srgbClr val="2D3748"/>
                </a:solidFill>
                <a:latin typeface="Calibri"/>
              </a:rPr>
              <a:t>Claude SDK, OpenAI Agents SDK, LangGraph, and CrewAI let you build AI that takes actions. MCP standardizes how agents connect to every tool in your stack. This is the category where the most value is being created right now.</a:t>
            </a:r>
          </a:p>
          <a:p>
            <a:pPr>
              <a:spcBef>
                <a:spcPts val="200"/>
              </a:spcBef>
              <a:spcAft>
                <a:spcPts val="100"/>
              </a:spcAft>
            </a:pPr>
            <a:r>
              <a:rPr sz="1200" b="0">
                <a:solidFill>
                  <a:srgbClr val="2D3748"/>
                </a:solidFill>
                <a:latin typeface="Calibri"/>
              </a:rPr>
              <a:t>3. AI coding tools are no longer optional for anyone who writes code</a:t>
            </a:r>
          </a:p>
          <a:p>
            <a:pPr>
              <a:spcBef>
                <a:spcPts val="200"/>
              </a:spcBef>
              <a:spcAft>
                <a:spcPts val="100"/>
              </a:spcAft>
            </a:pPr>
            <a:r>
              <a:rPr sz="1200" b="0">
                <a:solidFill>
                  <a:srgbClr val="2D3748"/>
                </a:solidFill>
                <a:latin typeface="Calibri"/>
              </a:rPr>
              <a:t>Claude Code, Cursor, Windsurf, and GitHub Copilot have moved from productivity boosters to competitive necessities. Writing code without AI assistance is increasingly a disadvantage, not a preference.</a:t>
            </a:r>
          </a:p>
          <a:p>
            <a:pPr>
              <a:spcBef>
                <a:spcPts val="200"/>
              </a:spcBef>
              <a:spcAft>
                <a:spcPts val="100"/>
              </a:spcAft>
            </a:pPr>
            <a:r>
              <a:rPr sz="1200" b="0">
                <a:solidFill>
                  <a:srgbClr val="2D3748"/>
                </a:solidFill>
                <a:latin typeface="Calibri"/>
              </a:rPr>
              <a:t>4. Business automation + AI is transforming every operational role</a:t>
            </a:r>
          </a:p>
          <a:p>
            <a:pPr>
              <a:spcBef>
                <a:spcPts val="200"/>
              </a:spcBef>
              <a:spcAft>
                <a:spcPts val="100"/>
              </a:spcAft>
            </a:pPr>
            <a:r>
              <a:rPr sz="1200" b="0">
                <a:solidFill>
                  <a:srgbClr val="2D3748"/>
                </a:solidFill>
                <a:latin typeface="Calibri"/>
              </a:rPr>
              <a:t>n8n, Make, and Zapier now orchestrate AI judgment — not just rule-based routing. Any workflow involving document reading, content generation, or classification is automatable today.</a:t>
            </a:r>
          </a:p>
          <a:p>
            <a:pPr>
              <a:spcBef>
                <a:spcPts val="200"/>
              </a:spcBef>
              <a:spcAft>
                <a:spcPts val="100"/>
              </a:spcAft>
            </a:pPr>
            <a:r>
              <a:rPr sz="1200" b="0">
                <a:solidFill>
                  <a:srgbClr val="2D3748"/>
                </a:solidFill>
                <a:latin typeface="Calibri"/>
              </a:rPr>
              <a:t>5. RAG and fine-tuning are your tools for customization — not re-training</a:t>
            </a:r>
          </a:p>
          <a:p>
            <a:pPr>
              <a:spcBef>
                <a:spcPts val="200"/>
              </a:spcBef>
              <a:spcAft>
                <a:spcPts val="100"/>
              </a:spcAft>
            </a:pPr>
            <a:r>
              <a:rPr sz="1200" b="0">
                <a:solidFill>
                  <a:srgbClr val="2D3748"/>
                </a:solidFill>
                <a:latin typeface="Calibri"/>
              </a:rPr>
              <a:t>You don't build models from scratch. You adapt existing frontier models to your domain. RAG for knowledge. Fine-tuning for style, format, and task-specific performance.</a:t>
            </a:r>
          </a:p>
          <a:p>
            <a:pPr>
              <a:spcBef>
                <a:spcPts val="200"/>
              </a:spcBef>
              <a:spcAft>
                <a:spcPts val="100"/>
              </a:spcAft>
            </a:pPr>
            <a:r>
              <a:rPr sz="1200" b="0">
                <a:solidFill>
                  <a:srgbClr val="2D3748"/>
                </a:solidFill>
                <a:latin typeface="Calibri"/>
              </a:rPr>
              <a:t>6. The opportunity is specific, not general</a:t>
            </a:r>
          </a:p>
        </p:txBody>
      </p:sp>
      <p:sp>
        <p:nvSpPr>
          <p:cNvPr id="9" name="Rectangle 8"/>
          <p:cNvSpPr/>
          <p:nvPr/>
        </p:nvSpPr>
        <p:spPr>
          <a:xfrm>
            <a:off x="457200" y="4617720"/>
            <a:ext cx="54864" cy="502920"/>
          </a:xfrm>
          <a:prstGeom prst="rect">
            <a:avLst/>
          </a:prstGeom>
          <a:solidFill>
            <a:srgbClr val="53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4617720"/>
            <a:ext cx="11112703" cy="548640"/>
          </a:xfrm>
          <a:prstGeom prst="rect">
            <a:avLst/>
          </a:prstGeom>
          <a:noFill/>
        </p:spPr>
        <p:txBody>
          <a:bodyPr wrap="square">
            <a:spAutoFit/>
          </a:bodyPr>
          <a:lstStyle/>
          <a:p>
            <a:r>
              <a:rPr sz="1300" i="1">
                <a:solidFill>
                  <a:srgbClr val="0F3460"/>
                </a:solidFill>
                <a:latin typeface="Calibri"/>
              </a:rPr>
              <a:t>"The opportunity isn't to use AI for everything. It's to identify the 20% of your work where AI creates 80% of the value — and go deep there."</a:t>
            </a:r>
          </a:p>
        </p:txBody>
      </p:sp>
      <p:sp>
        <p:nvSpPr>
          <p:cNvPr id="11" name="TextBox 10"/>
          <p:cNvSpPr txBox="1"/>
          <p:nvPr/>
        </p:nvSpPr>
        <p:spPr>
          <a:xfrm>
            <a:off x="457200" y="5212080"/>
            <a:ext cx="11277295" cy="5349240"/>
          </a:xfrm>
          <a:prstGeom prst="rect">
            <a:avLst/>
          </a:prstGeom>
          <a:noFill/>
        </p:spPr>
        <p:txBody>
          <a:bodyPr wrap="square">
            <a:spAutoFit/>
          </a:bodyPr>
          <a:lstStyle/>
          <a:p>
            <a:pPr>
              <a:spcBef>
                <a:spcPts val="200"/>
              </a:spcBef>
              <a:spcAft>
                <a:spcPts val="100"/>
              </a:spcAft>
            </a:pPr>
            <a:r>
              <a:rPr sz="1200" b="0">
                <a:solidFill>
                  <a:srgbClr val="2D3748"/>
                </a:solidFill>
                <a:latin typeface="Calibri"/>
              </a:rPr>
              <a:t>Your homework: Choose a real business process. Automate at least one step of it. Present it next class.</a:t>
            </a:r>
          </a:p>
          <a:p>
            <a:pPr>
              <a:spcBef>
                <a:spcPts val="200"/>
              </a:spcBef>
              <a:spcAft>
                <a:spcPts val="100"/>
              </a:spcAft>
            </a:pPr>
            <a:r>
              <a:rPr sz="1200" b="0">
                <a:solidFill>
                  <a:srgbClr val="2D3748"/>
                </a:solidFill>
                <a:latin typeface="Calibri"/>
              </a:rPr>
              <a:t>Next class: AI in Finance and Business Decision-Making — applying these tools to financial modeling, forecasting, and quantitative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