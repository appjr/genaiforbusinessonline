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0" roundtripDataSignature="AMtx7miydFBWTCsugbN1TXKhQOor+AND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FB1817-2680-4837-BF6E-4C7B3C77F8B6}">
  <a:tblStyle styleId="{CEFB1817-2680-4837-BF6E-4C7B3C77F8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160" Type="http://customschemas.google.com/relationships/presentationmetadata" Target="metadata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slide" Target="slides/slide153.xml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— Model Context Protocol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BUAN 6v99 — Agentic AI &amp; Process Automation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Professor Antonio Paes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University of Texas at Dallas — JSOM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1: Introduction &amp; The Integration Problem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Week 7 — MCP: Model Context Protocol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BUAN 6v99 — Agentic AI &amp; Process Automation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48640" y="1490472"/>
            <a:ext cx="11064240" cy="337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Professor Antonio Paes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University of Texas at Dallas — Jindal School of Management (JSOM)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Spring 2026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Today's Topic: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an open standard that lets AI agents connect to any tool, any data source, through one universal interface.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the end of this class you will: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Understand why MCP exists and the problem it solves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Know the three-layer architecture and three primitives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working MCP servers in Python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 your servers to Claude Desktop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everything with the MCP Inspector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Problem — Connecting AI to Everything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48640" y="1051560"/>
            <a:ext cx="11064240" cy="4077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models like Claude, GPT, and Gemini are extraordinarily capable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reasoners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they can analyze, summarize, write code, and solve complex problems. But there is a fundamental limitation: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are isolated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 LLM, by itself, cannot: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your files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 disk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Query your database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live business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your company's APIs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take action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Send an email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or update a CRM record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inventory levels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your warehouse system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bridge this gap, developers have been writing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 integration code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unique glue logic for every combination of AI model and external tool. This approach worked when there were few models and few tools. But the landscape has exploded.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question: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How do we connect *any* AI model to *any* external system without drowning in custom code?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This is not a new problem. The computing industry has solved similar integration challenges before — with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protocols and standards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M×N Integration Nightmare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548640" y="1051560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Consider a realistic enterprise scenario: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Models in your organization:</a:t>
            </a:r>
            <a:endParaRPr/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Claude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Analysis &amp; writing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GPT-4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Code generation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Gemini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Multimodal tasks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Llama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On-premise processing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Custom fine-tuned model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Domain-specific tasks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3" name="Google Shape;123;p5"/>
          <p:cNvSpPr txBox="1"/>
          <p:nvPr/>
        </p:nvSpPr>
        <p:spPr>
          <a:xfrm>
            <a:off x="548640" y="3785616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 and data sources:</a:t>
            </a:r>
            <a:endParaRPr/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548640" y="42153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PostgreSQL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Business database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Salesforce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CRM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Slack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Team communication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Google Drive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Document storage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Project management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GitHub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Code repositories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M×N Integration Nightmare (cont.)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48640" y="1051560"/>
            <a:ext cx="11064240" cy="2475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Without a standard: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5 models × 10 tools =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 custom integrations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integration requires its own: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Authentication logic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serialization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handling strategy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Request/response 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 and updates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is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M×N problem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the number of integrations grows multiplicatively. Every new model or new tool multiplies the work. This does not scale.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M×N Integration Nightmare — Code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WITHOUT MCP: Every model × every tool needs unique integration 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This is what the M×N problem looks like in practice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Integration 1: Claude + PostgreSQL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anthropic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psycopg2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claude_query_postgres(question: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psycopg2.connect("dbname=business")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Custom logic to convert question to SQL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sql = anthropic.Client().messages.create(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model="claude-sonnet-4-20250514",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messages=[{"role": "user", "content": f"Convert to SQL: {question}"}]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).content[0].text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cursor.execute(sql)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str(results)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Integration 2: GPT + Salesforce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requests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gpt_query_salesforce(question: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token = get_salesforce_token()  # OAuth 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headers = {"Authorization": f"Bearer {token}"}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M×N Integration Nightmare — Code (cont.)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Completely different pattern from Integration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soql = openai.chat.completions.create(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model="gpt-4",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messages=[{"role": "user", "content": f"Convert to SOQL: {question}"}]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).choices[0].message.content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response = requests.get(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f"https://myorg.salesforce.com/services/data/v58.0/query?q={soql}",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headers=headers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response.json()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Integration 3: Gemini + Google Drive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google.generativeai as genai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googleapiclient.discovery import build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gemini_search_drive(query: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service = build("drive", "v3", credentials=get_google_creds())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Yet another completely different pattern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results = service.files().list(q=f"fullText contains '{query}'").execute()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files = results.get("files", [])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Each integration has its own data format, auth, error handling...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str(files)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PROBLEM: 3 integrations, 3 completely different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Adding a new model or new tool means writing MORE unique 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5 models × 10 tools = 50 of these functions to write and maintain!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M×N Integration Nightmare — Code (cont.)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48640" y="1051560"/>
            <a:ext cx="11064240" cy="124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pain points are clear: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reuse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each integration is written from scratch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consistency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different patterns, different error handling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 burden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every update to a tool or model requires touching integration 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complexity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50 integrations means 50 test suites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How USB Solved This Before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548640" y="1051560"/>
            <a:ext cx="11064240" cy="90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M×N problem is not unique to AI. The computer industry faced the exact same challenge with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hardware peripherals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the 1990s.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USB (pre-1996):</a:t>
            </a:r>
            <a:endParaRPr/>
          </a:p>
        </p:txBody>
      </p:sp>
      <p:graphicFrame>
        <p:nvGraphicFramePr>
          <p:cNvPr id="165" name="Google Shape;165;p10"/>
          <p:cNvGraphicFramePr/>
          <p:nvPr/>
        </p:nvGraphicFramePr>
        <p:xfrm>
          <a:off x="548640" y="202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Connector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Keyboard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DIN / PS/2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Mouse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Serial / PS/2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Printer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Parallel (LPT)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Modem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Serial (RS-232)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Scanner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SCSI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Joystick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Game 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Camera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Proprietary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6" name="Google Shape;166;p10"/>
          <p:cNvSpPr txBox="1"/>
          <p:nvPr/>
        </p:nvSpPr>
        <p:spPr>
          <a:xfrm>
            <a:off x="548640" y="4475683"/>
            <a:ext cx="11064240" cy="2816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device had its own port, its own cable, its own driver model. Laptops needed 6+ different ports. Adding a new device meant checking compatibility with every computer.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USB (1996+):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standard connector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all devices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protocol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communication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 USB device works with any USB port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Device makers implement USB once; computer makers implement USB once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M×N →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M+N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is USB for AI.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Instead of building a custom connection between every AI model and every tool, both sides implement MCP once. Then any MCP-compatible model can use any MCP-compatible tool — instantly.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Is MCP?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48640" y="1051560"/>
            <a:ext cx="1106424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— Model Context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standard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created by Anthropic (announced November 2024) that provides a universal way for AI models to interact with external tools, data sources, and services.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one sentence: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MCP defines how AI applications discover, connect to, and use external capabilities through a standardized JSON-RPC protocol.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attributes: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standard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not proprietary to any company; anyone can implement 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Language-agnostic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SDKs in Python, TypeScript, Java, Kotlin, C#, Go, Swift, Rust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Transport-agnostic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works locally (stdio) or remotely (HTTP)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servers can send notifications to clients, not just respond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Stateful sessions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maintains context across multiple interactions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Capability negotiation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clients and servers agree on what features they support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three things an MCP server can expose: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Data the AI can read (files, database records, API responses)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Actions the AI can execute (run query, send email, create file)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Reusable interaction templates (analyze data, generate report)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Who's behind it: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Anthropic created MCP, but it's now supported by Microsoft (VS Code, GitHub Copilot), Google (Gemini), OpenAI (ChatGPT), and hundreds of community contributors.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MCP — From M×N to M+N</a:t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548640" y="1051560"/>
            <a:ext cx="11064240" cy="34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math that changes everything: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Without MCP (M×N):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AI models × 10 tools =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 integrations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1 new model →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 more integrations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1 new tool →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more integrations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Growth is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multiplicative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MCP (M+N):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AI models + 10 tools =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15 implementations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1 new model →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more implementation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(the model learns MCP)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1 new tool →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more implementation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(the tool becomes an MCP server)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Growth is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additive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Concrete example:</a:t>
            </a:r>
            <a:endParaRPr/>
          </a:p>
        </p:txBody>
      </p:sp>
      <p:graphicFrame>
        <p:nvGraphicFramePr>
          <p:cNvPr id="183" name="Google Shape;183;p12"/>
          <p:cNvGraphicFramePr/>
          <p:nvPr/>
        </p:nvGraphicFramePr>
        <p:xfrm>
          <a:off x="548640" y="4553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2766050"/>
                <a:gridCol w="2766050"/>
                <a:gridCol w="2766050"/>
                <a:gridCol w="2766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Without MCP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With MCP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Savings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 models × 10 tools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50 integrations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15 implementations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70% less code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 models × 20 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100 integrations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25 implementations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75% less 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10 models × 50 tools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500 integrations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60 implementations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88% less 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4" name="Google Shape;184;p12"/>
          <p:cNvSpPr txBox="1"/>
          <p:nvPr/>
        </p:nvSpPr>
        <p:spPr>
          <a:xfrm>
            <a:off x="548640" y="5833871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architecture shift: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MCP — From M×N to M+N (cont.)</a:t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48640" y="1051560"/>
            <a:ext cx="11064240" cy="223113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BEFORE (Point-to-Point):          AFTER (MCP Standard):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Claude ──── Postgres              Claude 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Claude ──── Slack                 GPT ────┤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Claude ──── Drive                 Gemini ─┤── MCP ──┤── Postgres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GPT ─────── Postgres              Llama ──┤         ├── Slack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GPT ─────── Slack                 Custom ─┘         ├── Drive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GPT ─────── Drive                                   ├── Jira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Gemini ──── Postgres                                └── SAP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Gemini ──── Slack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... (50 connections)              (15 implementations)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548640" y="3392424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side implements the MCP protocol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once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and they all interoperate automatically.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MCP Ecosystem Today</a:t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548640" y="1051560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adoption has grown rapidly since its announcement. Here is the current landscape: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Hosts (AI applications that connect to MCP servers):</a:t>
            </a:r>
            <a:endParaRPr/>
          </a:p>
        </p:txBody>
      </p:sp>
      <p:graphicFrame>
        <p:nvGraphicFramePr>
          <p:cNvPr id="202" name="Google Shape;202;p14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Claude Desktop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Desktop app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Full support (Anthropic)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Claude 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 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Full support (Anthropic)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VS Code / GitHub Copilot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Native MCP support (Microsoft)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Cursor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AI 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Built-in MCP client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Windsurf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AI IDE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Built-in MCP client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VS Code extension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MCP client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Zed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Editor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MCP support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Custom apps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Any app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Build with MCP SDK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4"/>
          <p:cNvSpPr txBox="1"/>
          <p:nvPr/>
        </p:nvSpPr>
        <p:spPr>
          <a:xfrm>
            <a:off x="548640" y="4663440"/>
            <a:ext cx="11064240" cy="310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Servers (community-built):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2,000+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open-source MCP servers on GitHub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Categories: databases, file systems, APIs, web scraping, productivity tools, DevOps, communication, analytics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Popular servers: filesystem, GitHub, Slack, PostgreSQL, Google Drive, Brave Search, Puppeteer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Language SDKs: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Python, TypeScript/JavaScript, Java, Kotlin, C#, Go, Swift, Rust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Industry support: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Anthropic (creator), Microsoft, Google, OpenAI, Block, Apollo, Replit, Sourcegraph, and many more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this matters: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When you build an MCP server today, it works with Claude, Copilot, Cursor, and any future MCP-compatible application — without changing a single line of your server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MCP vs. Alternatives</a:t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does MCP compare to other approaches for connecting AI to external tools?</a:t>
            </a:r>
            <a:endParaRPr/>
          </a:p>
        </p:txBody>
      </p:sp>
      <p:graphicFrame>
        <p:nvGraphicFramePr>
          <p:cNvPr id="212" name="Google Shape;212;p15"/>
          <p:cNvGraphicFramePr/>
          <p:nvPr/>
        </p:nvGraphicFramePr>
        <p:xfrm>
          <a:off x="548640" y="1481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1844050"/>
                <a:gridCol w="1844050"/>
                <a:gridCol w="1844050"/>
                <a:gridCol w="1844050"/>
                <a:gridCol w="1844050"/>
                <a:gridCol w="1844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MCP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Custom REST APIs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LangChain 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OpenAI Function Calling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ChatGPT Plugins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 standard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 (ad-hoc)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Framework-specific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OpenAI-specific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OpenAI-specific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Vendor lock-in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LangChain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Discovery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Built-in (list tools/resources)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Manual docs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Code-level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Schema in API call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Manifest file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Bidirectional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 (notifications)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 (request-only)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Stateful sessions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Depends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Depends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Transport options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stdio + HTTP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HTTP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In-process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HTTP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HTTP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Local-first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 (stdio)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 (needs server)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Schema validation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JSON Schema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OpenAPI/custom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Python types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JSON Schema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OpenAPI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Ecosystem size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2000+ servers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Unlimited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100s of integrations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N/A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Deprecated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Multi-model support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Any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Any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LangChain models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GPT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GPT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5"/>
          <p:cNvSpPr txBox="1"/>
          <p:nvPr/>
        </p:nvSpPr>
        <p:spPr>
          <a:xfrm>
            <a:off x="548640" y="4809744"/>
            <a:ext cx="110642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use MCP: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want your tools to work with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 AI models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(not just one)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need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 tool execution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(no cloud round-trip)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want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bidirectional communication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(server can notify client)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value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standards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over vendor lock-in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You're building tools that should be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reusable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across different AI applications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MCP might not be needed: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Simple one-off script connecting one model to one API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You're already deep in a specific framework ecosystem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MCP Core Design Principles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548640" y="1051560"/>
            <a:ext cx="1106424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was designed around six principles that make it practical for real-world use: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Open &amp; Vendor-Neutral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MIT-licensed specification and SDKs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single company controls the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Anyone can build MCP clients and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Community-driven evolution through GitHub RFCs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Simple Protocol (JSON-RPC 2.0)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Built on a well-understood, battle-tested messaging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Human-readable JSON messages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Easy to debug — you can read the messages flowing between client and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complex binary formats or custom serialization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Transport-Agnostic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stdio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for local tools (fast, no network, runs as subprocess)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Streamable HTTP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for remote/cloud servers (scalable, shareable)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New transports can be added without changing the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Stateful Sessions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 and server maintain a session with shared context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 can track state across multiple tool calls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Enables complex multi-step workflows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Capability Negotiation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 connection, client and server exchange their capabilities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"I support tools and resources" / "I support tools, resources, and prompts"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Graceful degradation — older clients work with newer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Security-First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Servers explicitly declare what they expose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Clients control what the AI model can access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Human-in-the-loop approval for sensitive actions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ambient authority — tools must be explicitly invoked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Three Primitives of MCP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548640" y="1051560"/>
            <a:ext cx="11064240" cy="485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MCP server exposes capabilities through exactly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primitives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Understanding these three concepts is the key to understanding MCP.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548640" y="1610563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1: Resources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548640" y="2049475"/>
            <a:ext cx="11064240" cy="217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Data the AI can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Think of them as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GET endpoints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 provide information to the AI model. They are identified by URIs and return content (text or binary).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file:///reports/q4_sales.csv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 file on disk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db://employees/schema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 database table 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api://weather/current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live data from an API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Resources are like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at a restaurant — things you can look at and read.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548640" y="4298289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2: Tools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548640" y="4737201"/>
            <a:ext cx="11064240" cy="227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Actions the AI can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Think of them as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 endpoints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 let the AI model do things — query databases, send messages, create files, call APIs. They have input schemas that define what parameters they accept.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query_database(sql)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run a SQL query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send_email(to, subject, body)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send an email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create_file(path, content)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write a file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Tools are like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placing an order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asking the kitchen to do something.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Three Primitives of MCP (cont.)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3: Prompts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548640" y="1490472"/>
            <a:ext cx="11064240" cy="2285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Reusable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message templates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Think of them as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saved queries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Prompts are pre-crafted interaction patterns that help the AI model use the server effectively. They can have parameters and return structured message sequences.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analyze_dataset(table_name)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template for data analysis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code_review(file_path)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template for reviewing 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generate_report(department, quarter)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template for business reports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Prompts are like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daily specials board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recommended ways to interact.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MCP in One Picture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MCP architecture has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layers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connected by the protocol:</a:t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548640" y="1481328"/>
            <a:ext cx="11064240" cy="396849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┌─────────────────────────────────────────────────────┐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HOST APPLICATION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(Claude Desktop, Cursor)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┌─────────────┐  ┌─────────────┐  ┌─────────────┐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│  MCP Client  │  │  MCP Client  │  │  MCP Client  │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│     (1:1)    │  │     (1:1)    │  │     (1:1)    │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└──────┬───────┘  └──────┬───────┘  └──────┬───────┘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└─────────┼──────────────────┼──────────────────┼─────────┘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│ JSON-RPC         │ JSON-RPC         │ JSON-RPC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│ (stdio or HTTP)  │ (stdio or HTTP)  │ (stdio or HTTP)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▼                  ▼                  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┌──────────────┐  ┌──────────────┐  ┌──────────────┐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│  MCP Server   │  │  MCP Server   │  │  MCP Server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│  (Files)      │  │  (Database)   │  │  (Slack)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└──────┬───────┘  └──────┬───────┘  └──────┬───────┘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│                  │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▼                  ▼                  ▼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┌──────────────┐  ┌──────────────┐  ┌──────────────┐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│  Local Files  │  │  PostgreSQL  │  │  Slack API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└──────────────┘  └──────────────┘  └──────────────┘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548640" y="5559552"/>
            <a:ext cx="11064240" cy="3065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message flow: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asks: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"What were our Q4 sales figures?"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(Claude Desktop) routes the request to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(Claude)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decides it needs data and asks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a tool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 the Database MCP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Client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inside the host sends a JSON-RPC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tools/call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message to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executes the query against PostgreSQL and returns the result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result flows back through the client to Claude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generates a natural language answer with the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sees: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"Q4 sales were $4.2M, up 12% from Q3..."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 host can connect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 MCP servers simultaneously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Each server is focused on one domain (files, database, Slack), and the AI model can use them all in a single conversation.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Real-World Analogy — The Restaurant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make the architecture concrete, think of MCP like a restaurant:</a:t>
            </a:r>
            <a:endParaRPr/>
          </a:p>
        </p:txBody>
      </p:sp>
      <p:graphicFrame>
        <p:nvGraphicFramePr>
          <p:cNvPr id="261" name="Google Shape;261;p20"/>
          <p:cNvGraphicFramePr/>
          <p:nvPr/>
        </p:nvGraphicFramePr>
        <p:xfrm>
          <a:off x="548640" y="1481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MCP Concept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Restaurant Equivalent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User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Customer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Has a goal (hungry, wants food). Initiates the interaction.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Restaurant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establishment that brings everything together. Manages the dining experience, enforces rules (dress code, hours), and coordinates between customer and kitchen.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Waiter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Takes orders from the customer, communicates with the kitchen. Speaks the "protocol" (menu system). One waiter per kitchen station.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Kitchen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Receives orders, prepares food, sends it back. Has access to ingredients (external systems like farms, suppliers).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Menu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Information you can read. "What do you have?" The kitchen publishes what's available.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Placing an Order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Actions that cause something to happen. "I'll have the pasta." The kitchen executes the order.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Prompts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Daily Specials Board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Recommended interactions. "Try our chef's special — grilled salmon with seasonal vegetables."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JSON-RPC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Order Slip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standard format for communication. Every order follows the same structure.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Transport (stdio)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Dine-in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Kitchen is in the same building. Fast, direct communication.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Transport (HTTP)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Delivery Service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Kitchen is remote. Orders go over the network.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20"/>
          <p:cNvSpPr txBox="1"/>
          <p:nvPr/>
        </p:nvSpPr>
        <p:spPr>
          <a:xfrm>
            <a:off x="548640" y="4809744"/>
            <a:ext cx="11064240" cy="1478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parallel is precise: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restaurant (host) manages the full experience — the customer never walks into the kitchen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restaurant can have multiple kitchen stations (servers) — sushi bar, grill, dessert station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station has its own waiter (client) — 1:1 relationship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stations use the same order slip format (JSON-RPC) — consistency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customer doesn't need to know how the kitchen works —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You Will Build Today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48640" y="1051560"/>
            <a:ext cx="1106424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Here is your roadmap for the rest of this class: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Part 2 — Architecture Deep Dive (next)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three layers in detail (Hosts, Clients, Servers)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JSON-RPC 2.0 message format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Transport options (stdio vs HTTP)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 dive into each primitive with 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Part 3 — Building MCP Servers in Python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MCP SDK (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FastMCP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Your first server: Hello World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with MCP Inspector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Calculator server (multiple tools)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system server (real-world)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Database server (SQLite + MCP)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Connecting to Claude Desktop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Part 4 — Advanced Patterns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Multi-server architectures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 as an MCP server (connecting Week 6)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best practices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Production deployment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future of MCP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Exercises (hands-on)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Weather MCP Server (beginner, 20 min)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Student Database Server (intermediate, 35 min)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Agent + MCP Integration (advanced, 45 min)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you need: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pip install mcp[cli]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 (for MCP Inspector):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Desktop (optional, for bonus exercise)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 Week 7: MCP — Model Context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## Part 2: MCP Architecture Deep Dive (Slides 15–29)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2: MCP Architecture Deep Dive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Three-Layer Architecture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defines three distinct layers, each with a clear responsibility: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48640" y="1481328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┌──────────────────────────────────────────────┐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LAYER 1: HOST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The application the user interacts with.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Examples: Claude Desktop, Cursor, VS Code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Responsibilities: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Provides the user interface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Creates and manages MCP clients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Enforces security policies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Aggregates results from multiple servers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├──────────────────────────────────────────────┤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LAYER 2: CLIENT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A protocol handler inside the host.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One client per connected server.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Responsibilities: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Maintains 1:1 connection with a server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Handles protocol negotiation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Sends requests, receives responses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Manages the session lifecycle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├──────────────────────────────────────────────┤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LAYER 3: SERVER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Your code that exposes capabilities.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A lightweight program (can be one file).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Responsibilities: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Exposes Resources, Tools, Prompts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Connects to external systems               │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Three-Layer Architecture (cont.)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48640" y="1051560"/>
            <a:ext cx="11064240" cy="8412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Handles requests and returns results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• Validates inputs, manages state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└──────────────────────────────────────────────┘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548640" y="2002536"/>
            <a:ext cx="11064240" cy="1473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Critical rule: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There is always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1:1 relationship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between a client and a server. If a host connects to 3 MCP servers, it creates 3 separate MCP client instances — one for each server. The host is the only layer that sees all servers.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three layers?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Separation of concerns. The host handles UI and security. The client handles protocol mechanics. The server handles business logic. This means you can swap any layer without affecting the others.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Layer 1 — Hosts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548640" y="1051560"/>
            <a:ext cx="11064240" cy="871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the application that the user directly interacts with. It is the outermost layer of the MCP architecture.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hosts do:</a:t>
            </a:r>
            <a:endParaRPr/>
          </a:p>
        </p:txBody>
      </p:sp>
      <p:graphicFrame>
        <p:nvGraphicFramePr>
          <p:cNvPr id="303" name="Google Shape;303;p25"/>
          <p:cNvGraphicFramePr/>
          <p:nvPr/>
        </p:nvGraphicFramePr>
        <p:xfrm>
          <a:off x="548640" y="19958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User interface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Provides the chat window, editor, or CLI where the user types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AI model access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Connects to Claude, GPT, or other LLMs for reasoning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lifecycle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Creates MCP clients, starts/stops server connections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Security enforcement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Controls which tools the AI can use, requires user approval for sensitive actions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Result aggregation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Combines outputs from multiple MCP servers into a coherent response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4" name="Google Shape;304;p25"/>
          <p:cNvSpPr txBox="1"/>
          <p:nvPr/>
        </p:nvSpPr>
        <p:spPr>
          <a:xfrm>
            <a:off x="548640" y="3861206"/>
            <a:ext cx="11064240" cy="2697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Examples of MCP hosts: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Desktop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Anthropic's desktop application. The most mature MCP host. Supports multiple simultaneous MCP servers via configuration file.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Anthropic's CLI tool for developers. Uses MCP servers for filesystem, code search, and more.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Cursor / Windsurf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AI-powered IDEs that use MCP to connect to databases, APIs, and documentation.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VS Code + GitHub Copilot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Microsoft's IDE with native MCP support for extension-based tools.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Your own application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Using the MCP SDK, you can build a custom host in Python or TypeScript.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 host is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 boundary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It decides what the AI model is allowed to do. Even if an MCP server exposes a tool called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delete_all_files()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the host can block it or require user confirmation.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Layer 2 — Clients</a:t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548640" y="1051560"/>
            <a:ext cx="11064240" cy="836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lives inside the host and manages the protocol-level communication with a single MCP server.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clients do:</a:t>
            </a:r>
            <a:endParaRPr/>
          </a:p>
        </p:txBody>
      </p:sp>
      <p:graphicFrame>
        <p:nvGraphicFramePr>
          <p:cNvPr id="313" name="Google Shape;313;p26"/>
          <p:cNvGraphicFramePr/>
          <p:nvPr/>
        </p:nvGraphicFramePr>
        <p:xfrm>
          <a:off x="548640" y="19616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Connection management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Establishes and maintains the connection to one server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Protocol negotiation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Exchanges capabilities during the `initialize` handshake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Message routing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Sends JSON-RPC requests and receives responses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Session state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Tracks the session ID, capabilities, and connection health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Error recovery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Handles timeouts, disconnections, and retries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4" name="Google Shape;314;p26"/>
          <p:cNvSpPr txBox="1"/>
          <p:nvPr/>
        </p:nvSpPr>
        <p:spPr>
          <a:xfrm>
            <a:off x="548640" y="3827068"/>
            <a:ext cx="11064240" cy="446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1:1 rule: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Each client connects to exactly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server. If the host needs to talk to 3 servers, it creates 3 clients.</a:t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548640" y="4347056"/>
            <a:ext cx="11064240" cy="1014983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Host (Claude Desktop)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Client A ←→ File System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Client B ←→ Database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 Client C ←→ Slack Server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548640" y="5471767"/>
            <a:ext cx="11064240" cy="242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Session lifecycle: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Client sends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request with its capabilities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Negotiate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 responds with its capabilities (which primitives it supports)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Client sends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initialized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notification; both sides are ready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Operate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Normal request/response flow (list tools, call tools, read resources)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Shutdown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Client or server initiates graceful disconnect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Important for developers: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Most of the time, you will not write client code. The host application (Claude Desktop, Cursor) handles the client layer automatically. As MCP developers, we focus on building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Layer 3 — Servers</a:t>
            </a:r>
            <a:endParaRPr/>
          </a:p>
        </p:txBody>
      </p:sp>
      <p:sp>
        <p:nvSpPr>
          <p:cNvPr id="323" name="Google Shape;323;p2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548640" y="1051560"/>
            <a:ext cx="11064240" cy="873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where you, the developer, spend your time. It is the layer that connects the AI world to the real world.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servers do:</a:t>
            </a:r>
            <a:endParaRPr/>
          </a:p>
        </p:txBody>
      </p:sp>
      <p:graphicFrame>
        <p:nvGraphicFramePr>
          <p:cNvPr id="325" name="Google Shape;325;p27"/>
          <p:cNvGraphicFramePr/>
          <p:nvPr/>
        </p:nvGraphicFramePr>
        <p:xfrm>
          <a:off x="548640" y="19982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Expose capabilities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Declare what resources, tools, and prompts are available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Execute logic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Run database queries, read files, call APIs when a tool is invoked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Return results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Send structured responses back through the protocol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Validate inputs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Check that tool parameters are correct before executing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Manage connections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Connect to external systems (databases, APIs, file systems)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6" name="Google Shape;326;p27"/>
          <p:cNvSpPr txBox="1"/>
          <p:nvPr/>
        </p:nvSpPr>
        <p:spPr>
          <a:xfrm>
            <a:off x="548640" y="3863644"/>
            <a:ext cx="11064240" cy="2102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 design principles: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Single-purpose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One server per domain. A "database server" handles databases. A "Slack server" handles Slack. Don't build monoliths.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Lightweight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 server can be a single Python file. No heavy frameworks needed.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Stateless or stateful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Your choice. Simple tools can be stateless; complex workflows may need session state.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Validate all inputs. Never trust what the AI sends you. Sanitize SQL. Check file paths.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minimal MCP server is 5 lines of Python: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Layer 3 — Servers (cont.)</a:t>
            </a:r>
            <a:endParaRPr/>
          </a:p>
        </p:txBody>
      </p:sp>
      <p:sp>
        <p:nvSpPr>
          <p:cNvPr id="333" name="Google Shape;333;p2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548640" y="1051560"/>
            <a:ext cx="11064240" cy="170992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FastMCP("my-server")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greet(name: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"""Say hello to someone."""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f"Hello, {name}!"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548640" y="2871216"/>
            <a:ext cx="11064240" cy="671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That's it. This is a complete, working MCP server with one tool. The SDK handles all the protocol mechanics — JSON-RPC serialization, capability negotiation, session management — so you can focus on your business logic.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Communication Protocol — JSON-RPC 2.0</a:t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9"/>
          <p:cNvSpPr txBox="1"/>
          <p:nvPr/>
        </p:nvSpPr>
        <p:spPr>
          <a:xfrm>
            <a:off x="548640" y="1051560"/>
            <a:ext cx="11064240" cy="2170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uses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JSON-RPC 2.0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as its wire protocol. This is a lightweight remote procedure call format that uses JSON.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JSON-RPC?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Human-readable (it's just JSON)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Well-established standard (first published 2010)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Simple — three message types cover all use cases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Easy to debug — you can read the messages in a text editor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three message types:</a:t>
            </a:r>
            <a:endParaRPr/>
          </a:p>
        </p:txBody>
      </p:sp>
      <p:graphicFrame>
        <p:nvGraphicFramePr>
          <p:cNvPr id="344" name="Google Shape;344;p29"/>
          <p:cNvGraphicFramePr/>
          <p:nvPr/>
        </p:nvGraphicFramePr>
        <p:xfrm>
          <a:off x="548640" y="32954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2766050"/>
                <a:gridCol w="2766050"/>
                <a:gridCol w="2766050"/>
                <a:gridCol w="2766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Has `id`?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Has `method`?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Request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asks server to do something. Expects a response.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Response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replies to a request. Contains `result` or `error`.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Notification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One-way message. No response expected.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45" name="Google Shape;345;p29"/>
          <p:cNvSpPr txBox="1"/>
          <p:nvPr/>
        </p:nvSpPr>
        <p:spPr>
          <a:xfrm>
            <a:off x="548640" y="4575657"/>
            <a:ext cx="11064240" cy="1641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Message anatomy: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JSON-RPC message has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"jsonrpc": "2.0"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field. Requests include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(the action to perform),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params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(the arguments), and an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(to match the response). Responses include the same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plus either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(success) or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(failure).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MCP-specific methods: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Communication Protocol — JSON-RPC 2.0 (cont.)</a:t>
            </a:r>
            <a:endParaRPr/>
          </a:p>
        </p:txBody>
      </p:sp>
      <p:sp>
        <p:nvSpPr>
          <p:cNvPr id="352" name="Google Shape;352;p3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30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Method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`initialize`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Start session, exchange capabilities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`initialized`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Confirm session is ready (notification)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`tools/list`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Get available tools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`tools/call`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Execute a 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`resources/list`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Get available resources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`resources/read`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Read a resource's content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`prompts/list`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Get available prompts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`prompts/get`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Client → 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Get a prompt's messages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Communication Protocol — Code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---- REQUEST: List available tools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"jsonrpc": "2.0",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"id":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"method": "tools/list",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"params":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---- RESPONSE: Tools list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"jsonrpc": "2.0",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"id":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"result":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"tools":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"name": "query_database",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"description": "Execute a SQL SELECT query against the business database",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"inputSchema":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"type": "object",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"properties":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"sql":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"type": "string",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"description": "The SQL SELECT query to execute"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"required": ["sql"]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Communication Protocol — Code (cont.)</a:t>
            </a:r>
            <a:endParaRPr/>
          </a:p>
        </p:txBody>
      </p:sp>
      <p:sp>
        <p:nvSpPr>
          <p:cNvPr id="368" name="Google Shape;368;p3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---- REQUEST: Call a tool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"jsonrpc": "2.0",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"id": 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"method": "tools/call",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"params":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"name": "query_database",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"arguments":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"sql": "SELECT department, COUNT(*) as headcount FROM employees GROUP BY department"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---- RESPONSE: Tool result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"jsonrpc": "2.0",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"id": 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"result":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"content":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"type": "text",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"text": "department | headcount\n-----------|----------\nEngineering | 45\nMarketing | 23\nSales | 31\nHR | 12"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Communication Protocol — Code (cont.)</a:t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548640" y="1051560"/>
            <a:ext cx="11064240" cy="240487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---- ERROR RESPONSE: When something goes wrong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"jsonrpc": "2.0",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"id": 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"error":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"code": -32602,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"message": "Invalid SQL: only SELECT queries are allowed"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548640" y="3566160"/>
            <a:ext cx="11064240" cy="1278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observations: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request has a unique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response carries the same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so the client can match them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input schemas use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 Schema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same standard used by OpenAI function calling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results return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arrays with typed items (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image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resource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responses follow the JSON-RPC error format with numeric codes and human-readable messages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Transport Layer — stdio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548640" y="1051560"/>
            <a:ext cx="11064240" cy="167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stdio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(standard I/O) transport is the simplest way to connect a client to a server.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host launches the MCP server as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child process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(subprocess)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client sends JSON-RPC messages to the server's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server sends JSON-RPC responses to its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stdout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server uses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stderr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logging (not protocol messages)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548640" y="2800502"/>
            <a:ext cx="11064240" cy="153619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Host Process (Claude Desktop)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spawn process: python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├── stdin  ◄── JSON-RPC requests FROM client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├── stdout ──► JSON-RPC responses TO client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└── stderr ──► Logs (for debugging, not protocol)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548640" y="4446422"/>
            <a:ext cx="11064240" cy="3275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Advantages of stdio: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Zero network setup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no ports, no URLs, no TLS certificates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inter-process communication is faster than HTTP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no network exposure; the server only talks to its parent process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just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print()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stdout and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input()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from stdin (the SDK handles this)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Disadvantages of stdio: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 only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 must run on the same machine as the host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client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only the parent process can connect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sharing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can't share a server between multiple users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Local development, desktop tools, personal automation, sensitive data that shouldn't leave the machine.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Configuration in Claude Desktop: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Transport Layer — stdio (cont.)</a:t>
            </a:r>
            <a:endParaRPr/>
          </a:p>
        </p:txBody>
      </p:sp>
      <p:sp>
        <p:nvSpPr>
          <p:cNvPr id="395" name="Google Shape;395;p3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548640" y="1051560"/>
            <a:ext cx="11064240" cy="170992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"mcpServers":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"my-server":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["server.py"]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Transport Layer — HTTP + SSE</a:t>
            </a: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548640" y="1051560"/>
            <a:ext cx="1106424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Streamable HTTP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transport allows MCP servers to run as web services, accessible over the network.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MCP server runs as 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 a URL (e.g.,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http://localhost:8080/mcp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client sends JSON-RPC requests via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HTTP POST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server responds with JSON-RPC results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streaming (long-running operations), the server uses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Server-Sent Events (SSE)</a:t>
            </a:r>
            <a:endParaRPr/>
          </a:p>
        </p:txBody>
      </p:sp>
      <p:sp>
        <p:nvSpPr>
          <p:cNvPr id="405" name="Google Shape;405;p36"/>
          <p:cNvSpPr/>
          <p:nvPr/>
        </p:nvSpPr>
        <p:spPr>
          <a:xfrm>
            <a:off x="548640" y="2834640"/>
            <a:ext cx="11064240" cy="188366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Client (Claude Desktop)          Server (remote machine)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POST /mcp ──────────────────►│  (send request)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│◄──────────────── 200 OK ───────┤  (receive response)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                      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POST /mcp ──────────────────►│  (streaming request)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│◄──── SSE: data: {...} ─────────┤  (streaming response)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│◄──── SSE: data: {...} ─────────┤  (more data...)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│◄──── SSE: event: done ─────────┤  (stream complete)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548640" y="4828032"/>
            <a:ext cx="11064240" cy="3058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Advantages of HTTP+SSE: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Remote access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 can run on a different machine, in the cloud, anywhere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Shareable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multiple clients can connect to the same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deploy behind load balancers, run multiple server instances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SSE enables real-time updates for long-running operations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Disadvantages of HTTP+SSE: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 dependency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requires network connectivity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Authentication needed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must secure the endpoint (API keys, OAuth, etc.)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complex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TLS, CORS, firewall rules to manage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Higher latency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network round-trip vs local IPC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Cloud deployments, shared team servers, multi-user access, remote data sources, production environments.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12" name="Google Shape;412;p3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Transport Comparison</a:t>
            </a:r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4" name="Google Shape;414;p37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Aspect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stdio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HTTP + SSE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Setup complexity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Minimal — just a command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Moderate — URL, port, auth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Network required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Latency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Very low (IPC)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Higher (network round-trip)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Security 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Process isolation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TLS + authentication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Multi-client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 (1:1 only)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 (many clients)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Deployment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Local machine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Anywhere (cloud, on-prem)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Debugging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Easy (stderr logs)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Standard HTTP tooling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Streaming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 (via stdout)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Yes (via SSE)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Development, desktop apps, personal tools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Production, team tools, cloud services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5" name="Google Shape;415;p37"/>
          <p:cNvSpPr txBox="1"/>
          <p:nvPr/>
        </p:nvSpPr>
        <p:spPr>
          <a:xfrm>
            <a:off x="548640" y="4087368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 guide:</a:t>
            </a:r>
            <a:endParaRPr/>
          </a:p>
        </p:txBody>
      </p:sp>
      <p:sp>
        <p:nvSpPr>
          <p:cNvPr id="416" name="Google Shape;416;p37"/>
          <p:cNvSpPr/>
          <p:nvPr/>
        </p:nvSpPr>
        <p:spPr>
          <a:xfrm>
            <a:off x="548640" y="4517136"/>
            <a:ext cx="11064240" cy="170992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Do you need remote access?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YES → Use HTTP + SSE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├── Single user? → Simple HTTP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         └── Multiple users? → HTTP behind auth + load balancer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 NO → Use stdio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├── Desktop app? → stdio (Claude Desktop, Cursor)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└── CLI tool? → stdio (Claude Code, custom CLI)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Transport Comparison (cont.)</a:t>
            </a:r>
            <a:endParaRPr/>
          </a:p>
        </p:txBody>
      </p:sp>
      <p:sp>
        <p:nvSpPr>
          <p:cNvPr id="423" name="Google Shape;423;p3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548640" y="1051560"/>
            <a:ext cx="11064240" cy="836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this class: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We'll use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stdio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all our examples because it's simpler and works perfectly with Claude Desktop and MCP Inspector. When you're ready for production deployment, switching to HTTP+SSE requires minimal code changes — the MCP SDK handles the transport layer for you.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430" name="Google Shape;430;p3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 — Resources (Deep Dive)</a:t>
            </a:r>
            <a:endParaRPr/>
          </a:p>
        </p:txBody>
      </p:sp>
      <p:sp>
        <p:nvSpPr>
          <p:cNvPr id="431" name="Google Shape;431;p3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 txBox="1"/>
          <p:nvPr/>
        </p:nvSpPr>
        <p:spPr>
          <a:xfrm>
            <a:off x="548640" y="1051560"/>
            <a:ext cx="11064240" cy="263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are how MCP servers expose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the AI model. They represent information the AI can read — files, database records, API responses, configuration, system status.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characteristics: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Read-only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Resources provide data. They don't modify anything.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URI-identified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Every resource has a unique URI: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file:///path/to/file.txt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db://employees/schema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Typed content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Resources return MIME-typed content (text/plain, application/json, image/png)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 be static or dynamic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 file resource is static; a "current time" resource is dynamic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Subscribable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Clients can subscribe to resource changes (optional)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kinds of resources:</a:t>
            </a:r>
            <a:endParaRPr/>
          </a:p>
        </p:txBody>
      </p:sp>
      <p:graphicFrame>
        <p:nvGraphicFramePr>
          <p:cNvPr id="433" name="Google Shape;433;p39"/>
          <p:cNvGraphicFramePr/>
          <p:nvPr/>
        </p:nvGraphicFramePr>
        <p:xfrm>
          <a:off x="548640" y="3756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Kind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Example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Direct resources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Fixed URI, single resource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`config://app/settings` — always returns app settings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 templates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URI pattern with parameters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`db://tables/{table_name}/schema` — returns schema for any table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34" name="Google Shape;434;p39"/>
          <p:cNvSpPr txBox="1"/>
          <p:nvPr/>
        </p:nvSpPr>
        <p:spPr>
          <a:xfrm>
            <a:off x="548640" y="4743907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Common resource patterns:</a:t>
            </a:r>
            <a:endParaRPr/>
          </a:p>
        </p:txBody>
      </p:sp>
      <p:graphicFrame>
        <p:nvGraphicFramePr>
          <p:cNvPr id="435" name="Google Shape;435;p39"/>
          <p:cNvGraphicFramePr/>
          <p:nvPr/>
        </p:nvGraphicFramePr>
        <p:xfrm>
          <a:off x="548640" y="5173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URI Pattern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 It Returns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`file:///{path}`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Contents of a file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`db://{database}/tables`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List of database tables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`db://{database}/{table}/schema`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Column definitions for a table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441" name="Google Shape;441;p4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 — Resources (Deep Dive) (cont.)</a:t>
            </a:r>
            <a:endParaRPr/>
          </a:p>
        </p:txBody>
      </p:sp>
      <p:sp>
        <p:nvSpPr>
          <p:cNvPr id="442" name="Google Shape;442;p4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548640" y="1051560"/>
            <a:ext cx="11064240" cy="8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use resources vs tools: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when the AI just needs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data (no side effects)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when the AI needs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something (queries with parameters, writes, actions)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449" name="Google Shape;449;p4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 — Resources — Code</a:t>
            </a:r>
            <a:endParaRPr/>
          </a:p>
        </p:txBody>
      </p:sp>
      <p:sp>
        <p:nvSpPr>
          <p:cNvPr id="450" name="Google Shape;450;p4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FastMCP("data-server")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Direct Resource: Fixed URI, returns specific data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@server.resource("config://app/settings")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get_settings()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 the current application settings."""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"app_name": "Sales Dashboard",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"version": "2.1.0",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"database": "postgresql://localhost:5432/sales",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"cache_ttl": 300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Direct Resource: Reading a file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@server.resource("file:///data/README.md")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get_readme()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 the project README file."""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with open("/data/README.md", "r") as 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f.read()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 Template: Dynamic URI with parameters ----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457" name="Google Shape;457;p4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 — Resources — Code (cont.)</a:t>
            </a:r>
            <a:endParaRPr/>
          </a:p>
        </p:txBody>
      </p:sp>
      <p:sp>
        <p:nvSpPr>
          <p:cNvPr id="458" name="Google Shape;458;p4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@server.resource("db://tables/{table_name}/schema")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get_table_schema(table_name: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 the schema for any database 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The {table_name} in the URI becomes a parameter.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Requesting db://tables/employees/schema passes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table_name='employees' to this function.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cursor.execute(f"PRAGMA table_info({table_name})")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columns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Format as readable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[f"Schema for table: {table_name}",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col in columns: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cid, name, col_type, notnull, default, pk = col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pk_marker = " (PRIMARY KEY)" if pk else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null_marker = " NOT NULL" if notnull else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  {name}: {col_type}{null_marker}{pk_marker}")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 returning JSON data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@server.resource("stats://sales/summary")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465" name="Google Shape;465;p4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1 — Resources — Code (cont.)</a:t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548640" y="1051560"/>
            <a:ext cx="11064240" cy="448970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get_sales_summary()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 a summary of current sales metrics."""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SELECT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COUNT(*) as total_orders,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SUM(amount) as total_revenue,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AVG(amount) as avg_order_value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FROM orders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WHERE date &gt;= date('now', '-30 days')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row = cursor.fetchone()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"period": "last_30_days",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"total_orders": row[0],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"total_revenue": round(row[1], 2),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"avg_order_value": round(row[2], 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</p:txBody>
      </p:sp>
      <p:sp>
        <p:nvSpPr>
          <p:cNvPr id="468" name="Google Shape;468;p43"/>
          <p:cNvSpPr txBox="1"/>
          <p:nvPr/>
        </p:nvSpPr>
        <p:spPr>
          <a:xfrm>
            <a:off x="548640" y="5650992"/>
            <a:ext cx="11064240" cy="124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patterns: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@server.resource("uri://...")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decorator to define resources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(text content) — the SDK handles serialization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{parameter}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URIs for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templates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parameters become function arguments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Docstrings become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description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shown to the AI model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74" name="Google Shape;474;p4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(Deep Dive)</a:t>
            </a:r>
            <a:endParaRPr/>
          </a:p>
        </p:txBody>
      </p:sp>
      <p:sp>
        <p:nvSpPr>
          <p:cNvPr id="475" name="Google Shape;475;p4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548640" y="1051560"/>
            <a:ext cx="11064240" cy="2502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are how MCP servers expose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the AI model. They let the AI do things — query data, create records, send messages, execute operations.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 characteristics: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Action-oriented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Tools perform operations (may have side effects)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Schema-validated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Every tool declares its input parameters with JSON 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Human-approved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host can require user confirmation before executing a tool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Result-typed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Tools return structured content (text, images, errors)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Described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Each tool has a name and description that helps the AI decide when to use 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Anatomy of an MCP tool:</a:t>
            </a:r>
            <a:endParaRPr/>
          </a:p>
        </p:txBody>
      </p:sp>
      <p:graphicFrame>
        <p:nvGraphicFramePr>
          <p:cNvPr id="477" name="Google Shape;477;p44"/>
          <p:cNvGraphicFramePr/>
          <p:nvPr/>
        </p:nvGraphicFramePr>
        <p:xfrm>
          <a:off x="548640" y="3627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Example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Identifier used in tool calls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`query_database`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Explains what the tool does (used by the AI to decide when to call it)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"Execute a SQL SELECT query against the business database"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Input Schema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JSON Schema defining required/optional parameters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`{"sql": {"type": "string"}}`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Handler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Your Python function that runs when the tool is called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function body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Result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output returned to the AI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Text, JSON, error message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78" name="Google Shape;478;p44"/>
          <p:cNvSpPr txBox="1"/>
          <p:nvPr/>
        </p:nvSpPr>
        <p:spPr>
          <a:xfrm>
            <a:off x="548640" y="5492496"/>
            <a:ext cx="11064240" cy="875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descriptions matter: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AI model reads tool descriptions to decide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which tool to use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to use it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A good description is critical: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84" name="Google Shape;484;p4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(Deep Dive) (cont.)</a:t>
            </a:r>
            <a:endParaRPr/>
          </a:p>
        </p:txBody>
      </p:sp>
      <p:sp>
        <p:nvSpPr>
          <p:cNvPr id="485" name="Google Shape;485;p4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6" name="Google Shape;486;p45"/>
          <p:cNvGraphicFramePr/>
          <p:nvPr/>
        </p:nvGraphicFramePr>
        <p:xfrm>
          <a:off x="54864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Bad 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Good 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"Query"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"Execute a read-only SQL SELECT query against the employees database. Returns results as a formatted table."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"Send"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"Send a Slack message to a specified channel. Requires channel name and message text. Does not support attachments."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"File"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"Read the contents of a file at the given path. Path must be absolute and within the /data directory."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7" name="Google Shape;487;p45"/>
          <p:cNvSpPr txBox="1"/>
          <p:nvPr/>
        </p:nvSpPr>
        <p:spPr>
          <a:xfrm>
            <a:off x="548640" y="2331720"/>
            <a:ext cx="11064240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use tools: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AI needs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a query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user-specified parameters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AI needs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or modify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AI needs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an external API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action has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side effects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(sends email, creates file, updates record)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493" name="Google Shape;493;p4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</a:t>
            </a:r>
            <a:endParaRPr/>
          </a:p>
        </p:txBody>
      </p:sp>
      <p:sp>
        <p:nvSpPr>
          <p:cNvPr id="494" name="Google Shape;494;p4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FastMCP("business-tools")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Basic tool with type hints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add_numbers(a: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"""Add two numbers together and return the result.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a: The first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b: The second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+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+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Database query tool with validation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query_employees(department: str = "", limit: int = 10)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"""Search the employee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Returns employee records filtered by department.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 department is specified, returns all employees.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department: Filter by department name (optional)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01" name="Google Shape;501;p4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 (cont.)</a:t>
            </a:r>
            <a:endParaRPr/>
          </a:p>
        </p:txBody>
      </p:sp>
      <p:sp>
        <p:nvSpPr>
          <p:cNvPr id="502" name="Google Shape;502;p4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limit: Maximum number of results to return (default: 10)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department: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"SELECT name, title, department, salary FROM employees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"WHERE department = ? LIMIT ?",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(department, limit)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"SELECT name, title, department, salary FROM employees LIMIT ?",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(limit,)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rows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rows: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f"No employees found in department: {department}"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Format as readable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header = "Name | Title | Department | Salary"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separator = "-----|-------|------------|-------"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[header, separator]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09" name="Google Shape;509;p4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 (cont.)</a:t>
            </a:r>
            <a:endParaRPr/>
          </a:p>
        </p:txBody>
      </p:sp>
      <p:sp>
        <p:nvSpPr>
          <p:cNvPr id="510" name="Google Shape;510;p4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name, title, dept, salary in rows: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lines.append(f"{name} | {title} | {dept} | ${salary:,.0f}")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 with error handling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create_expense_report(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employee_id: int,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amount: float,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category: str,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description: str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"""Create a new expense report entry.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employee_id: The ID of the employee submitting the expense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amount: The expense amount in USD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category: Category (travel, meals, supplies, software, other)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description: Brief description of the expense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Input validation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valid_categories = ["travel", "meals", "supplies", "software", "other"]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category not in valid_categories: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Invalid category '{category}'. Must be one of: {valid_categories}"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amount &lt;= 0: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17" name="Google Shape;517;p4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 (cont.)</a:t>
            </a:r>
            <a:endParaRPr/>
          </a:p>
        </p:txBody>
      </p:sp>
      <p:sp>
        <p:nvSpPr>
          <p:cNvPr id="518" name="Google Shape;518;p4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9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Amount must be positive, got {amount}"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amount &gt; 10000: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Amounts over $10,000 require manager pre-approval"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 = sqlite3.connect("business.db")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"INSERT INTO expenses (employee_id, amount, category, description)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"VALUES (?, ?, ?, ?)",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(employee_id, amount, category, description)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expense_id = cursor.lastrowid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f"Expense report #{expense_id} created: ${amount:.2f} for {category}"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Exception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 creating expense report: {str(e)}"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 returning structured data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get_department_stats(department: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statistics for a department including headcount, avg salary, and budget.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25" name="Google Shape;525;p5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 (cont.)</a:t>
            </a:r>
            <a:endParaRPr/>
          </a:p>
        </p:txBody>
      </p:sp>
      <p:sp>
        <p:nvSpPr>
          <p:cNvPr id="526" name="Google Shape;526;p5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department: The department name to analyze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SELECT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COUNT(*) as headcount,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AVG(salary) as avg_salary,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MIN(salary) as min_salary,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MAX(salary) as max_salary,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SUM(salary) as total_payroll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FROM employees WHERE department =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""", (department,))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row = cursor.fetchone()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row[0]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f"No data found for department: {department}"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"department": department,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"headcount": row[0],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"avg_salary": round(row[1], 2),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"min_salary": row[2],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"max_salary": row[3],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533" name="Google Shape;533;p5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2 — Tools — Code (cont.)</a:t>
            </a:r>
            <a:endParaRPr/>
          </a:p>
        </p:txBody>
      </p:sp>
      <p:sp>
        <p:nvSpPr>
          <p:cNvPr id="534" name="Google Shape;534;p5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1"/>
          <p:cNvSpPr/>
          <p:nvPr/>
        </p:nvSpPr>
        <p:spPr>
          <a:xfrm>
            <a:off x="548640" y="1051560"/>
            <a:ext cx="11064240" cy="6675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"total_payroll": row[4]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</p:txBody>
      </p:sp>
      <p:sp>
        <p:nvSpPr>
          <p:cNvPr id="536" name="Google Shape;536;p51"/>
          <p:cNvSpPr txBox="1"/>
          <p:nvPr/>
        </p:nvSpPr>
        <p:spPr>
          <a:xfrm>
            <a:off x="548640" y="1828800"/>
            <a:ext cx="11064240" cy="1453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patterns: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decorator — no arguments needed; name comes from function name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 hints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 parameters → automatically become the JSON Schema input definition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Docstrings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become the tool description the AI model sees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strings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format data as text tables, JSON, or messages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Handle errors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return error messages as strings instead of raising exceptions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42" name="Google Shape;542;p5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(Deep Dive)</a:t>
            </a:r>
            <a:endParaRPr/>
          </a:p>
        </p:txBody>
      </p:sp>
      <p:sp>
        <p:nvSpPr>
          <p:cNvPr id="543" name="Google Shape;543;p5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2"/>
          <p:cNvSpPr txBox="1"/>
          <p:nvPr/>
        </p:nvSpPr>
        <p:spPr>
          <a:xfrm>
            <a:off x="548640" y="1051560"/>
            <a:ext cx="11064240" cy="3624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are reusable message templates that help the AI model interact with your server effectively. They are the least understood but most powerful primitive.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prompts do: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Provide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pre-crafted expert instructions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the AI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Enable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parameterized interactions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"analyze {table_name} for {metric}"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multi-message sequences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system prompt + user prompt + examples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Help users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what the server can do — "Here are recommended ways to use this server"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Think of prompts as: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Saved queries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a database client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Macro buttons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Excel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Slash commands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Slack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Recipes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common tasks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characteristics:</a:t>
            </a:r>
            <a:endParaRPr/>
          </a:p>
        </p:txBody>
      </p:sp>
      <p:graphicFrame>
        <p:nvGraphicFramePr>
          <p:cNvPr id="545" name="Google Shape;545;p52"/>
          <p:cNvGraphicFramePr/>
          <p:nvPr/>
        </p:nvGraphicFramePr>
        <p:xfrm>
          <a:off x="548640" y="47487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Identifier (e.g., `analyze-dataset`)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What this prompt helps with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Arguments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Optional parameters (e.g., `table_name`, `metric`)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Messages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The message sequence returned (role + content)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551" name="Google Shape;551;p5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(Deep Dive) (cont.)</a:t>
            </a:r>
            <a:endParaRPr/>
          </a:p>
        </p:txBody>
      </p:sp>
      <p:sp>
        <p:nvSpPr>
          <p:cNvPr id="552" name="Google Shape;552;p5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3"/>
          <p:cNvSpPr txBox="1"/>
          <p:nvPr/>
        </p:nvSpPr>
        <p:spPr>
          <a:xfrm>
            <a:off x="548640" y="1051560"/>
            <a:ext cx="11064240" cy="244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use prompts: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have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common interaction patterns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work well with your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want to give the AI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sets context for a specific task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want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combine resources and 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a recommended workflow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want to help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non-expert users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get good results without knowing the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Example scenarios: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"Analyze this sales dataset" — includes system prompt with analysis framework, references the data resource, suggests which tools to use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"Generate a weekly report" — includes template, data sources, formatting instructions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"Debug this database query" — includes troubleshooting steps, relevant schema resources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59" name="Google Shape;559;p5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— Code</a:t>
            </a:r>
            <a:endParaRPr/>
          </a:p>
        </p:txBody>
      </p:sp>
      <p:sp>
        <p:nvSpPr>
          <p:cNvPr id="560" name="Google Shape;560;p5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4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mcp.types import TextContent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FastMCP("analytics-server")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Basic prompt with no parameters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quick_analysis()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"""Quick analysis of the business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Returns a system prompt that guides the AI to perform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 standard business data analysis.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are a business data analyst. The user wants a quick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analysis of the business database. Follow these steps: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First, list available tables using the resources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Check the schema of each relevant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Run summary queries (counts, averages, trends)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4. Present findings in a clear, executive-friendly format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5. Highlight any anomalies or notable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Use tables and bullet points for clarity. Include specific numbers."""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 with parameters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67" name="Google Shape;567;p5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— Code (cont.)</a:t>
            </a:r>
            <a:endParaRPr/>
          </a:p>
        </p:txBody>
      </p:sp>
      <p:sp>
        <p:nvSpPr>
          <p:cNvPr id="568" name="Google Shape;568;p5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analyze_department(department: str, focus: str = "general")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"""Analyze a specific department's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department: The department to analyze (e.g., 'Engineering', 'Sales')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focus: Analysis focus area - 'general', 'headcount', 'budget', or 'performance'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focus_instructions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"general": "Cover headcount, salary distribution, recent hires, and budget utilization.",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"headcount": "Focus on team size trends, open positions, attrition rate, and hiring velocity.",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"budget": "Focus on salary costs, budget allocation, cost per employee, and budget variance.",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"performance": "Focus on output metrics, project completion rates, and team velocity."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instruction = focus_instructions.get(focus, focus_instructions["general"])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f"""You are an HR analytics specialist. Analyze the {department} department.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{instruction}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Steps: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Query the employees table filtered by department = '{department}'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Calculate key metrics (headcount, avg salary, salary range)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Look for patterns (tenure distribution, title distribution)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4. Compare to company-wide averages if possible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5. Provide 3 actionable recommendations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Format your response with: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75" name="Google Shape;575;p5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— Code (cont.)</a:t>
            </a:r>
            <a:endParaRPr/>
          </a:p>
        </p:txBody>
      </p:sp>
      <p:sp>
        <p:nvSpPr>
          <p:cNvPr id="576" name="Google Shape;576;p5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Executive summary (2-3 sentences)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Key metrics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Detailed findings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Recommendations"""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Multi-message prompt (system + user messages)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data_quality_check(table_name: str) -&gt; list[dict]: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"""Run a data quality check on a database 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Returns a multi-message prompt with system context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user instructions.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table_name: The database table to check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"role": "system",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f"""You are a data quality engineer. You will analyze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the '{table_name}' table for common data quality issues.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Check for: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NULL values in required fields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Duplicate records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Inconsistent formats (dates, phone numbers, emails)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Outliers (values that are statistically unusual)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83" name="Google Shape;583;p5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— Code (cont.)</a:t>
            </a:r>
            <a:endParaRPr/>
          </a:p>
        </p:txBody>
      </p:sp>
      <p:sp>
        <p:nvSpPr>
          <p:cNvPr id="584" name="Google Shape;584;p5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Referential integrity (foreign keys that don't match)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Data freshness (when was data last updated)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Rate each issue as: CRITICAL, WARNING, or INFO."""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"role": "user",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f"""Please run a comprehensive data quality check on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'{table_name}' table. Start by reading the table schema, then run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appropriate queries to identify issues. Present your findings as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quality report with severity ratings."""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 that references resources and tools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weekly_report(week_ending: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"""Generate a weekly business report.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Uses multiple tools and resources to compile a comprehensive report.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week_ending: The end date of the reporting week (YYYY-MM-DD)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f"""Generate a Weekly Business Report for the week ending {week_ending}.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Use the following tools to gather data: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591" name="Google Shape;591;p5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Primitive 3 — Prompts — Code (cont.)</a:t>
            </a:r>
            <a:endParaRPr/>
          </a:p>
        </p:txBody>
      </p:sp>
      <p:sp>
        <p:nvSpPr>
          <p:cNvPr id="592" name="Google Shape;592;p5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8"/>
          <p:cNvSpPr/>
          <p:nvPr/>
        </p:nvSpPr>
        <p:spPr>
          <a:xfrm>
            <a:off x="548640" y="1051560"/>
            <a:ext cx="11064240" cy="4142231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query_employees — Get headcount by department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get_department_stats — Get salary and budget metrics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Read the 'stats://sales/summary' resource for sales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Report Structure: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## Weekly Business Report — Week Ending {week_ending}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### Executive Summary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(2-3 sentence overview)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### Key Metrics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| Metric | This Week | Change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|--------|-----------|--------|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| ...    | ...       | ...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### Department Highlights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(One paragraph per department)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### Action Items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(Numbered list of recommended actions)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Keep the tone professional and concise. Use exact numbers from the data."""</a:t>
            </a:r>
            <a:endParaRPr/>
          </a:p>
        </p:txBody>
      </p:sp>
      <p:sp>
        <p:nvSpPr>
          <p:cNvPr id="594" name="Google Shape;594;p58"/>
          <p:cNvSpPr txBox="1"/>
          <p:nvPr/>
        </p:nvSpPr>
        <p:spPr>
          <a:xfrm>
            <a:off x="548640" y="5303519"/>
            <a:ext cx="11064240" cy="2131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patterns: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decorator — name and description from function name and docstring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a string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simple prompts (becomes a user message)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a list of dicts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multi-message prompts (system + user + assistant messages)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become prompt arguments the user or AI can fill 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Prompts can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reference tools and 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by name — guiding the AI on how to use the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 Week 7: MCP — Model Context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## Part 3: Building MCP Servers in Python (Slides 30–46)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9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3: Building MCP Servers in Python</a:t>
            </a:r>
            <a:endParaRPr/>
          </a:p>
        </p:txBody>
      </p:sp>
      <p:sp>
        <p:nvSpPr>
          <p:cNvPr id="600" name="Google Shape;600;p59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606" name="Google Shape;606;p6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Python MCP SDK Overview</a:t>
            </a:r>
            <a:endParaRPr/>
          </a:p>
        </p:txBody>
      </p:sp>
      <p:sp>
        <p:nvSpPr>
          <p:cNvPr id="607" name="Google Shape;607;p6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0"/>
          <p:cNvSpPr txBox="1"/>
          <p:nvPr/>
        </p:nvSpPr>
        <p:spPr>
          <a:xfrm>
            <a:off x="548640" y="1051560"/>
            <a:ext cx="11064240" cy="895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official Python SDK for MCP is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package. It provides everything you need to build MCP servers (and clients) in Python.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Installation:</a:t>
            </a:r>
            <a:endParaRPr/>
          </a:p>
        </p:txBody>
      </p:sp>
      <p:sp>
        <p:nvSpPr>
          <p:cNvPr id="609" name="Google Shape;609;p60"/>
          <p:cNvSpPr/>
          <p:nvPr/>
        </p:nvSpPr>
        <p:spPr>
          <a:xfrm>
            <a:off x="548640" y="2020214"/>
            <a:ext cx="11064240" cy="4937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pip install mcp[cli]</a:t>
            </a:r>
            <a:endParaRPr/>
          </a:p>
        </p:txBody>
      </p:sp>
      <p:sp>
        <p:nvSpPr>
          <p:cNvPr id="610" name="Google Shape;610;p60"/>
          <p:cNvSpPr txBox="1"/>
          <p:nvPr/>
        </p:nvSpPr>
        <p:spPr>
          <a:xfrm>
            <a:off x="548640" y="2623718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[cli]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extra installs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command-line tool for development and testing.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API levels:</a:t>
            </a:r>
            <a:endParaRPr/>
          </a:p>
        </p:txBody>
      </p:sp>
      <p:graphicFrame>
        <p:nvGraphicFramePr>
          <p:cNvPr id="611" name="Google Shape;611;p60"/>
          <p:cNvGraphicFramePr/>
          <p:nvPr/>
        </p:nvGraphicFramePr>
        <p:xfrm>
          <a:off x="548640" y="34923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API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Class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High-level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`FastMCP`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Most developers. Decorator-based. Handles all boilerplate.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Low-level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`Server`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Advanced use cases. Full control over protocol handling.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12" name="Google Shape;612;p60"/>
          <p:cNvSpPr txBox="1"/>
          <p:nvPr/>
        </p:nvSpPr>
        <p:spPr>
          <a:xfrm>
            <a:off x="548640" y="4479950"/>
            <a:ext cx="11064240" cy="411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will use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exclusively in this class. It's the recommended approach and handles: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JSON-RPC serialization/deserialization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Capability negotiation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Session lifecycle management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Input schema generation from Python type hints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formatting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concepts: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Decorators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define capabilities: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@server.resource()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 hints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become input schemas automatically: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def query(sql: str, limit: int = 10)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Docstrings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become descriptions: the first line of your docstring is what the AI sees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Return strings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SDK wraps them into proper JSON-RPC responses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3.10 or newer (for modern type hint syntax)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mcp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package (latest version)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other dependencies for basic servers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618" name="Google Shape;618;p6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Python MCP SDK — Code</a:t>
            </a:r>
            <a:endParaRPr/>
          </a:p>
        </p:txBody>
      </p:sp>
      <p:sp>
        <p:nvSpPr>
          <p:cNvPr id="619" name="Google Shape;619;p6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Installation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Run in your terminal: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pip install mcp[cli]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Verify installation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python -c "import mcp; print(mcp.__version__)"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The minimal MCP server (5 lines)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Create a server instance with a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The name identifies your server to MCP clients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FastMCP("my-first-server")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Define a tool using the @server.tool() decorator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hello(name: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"""Say hello to someone."""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f"Hello, {name}! Welcome to MCP."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Run the server (uses stdio transport by default)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What the SDK does for you automatically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626" name="Google Shape;626;p6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Python MCP SDK — Code (cont.)</a:t>
            </a:r>
            <a:endParaRPr/>
          </a:p>
        </p:txBody>
      </p:sp>
      <p:sp>
        <p:nvSpPr>
          <p:cNvPr id="627" name="Google Shape;627;p6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62"/>
          <p:cNvSpPr/>
          <p:nvPr/>
        </p:nvSpPr>
        <p:spPr>
          <a:xfrm>
            <a:off x="548640" y="1051560"/>
            <a:ext cx="11064240" cy="431596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1. Reads the function signature: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   - name="hello" (from function name)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   - description="Say hello to someone." (from docstring)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   - inputSchema={"type": "object", "properties": {"name": {"type": "string"}}, "required": ["name"]}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2. Handles the initialize/initialized handshake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3. Responds to tools/list with your tool definitions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4. Routes tools/call requests to the correct function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5. Wraps your return value in a proper JSON-RPC response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6. Handles errors and formats error responses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You write the business logic. The SDK handles the protocol.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Running the server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Method 1: Direct execution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python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Method 2: Using the mcp CLI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mcp run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Method 3: With MCP Inspector (for testing)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npx @modelcontextprotocol/inspector python server.py</a:t>
            </a:r>
            <a:endParaRPr/>
          </a:p>
        </p:txBody>
      </p:sp>
      <p:sp>
        <p:nvSpPr>
          <p:cNvPr id="629" name="Google Shape;629;p62"/>
          <p:cNvSpPr txBox="1"/>
          <p:nvPr/>
        </p:nvSpPr>
        <p:spPr>
          <a:xfrm>
            <a:off x="548640" y="5477256"/>
            <a:ext cx="11064240" cy="141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happens when this server starts: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server begins listening on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stdin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JSON-RPC messages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a client connects, it handles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handshake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the client sends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tools/list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it returns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hello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 with its 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the client sends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tools/call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{"name": "hello", "arguments": {"name": "Alice"}}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it runs the function and returns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"Hello, Alice! Welcome to MCP."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635" name="Google Shape;635;p6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Your First MCP Server — Hello World</a:t>
            </a:r>
            <a:endParaRPr/>
          </a:p>
        </p:txBody>
      </p:sp>
      <p:sp>
        <p:nvSpPr>
          <p:cNvPr id="636" name="Google Shape;636;p6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3"/>
          <p:cNvSpPr txBox="1"/>
          <p:nvPr/>
        </p:nvSpPr>
        <p:spPr>
          <a:xfrm>
            <a:off x="548640" y="1051560"/>
            <a:ext cx="11064240" cy="167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Let's build your first MCP server step by step. This server will have: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greet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generates a personalized greeting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info://server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returns server information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Step 1: Create the project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a new directory and file:</a:t>
            </a:r>
            <a:endParaRPr/>
          </a:p>
        </p:txBody>
      </p:sp>
      <p:sp>
        <p:nvSpPr>
          <p:cNvPr id="638" name="Google Shape;638;p63"/>
          <p:cNvSpPr/>
          <p:nvPr/>
        </p:nvSpPr>
        <p:spPr>
          <a:xfrm>
            <a:off x="548640" y="2798063"/>
            <a:ext cx="11064240" cy="6675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my_first_mcp/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 server.py</a:t>
            </a:r>
            <a:endParaRPr/>
          </a:p>
        </p:txBody>
      </p:sp>
      <p:sp>
        <p:nvSpPr>
          <p:cNvPr id="639" name="Google Shape;639;p63"/>
          <p:cNvSpPr txBox="1"/>
          <p:nvPr/>
        </p:nvSpPr>
        <p:spPr>
          <a:xfrm>
            <a:off x="548640" y="3575303"/>
            <a:ext cx="11064240" cy="496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Step 2: Understand the structure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MCP server follows this pattern: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FastMCP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a server instance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Define tools, resources, and/or prompts using decorators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the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Step 3: Think about what your server does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writing code, answer these questions: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should the AI be able to read? → Resources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should the AI be able to take? →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workflows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should the AI follow? → Prompts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Hello World: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Server info (version, name, capabilities)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Generate a greeting with configurable style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Step 4: Write the code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(see next slide)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Step 5: Test with MCP Inspector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(Slide 34)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645" name="Google Shape;645;p6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Your First MCP Server — Code</a:t>
            </a:r>
            <a:endParaRPr/>
          </a:p>
        </p:txBody>
      </p:sp>
      <p:sp>
        <p:nvSpPr>
          <p:cNvPr id="646" name="Google Shape;646;p6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64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server.py — Your first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Create the server with a descriptive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FastMCP("hello-world-server")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RESOURCE: Server information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@server.resource("info://server")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server_info()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"""Returns information about this MCP server."""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"name": "Hello World MCP Server",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"version": "1.0.0",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"author": "Your Name",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"capabilities": ["greet", "farewell"],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"started_at": datetime.now().isoformat()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Personalized greeting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greet(name: str, style: str = "formal")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"""Generate a personalized greeting.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653" name="Google Shape;653;p6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Your First MCP Server — Code (cont.)</a:t>
            </a:r>
            <a:endParaRPr/>
          </a:p>
        </p:txBody>
      </p:sp>
      <p:sp>
        <p:nvSpPr>
          <p:cNvPr id="654" name="Google Shape;654;p6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6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name: The person's name to greet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style: Greeting style - 'formal', 'casual', or 'enthusiastic'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greetings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"formal": f"Good day, {name}. It is a pleasure to make your acquaintance.",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"casual": f"Hey {name}! What's up?",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"enthusiastic": f"WOW! {name}! SO GREAT to meet you!! 🎉"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style not in greetings: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f"Unknown style '{style}'. Choose: formal, casual, or enthusiastic."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greetings[style]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Farewell message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farewell(name: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"""Generate a farewell message.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name: The person's name to say goodbye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hour = datetime.now().hour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hour &lt; 12: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f"Have a wonderful morning, {name}!"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elif hour &lt; 17: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661" name="Google Shape;661;p6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Your First MCP Server — Code (cont.)</a:t>
            </a:r>
            <a:endParaRPr/>
          </a:p>
        </p:txBody>
      </p:sp>
      <p:sp>
        <p:nvSpPr>
          <p:cNvPr id="662" name="Google Shape;662;p6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6"/>
          <p:cNvSpPr/>
          <p:nvPr/>
        </p:nvSpPr>
        <p:spPr>
          <a:xfrm>
            <a:off x="548640" y="1051560"/>
            <a:ext cx="11064240" cy="344728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f"Enjoy the rest of your afternoon, {name}!"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f"Have a great evening, {name}!"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PROMPT: Suggested interaction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introduce_yourself()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 prompt that guides the AI to introduce itself using this server."""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are connected to the Hello World MCP server.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Start by reading the server info resource to learn about available capabilities.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Then demonstrate each tool by greeting the user in all three styles.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End with a farewell message. Be friendly and show what MCP can do!"""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Run the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664" name="Google Shape;664;p66"/>
          <p:cNvSpPr txBox="1"/>
          <p:nvPr/>
        </p:nvSpPr>
        <p:spPr>
          <a:xfrm>
            <a:off x="548640" y="4608576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run this server:</a:t>
            </a:r>
            <a:endParaRPr/>
          </a:p>
        </p:txBody>
      </p:sp>
      <p:sp>
        <p:nvSpPr>
          <p:cNvPr id="665" name="Google Shape;665;p66"/>
          <p:cNvSpPr/>
          <p:nvPr/>
        </p:nvSpPr>
        <p:spPr>
          <a:xfrm>
            <a:off x="548640" y="5038344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Save as server.py, then: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python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Or test with MCP Inspector: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 python server.py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671" name="Google Shape;671;p6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Your First MCP Server — Code (cont.)</a:t>
            </a:r>
            <a:endParaRPr/>
          </a:p>
        </p:txBody>
      </p:sp>
      <p:sp>
        <p:nvSpPr>
          <p:cNvPr id="672" name="Google Shape;672;p6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67"/>
          <p:cNvSpPr txBox="1"/>
          <p:nvPr/>
        </p:nvSpPr>
        <p:spPr>
          <a:xfrm>
            <a:off x="548640" y="1051560"/>
            <a:ext cx="11064240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this server exposes: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resource: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info://server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 metadata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 tools: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greet(name, style)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farewell(name)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prompt: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introduce_yourself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guided interaction template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679" name="Google Shape;679;p6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Testing with MCP Inspector</a:t>
            </a:r>
            <a:endParaRPr/>
          </a:p>
        </p:txBody>
      </p:sp>
      <p:sp>
        <p:nvSpPr>
          <p:cNvPr id="680" name="Google Shape;680;p6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68"/>
          <p:cNvSpPr txBox="1"/>
          <p:nvPr/>
        </p:nvSpPr>
        <p:spPr>
          <a:xfrm>
            <a:off x="548640" y="1051560"/>
            <a:ext cx="1106424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Inspector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a web-based debugging tool that lets you interact with any MCP server through a graphical interface. It's the best way to test your servers during development.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it does: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Connects to your MCP server via stdio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Shows all available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Lets you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interactively with a form interface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Lets you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and see their content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Shows the raw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JSON-RPC messages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flowing between client and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Displays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clearly with stack traces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use it: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need to set up Claude Desktop or any AI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See exactly what your server exposes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each tool with specific inputs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Debug JSON-RPC messages when something goes wrong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 feedback loop during development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(for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npx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 — install from https://nodejs.org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Your MCP server file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Workflow: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your server code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Launch Inspector with your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each tool/resource/prompt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issues, re-launch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everything works, connect to Claude Desktop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687" name="Google Shape;687;p6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Testing with MCP Inspector — Code</a:t>
            </a:r>
            <a:endParaRPr/>
          </a:p>
        </p:txBody>
      </p:sp>
      <p:sp>
        <p:nvSpPr>
          <p:cNvPr id="688" name="Google Shape;688;p6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9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Step 1: Make sure Node.js is installed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node --version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Should output v18.x or higher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Step 2: Launch Inspector with your server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 python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This will: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1. Download the Inspector (first time only)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2. Start your server.py as a subprocess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3. Open a web browser at http://localhost:5173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4. Connect to your server via stdio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What you'll see in the Inspector UI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LEFT PANEL: Server capabilities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├── Tools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│   ├── greet (name: string, style: string)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│   └── farewell (name: string)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├── Resources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│   └── info://server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└── Prompts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    └── introduce_yourself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CENTER PANEL: Interactive testing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Select a tool → fill in parameters → click "Call"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Select a resource → click "Read"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695" name="Google Shape;695;p7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Testing with MCP Inspector — Code (cont.)</a:t>
            </a:r>
            <a:endParaRPr/>
          </a:p>
        </p:txBody>
      </p:sp>
      <p:sp>
        <p:nvSpPr>
          <p:cNvPr id="696" name="Google Shape;696;p7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70"/>
          <p:cNvSpPr/>
          <p:nvPr/>
        </p:nvSpPr>
        <p:spPr>
          <a:xfrm>
            <a:off x="548640" y="1051560"/>
            <a:ext cx="11064240" cy="50109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See the result displayed below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RIGHT PANEL: Raw JSON-RPC messages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Every request and response in full JSON format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Great for debugging protocol issues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Example: Testing the greet tool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1. Click "greet" in the Tools panel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2. Fill in: name = "Alice", style = "enthusiastic"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3. Click "Call Tool"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4. See result: "WOW! Alice! SO GREAT to meet you!! 🎉"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5. Check the JSON panel to see the raw tools/call 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If your server has errors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The Inspector shows error details including: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Error code (e.g., -32602 for invalid params)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Error message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Stack trace (if available)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This makes debugging much faster than reading raw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Alternative: mcp CLI for quick testing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The mcp CLI can also test servers: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mcp dev server.py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This starts a development server with auto-reload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703" name="Google Shape;703;p7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Testing with MCP Inspector — Code (cont.)</a:t>
            </a:r>
            <a:endParaRPr/>
          </a:p>
        </p:txBody>
      </p:sp>
      <p:sp>
        <p:nvSpPr>
          <p:cNvPr id="704" name="Google Shape;704;p7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71"/>
          <p:cNvSpPr txBox="1"/>
          <p:nvPr/>
        </p:nvSpPr>
        <p:spPr>
          <a:xfrm>
            <a:off x="548640" y="1051560"/>
            <a:ext cx="11064240" cy="1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 tips: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 the Inspector open while you edit your server code — relaunch to pick up changes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the JSON panel to verify your tool schemas match what you expect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edge cases: empty strings, negative numbers, missing parameters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Inspector creates a real MCP session — if your server works here, it will work in Claude Desktop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7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/>
          </a:p>
        </p:txBody>
      </p:sp>
      <p:sp>
        <p:nvSpPr>
          <p:cNvPr id="711" name="Google Shape;711;p7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</a:t>
            </a:r>
            <a:endParaRPr/>
          </a:p>
        </p:txBody>
      </p:sp>
      <p:sp>
        <p:nvSpPr>
          <p:cNvPr id="712" name="Google Shape;712;p7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72"/>
          <p:cNvSpPr txBox="1"/>
          <p:nvPr/>
        </p:nvSpPr>
        <p:spPr>
          <a:xfrm>
            <a:off x="548640" y="1051560"/>
            <a:ext cx="11064240" cy="2161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Let's build a more practical server —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calculator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multiple tools and a calculation history resource.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example demonstrates: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 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one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and error handling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Server-side state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(calculation history)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return dynamic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design:</a:t>
            </a:r>
            <a:endParaRPr/>
          </a:p>
        </p:txBody>
      </p:sp>
      <p:graphicFrame>
        <p:nvGraphicFramePr>
          <p:cNvPr id="714" name="Google Shape;714;p72"/>
          <p:cNvGraphicFramePr/>
          <p:nvPr/>
        </p:nvGraphicFramePr>
        <p:xfrm>
          <a:off x="548640" y="3285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`add(a, b)`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Add two numbers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`subtract(a, b)`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Subtract b from 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`multiply(a, b)`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Multiply two numbers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`divide(a, b)`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Divide a by b (with zero check)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`calc://history`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Last 10 calculations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`basic_math`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Prompt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Guide for math operations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15" name="Google Shape;715;p72"/>
          <p:cNvSpPr txBox="1"/>
          <p:nvPr/>
        </p:nvSpPr>
        <p:spPr>
          <a:xfrm>
            <a:off x="548640" y="5443727"/>
            <a:ext cx="11064240" cy="1453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this is a good learning example: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Shows how to have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 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consistent patterns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Demonstrates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(division by zero)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Shows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state management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(history list)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 that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change over time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(history grows with each calculation)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prompt that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references the 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by name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21" name="Google Shape;721;p7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 — Code</a:t>
            </a:r>
            <a:endParaRPr/>
          </a:p>
        </p:txBody>
      </p:sp>
      <p:sp>
        <p:nvSpPr>
          <p:cNvPr id="722" name="Google Shape;722;p7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73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calculator_server.py — Calculator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FastMCP("calculator")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Server-side state: calculation history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calculation_history: list[dict]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_record(operation: str, a: float, b: float, result: float) -&gt; None: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"""Record a calculation in the history."""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calculation_history.append({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"operation": operation,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"a": a,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"b": 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"result": result,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"timestamp": datetime.now().isoformat()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Keep only the last 50 calculations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len(calculation_history) &gt; 50: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calculation_history.pop(0)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29" name="Google Shape;729;p7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 — Code (cont.)</a:t>
            </a:r>
            <a:endParaRPr/>
          </a:p>
        </p:txBody>
      </p:sp>
      <p:sp>
        <p:nvSpPr>
          <p:cNvPr id="730" name="Google Shape;730;p7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74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add(a: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"""Add two numbers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a: First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b: Second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+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_record("add",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+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subtract(a: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"""Subtract the second number from the first.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a: Number to subtract from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b: Number to subtract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-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_record("subtract",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-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multiply(a: float, b: float) -&gt; str: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37" name="Google Shape;737;p7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 — Code (cont.)</a:t>
            </a:r>
            <a:endParaRPr/>
          </a:p>
        </p:txBody>
      </p:sp>
      <p:sp>
        <p:nvSpPr>
          <p:cNvPr id="738" name="Google Shape;738;p7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7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"""Multiply two numbers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a: First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b: Second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*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_record("multiply",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×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divide(a: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"""Divide the first number by the second.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a: Dividend (number to divide)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b: Divisor (number to divide by) — cannot be zero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b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Division by zero is not allowed."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/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_record("divide",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÷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Resource: Calculation History ----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45" name="Google Shape;745;p7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 — Code (cont.)</a:t>
            </a:r>
            <a:endParaRPr/>
          </a:p>
        </p:txBody>
      </p:sp>
      <p:sp>
        <p:nvSpPr>
          <p:cNvPr id="746" name="Google Shape;746;p7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7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@server.resource("calc://history")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get_history()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"""Returns the recent calculation history."""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calculation_history: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"No calculations yet."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["Recent Calculations:",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i, calc in enumerate(calculation_history[-10:], 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f"  {i}. {calc['operation']}({calc['a']}, {calc['b']})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f"= {calc['result']}  [{calc['timestamp']}]"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basic_math()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"""Guide for performing basic math operations."""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have access to a calculator with four operations: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add(a, b) — addition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subtract(a, b) — subtraction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multiply(a, b) — multiplication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divide(a, b) — division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After performing calculations, you can read calc://history to see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753" name="Google Shape;753;p7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Calculator Server — Code (cont.)</a:t>
            </a:r>
            <a:endParaRPr/>
          </a:p>
        </p:txBody>
      </p:sp>
      <p:sp>
        <p:nvSpPr>
          <p:cNvPr id="754" name="Google Shape;754;p7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77"/>
          <p:cNvSpPr/>
          <p:nvPr/>
        </p:nvSpPr>
        <p:spPr>
          <a:xfrm>
            <a:off x="548640" y="1051560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the calculation log. Show your work step by step."""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756" name="Google Shape;756;p77"/>
          <p:cNvSpPr txBox="1"/>
          <p:nvPr/>
        </p:nvSpPr>
        <p:spPr>
          <a:xfrm>
            <a:off x="548640" y="2350007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it:</a:t>
            </a:r>
            <a:endParaRPr/>
          </a:p>
        </p:txBody>
      </p:sp>
      <p:sp>
        <p:nvSpPr>
          <p:cNvPr id="757" name="Google Shape;757;p77"/>
          <p:cNvSpPr/>
          <p:nvPr/>
        </p:nvSpPr>
        <p:spPr>
          <a:xfrm>
            <a:off x="548640" y="2779775"/>
            <a:ext cx="11064240" cy="4937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 python calculator_server.py</a:t>
            </a:r>
            <a:endParaRPr/>
          </a:p>
        </p:txBody>
      </p:sp>
      <p:sp>
        <p:nvSpPr>
          <p:cNvPr id="758" name="Google Shape;758;p77"/>
          <p:cNvSpPr txBox="1"/>
          <p:nvPr/>
        </p:nvSpPr>
        <p:spPr>
          <a:xfrm>
            <a:off x="548640" y="3383279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Try: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add(15, 27)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"15 + 27 = 42"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then read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calc://history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see it logged.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764" name="Google Shape;764;p7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to Your Server</a:t>
            </a:r>
            <a:endParaRPr/>
          </a:p>
        </p:txBody>
      </p:sp>
      <p:sp>
        <p:nvSpPr>
          <p:cNvPr id="765" name="Google Shape;765;p7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78"/>
          <p:cNvSpPr txBox="1"/>
          <p:nvPr/>
        </p:nvSpPr>
        <p:spPr>
          <a:xfrm>
            <a:off x="548640" y="1051560"/>
            <a:ext cx="11064240" cy="90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 add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your MCP server. While tools perform actions, resources let the AI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and browse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information.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to add resources:</a:t>
            </a:r>
            <a:endParaRPr/>
          </a:p>
        </p:txBody>
      </p:sp>
      <p:graphicFrame>
        <p:nvGraphicFramePr>
          <p:cNvPr id="767" name="Google Shape;767;p78"/>
          <p:cNvGraphicFramePr/>
          <p:nvPr/>
        </p:nvGraphicFramePr>
        <p:xfrm>
          <a:off x="548640" y="2025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Resource URI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 It Returns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has a database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`db://tables`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List of available tables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manages files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`file:///{path}`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File contents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has configuration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`config://settings`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Current settings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tracks state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`state://session`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Current session state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has metadata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`info://about`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description and version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68" name="Google Shape;768;p78"/>
          <p:cNvSpPr txBox="1"/>
          <p:nvPr/>
        </p:nvSpPr>
        <p:spPr>
          <a:xfrm>
            <a:off x="548640" y="3890467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Static vs. dynamic resources: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resources always return the same content (like a file that doesn't change):</a:t>
            </a:r>
            <a:endParaRPr/>
          </a:p>
        </p:txBody>
      </p:sp>
      <p:sp>
        <p:nvSpPr>
          <p:cNvPr id="769" name="Google Shape;769;p78"/>
          <p:cNvSpPr/>
          <p:nvPr/>
        </p:nvSpPr>
        <p:spPr>
          <a:xfrm>
            <a:off x="548640" y="4759147"/>
            <a:ext cx="11064240" cy="1014983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@server.resource("info://about")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about()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"""Server description."""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"Calculator MCP Server v1.0 — basic arithmetic operations"</a:t>
            </a:r>
            <a:endParaRPr/>
          </a:p>
        </p:txBody>
      </p:sp>
      <p:sp>
        <p:nvSpPr>
          <p:cNvPr id="770" name="Google Shape;770;p78"/>
          <p:cNvSpPr txBox="1"/>
          <p:nvPr/>
        </p:nvSpPr>
        <p:spPr>
          <a:xfrm>
            <a:off x="548640" y="5883858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Dynamic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resources return different content each time (like calculation history):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776" name="Google Shape;776;p7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to Your Server (cont.)</a:t>
            </a:r>
            <a:endParaRPr/>
          </a:p>
        </p:txBody>
      </p:sp>
      <p:sp>
        <p:nvSpPr>
          <p:cNvPr id="777" name="Google Shape;777;p7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79"/>
          <p:cNvSpPr/>
          <p:nvPr/>
        </p:nvSpPr>
        <p:spPr>
          <a:xfrm>
            <a:off x="548640" y="1051560"/>
            <a:ext cx="11064240" cy="1014983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@server.resource("calc://history")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history()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"""Returns recent calculations — changes after each tool call."""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format_history(calculation_history)</a:t>
            </a:r>
            <a:endParaRPr/>
          </a:p>
        </p:txBody>
      </p:sp>
      <p:sp>
        <p:nvSpPr>
          <p:cNvPr id="779" name="Google Shape;779;p79"/>
          <p:cNvSpPr txBox="1"/>
          <p:nvPr/>
        </p:nvSpPr>
        <p:spPr>
          <a:xfrm>
            <a:off x="548640" y="2176271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 templates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use URI parameters to serve different data:</a:t>
            </a:r>
            <a:endParaRPr/>
          </a:p>
        </p:txBody>
      </p:sp>
      <p:sp>
        <p:nvSpPr>
          <p:cNvPr id="780" name="Google Shape;780;p79"/>
          <p:cNvSpPr/>
          <p:nvPr/>
        </p:nvSpPr>
        <p:spPr>
          <a:xfrm>
            <a:off x="548640" y="2606039"/>
            <a:ext cx="11064240" cy="1014983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@server.resource("db://tables/{table_name}/schema")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table_schema(table_name: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"""Returns schema for the requested table."""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get_schema(table_name)</a:t>
            </a:r>
            <a:endParaRPr/>
          </a:p>
        </p:txBody>
      </p:sp>
      <p:sp>
        <p:nvSpPr>
          <p:cNvPr id="781" name="Google Shape;781;p79"/>
          <p:cNvSpPr txBox="1"/>
          <p:nvPr/>
        </p:nvSpPr>
        <p:spPr>
          <a:xfrm>
            <a:off x="548640" y="3730750"/>
            <a:ext cx="11064240" cy="390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the AI requests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db://tables/employees/schema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the parameter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table_name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set to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"employees"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787" name="Google Shape;787;p8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— Code</a:t>
            </a:r>
            <a:endParaRPr/>
          </a:p>
        </p:txBody>
      </p:sp>
      <p:sp>
        <p:nvSpPr>
          <p:cNvPr id="788" name="Google Shape;788;p8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80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Extending the calculator server with richer resources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FastMCP("calculator-v2")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calculation_history: list[dict]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Track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stats = {"total": 0, "by_operation": {}}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_record(operation: str, a: float, b: float, result: float):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"""Record calculation and update stats."""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calculation_history.append({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"operation": operation, "a": a, "b": 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"result": result, "timestamp": datetime.now().isoformat()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stats["total"] +=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stats["by_operation"][operation] = stats["by_operation"].get(operation, 0)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Static Resource: Server capabilities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@server.resource("info://capabilities")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capabilities()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all available operations and their descriptions."""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795" name="Google Shape;795;p8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— Code (cont.)</a:t>
            </a:r>
            <a:endParaRPr/>
          </a:p>
        </p:txBody>
      </p:sp>
      <p:sp>
        <p:nvSpPr>
          <p:cNvPr id="796" name="Google Shape;796;p8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8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"operations":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{"name": "add", "description": "Add two numbers", "example": "add(3, 5) = 8"},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{"name": "subtract", "description": "Subtract b from a", "example": "subtract(10, 3) = 7"},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{"name": "multiply", "description": "Multiply two numbers", "example": "multiply(4, 6) = 24"},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{"name": "divide", "description": "Divide a by b", "example": "divide(15, 3) = 5"}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Dynamic Resource: Statistics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@server.resource("calc://stats")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get_stats()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"""Live statistics about calculator usage."""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"total_calculations": stats["total"],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"operations_breakdown": stats["by_operation"],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"history_size": len(calculation_history)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Dynamic Resource: History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@server.resource("calc://history")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get_history()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"""Recent calculation history (last 10)."""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calculation_history: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"No calculations performed yet."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recent = calculation_history[-10:]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803" name="Google Shape;803;p8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— Code (cont.)</a:t>
            </a:r>
            <a:endParaRPr/>
          </a:p>
        </p:txBody>
      </p:sp>
      <p:sp>
        <p:nvSpPr>
          <p:cNvPr id="804" name="Google Shape;804;p8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8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i, c in enumerate(recent, 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lines.append(f"{i}. {c['operation']}({c['a']}, {c['b']}) = {c['result']}")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 Template: Filtered history by operation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@server.resource("calc://history/{operation}")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get_history_by_operation(operation: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"""Calculation history filtered by operation type.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URI examples: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calc://history/add      — only addition calculations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calc://history/divide   — only division calculations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filtered = [c for c in calculation_history if c["operation"] == operation]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filtered: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f"No {operation} calculations found."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[f"History for '{operation}' ({len(filtered)} calculations):",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i, c in enumerate(filtered[-10:], 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  {i}. {c['operation']}({c['a']}, {c['b']}) = {c['result']}")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Tools (same as before, now with _record)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add(a: float, b: float) -&gt; str: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811" name="Google Shape;811;p8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— Code (cont.)</a:t>
            </a:r>
            <a:endParaRPr/>
          </a:p>
        </p:txBody>
      </p:sp>
      <p:sp>
        <p:nvSpPr>
          <p:cNvPr id="812" name="Google Shape;812;p8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83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"""Add two numbers. Args: a: First number, b: Second number"""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+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_record("add",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+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subtract(a: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"""Subtract b from a. Args: a: First number, b: Second number"""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-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_record("subtract",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-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multiply(a: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"""Multiply two numbers. Args: a: First number, b: Second number"""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*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_record("multiply",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×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divide(a: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"""Divide a by b. Args: a: Dividend, b: Divisor (non-zero)"""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b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Division by zero."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a /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_record("divide", a, b, 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f"{a} ÷ {b} = {result}"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/>
          </a:p>
        </p:txBody>
      </p:sp>
      <p:sp>
        <p:nvSpPr>
          <p:cNvPr id="819" name="Google Shape;819;p8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Adding Resources — Code (cont.)</a:t>
            </a:r>
            <a:endParaRPr/>
          </a:p>
        </p:txBody>
      </p:sp>
      <p:sp>
        <p:nvSpPr>
          <p:cNvPr id="820" name="Google Shape;820;p8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84"/>
          <p:cNvSpPr/>
          <p:nvPr/>
        </p:nvSpPr>
        <p:spPr>
          <a:xfrm>
            <a:off x="548640" y="1051560"/>
            <a:ext cx="11064240" cy="8412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822" name="Google Shape;822;p84"/>
          <p:cNvSpPr txBox="1"/>
          <p:nvPr/>
        </p:nvSpPr>
        <p:spPr>
          <a:xfrm>
            <a:off x="548640" y="2002536"/>
            <a:ext cx="11064240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 this server exposes: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info://capabilities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static list of operations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calc://stats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dynamic usage statistics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calc://history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dynamic recent calculations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calc://history/{operation}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template filtered by operation type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828" name="Google Shape;828;p8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Connecting to Claude Desktop</a:t>
            </a:r>
            <a:endParaRPr/>
          </a:p>
        </p:txBody>
      </p:sp>
      <p:sp>
        <p:nvSpPr>
          <p:cNvPr id="829" name="Google Shape;829;p8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85"/>
          <p:cNvSpPr txBox="1"/>
          <p:nvPr/>
        </p:nvSpPr>
        <p:spPr>
          <a:xfrm>
            <a:off x="548640" y="1051560"/>
            <a:ext cx="11064240" cy="2451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Once your MCP server works with the Inspector, you can connect it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Desktop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so Claude can use your tools in real conversations.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Claude Desktop uses MCP: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 startup, Claude Desktop reads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configuration file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each configured server, it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launches the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as a subprocess (stdio)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creates 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client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each server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you chat with Claude, it can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discover and call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your server's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asks for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user permission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before calling tools (human-in-the-loop)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Configuration file location:</a:t>
            </a:r>
            <a:endParaRPr/>
          </a:p>
        </p:txBody>
      </p:sp>
      <p:graphicFrame>
        <p:nvGraphicFramePr>
          <p:cNvPr id="831" name="Google Shape;831;p85"/>
          <p:cNvGraphicFramePr/>
          <p:nvPr/>
        </p:nvGraphicFramePr>
        <p:xfrm>
          <a:off x="548640" y="35759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Path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macOS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`~/Library/Application Support/Claude/claude_desktop_config.json`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Windows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`%APPDATA%\Claude\claude_desktop_config.json`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Linux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`~/.config/Claude/claude_desktop_config.json`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2" name="Google Shape;832;p85"/>
          <p:cNvSpPr txBox="1"/>
          <p:nvPr/>
        </p:nvSpPr>
        <p:spPr>
          <a:xfrm>
            <a:off x="548640" y="4856073"/>
            <a:ext cx="11064240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to configure: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(your choice, identifies the server in the UI)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run (e.g.,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Arguments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(e.g.,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["/full/path/to/server.py"]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Environment variables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(optional — API keys, database paths)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configuration: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Save the config file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Restart Claude Desktop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(Quit and reopen — it reads config on startup)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Look for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hammer icon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(🔨) in the chat input area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Click it to see your server's tools listed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 chatting — Claude will use your tools when relevant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8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838" name="Google Shape;838;p8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Connecting to Claude Desktop — Code</a:t>
            </a:r>
            <a:endParaRPr/>
          </a:p>
        </p:txBody>
      </p:sp>
      <p:sp>
        <p:nvSpPr>
          <p:cNvPr id="839" name="Google Shape;839;p8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8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File: ~/Library/Application Support/Claude/claude_desktop_config.json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(macOS path — see previous slide for other OS paths)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"mcpServers":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"calculator":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["/Users/yourname/mcp_servers/calculator_server.py"]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"file-browser":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["/Users/yourname/mcp_servers/file_server.py"],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"ALLOWED_DIRECTORY": "/Users/yourname/Documents"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"business-db":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["/Users/yourname/mcp_servers/db_server.py"],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"DATABASE_PATH": "/Users/yourname/data/business.db"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8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846" name="Google Shape;846;p8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Connecting to Claude Desktop — Code (cont.)</a:t>
            </a:r>
            <a:endParaRPr/>
          </a:p>
        </p:txBody>
      </p:sp>
      <p:sp>
        <p:nvSpPr>
          <p:cNvPr id="847" name="Google Shape;847;p8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87"/>
          <p:cNvSpPr/>
          <p:nvPr/>
        </p:nvSpPr>
        <p:spPr>
          <a:xfrm>
            <a:off x="548640" y="1051560"/>
            <a:ext cx="11064240" cy="49377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849" name="Google Shape;849;p87"/>
          <p:cNvSpPr txBox="1"/>
          <p:nvPr/>
        </p:nvSpPr>
        <p:spPr>
          <a:xfrm>
            <a:off x="548640" y="1655064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Configuration breakdown:</a:t>
            </a:r>
            <a:endParaRPr/>
          </a:p>
        </p:txBody>
      </p:sp>
      <p:sp>
        <p:nvSpPr>
          <p:cNvPr id="850" name="Google Shape;850;p87"/>
          <p:cNvSpPr/>
          <p:nvPr/>
        </p:nvSpPr>
        <p:spPr>
          <a:xfrm>
            <a:off x="548640" y="2084832"/>
            <a:ext cx="11064240" cy="275234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"mcpServers": {          // Required top-level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"server-name": {       // Your chosen name (shown in Claude UI)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 // The executable to run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            // Command-line arguments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"/full/path/to/server.py"  // MUST be absolute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             // Optional environment 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"API_KEY": "...",  // Passed to the server 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"DB_PATH": "..."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851" name="Google Shape;851;p87"/>
          <p:cNvSpPr txBox="1"/>
          <p:nvPr/>
        </p:nvSpPr>
        <p:spPr>
          <a:xfrm>
            <a:off x="548640" y="4946904"/>
            <a:ext cx="11064240" cy="3072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Common mistakes: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Using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relative path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always use absolute paths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Forgetting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restart Claude Desktop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config is only read on startup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Wrong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path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use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which python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find the correct path. If using a virtual env: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/path/to/venv/bin/python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JSON syntax errors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validate your JSON before saving (trailing commas, missing quotes)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Verifying it works: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Claude Desktop after restart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Look for the 🔨 icon next to the chat input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Click it — you should see your server's tools listed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Ask Claude something that requires your tool: "What is 42 + 58?"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will ask permission to use the calculator tool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Approve it, and see the result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857" name="Google Shape;857;p8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</a:t>
            </a:r>
            <a:endParaRPr/>
          </a:p>
        </p:txBody>
      </p:sp>
      <p:sp>
        <p:nvSpPr>
          <p:cNvPr id="858" name="Google Shape;858;p8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88"/>
          <p:cNvSpPr txBox="1"/>
          <p:nvPr/>
        </p:nvSpPr>
        <p:spPr>
          <a:xfrm>
            <a:off x="548640" y="1051560"/>
            <a:ext cx="11064240" cy="1509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Let's build a practical MCP server that gives an AI model controlled access to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 file system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This is one of the most useful MCP servers you can build.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You want Claude to be able to read, search, and manage files in a specific directory — but with security boundaries.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Design:</a:t>
            </a:r>
            <a:endParaRPr/>
          </a:p>
        </p:txBody>
      </p:sp>
      <p:graphicFrame>
        <p:nvGraphicFramePr>
          <p:cNvPr id="860" name="Google Shape;860;p88"/>
          <p:cNvGraphicFramePr/>
          <p:nvPr/>
        </p:nvGraphicFramePr>
        <p:xfrm>
          <a:off x="548640" y="26346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`list_files(directory)`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List files in a directory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`read_file(path)`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Read file contents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`write_file(path, content)`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Create or overwrite a file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`search_files(pattern)`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Search for files by name pattern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`file://info`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configuration and allowed directory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1" name="Google Shape;861;p88"/>
          <p:cNvSpPr txBox="1"/>
          <p:nvPr/>
        </p:nvSpPr>
        <p:spPr>
          <a:xfrm>
            <a:off x="548640" y="4500067"/>
            <a:ext cx="11064240" cy="1944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considerations: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Restrict to one directory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server should only access files within a configured base directory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Path validation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prevent path traversal attacks (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../../../etc/passwd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Size limits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don't read 10GB files into memory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confirmation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make destructive operations explicit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pattern —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sandboxed, focused MCP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is the recommended approach. Don't build one server that does everything. Build small, purpose-specific servers with clear boundaries.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8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867" name="Google Shape;867;p8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</a:t>
            </a:r>
            <a:endParaRPr/>
          </a:p>
        </p:txBody>
      </p:sp>
      <p:sp>
        <p:nvSpPr>
          <p:cNvPr id="868" name="Google Shape;868;p8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89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file_server.py — File System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fnmatch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Configuration: restrict access to one directory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ALLOWED_DIR = os.environ.get("ALLOWED_DIRECTORY", os.path.expanduser("~/Documents"))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FastMCP("file-system")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_safe_path(path: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"""Resolve and validate that a path is within the allowed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Returns the absolute path if safe, raises ValueError if not.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Resolve to absolute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os.path.isabs(path):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full_path = os.path.join(ALLOWED_DIR, 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full_path =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full_path = os.path.realpath(full_path)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Check it's within the allowed directory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full_path.startswith(os.path.realpath(ALLOWED_DIR)):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raise ValueError(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875" name="Google Shape;875;p9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 (cont.)</a:t>
            </a:r>
            <a:endParaRPr/>
          </a:p>
        </p:txBody>
      </p:sp>
      <p:sp>
        <p:nvSpPr>
          <p:cNvPr id="876" name="Google Shape;876;p9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90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f"Access denied: path '{path}' is outside the allowed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f"directory '{ALLOWED_DIR}'"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full_path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Resource: Server info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@server.resource("file://info")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server_info()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"""Information about the file server configuration."""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"allowed_directory": ALLOWED_DIR,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"exists": os.path.exists(ALLOWED_DIR),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"total_files": sum(len(files) for _, _, files in os.walk(ALLOWED_DIR))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List files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list_files(directory: str = "")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files and folders in a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directory: Relative path within the allowed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Empty string means the root allowed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target = _safe_path(directory) if directory else ALLOWED_DIR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883" name="Google Shape;883;p9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 (cont.)</a:t>
            </a:r>
            <a:endParaRPr/>
          </a:p>
        </p:txBody>
      </p:sp>
      <p:sp>
        <p:nvSpPr>
          <p:cNvPr id="884" name="Google Shape;884;p9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9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ValueError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str(e)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os.path.isdir(target):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'{directory}' is not a directory."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entries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item in sorted(os.listdir(target)):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full = os.path.join(target, item)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os.path.isdir(full):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entries.append(f"  [DIR]  {item}/")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size = os.path.getsize(full)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entries.append(f"  [FILE] {item}  ({size:,} bytes)")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entries: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f"Directory '{directory or ALLOWED_DIR}' is empty."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header = f"Contents of: {directory or ALLOWED_DIR}"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header + "\n" + "-" * len(header) + "\n" + "\n".join(entries)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Read file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read_file(path: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"""Read the contents of a text file.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9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891" name="Google Shape;891;p9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 (cont.)</a:t>
            </a:r>
            <a:endParaRPr/>
          </a:p>
        </p:txBody>
      </p:sp>
      <p:sp>
        <p:nvSpPr>
          <p:cNvPr id="892" name="Google Shape;892;p9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9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path: File path relative to the allowed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full_path = _safe_path(path)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ValueError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str(e)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os.path.isfile(full_path):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File '{path}' not found."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Size check — don't read huge files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size = os.path.getsize(full_path)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size &gt; 1_000_000:  # 1 MB limit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File is too large ({size:,} bytes). Maximum is 1 MB."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with open(full_path, "r", encoding="utf-8") as 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return f.read()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UnicodeDecodeError: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'{path}' is not a text file (binary content detected)."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Write file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write_file(path: str, content: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"""Create or overwrite a text file.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9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899" name="Google Shape;899;p9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 (cont.)</a:t>
            </a:r>
            <a:endParaRPr/>
          </a:p>
        </p:txBody>
      </p:sp>
      <p:sp>
        <p:nvSpPr>
          <p:cNvPr id="900" name="Google Shape;900;p9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93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path: File path relative to the allowed directory.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content: The text content to write to the file.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full_path = _safe_path(path)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ValueError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str(e)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Create parent directories if needed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os.makedirs(os.path.dirname(full_path), exist_ok=True)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existed = os.path.exists(full_path)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with open(full_path, "w", encoding="utf-8") as 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f.write(content)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action = "Updated" if existed else "Created"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f"{action}: {path} ({len(content):,} characters written)"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Search files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search_files(pattern: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"""Search for files matching a name pattern.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pattern: Glob pattern to match (e.g., '*.py', 'report_*.csv')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matches = []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/>
          </a:p>
        </p:txBody>
      </p:sp>
      <p:sp>
        <p:nvSpPr>
          <p:cNvPr id="907" name="Google Shape;907;p9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File System Server — Code (cont.)</a:t>
            </a:r>
            <a:endParaRPr/>
          </a:p>
        </p:txBody>
      </p:sp>
      <p:sp>
        <p:nvSpPr>
          <p:cNvPr id="908" name="Google Shape;908;p9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94"/>
          <p:cNvSpPr/>
          <p:nvPr/>
        </p:nvSpPr>
        <p:spPr>
          <a:xfrm>
            <a:off x="548640" y="1051560"/>
            <a:ext cx="11064240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root, dirs, files in os.walk(ALLOWED_DIR):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for filename in files: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if fnmatch.fnmatch(filename, pattern):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rel_path = os.path.relpath(os.path.join(root, filename), ALLOWED_DIR)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matches.append(rel_path)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matches: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f"No files matching '{pattern}' found."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f"Files matching '{pattern}' ({len(matches)} found):\n" +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"\n".join(f"  {m}" for m in sorted(matches)[:50])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910" name="Google Shape;910;p94"/>
          <p:cNvSpPr txBox="1"/>
          <p:nvPr/>
        </p:nvSpPr>
        <p:spPr>
          <a:xfrm>
            <a:off x="548640" y="4087368"/>
            <a:ext cx="11064240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security features: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_safe_path()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validates ALL paths against the allowed directory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Prevents path traversal (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../../etc/passwd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"Access denied")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MB file size limit to prevent memory issues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Binary file detection to avoid garbled output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916" name="Google Shape;916;p9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</a:t>
            </a:r>
            <a:endParaRPr/>
          </a:p>
        </p:txBody>
      </p:sp>
      <p:sp>
        <p:nvSpPr>
          <p:cNvPr id="917" name="Google Shape;917;p9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95"/>
          <p:cNvSpPr txBox="1"/>
          <p:nvPr/>
        </p:nvSpPr>
        <p:spPr>
          <a:xfrm>
            <a:off x="548640" y="1051560"/>
            <a:ext cx="11064240" cy="1753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Now let's build the most business-relevant MCP server — one that connects an AI model to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SQLite database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This bridges everything we've learned: Week 3 (Python + databases), Week 6 (data access for AI), and now Week 7 (standardized protocol).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Business analysts want to ask Claude questions about company data — employees, departments, sales — without writing SQL themselves.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Design:</a:t>
            </a:r>
            <a:endParaRPr/>
          </a:p>
        </p:txBody>
      </p:sp>
      <p:graphicFrame>
        <p:nvGraphicFramePr>
          <p:cNvPr id="919" name="Google Shape;919;p95"/>
          <p:cNvGraphicFramePr/>
          <p:nvPr/>
        </p:nvGraphicFramePr>
        <p:xfrm>
          <a:off x="548640" y="28785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`db://tables`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List all tables in the database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`db://tables/{name}/schema`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 Template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Schema for a specific table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`query(sql)`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Execute a read-only SQL query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`insert_record(table, data)`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Insert a new record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`get_summary(table)`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Get row count, column stats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`data_analysis`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Prompt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Guide for analyzing the database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20" name="Google Shape;920;p95"/>
          <p:cNvSpPr txBox="1"/>
          <p:nvPr/>
        </p:nvSpPr>
        <p:spPr>
          <a:xfrm>
            <a:off x="548640" y="5036515"/>
            <a:ext cx="11064240" cy="123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Read-only queries by default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query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 only allows SELECT statements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Write operations explicit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insert_record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a separate tool with validation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DROP/DELETE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destructive SQL is blocked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Parameterized queries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prevent SQL injection where possible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26" name="Google Shape;926;p9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</a:t>
            </a:r>
            <a:endParaRPr/>
          </a:p>
        </p:txBody>
      </p:sp>
      <p:sp>
        <p:nvSpPr>
          <p:cNvPr id="927" name="Google Shape;927;p9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9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db_server.py — Database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DATABASE_PATH = os.environ.get("DATABASE_PATH", "business.db")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FastMCP("business-database")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_get_connection() -&gt; sqlite3.Connection: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a database connection."""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sqlite3.connect(DATABASE_PATH)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conn.row_factory = sqlite3.Row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conn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_setup_sample_data():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"""Create sample tables if database is empty."""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CREATE TABLE IF NOT EXISTS employees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id INTEGER PRIMARY KEY AUTOINCREMENT,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name TEXT NOT NULL,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34" name="Google Shape;934;p9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35" name="Google Shape;935;p9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9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title 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department 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salary REAL,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hire_date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cursor.execute("SELECT COUNT(*) FROM employees")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cursor.fetchone()[0]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sample_employees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("Alice Chen", "Senior Engineer", "Engineering", 145000, "2022-03-15"),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("Bob Martinez", "Product Manager", "Product", 135000, "2021-07-01"),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("Carol Johnson", "Data Analyst", "Analytics", 95000, "2023-01-10"),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("David Kim", "VP Engineering", "Engineering", 195000, "2020-01-15"),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("Eva Patel", "Marketing Manager", "Marketing", 115000, "2022-06-01"),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("Frank Wilson", "Sales Rep", "Sales", 85000, "2023-04-20"),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("Grace Lee", "UX Designer", "Design", 110000, "2022-09-01"),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("Henry Brown", "DevOps Engineer", "Engineering", 130000, "2021-11-15"),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("Iris Wang", "Business Analyst", "Analytics", 90000, "2023-02-28"),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("Jack Taylor", "Sales Director", "Sales", 155000, "2020-08-01"),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cursor.executemany(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"INSERT INTO employees (name, title, department, salary, hire_date)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"VALUES (?, ?, ?, ?, ?)", sample_employees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42" name="Google Shape;942;p9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43" name="Google Shape;943;p9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9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Initialize sample data on import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_setup_sample_data()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Resource: List tables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list_tables()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all tables in the business database."""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cursor.execute("SELECT name FROM sqlite_master WHERE type='table' ORDER BY name")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tables = [row[0] for row in cursor.fetchall()]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json.dumps({"database": DATABASE_PATH, "tables": tables},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 Template: Table schema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@server.resource("db://tables/{table_name}/schema")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table_schema(table_name: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the column definitions for a specific table."""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cursor.execute(f"PRAGMA table_info({table_name})")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columns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columns: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9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50" name="Google Shape;950;p9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51" name="Google Shape;951;p9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99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f"Table '{table_name}' not found."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[f"Schema for: {table_name}",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lines.append("Column | Type | Nullable | Primary Key")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lines.append("-------|------|----------|------------")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col in columns: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nullable = "NO" if col[3] else "YES"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pk = "YES" if col[5] else 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lines.append(f"{col[1]} | {col[2]} | {nullable} | {pk}")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Execute read-only query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query(sql: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"""Execute a read-only SQL query against the business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Only SELECT statements are allowed. Returns results as a formatted 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sql: A SQL SELECT query to execute.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Security: only allow SELECT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sql_stripped = sql.strip().upper()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sql_stripped.startswith("SELECT"):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Only SELECT queries are allowed. Use insert_record for writes."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Block dangerous keywords even in SELECT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0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58" name="Google Shape;958;p10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59" name="Google Shape;959;p10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00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dangerous = ["DROP", "DELETE", "UPDATE", "INSERT", "ALTER", "CREATE"]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keyword in dangerous: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keyword in sql_stripped: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return f"Error: '{keyword}' is not allowed in queries."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cursor.execute(sql)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rows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columns = [desc[0] for desc in cursor.description]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not rows: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return "Query returned no results."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# Format as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header = " | ".join(columns)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separator = " | ".join("-" * len(c) for c in columns)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 = [header, separator]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for row in rows[:100]:  # Limit to 100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lines.append(" | ".join(str(v) for v in row))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result =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len(rows) &gt; 100: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result += f"\n\n... showing 100 of {len(rows)} rows"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66" name="Google Shape;966;p10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67" name="Google Shape;967;p10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0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Exception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f"Query error: {str(e)}"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Insert record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insert_record(table: str, data: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"""Insert a new record into a 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table: The table name to insert into.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data: JSON string of column:value pairs.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Example: '{"name": "John", "department": "Sales", "salary": 90000}'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record = json.loads(data)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json.JSONDecodeError: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'data' must be a valid JSON string."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columns = ", ".join(record.keys())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placeholders = ", ".join("?" for _ in record)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values = list(record.values())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cursor.execute(f"INSERT INTO {table} ({columns}) VALUES ({placeholders})", values)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0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74" name="Google Shape;974;p10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75" name="Google Shape;975;p10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0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row_id = cursor.lastrowid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f"Inserted record into '{table}' with ID {row_id}."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Exception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f"Insert error: {str(e)}"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Tool: Quick summary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get_summary(table: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a quick summary of a database table (row count, sample data).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table: The table name to summarize.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 = _get_connection()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cursor.execute(f"SELECT COUNT(*) FROM {table}")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count = cursor.fetchone()[0]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cursor.execute(f"SELECT * FROM {table} LIMIT 3")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samples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columns = [desc[0] for desc in cursor.description]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 = [f"Table: {table}", f"Total rows: {count}", "", "Sample records:"]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0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982" name="Google Shape;982;p10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a Database Server — Code (cont.)</a:t>
            </a:r>
            <a:endParaRPr/>
          </a:p>
        </p:txBody>
      </p:sp>
      <p:sp>
        <p:nvSpPr>
          <p:cNvPr id="983" name="Google Shape;983;p10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03"/>
          <p:cNvSpPr/>
          <p:nvPr/>
        </p:nvSpPr>
        <p:spPr>
          <a:xfrm>
            <a:off x="548640" y="1051560"/>
            <a:ext cx="11064240" cy="50109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for row in samples: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record = dict(zip(columns, row))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lines.append(f"  {json.dumps(record)}")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Exception as 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{str(e)}"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Prompt: Data analysis guide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data_analysis()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"""Guide for analyzing the business database."""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are a business data analyst connected to a company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Steps for analysis: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Read db://tables to see available tables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Read db://tables/{name}/schema for column details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Use get_summary(table) for a quick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4. Use query(sql) for detailed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Always start by understanding the schema before writing queries.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Present results with clear tables and insights.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Suggest follow-up questions the user might find interesting."""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0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990" name="Google Shape;990;p10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Error Handling &amp; Best Practices</a:t>
            </a:r>
            <a:endParaRPr/>
          </a:p>
        </p:txBody>
      </p:sp>
      <p:sp>
        <p:nvSpPr>
          <p:cNvPr id="991" name="Google Shape;991;p10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04"/>
          <p:cNvSpPr txBox="1"/>
          <p:nvPr/>
        </p:nvSpPr>
        <p:spPr>
          <a:xfrm>
            <a:off x="548640" y="1051560"/>
            <a:ext cx="11064240" cy="1305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Building reliable MCP servers requires thoughtful error handling. Here are the patterns that matter: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 #1: Never let your server crash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servers run as long-lived processes. An unhandled exception kills the server and disconnects all clients.</a:t>
            </a:r>
            <a:endParaRPr/>
          </a:p>
        </p:txBody>
      </p:sp>
      <p:sp>
        <p:nvSpPr>
          <p:cNvPr id="993" name="Google Shape;993;p104"/>
          <p:cNvSpPr/>
          <p:nvPr/>
        </p:nvSpPr>
        <p:spPr>
          <a:xfrm>
            <a:off x="548640" y="2429865"/>
            <a:ext cx="11064240" cy="223113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BAD — server crashes on bad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divide(a: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str(a / b)  # Crashes when b=0!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GOOD — return error message as a string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divide(a: float, b: float)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b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Cannot divide by zero."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str(a / b)</a:t>
            </a:r>
            <a:endParaRPr/>
          </a:p>
        </p:txBody>
      </p:sp>
      <p:sp>
        <p:nvSpPr>
          <p:cNvPr id="994" name="Google Shape;994;p104"/>
          <p:cNvSpPr txBox="1"/>
          <p:nvPr/>
        </p:nvSpPr>
        <p:spPr>
          <a:xfrm>
            <a:off x="548640" y="4770729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 #2: Validate inputs early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parameters before doing expensive operations:</a:t>
            </a:r>
            <a:endParaRPr/>
          </a:p>
        </p:txBody>
      </p:sp>
      <p:sp>
        <p:nvSpPr>
          <p:cNvPr id="995" name="Google Shape;995;p104"/>
          <p:cNvSpPr/>
          <p:nvPr/>
        </p:nvSpPr>
        <p:spPr>
          <a:xfrm>
            <a:off x="548640" y="5639409"/>
            <a:ext cx="11064240" cy="188366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query(sql: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Validate FIRST, execute SECOND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sql.strip().upper().startswith("SELECT"):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Only SELECT queries allowed."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len(sql) &gt; 10000: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Query too long (max 10,000 characters)."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Now safe to execute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0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1001" name="Google Shape;1001;p10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Error Handling &amp; Best Practices (cont.)</a:t>
            </a:r>
            <a:endParaRPr/>
          </a:p>
        </p:txBody>
      </p:sp>
      <p:sp>
        <p:nvSpPr>
          <p:cNvPr id="1002" name="Google Shape;1002;p10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105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 #3: Use environment variables for configuration</a:t>
            </a:r>
            <a:endParaRPr/>
          </a:p>
        </p:txBody>
      </p:sp>
      <p:sp>
        <p:nvSpPr>
          <p:cNvPr id="1004" name="Google Shape;1004;p105"/>
          <p:cNvSpPr/>
          <p:nvPr/>
        </p:nvSpPr>
        <p:spPr>
          <a:xfrm>
            <a:off x="548640" y="1481328"/>
            <a:ext cx="11064240" cy="8412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DB_PATH = os.environ.get("DATABASE_PATH", "default.db")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MAX_RESULTS = int(os.environ.get("MAX_RESULTS", "100"))</a:t>
            </a:r>
            <a:endParaRPr/>
          </a:p>
        </p:txBody>
      </p:sp>
      <p:sp>
        <p:nvSpPr>
          <p:cNvPr id="1005" name="Google Shape;1005;p105"/>
          <p:cNvSpPr txBox="1"/>
          <p:nvPr/>
        </p:nvSpPr>
        <p:spPr>
          <a:xfrm>
            <a:off x="548640" y="2432304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 #4: Log to stderr, not stdout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stdout is for protocol messages. Logging to stdout breaks the JSON-RPC stream:</a:t>
            </a:r>
            <a:endParaRPr/>
          </a:p>
        </p:txBody>
      </p:sp>
      <p:sp>
        <p:nvSpPr>
          <p:cNvPr id="1006" name="Google Shape;1006;p105"/>
          <p:cNvSpPr/>
          <p:nvPr/>
        </p:nvSpPr>
        <p:spPr>
          <a:xfrm>
            <a:off x="548640" y="3300984"/>
            <a:ext cx="11064240" cy="153619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BAD — breaks the MCP protocol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print("Debug: processing query...")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GOOD — logs go to stderr (visible in Inspector)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print("Debug: processing query...", file=sys.stderr)</a:t>
            </a:r>
            <a:endParaRPr/>
          </a:p>
        </p:txBody>
      </p:sp>
      <p:sp>
        <p:nvSpPr>
          <p:cNvPr id="1007" name="Google Shape;1007;p105"/>
          <p:cNvSpPr txBox="1"/>
          <p:nvPr/>
        </p:nvSpPr>
        <p:spPr>
          <a:xfrm>
            <a:off x="548640" y="4946904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Summary checklist:</a:t>
            </a:r>
            <a:endParaRPr/>
          </a:p>
        </p:txBody>
      </p:sp>
      <p:graphicFrame>
        <p:nvGraphicFramePr>
          <p:cNvPr id="1008" name="Google Shape;1008;p105"/>
          <p:cNvGraphicFramePr/>
          <p:nvPr/>
        </p:nvGraphicFramePr>
        <p:xfrm>
          <a:off x="548640" y="5376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Practice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Return error strings, don't raise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Keeps the server alive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Validate inputs first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Fail fast, clear messages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0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1014" name="Google Shape;1014;p10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Error Handling &amp; Best Practices (cont.)</a:t>
            </a:r>
            <a:endParaRPr/>
          </a:p>
        </p:txBody>
      </p:sp>
      <p:sp>
        <p:nvSpPr>
          <p:cNvPr id="1015" name="Google Shape;1015;p10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06"/>
          <p:cNvSpPr txBox="1"/>
          <p:nvPr/>
        </p:nvSpPr>
        <p:spPr>
          <a:xfrm>
            <a:off x="548640" y="1051560"/>
            <a:ext cx="11064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 Week 7: MCP — Model Context 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## Part 4: Advanced Patterns &amp; Production (Slides 47–53)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07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4: Advanced Patterns &amp; Production</a:t>
            </a:r>
            <a:endParaRPr/>
          </a:p>
        </p:txBody>
      </p:sp>
      <p:sp>
        <p:nvSpPr>
          <p:cNvPr id="1022" name="Google Shape;1022;p107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0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1028" name="Google Shape;1028;p10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Multi-Server Architecture</a:t>
            </a:r>
            <a:endParaRPr/>
          </a:p>
        </p:txBody>
      </p:sp>
      <p:sp>
        <p:nvSpPr>
          <p:cNvPr id="1029" name="Google Shape;1029;p10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08"/>
          <p:cNvSpPr txBox="1"/>
          <p:nvPr/>
        </p:nvSpPr>
        <p:spPr>
          <a:xfrm>
            <a:off x="548640" y="1051560"/>
            <a:ext cx="11064240" cy="101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the real world, AI applications connect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multiple MCP servers simultaneously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Each server is specialized for one domain, and the AI model orchestrates across all of them.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Example: A business analyst's Claude Desktop setup</a:t>
            </a:r>
            <a:endParaRPr/>
          </a:p>
        </p:txBody>
      </p:sp>
      <p:sp>
        <p:nvSpPr>
          <p:cNvPr id="1031" name="Google Shape;1031;p108"/>
          <p:cNvSpPr/>
          <p:nvPr/>
        </p:nvSpPr>
        <p:spPr>
          <a:xfrm>
            <a:off x="548640" y="2137257"/>
            <a:ext cx="11064240" cy="136245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Claude Desktop (Host)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MCP Client A ←→ File System Server     (read/write local files)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MCP Client B ←→ Database Server         (query business data)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MCP Client C ←→ Slack Server            (send/read messages)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├── MCP Client D ←→ Google Drive Server     (access shared docs)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└── MCP Client E ←→ Web Search Server       (look up information)</a:t>
            </a:r>
            <a:endParaRPr/>
          </a:p>
        </p:txBody>
      </p:sp>
      <p:sp>
        <p:nvSpPr>
          <p:cNvPr id="1032" name="Google Shape;1032;p108"/>
          <p:cNvSpPr txBox="1"/>
          <p:nvPr/>
        </p:nvSpPr>
        <p:spPr>
          <a:xfrm>
            <a:off x="548640" y="3609441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Configuration (claude_desktop_config.json):</a:t>
            </a:r>
            <a:endParaRPr/>
          </a:p>
        </p:txBody>
      </p:sp>
      <p:sp>
        <p:nvSpPr>
          <p:cNvPr id="1033" name="Google Shape;1033;p108"/>
          <p:cNvSpPr/>
          <p:nvPr/>
        </p:nvSpPr>
        <p:spPr>
          <a:xfrm>
            <a:off x="548640" y="4039209"/>
            <a:ext cx="11064240" cy="362102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"mcpServers":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"files":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["/path/to/file_server.py"],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{"ALLOWED_DIRECTORY": "/Users/me/projects"}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"database":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"python",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["/path/to/db_server.py"],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{"DATABASE_PATH": "/data/business.db"}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"slack":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"npx",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["-y", "@anthropic/mcp-slack"],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"env": {"SLACK_TOKEN": "xoxb-your-token"}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/>
          </a:p>
        </p:txBody>
      </p:sp>
      <p:sp>
        <p:nvSpPr>
          <p:cNvPr id="1039" name="Google Shape;1039;p10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Multi-Server Architecture (cont.)</a:t>
            </a:r>
            <a:endParaRPr/>
          </a:p>
        </p:txBody>
      </p:sp>
      <p:sp>
        <p:nvSpPr>
          <p:cNvPr id="1040" name="Google Shape;1040;p10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09"/>
          <p:cNvSpPr txBox="1"/>
          <p:nvPr/>
        </p:nvSpPr>
        <p:spPr>
          <a:xfrm>
            <a:off x="548640" y="1051560"/>
            <a:ext cx="11064240" cy="4026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the AI orchestrates across servers: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a user asks: *"Pull last month's sales data, write a summary, and post it to the #reports Slack channel"*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will: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database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query("SELECT ... FROM sales WHERE date &gt;= ...")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 the results using its reasoning capabilities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file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write_file("monthly_report.md", summary_content)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Slack server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send_message("#reports", formatted_summary)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EA5E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server handles its domain independently. The AI model is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decides which servers to use and in what order.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principles for multi-server setups: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 responsibility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one server per domain (don't build mega-servers)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Loose coupling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servers don't know about each other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Independent deployment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each server can be updated independently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Minimal permissions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each server only accesses what it needs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1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1047" name="Google Shape;1047;p11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</a:t>
            </a:r>
            <a:endParaRPr/>
          </a:p>
        </p:txBody>
      </p:sp>
      <p:sp>
        <p:nvSpPr>
          <p:cNvPr id="1048" name="Google Shape;1048;p11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10"/>
          <p:cNvSpPr txBox="1"/>
          <p:nvPr/>
        </p:nvSpPr>
        <p:spPr>
          <a:xfrm>
            <a:off x="548640" y="1051560"/>
            <a:ext cx="11064240" cy="1068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of the most powerful applications of MCP is wrapping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 (Retrieval-Augmented Generation) system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as an MCP server. This connects everything from Week 6 into a reusable, standardized interface.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wrap RAG in MCP?</a:t>
            </a:r>
            <a:endParaRPr/>
          </a:p>
        </p:txBody>
      </p:sp>
      <p:graphicFrame>
        <p:nvGraphicFramePr>
          <p:cNvPr id="1050" name="Google Shape;1050;p110"/>
          <p:cNvGraphicFramePr/>
          <p:nvPr/>
        </p:nvGraphicFramePr>
        <p:xfrm>
          <a:off x="548640" y="2193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Without MCP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With MCP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RAG is a Python script you run manually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RAG is a service any AI app can use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One model can access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Any MCP client can access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Custom integration code for each use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Standard protocol — integrate once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Hard to share with teammates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Configure in JSON and share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51" name="Google Shape;1051;p110"/>
          <p:cNvSpPr txBox="1"/>
          <p:nvPr/>
        </p:nvSpPr>
        <p:spPr>
          <a:xfrm>
            <a:off x="548640" y="3766108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for a RAG MCP Server:</a:t>
            </a:r>
            <a:endParaRPr/>
          </a:p>
        </p:txBody>
      </p:sp>
      <p:graphicFrame>
        <p:nvGraphicFramePr>
          <p:cNvPr id="1052" name="Google Shape;1052;p110"/>
          <p:cNvGraphicFramePr/>
          <p:nvPr/>
        </p:nvGraphicFramePr>
        <p:xfrm>
          <a:off x="548640" y="41958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`rag://documents`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List of indexed documents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`rag://stats`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Index statistics (doc count, size)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`search(query, top_k)`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Semantic search across documents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`ask(question)`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Full RAG pipeline — retrieve + generate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`ingest(file_path)`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Tool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Add a new document to the index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`research_assistant`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Prompt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Guide for research tasks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1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1058" name="Google Shape;1058;p11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(cont.)</a:t>
            </a:r>
            <a:endParaRPr/>
          </a:p>
        </p:txBody>
      </p:sp>
      <p:sp>
        <p:nvSpPr>
          <p:cNvPr id="1059" name="Google Shape;1059;p11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11"/>
          <p:cNvSpPr txBox="1"/>
          <p:nvPr/>
        </p:nvSpPr>
        <p:spPr>
          <a:xfrm>
            <a:off x="548640" y="1051560"/>
            <a:ext cx="11064240" cy="729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power of this approach: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Once your RAG system is an MCP server, it becomes available to Claude Desktop, Cursor, VS Code, and any other MCP host. Your knowledge base becomes a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plug-and-play capability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any AI application can use.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1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066" name="Google Shape;1066;p11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</a:t>
            </a:r>
            <a:endParaRPr/>
          </a:p>
        </p:txBody>
      </p:sp>
      <p:sp>
        <p:nvSpPr>
          <p:cNvPr id="1067" name="Google Shape;1067;p11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1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rag_mcp_server.py — RAG System as an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Wraps a ChromaDB + OpenAI embeddings RAG pipeline from Week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FastMCP("knowledge-base")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RAG Setup (from Week 6)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chromadb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openai import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Initialize components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chroma_client = chromadb.PersistentClient(path="./chroma_data")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collection = chroma_client.get_or_create_collection(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name="documents",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metadata={"hnsw:space": "cosine"}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openai_client = OpenAI()  # Uses OPENAI_API_KEY env var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_get_embedding(text: str) -&gt; list[float]: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"""Generate an embedding vector for the given text."""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response = openai_client.embeddings.create(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model="text-embedding-3-small",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input=text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1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074" name="Google Shape;1074;p11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075" name="Google Shape;1075;p11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13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response.data[0].embedding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@server.resource("rag://documents")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list_documents()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all documents in the knowledge 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results = collection.get(include=["metadatas"])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results["ids"]: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"Knowledge base is empty. Use the ingest tool to add documents."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docs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seen_sources = set()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meta in results["metadatas"]: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source = meta.get("source", "unknown")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source not in seen_sources: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seen_sources.add(source)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docs.append({"source": source, "type": meta.get("type", "text")})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"total_chunks": len(results["ids"]),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"unique_documents": len(seen_sources),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"documents": docs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@server.resource("rag://stats")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1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082" name="Google Shape;1082;p11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083" name="Google Shape;1083;p11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14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index_stats()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"""Statistics about the knowledge base index."""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count = collection.count()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"total_chunks": count,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"embedding_model": "text-embedding-3-small",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"vector_dimensions": 1536,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"distance_metric": "cosine",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"storage_path": "./chroma_data"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search(query: str, top_k: int = 5)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"""Search the knowledge base for relevant document chunks.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Returns the most semantically similar passages to your query.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query: The search query (natural language)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top_k: Number of results to return (default: 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collection.count()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"Knowledge base is empty. Ingest some documents first."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query_embedding = _get_embedding(query)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1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090" name="Google Shape;1090;p11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091" name="Google Shape;1091;p11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11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results = collection.query(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query_embeddings=[query_embedding],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n_results=min(top_k, 10)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results["documents"][0]: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"No relevant documents found for your query."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[f"Top {len(results['documents'][0])} results for: '{query}'",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i, (doc, meta, distance) in enumerate(zip(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results["documents"][0],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results["metadatas"][0],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results["distances"][0]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), 1):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similarity = round(1 - distance, 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source = meta.get("source", "unknown")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lines.append(f"--- Result {i} (similarity: {similarity}) ---")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lines.append(f"Source: {source}")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lines.append(doc[:500])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lines.append("")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ask(question: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"""Ask a question and get an answer based on the knowledge 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1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098" name="Google Shape;1098;p11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099" name="Google Shape;1099;p11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1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Uses RAG: retrieves relevant documents, then generates an answer.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question: The question to answer using the knowledge 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collection.count()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"Knowledge base is empty. Ingest some documents first."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Retrieve relevant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query_embedding = _get_embedding(question)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results = collection.query(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query_embeddings=[query_embedding],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n_results=5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context_chunks = results["documents"][0]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context = "\n\n---\n\n".join(context_chunks)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Generate answer using retrieved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response = openai_client.chat.completions.create(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model="gpt-4o-mini",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messages=[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{"role": "system", "content":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"Answer questions based on the provided context.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"If the context doesn't contain the answer, say so.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"Cite the source documents when possible."},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{"role": "user", "content":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f"Context:\n{context}\n\nQuestion: {question}"}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1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106" name="Google Shape;1106;p11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107" name="Google Shape;1107;p11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1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max_tokens=500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answer = response.choices[0].message.content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sources = [m.get("source", "unknown") for m in results["metadatas"][0]]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unique_sources = list(set(sources))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f"{answer}\n\nSources: {', '.join(unique_sources)}"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ingest(file_path: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"""Add a text file to the knowledge 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Reads the file, splits it into chunks, generates embeddings,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and stores them in the vector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file_path: Path to a text file to ingest.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os.path.isfile(file_path):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File not found: {file_path}"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with open(file_path, "r", encoding="utf-8") as 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content = f.read()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except UnicodeDecodeError: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1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114" name="Google Shape;1114;p11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115" name="Google Shape;1115;p11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11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Not a text file: {file_path}"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Simple chunking (500 char chunks with 50 char overlap)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chunk_size = 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overlap =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chunks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i in range(0, len(content), chunk_size - overlap):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chunk = content[i:i + chunk_size]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chunk.strip():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chunks.append(chunk)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Generate embeddings and 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filename = os.path.basename(file_path)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ids = [f"{filename}_chunk_{i}" for i in range(len(chunks))]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embeddings = [_get_embedding(chunk) for chunk in chunks]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metadatas = [{"source": filename, "type": "text", "chunk": i}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for i in range(len(chunks))]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collection.add(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ids=ids,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documents=chunks,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embeddings=embeddings,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metadatas=metadatas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f"Ingested '{filename}': {len(chunks)} chunks added to knowledge base."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1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/>
          </a:p>
        </p:txBody>
      </p:sp>
      <p:sp>
        <p:nvSpPr>
          <p:cNvPr id="1122" name="Google Shape;1122;p11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RAG as an MCP Server — Code (cont.)</a:t>
            </a:r>
            <a:endParaRPr/>
          </a:p>
        </p:txBody>
      </p:sp>
      <p:sp>
        <p:nvSpPr>
          <p:cNvPr id="1123" name="Google Shape;1123;p11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119"/>
          <p:cNvSpPr/>
          <p:nvPr/>
        </p:nvSpPr>
        <p:spPr>
          <a:xfrm>
            <a:off x="548640" y="1051560"/>
            <a:ext cx="11064240" cy="362102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research_assistant()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"""Guide for using the knowledge base as a research tool."""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are a research assistant with access to a document knowledge 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Workflow: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Read rag://documents to see what's indexed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Use search(query) to find relevant passages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Use ask(question) for synthesized answers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4. Use ingest(path) to add new documents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For complex questions, search first to understand available info,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then use ask() for a comprehensive answer. Always cite sources."""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1125" name="Google Shape;1125;p119"/>
          <p:cNvSpPr txBox="1"/>
          <p:nvPr/>
        </p:nvSpPr>
        <p:spPr>
          <a:xfrm>
            <a:off x="548640" y="4782312"/>
            <a:ext cx="11064240" cy="627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server turns your Week 6 RAG system into a reusable MCP service.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Any MCP client can now search your knowledge base, ask questions, and ingest new documents — all through the standard protocol.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2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131" name="Google Shape;1131;p12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Security Considerations</a:t>
            </a:r>
            <a:endParaRPr/>
          </a:p>
        </p:txBody>
      </p:sp>
      <p:sp>
        <p:nvSpPr>
          <p:cNvPr id="1132" name="Google Shape;1132;p12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20"/>
          <p:cNvSpPr txBox="1"/>
          <p:nvPr/>
        </p:nvSpPr>
        <p:spPr>
          <a:xfrm>
            <a:off x="548640" y="1051560"/>
            <a:ext cx="11064240" cy="1002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is critical for MCP servers. Your server sits between a powerful AI model and real systems (databases, files, APIs). A poorly secured server can cause serious damage.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Threat Model:</a:t>
            </a:r>
            <a:endParaRPr/>
          </a:p>
        </p:txBody>
      </p:sp>
      <p:sp>
        <p:nvSpPr>
          <p:cNvPr id="1134" name="Google Shape;1134;p120"/>
          <p:cNvSpPr/>
          <p:nvPr/>
        </p:nvSpPr>
        <p:spPr>
          <a:xfrm>
            <a:off x="548640" y="2127504"/>
            <a:ext cx="11064240" cy="8412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User → AI Model → MCP Client → MCP Server → External 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↑                            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Trust boundary 1             Trust boundary 2</a:t>
            </a:r>
            <a:endParaRPr/>
          </a:p>
        </p:txBody>
      </p:sp>
      <p:sp>
        <p:nvSpPr>
          <p:cNvPr id="1135" name="Google Shape;1135;p120"/>
          <p:cNvSpPr txBox="1"/>
          <p:nvPr/>
        </p:nvSpPr>
        <p:spPr>
          <a:xfrm>
            <a:off x="548640" y="3078480"/>
            <a:ext cx="11064240" cy="1244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 boundary 1: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 AI model may request actions the user didn't intend. The host should ask for confirmation on sensitive operations.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 boundary 2: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The MCP server connects to real systems. It must enforce access controls regardless of what the AI requests.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principles for MCP servers:</a:t>
            </a:r>
            <a:endParaRPr/>
          </a:p>
        </p:txBody>
      </p:sp>
      <p:sp>
        <p:nvSpPr>
          <p:cNvPr id="1136" name="Google Shape;1136;p120"/>
          <p:cNvSpPr txBox="1"/>
          <p:nvPr/>
        </p:nvSpPr>
        <p:spPr>
          <a:xfrm>
            <a:off x="548640" y="4395825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1. Principle of Least Privilege</a:t>
            </a:r>
            <a:endParaRPr/>
          </a:p>
        </p:txBody>
      </p:sp>
      <p:sp>
        <p:nvSpPr>
          <p:cNvPr id="1137" name="Google Shape;1137;p120"/>
          <p:cNvSpPr txBox="1"/>
          <p:nvPr/>
        </p:nvSpPr>
        <p:spPr>
          <a:xfrm>
            <a:off x="548640" y="4834737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Give your server access to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what it needs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138" name="Google Shape;1138;p120"/>
          <p:cNvSpPr/>
          <p:nvPr/>
        </p:nvSpPr>
        <p:spPr>
          <a:xfrm>
            <a:off x="548640" y="5264505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BAD: Full filesystem access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ALLOWED_DIR = "/"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GOOD: Restricted to specific directory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ALLOWED_DIR = "/data/reports"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2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144" name="Google Shape;1144;p12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Security Considerations (cont.)</a:t>
            </a:r>
            <a:endParaRPr/>
          </a:p>
        </p:txBody>
      </p:sp>
      <p:sp>
        <p:nvSpPr>
          <p:cNvPr id="1145" name="Google Shape;1145;p12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12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2. Input Validation</a:t>
            </a:r>
            <a:endParaRPr/>
          </a:p>
        </p:txBody>
      </p:sp>
      <p:sp>
        <p:nvSpPr>
          <p:cNvPr id="1147" name="Google Shape;1147;p121"/>
          <p:cNvSpPr txBox="1"/>
          <p:nvPr/>
        </p:nvSpPr>
        <p:spPr>
          <a:xfrm>
            <a:off x="548640" y="1490472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Never trust inputs from the AI model:</a:t>
            </a:r>
            <a:endParaRPr/>
          </a:p>
        </p:txBody>
      </p:sp>
      <p:sp>
        <p:nvSpPr>
          <p:cNvPr id="1148" name="Google Shape;1148;p121"/>
          <p:cNvSpPr/>
          <p:nvPr/>
        </p:nvSpPr>
        <p:spPr>
          <a:xfrm>
            <a:off x="548640" y="1920240"/>
            <a:ext cx="11064240" cy="188366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query(sql: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Validate before executing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sql.strip().upper().startswith("SELECT"):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"Error: Only SELECT queries allowed."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Block dangerous operations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keyword in ["DROP", "DELETE", "UPDATE", "ALTER"]: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if keyword in sql.upper():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return f"Error: {keyword} is not permitted."</a:t>
            </a:r>
            <a:endParaRPr/>
          </a:p>
        </p:txBody>
      </p:sp>
      <p:sp>
        <p:nvSpPr>
          <p:cNvPr id="1149" name="Google Shape;1149;p121"/>
          <p:cNvSpPr txBox="1"/>
          <p:nvPr/>
        </p:nvSpPr>
        <p:spPr>
          <a:xfrm>
            <a:off x="548640" y="391363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3. Path Traversal Prevention</a:t>
            </a:r>
            <a:endParaRPr/>
          </a:p>
        </p:txBody>
      </p:sp>
      <p:sp>
        <p:nvSpPr>
          <p:cNvPr id="1150" name="Google Shape;1150;p121"/>
          <p:cNvSpPr txBox="1"/>
          <p:nvPr/>
        </p:nvSpPr>
        <p:spPr>
          <a:xfrm>
            <a:off x="548640" y="4352544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Always validate file paths:</a:t>
            </a:r>
            <a:endParaRPr/>
          </a:p>
        </p:txBody>
      </p:sp>
      <p:sp>
        <p:nvSpPr>
          <p:cNvPr id="1151" name="Google Shape;1151;p121"/>
          <p:cNvSpPr/>
          <p:nvPr/>
        </p:nvSpPr>
        <p:spPr>
          <a:xfrm>
            <a:off x="548640" y="4782312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safe_path(user_path: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full = os.path.realpath(os.path.join(BASE_DIR, user_path))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full.startswith(os.path.realpath(BASE_DIR)):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raise ValueError("Path traversal detected!")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full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2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157" name="Google Shape;1157;p12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Security Considerations (cont.)</a:t>
            </a:r>
            <a:endParaRPr/>
          </a:p>
        </p:txBody>
      </p:sp>
      <p:sp>
        <p:nvSpPr>
          <p:cNvPr id="1158" name="Google Shape;1158;p12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12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4. No Secrets in Code</a:t>
            </a:r>
            <a:endParaRPr/>
          </a:p>
        </p:txBody>
      </p:sp>
      <p:sp>
        <p:nvSpPr>
          <p:cNvPr id="1160" name="Google Shape;1160;p122"/>
          <p:cNvSpPr txBox="1"/>
          <p:nvPr/>
        </p:nvSpPr>
        <p:spPr>
          <a:xfrm>
            <a:off x="548640" y="1490472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environment variables:</a:t>
            </a:r>
            <a:endParaRPr/>
          </a:p>
        </p:txBody>
      </p:sp>
      <p:sp>
        <p:nvSpPr>
          <p:cNvPr id="1161" name="Google Shape;1161;p122"/>
          <p:cNvSpPr/>
          <p:nvPr/>
        </p:nvSpPr>
        <p:spPr>
          <a:xfrm>
            <a:off x="548640" y="1920240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BAD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API_KEY = "sk-proj-abc123..."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GOOD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API_KEY = os.environ["API_KEY"]</a:t>
            </a:r>
            <a:endParaRPr/>
          </a:p>
        </p:txBody>
      </p:sp>
      <p:sp>
        <p:nvSpPr>
          <p:cNvPr id="1162" name="Google Shape;1162;p122"/>
          <p:cNvSpPr txBox="1"/>
          <p:nvPr/>
        </p:nvSpPr>
        <p:spPr>
          <a:xfrm>
            <a:off x="548640" y="3218687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5. Rate Limiting for Remote Servers</a:t>
            </a:r>
            <a:endParaRPr/>
          </a:p>
        </p:txBody>
      </p:sp>
      <p:sp>
        <p:nvSpPr>
          <p:cNvPr id="1163" name="Google Shape;1163;p122"/>
          <p:cNvSpPr txBox="1"/>
          <p:nvPr/>
        </p:nvSpPr>
        <p:spPr>
          <a:xfrm>
            <a:off x="548640" y="3657599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using HTTP transport, add rate limiting to prevent abuse.</a:t>
            </a:r>
            <a:endParaRPr/>
          </a:p>
        </p:txBody>
      </p:sp>
      <p:sp>
        <p:nvSpPr>
          <p:cNvPr id="1164" name="Google Shape;1164;p122"/>
          <p:cNvSpPr txBox="1"/>
          <p:nvPr/>
        </p:nvSpPr>
        <p:spPr>
          <a:xfrm>
            <a:off x="548640" y="4087367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6. Audit Logging</a:t>
            </a:r>
            <a:endParaRPr/>
          </a:p>
        </p:txBody>
      </p:sp>
      <p:sp>
        <p:nvSpPr>
          <p:cNvPr id="1165" name="Google Shape;1165;p122"/>
          <p:cNvSpPr txBox="1"/>
          <p:nvPr/>
        </p:nvSpPr>
        <p:spPr>
          <a:xfrm>
            <a:off x="548640" y="4526279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 all tool calls for accountability:</a:t>
            </a:r>
            <a:endParaRPr/>
          </a:p>
        </p:txBody>
      </p:sp>
      <p:sp>
        <p:nvSpPr>
          <p:cNvPr id="1166" name="Google Shape;1166;p122"/>
          <p:cNvSpPr/>
          <p:nvPr/>
        </p:nvSpPr>
        <p:spPr>
          <a:xfrm>
            <a:off x="548640" y="4956047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delete_record(id: int)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print(f"AUDIT: delete_record called with id={id}", file=sys.stderr)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2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172" name="Google Shape;1172;p12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Security Considerations (cont.)</a:t>
            </a:r>
            <a:endParaRPr/>
          </a:p>
        </p:txBody>
      </p:sp>
      <p:sp>
        <p:nvSpPr>
          <p:cNvPr id="1173" name="Google Shape;1173;p12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123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checklist:</a:t>
            </a:r>
            <a:endParaRPr/>
          </a:p>
        </p:txBody>
      </p:sp>
      <p:graphicFrame>
        <p:nvGraphicFramePr>
          <p:cNvPr id="1175" name="Google Shape;1175;p123"/>
          <p:cNvGraphicFramePr/>
          <p:nvPr/>
        </p:nvGraphicFramePr>
        <p:xfrm>
          <a:off x="548640" y="1481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Check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All file paths validated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Prevent path traversal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SQL queries restricted to SELECT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Prevent data destruction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Parameterized queries where possible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Prevent SQL injection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Environment variables for secrets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Prevent credential leaks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Input size limits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Prevent memory exhaustion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Logging on sensitive operations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Audit trail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Error messages don't leak internals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Don't expose stack traces or DB schema to attackers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2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1181" name="Google Shape;1181;p12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MCP Server Registry</a:t>
            </a:r>
            <a:endParaRPr/>
          </a:p>
        </p:txBody>
      </p:sp>
      <p:sp>
        <p:nvSpPr>
          <p:cNvPr id="1182" name="Google Shape;1182;p12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24"/>
          <p:cNvSpPr txBox="1"/>
          <p:nvPr/>
        </p:nvSpPr>
        <p:spPr>
          <a:xfrm>
            <a:off x="548640" y="1051560"/>
            <a:ext cx="11064240" cy="966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don't have to build every MCP server from scratch. There is a growing ecosystem of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pre-built MCP servers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you can install and configure immediately.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to find MCP servers:</a:t>
            </a:r>
            <a:endParaRPr/>
          </a:p>
        </p:txBody>
      </p:sp>
      <p:graphicFrame>
        <p:nvGraphicFramePr>
          <p:cNvPr id="1184" name="Google Shape;1184;p124"/>
          <p:cNvGraphicFramePr/>
          <p:nvPr/>
        </p:nvGraphicFramePr>
        <p:xfrm>
          <a:off x="548640" y="20909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URL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What's There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Anthropic Official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github.com/modelcontextprotocol/servers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Reference implementations (filesystem, GitHub, Slack, PostgreSQL, etc.)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Community Directory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github.com/punkpeye/awesome-mcp-servers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Curated list of 2000+ servers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npm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npmjs.com (search "mcp-server")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Node.js MCP servers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PyPI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pypi.org (search "mcp")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Python MCP servers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185" name="Google Shape;1185;p124"/>
          <p:cNvSpPr txBox="1"/>
          <p:nvPr/>
        </p:nvSpPr>
        <p:spPr>
          <a:xfrm>
            <a:off x="548640" y="3663696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Popular pre-built servers:</a:t>
            </a:r>
            <a:endParaRPr/>
          </a:p>
        </p:txBody>
      </p:sp>
      <p:graphicFrame>
        <p:nvGraphicFramePr>
          <p:cNvPr id="1186" name="Google Shape;1186;p124"/>
          <p:cNvGraphicFramePr/>
          <p:nvPr/>
        </p:nvGraphicFramePr>
        <p:xfrm>
          <a:off x="548640" y="4093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Server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Language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`@modelcontextprotocol/server-filesystem`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Read/write files with security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`@modelcontextprotocol/server-github`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GitHub repos, issues, PRs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`@modelcontextprotocol/server-postgres`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PostgreSQL queries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`@modelcontextprotocol/server-slack`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Slack messages and channels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`@modelcontextprotocol/server-brave-search`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Web search via Brave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`@modelcontextprotocol/server-puppeteer`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Web browser automation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`mcp-server-sqlite`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Python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SQLite database access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2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1192" name="Google Shape;1192;p12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MCP Server Registry (cont.)</a:t>
            </a:r>
            <a:endParaRPr/>
          </a:p>
        </p:txBody>
      </p:sp>
      <p:sp>
        <p:nvSpPr>
          <p:cNvPr id="1193" name="Google Shape;1193;p12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125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Installing a pre-built server (example: filesystem):</a:t>
            </a:r>
            <a:endParaRPr/>
          </a:p>
        </p:txBody>
      </p:sp>
      <p:sp>
        <p:nvSpPr>
          <p:cNvPr id="1195" name="Google Shape;1195;p125"/>
          <p:cNvSpPr/>
          <p:nvPr/>
        </p:nvSpPr>
        <p:spPr>
          <a:xfrm>
            <a:off x="548640" y="1481328"/>
            <a:ext cx="11064240" cy="257860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// claude_desktop_config.json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"mcpServers":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"filesystem":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"command": "npx",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"args":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"-y",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"@modelcontextprotocol/server-filesystem",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"/Users/yourname/Documents"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196" name="Google Shape;1196;p125"/>
          <p:cNvSpPr txBox="1"/>
          <p:nvPr/>
        </p:nvSpPr>
        <p:spPr>
          <a:xfrm>
            <a:off x="548640" y="4169664"/>
            <a:ext cx="11064240" cy="1453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Evaluating third-party servers: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code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is it well-written and maintained?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does it validate inputs? Restrict access?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when was the last commit? Are issues addressed?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license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is it compatible with your use case?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locally first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use MCP Inspector before adding to production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2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1202" name="Google Shape;1202;p12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Production MCP Servers</a:t>
            </a:r>
            <a:endParaRPr/>
          </a:p>
        </p:txBody>
      </p:sp>
      <p:sp>
        <p:nvSpPr>
          <p:cNvPr id="1203" name="Google Shape;1203;p12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126"/>
          <p:cNvSpPr txBox="1"/>
          <p:nvPr/>
        </p:nvSpPr>
        <p:spPr>
          <a:xfrm>
            <a:off x="548640" y="1051560"/>
            <a:ext cx="11064240" cy="85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Moving from development to production requires additional considerations. Here's a production readiness checklist: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Structured Logging</a:t>
            </a:r>
            <a:endParaRPr/>
          </a:p>
        </p:txBody>
      </p:sp>
      <p:sp>
        <p:nvSpPr>
          <p:cNvPr id="1205" name="Google Shape;1205;p126"/>
          <p:cNvSpPr/>
          <p:nvPr/>
        </p:nvSpPr>
        <p:spPr>
          <a:xfrm>
            <a:off x="548640" y="1978761"/>
            <a:ext cx="11064240" cy="309981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logging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Configure logging to stderr (stdout is for protocol)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logging.basicConfig(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stream=sys.stderr,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level=logging.INFO,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format="%(asctime)s [%(levelname)s] %(message)s"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logger = logging.getLogger("mcp-server")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query(sql: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logger.info(f"Executing query: {sql[:100]}...")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... execute query 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logger.info(f"Query returned {len(rows)} rows")</a:t>
            </a:r>
            <a:endParaRPr/>
          </a:p>
        </p:txBody>
      </p:sp>
      <p:sp>
        <p:nvSpPr>
          <p:cNvPr id="1206" name="Google Shape;1206;p126"/>
          <p:cNvSpPr txBox="1"/>
          <p:nvPr/>
        </p:nvSpPr>
        <p:spPr>
          <a:xfrm>
            <a:off x="548640" y="5188305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Configuration Management</a:t>
            </a:r>
            <a:endParaRPr/>
          </a:p>
        </p:txBody>
      </p:sp>
      <p:sp>
        <p:nvSpPr>
          <p:cNvPr id="1207" name="Google Shape;1207;p126"/>
          <p:cNvSpPr/>
          <p:nvPr/>
        </p:nvSpPr>
        <p:spPr>
          <a:xfrm>
            <a:off x="548640" y="5618073"/>
            <a:ext cx="11064240" cy="153619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class Config: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DB_PATH = os.environ.get("DATABASE_PATH", "default.db")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MAX_RESULTS = int(os.environ.get("MAX_RESULTS", "100"))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LOG_LEVEL = os.environ.get("LOG_LEVEL", "INFO")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ALLOWED_TABLES = os.environ.get("ALLOWED_TABLES", "").split(",")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2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1213" name="Google Shape;1213;p12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Production MCP Servers (cont.)</a:t>
            </a:r>
            <a:endParaRPr/>
          </a:p>
        </p:txBody>
      </p:sp>
      <p:sp>
        <p:nvSpPr>
          <p:cNvPr id="1214" name="Google Shape;1214;p12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27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Health Checks</a:t>
            </a:r>
            <a:endParaRPr/>
          </a:p>
        </p:txBody>
      </p:sp>
      <p:sp>
        <p:nvSpPr>
          <p:cNvPr id="1216" name="Google Shape;1216;p127"/>
          <p:cNvSpPr/>
          <p:nvPr/>
        </p:nvSpPr>
        <p:spPr>
          <a:xfrm>
            <a:off x="548640" y="1481328"/>
            <a:ext cx="11064240" cy="20574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@server.resource("health://status")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health_check()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"""Server health status."""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checks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"database": check_db_connection(),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"disk_space": check_disk_space(),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"memory": check_memory_usage()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status = "healthy" if all(checks.values()) else "degraded"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json.dumps({"status": status, "checks": checks}, indent=2)</a:t>
            </a:r>
            <a:endParaRPr/>
          </a:p>
        </p:txBody>
      </p:sp>
      <p:sp>
        <p:nvSpPr>
          <p:cNvPr id="1217" name="Google Shape;1217;p127"/>
          <p:cNvSpPr txBox="1"/>
          <p:nvPr/>
        </p:nvSpPr>
        <p:spPr>
          <a:xfrm>
            <a:off x="548640" y="3648456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Graceful Error Handling</a:t>
            </a:r>
            <a:endParaRPr/>
          </a:p>
        </p:txBody>
      </p:sp>
      <p:sp>
        <p:nvSpPr>
          <p:cNvPr id="1218" name="Google Shape;1218;p127"/>
          <p:cNvSpPr/>
          <p:nvPr/>
        </p:nvSpPr>
        <p:spPr>
          <a:xfrm>
            <a:off x="548640" y="4078224"/>
            <a:ext cx="11064240" cy="240487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safe_query(sql: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"""Query with connection pooling and retry logic."""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attempt in range(3):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conn = get_connection()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result = execute(conn, sql)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return format_result(result)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except ConnectionError: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logger.warning(f"Connection failed (attempt {attempt + 1}/3)")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if attempt == 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"Error: Database temporarily unavailable. Please try again."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2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1224" name="Google Shape;1224;p12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Building Production MCP Servers (cont.)</a:t>
            </a:r>
            <a:endParaRPr/>
          </a:p>
        </p:txBody>
      </p:sp>
      <p:sp>
        <p:nvSpPr>
          <p:cNvPr id="1225" name="Google Shape;1225;p12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128"/>
          <p:cNvSpPr txBox="1"/>
          <p:nvPr/>
        </p:nvSpPr>
        <p:spPr>
          <a:xfrm>
            <a:off x="548640" y="105156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Testing</a:t>
            </a:r>
            <a:endParaRPr/>
          </a:p>
        </p:txBody>
      </p:sp>
      <p:sp>
        <p:nvSpPr>
          <p:cNvPr id="1227" name="Google Shape;1227;p128"/>
          <p:cNvSpPr/>
          <p:nvPr/>
        </p:nvSpPr>
        <p:spPr>
          <a:xfrm>
            <a:off x="548640" y="1481328"/>
            <a:ext cx="11064240" cy="275234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test_server.py — Test your MCP server tools directly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server import query, search, list_files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test_query_select_only():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query("DROP TABLE employees")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assert "Error" in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test_query_valid():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query("SELECT COUNT(*) FROM employees")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assert "Error" not in result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test_path_traversal():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result = list_files("../../../etc")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assert "Access denied" in result</a:t>
            </a:r>
            <a:endParaRPr/>
          </a:p>
        </p:txBody>
      </p:sp>
      <p:sp>
        <p:nvSpPr>
          <p:cNvPr id="1228" name="Google Shape;1228;p128"/>
          <p:cNvSpPr txBox="1"/>
          <p:nvPr/>
        </p:nvSpPr>
        <p:spPr>
          <a:xfrm>
            <a:off x="548640" y="4343400"/>
            <a:ext cx="110642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Production checklist:</a:t>
            </a:r>
            <a:endParaRPr/>
          </a:p>
        </p:txBody>
      </p:sp>
      <p:graphicFrame>
        <p:nvGraphicFramePr>
          <p:cNvPr id="1229" name="Google Shape;1229;p128"/>
          <p:cNvGraphicFramePr/>
          <p:nvPr/>
        </p:nvGraphicFramePr>
        <p:xfrm>
          <a:off x="548640" y="4773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Reliability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Structured logging, error handling, retries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Input validation, path checks, SQL restriction, no secrets in 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Configuration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Environment variables, no hardcoded values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Monitoring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Health check resource, request logging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2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sp>
        <p:nvSpPr>
          <p:cNvPr id="1235" name="Google Shape;1235;p12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Future of MCP</a:t>
            </a:r>
            <a:endParaRPr/>
          </a:p>
        </p:txBody>
      </p:sp>
      <p:sp>
        <p:nvSpPr>
          <p:cNvPr id="1236" name="Google Shape;1236;p12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29"/>
          <p:cNvSpPr txBox="1"/>
          <p:nvPr/>
        </p:nvSpPr>
        <p:spPr>
          <a:xfrm>
            <a:off x="548640" y="1051560"/>
            <a:ext cx="11064240" cy="255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is evolving rapidly. Here's what's coming and where the ecosystem is heading: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state (2025-2026):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Stable protocol specification (JSON-RPC 2.0)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transport options: stdio and Streamable HTTP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 primitives: Resources, Tools, Prompts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SDKs in 8+ languages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2,000+ community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Adopted by major AI companies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What's coming next:</a:t>
            </a:r>
            <a:endParaRPr/>
          </a:p>
        </p:txBody>
      </p:sp>
      <p:graphicFrame>
        <p:nvGraphicFramePr>
          <p:cNvPr id="1238" name="Google Shape;1238;p129"/>
          <p:cNvGraphicFramePr/>
          <p:nvPr/>
        </p:nvGraphicFramePr>
        <p:xfrm>
          <a:off x="548640" y="3675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{CEFB1817-2680-4837-BF6E-4C7B3C77F8B6}</a:tableStyleId>
              </a:tblPr>
              <a:tblGrid>
                <a:gridCol w="3657600"/>
                <a:gridCol w="3657600"/>
                <a:gridCol w="36576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</a:rPr>
                        <a:t>What It Enables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A274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OAuth 2.0 Authentication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 development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Secure remote server access with standard auth flows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 Discovery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Proposed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AI apps automatically find and connect to relevant servers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Elicitation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 development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Servers can ask users for additional input mid-operation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Richer Streaming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In development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Better progress reporting for long-running operations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Agent-to-Agent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Proposed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1E293B"/>
                          </a:solidFill>
                        </a:rPr>
                        <a:t>MCP servers that are themselves AI agents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39" name="Google Shape;1239;p129"/>
          <p:cNvSpPr txBox="1"/>
          <p:nvPr/>
        </p:nvSpPr>
        <p:spPr>
          <a:xfrm>
            <a:off x="548640" y="5541263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bigger picture: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is part of a broader shift toward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standardized AI infrastructure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3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/>
          </a:p>
        </p:txBody>
      </p:sp>
      <p:sp>
        <p:nvSpPr>
          <p:cNvPr id="1245" name="Google Shape;1245;p13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Future of MCP (cont.)</a:t>
            </a:r>
            <a:endParaRPr/>
          </a:p>
        </p:txBody>
      </p:sp>
      <p:sp>
        <p:nvSpPr>
          <p:cNvPr id="1246" name="Google Shape;1246;p13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130"/>
          <p:cNvSpPr/>
          <p:nvPr/>
        </p:nvSpPr>
        <p:spPr>
          <a:xfrm>
            <a:off x="548640" y="1051560"/>
            <a:ext cx="11064240" cy="1188719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2023: Custom integrations (every app builds its own)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2024: MCP announced (one protocol for tool access)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2025: Ecosystem growth (2000+ servers, major adoption)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2026: Production maturity (auth, discovery, enterprise features)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2027+: AI agent networks (agents using agents via MCP)</a:t>
            </a:r>
            <a:endParaRPr/>
          </a:p>
        </p:txBody>
      </p:sp>
      <p:sp>
        <p:nvSpPr>
          <p:cNvPr id="1248" name="Google Shape;1248;p130"/>
          <p:cNvSpPr txBox="1"/>
          <p:nvPr/>
        </p:nvSpPr>
        <p:spPr>
          <a:xfrm>
            <a:off x="548640" y="2350007"/>
            <a:ext cx="11064240" cy="3670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this means for your career: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 development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 becoming a specialized skill — companies need people who can build, deploy, and maintain MCP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integration architect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roles are emerging — designing multi-server setups for enterprises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Understanding MCP gives you an edge in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 AI-adjacent role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product management, consulting, engineering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skills from this class (Python, APIs, databases, RAG, MCP) form the complete toolkit for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agent development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 items: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MCP servers for tools you use at work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Contribute to open-source MCP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Stay updated: github.com/modelcontextprotocol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Practice: the homework assignment is your first real MCP project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 Week 7: MCP — Exercises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## Hands-On Practice (5 Slides)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3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1: Introduction &amp; The Integration Problem</a:t>
            </a:r>
            <a:endParaRPr/>
          </a:p>
        </p:txBody>
      </p:sp>
      <p:sp>
        <p:nvSpPr>
          <p:cNvPr id="1254" name="Google Shape;1254;p131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13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60" name="Google Shape;1260;p13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Weather MCP Server (Beginner — 20 minutes)</a:t>
            </a:r>
            <a:endParaRPr/>
          </a:p>
        </p:txBody>
      </p:sp>
      <p:sp>
        <p:nvSpPr>
          <p:cNvPr id="1261" name="Google Shape;1261;p13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3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263" name="Google Shape;1263;p132"/>
          <p:cNvSpPr txBox="1"/>
          <p:nvPr/>
        </p:nvSpPr>
        <p:spPr>
          <a:xfrm>
            <a:off x="548640" y="1490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your first MCP server from scratch. The server will have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get_weather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 that returns weather information for a given city using mock data.</a:t>
            </a:r>
            <a:endParaRPr/>
          </a:p>
        </p:txBody>
      </p:sp>
      <p:sp>
        <p:nvSpPr>
          <p:cNvPr id="1264" name="Google Shape;1264;p132"/>
          <p:cNvSpPr txBox="1"/>
          <p:nvPr/>
        </p:nvSpPr>
        <p:spPr>
          <a:xfrm>
            <a:off x="548640" y="2066544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265" name="Google Shape;1265;p132"/>
          <p:cNvSpPr txBox="1"/>
          <p:nvPr/>
        </p:nvSpPr>
        <p:spPr>
          <a:xfrm>
            <a:off x="548640" y="2505456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get_weather(city)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returns temperature, conditions, humidity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weather://cities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lists available cities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with MCP Inspector</a:t>
            </a:r>
            <a:endParaRPr/>
          </a:p>
        </p:txBody>
      </p:sp>
      <p:sp>
        <p:nvSpPr>
          <p:cNvPr id="1266" name="Google Shape;1266;p132"/>
          <p:cNvSpPr txBox="1"/>
          <p:nvPr/>
        </p:nvSpPr>
        <p:spPr>
          <a:xfrm>
            <a:off x="548640" y="337413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Starter Code</a:t>
            </a:r>
            <a:endParaRPr/>
          </a:p>
        </p:txBody>
      </p:sp>
      <p:sp>
        <p:nvSpPr>
          <p:cNvPr id="1267" name="Google Shape;1267;p132"/>
          <p:cNvSpPr/>
          <p:nvPr/>
        </p:nvSpPr>
        <p:spPr>
          <a:xfrm>
            <a:off x="548640" y="3813048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weather_server.py — YOUR FIRST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Fill in the blanks marked with TODO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FastMCP("weather")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Mock weather data (simulating a weather API)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WEATHER_DATA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"dallas": {"temp_f": 85, "condition": "Sunny", "humidity": 45},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"new york": {"temp_f": 62, "condition": "Cloudy", "humidity": 70},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"san francisco": {"temp_f": 58, "condition": "Foggy", "humidity": 85},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"chicago": {"temp_f": 55, "condition": "Windy", "humidity": 60},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"miami": {"temp_f": 88, "condition": "Partly Cloudy", "humidity": 75},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1: Create a resource that lists available cities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URI should be "weather://cities"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Return the list of city names as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2: Create a tool called get_weather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Parameters: city (str)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Return: formatted weather info or error if city not found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Don't forget the docstring!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3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73" name="Google Shape;1273;p13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Weather MCP Server (Beginner — 20 minutes) (cont.)</a:t>
            </a:r>
            <a:endParaRPr/>
          </a:p>
        </p:txBody>
      </p:sp>
      <p:sp>
        <p:nvSpPr>
          <p:cNvPr id="1274" name="Google Shape;1274;p13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133"/>
          <p:cNvSpPr/>
          <p:nvPr/>
        </p:nvSpPr>
        <p:spPr>
          <a:xfrm>
            <a:off x="548640" y="1051560"/>
            <a:ext cx="11064240" cy="6675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3: Run the server</a:t>
            </a:r>
            <a:endParaRPr/>
          </a:p>
        </p:txBody>
      </p:sp>
      <p:sp>
        <p:nvSpPr>
          <p:cNvPr id="1276" name="Google Shape;1276;p133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to Test in Inspector</a:t>
            </a:r>
            <a:endParaRPr/>
          </a:p>
        </p:txBody>
      </p:sp>
      <p:sp>
        <p:nvSpPr>
          <p:cNvPr id="1277" name="Google Shape;1277;p133"/>
          <p:cNvSpPr txBox="1"/>
          <p:nvPr/>
        </p:nvSpPr>
        <p:spPr>
          <a:xfrm>
            <a:off x="548640" y="2267712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the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weather://cities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resource — do you see the city list?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get_weather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city="dallas" — do you get weather data?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get_weather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with city="london" — do you get an error message?</a:t>
            </a:r>
            <a:endParaRPr/>
          </a:p>
        </p:txBody>
      </p:sp>
      <p:sp>
        <p:nvSpPr>
          <p:cNvPr id="1278" name="Google Shape;1278;p133"/>
          <p:cNvSpPr txBox="1"/>
          <p:nvPr/>
        </p:nvSpPr>
        <p:spPr>
          <a:xfrm>
            <a:off x="548640" y="313639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Time: 20 minutes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34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1: Introduction &amp; The Integration Problem</a:t>
            </a:r>
            <a:endParaRPr/>
          </a:p>
        </p:txBody>
      </p:sp>
      <p:sp>
        <p:nvSpPr>
          <p:cNvPr id="1284" name="Google Shape;1284;p134"/>
          <p:cNvSpPr/>
          <p:nvPr/>
        </p:nvSpPr>
        <p:spPr>
          <a:xfrm>
            <a:off x="3657600" y="4754880"/>
            <a:ext cx="4846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3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0" name="Google Shape;1290;p13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</a:t>
            </a:r>
            <a:endParaRPr/>
          </a:p>
        </p:txBody>
      </p:sp>
      <p:sp>
        <p:nvSpPr>
          <p:cNvPr id="1291" name="Google Shape;1291;p13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3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weather_server.py — 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FastMCP("weather")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WEATHER_DATA =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"dallas": {"temp_f": 85, "condition": "Sunny", "humidity": 45},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"new york": {"temp_f": 62, "condition": "Cloudy", "humidity": 70},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"san francisco": {"temp_f": 58, "condition": "Foggy", "humidity": 85},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"chicago": {"temp_f": 55, "condition": "Windy", "humidity": 60},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"miami": {"temp_f": 88, "condition": "Partly Cloudy", "humidity": 75},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@server.resource("weather://cities")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list_cities()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all cities with available weather data."""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json.dumps({"available_cities": list(WEATHER_DATA.keys())},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get_weather(city: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current weather for a city.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city: City name (case-insensitive). Use weather://cities to see available options.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3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98" name="Google Shape;1298;p13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299" name="Google Shape;1299;p13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36"/>
          <p:cNvSpPr/>
          <p:nvPr/>
        </p:nvSpPr>
        <p:spPr>
          <a:xfrm>
            <a:off x="548640" y="1051560"/>
            <a:ext cx="11064240" cy="327355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city_lower = city.lower()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city_lower not in WEATHER_DATA: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available = ", ".join(WEATHER_DATA.keys())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f"Weather data not available for '{city}'. Available cities: {available}"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data = WEATHER_DATA[city_lower]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f"Weather for {city.title()}:\n"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  Temperature: {data['temp_f']}°F\n"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  Condition: {data['condition']}\n"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  Humidity: {data['humidity']}%"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1301" name="Google Shape;1301;p136"/>
          <p:cNvSpPr txBox="1"/>
          <p:nvPr/>
        </p:nvSpPr>
        <p:spPr>
          <a:xfrm>
            <a:off x="548640" y="4434840"/>
            <a:ext cx="11064240" cy="1485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 python weather_server.py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EA5E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Challenge variations: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Easy: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Add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get_forecast(city, days)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 that returns mock multi-day forecasts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Add a resource template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weather://{city}/history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that returns fictional historical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Hard: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Replace mock data with a real weather API (e.g., OpenWeatherMap free tier)</a:t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3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07" name="Google Shape;1307;p13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Student Database MCP Server (Intermediate — 35 minutes)</a:t>
            </a:r>
            <a:endParaRPr/>
          </a:p>
        </p:txBody>
      </p:sp>
      <p:sp>
        <p:nvSpPr>
          <p:cNvPr id="1308" name="Google Shape;1308;p13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37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310" name="Google Shape;1310;p137"/>
          <p:cNvSpPr txBox="1"/>
          <p:nvPr/>
        </p:nvSpPr>
        <p:spPr>
          <a:xfrm>
            <a:off x="548640" y="1490472"/>
            <a:ext cx="11064240" cy="48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an MCP server that gives an AI access to a student records database. This exercises all three primitives: resources, tools, and prompts.</a:t>
            </a:r>
            <a:endParaRPr/>
          </a:p>
        </p:txBody>
      </p:sp>
      <p:sp>
        <p:nvSpPr>
          <p:cNvPr id="1311" name="Google Shape;1311;p137"/>
          <p:cNvSpPr txBox="1"/>
          <p:nvPr/>
        </p:nvSpPr>
        <p:spPr>
          <a:xfrm>
            <a:off x="548640" y="2047036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312" name="Google Shape;1312;p137"/>
          <p:cNvSpPr txBox="1"/>
          <p:nvPr/>
        </p:nvSpPr>
        <p:spPr>
          <a:xfrm>
            <a:off x="548640" y="2485948"/>
            <a:ext cx="11064240" cy="101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List tables, table schema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Query students, add student, get class statistics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Student data analysis guide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SQLite with auto-created sample data</a:t>
            </a:r>
            <a:endParaRPr/>
          </a:p>
        </p:txBody>
      </p:sp>
      <p:sp>
        <p:nvSpPr>
          <p:cNvPr id="1313" name="Google Shape;1313;p137"/>
          <p:cNvSpPr txBox="1"/>
          <p:nvPr/>
        </p:nvSpPr>
        <p:spPr>
          <a:xfrm>
            <a:off x="548640" y="3574083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Starter Code</a:t>
            </a:r>
            <a:endParaRPr/>
          </a:p>
        </p:txBody>
      </p:sp>
      <p:sp>
        <p:nvSpPr>
          <p:cNvPr id="1314" name="Google Shape;1314;p137"/>
          <p:cNvSpPr/>
          <p:nvPr/>
        </p:nvSpPr>
        <p:spPr>
          <a:xfrm>
            <a:off x="548640" y="4012995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student_server.py — STUDENT DATABASE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Complete the TODO sections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FastMCP("student-records")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DB_PATH = "students.db"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setup_database():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"""Create and populate the student database."""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CREATE TABLE IF NOT EXISTS students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id INTEGER PRIMARY KEY AUTOINCREMENT,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name TEXT NOT NULL,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major 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gpa REAL,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year INTEGER,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email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cursor.execute("SELECT COUNT(*) FROM students")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cursor.fetchone()[0]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students = [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3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20" name="Google Shape;1320;p13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Student Database MCP Server (Intermediate — 35 minutes) (cont.)</a:t>
            </a:r>
            <a:endParaRPr/>
          </a:p>
        </p:txBody>
      </p:sp>
      <p:sp>
        <p:nvSpPr>
          <p:cNvPr id="1321" name="Google Shape;1321;p13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13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("Emma Watson", "Computer Science", 3.8, 3, "ew@utdallas.edu"),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("Liam Chen", "Business Analytics", 3.5, 2, "lc@utdallas.edu"),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("Sophia Rodriguez", "Finance", 3.9, 4, "sr@utdallas.edu"),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("Noah Kim", "Computer Science", 3.2, 1, "nk@utdallas.edu"),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("Olivia Patel", "Marketing", 3.6, 3, "op@utdallas.edu"),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("James Wilson", "Business Analytics", 3.4, 2, "jw@utdallas.edu"),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("Ava Johnson", "Computer Science", 3.7, 4, "aj@utdallas.edu"),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("William Brown", "Finance", 3.1, 1, "wb@utdallas.edu"),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("Isabella Davis", "Marketing", 3.8, 3, "id@utdallas.edu"),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("Benjamin Lee", "Business Analytics", 3.9, 4, "bl@utdallas.edu"),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("Mia Garcia", "Computer Science", 3.3, 2, "mg@utdallas.edu"),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("Ethan Martinez", "Finance", 3.6, 3, "em@utdallas.edu"),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("Charlotte Anderson", "Marketing", 3.5, 2, "ca@utdallas.edu"),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("Alexander Taylor", "Business Analytics", 3.7, 4, "at@utdallas.edu"),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("Amelia Thomas", "Computer Science", 3.4, 1, "at2@utdallas.edu"),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cursor.executemany(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"INSERT INTO students (name, major, gpa, year, email) VALUES (?, ?, ?, ?, ?)",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setup_database()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1: Resource — list tables in the database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URI: "db://tables"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3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28" name="Google Shape;1328;p13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Student Database MCP Server (Intermediate — 35 minutes) (cont.)</a:t>
            </a:r>
            <a:endParaRPr/>
          </a:p>
        </p:txBody>
      </p:sp>
      <p:sp>
        <p:nvSpPr>
          <p:cNvPr id="1329" name="Google Shape;1329;p13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39"/>
          <p:cNvSpPr/>
          <p:nvPr/>
        </p:nvSpPr>
        <p:spPr>
          <a:xfrm>
            <a:off x="548640" y="1051560"/>
            <a:ext cx="11064240" cy="5010912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2: Resource template — schema for a specific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URI: "db://tables/{table_name}/schema"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3: Tool — query students with optional filters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Name: query_students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Params: major (str, optional), min_gpa (float, optional), year (int, optional)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4: Tool — add a new student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Name: add_student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Params: name (str), major (str), gpa (float), year (int), email (str)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5: Tool — get statistics for a major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Name: get_statistics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Params: major (str, optional — if empty, all students)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 6: Prompt — student data analysis guide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Name: analyze_students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4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6" name="Google Shape;1336;p14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Build a Student Database MCP Server (Intermediate — 35 minutes) (cont.)</a:t>
            </a:r>
            <a:endParaRPr/>
          </a:p>
        </p:txBody>
      </p:sp>
      <p:sp>
        <p:nvSpPr>
          <p:cNvPr id="1337" name="Google Shape;1337;p14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40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What to Test</a:t>
            </a:r>
            <a:endParaRPr/>
          </a:p>
        </p:txBody>
      </p:sp>
      <p:sp>
        <p:nvSpPr>
          <p:cNvPr id="1339" name="Google Shape;1339;p140"/>
          <p:cNvSpPr txBox="1"/>
          <p:nvPr/>
        </p:nvSpPr>
        <p:spPr>
          <a:xfrm>
            <a:off x="548640" y="1490472"/>
            <a:ext cx="11064240" cy="1522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db://tables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see the students table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db://tables/students/schema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see column definitions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query_students(major="Computer Science")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get CS students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get_statistics()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get overall stats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add_student(name="Test Student", major="Physics", gpa=3.5, year=2, email="test@utdallas.edu")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add a record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Verify the new student appears in query results</a:t>
            </a:r>
            <a:endParaRPr/>
          </a:p>
        </p:txBody>
      </p:sp>
      <p:sp>
        <p:nvSpPr>
          <p:cNvPr id="1340" name="Google Shape;1340;p140"/>
          <p:cNvSpPr txBox="1"/>
          <p:nvPr/>
        </p:nvSpPr>
        <p:spPr>
          <a:xfrm>
            <a:off x="548640" y="3085795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Time: 35 minutes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4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46" name="Google Shape;1346;p14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</a:t>
            </a:r>
            <a:endParaRPr/>
          </a:p>
        </p:txBody>
      </p:sp>
      <p:sp>
        <p:nvSpPr>
          <p:cNvPr id="1347" name="Google Shape;1347;p14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14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student_server.py — 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sqlite3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FastMCP("student-records")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DB_PATH = "students.db"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setup_database():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"""Create and populate the student database."""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CREATE TABLE IF NOT EXISTS students 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id INTEGER PRIMARY KEY AUTOINCREMENT,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name TEXT NOT NULL,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major 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gpa REAL,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year INTEGER,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email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cursor.execute("SELECT COUNT(*) FROM students")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cursor.fetchone()[0]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students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("Emma Watson", "Computer Science", 3.8, 3, "ew@utdallas.edu"),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4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4" name="Google Shape;1354;p14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55" name="Google Shape;1355;p14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4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("Liam Chen", "Business Analytics", 3.5, 2, "lc@utdallas.edu"),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("Sophia Rodriguez", "Finance", 3.9, 4, "sr@utdallas.edu"),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("Noah Kim", "Computer Science", 3.2, 1, "nk@utdallas.edu"),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("Olivia Patel", "Marketing", 3.6, 3, "op@utdallas.edu"),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("James Wilson", "Business Analytics", 3.4, 2, "jw@utdallas.edu"),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("Ava Johnson", "Computer Science", 3.7, 4, "aj@utdallas.edu"),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("William Brown", "Finance", 3.1, 1, "wb@utdallas.edu"),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("Isabella Davis", "Marketing", 3.8, 3, "id@utdallas.edu"),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("Benjamin Lee", "Business Analytics", 3.9, 4, "bl@utdallas.edu"),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("Mia Garcia", "Computer Science", 3.3, 2, "mg@utdallas.edu"),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("Ethan Martinez", "Finance", 3.6, 3, "em@utdallas.edu"),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("Charlotte Anderson", "Marketing", 3.5, 2, "ca@utdallas.edu"),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("Alexander Taylor", "Business Analytics", 3.7, 4, "at@utdallas.edu"),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("Amelia Thomas", "Computer Science", 3.4, 1, "at2@utdallas.edu"),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cursor.executemany(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"INSERT INTO students (name, major, gpa, year, email) VALUES (?, ?, ?, ?, ?)",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students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conn.commit()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setup_database()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Resources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@server.resource("db://tables")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4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62" name="Google Shape;1362;p14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63" name="Google Shape;1363;p14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43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list_tables()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"""List all tables in the student database."""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cursor.execute("SELECT name FROM sqlite_master WHERE type='table'")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tables = [row[0] for row in cursor.fetchall()]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json.dumps({"tables": tables}, indent=2)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@server.resource("db://tables/{table_name}/schema")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table_schema(table_name: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column definitions for a table."""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cursor.execute(f"PRAGMA table_info({table_name})")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columns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columns: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f"Table '{table_name}' not found."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[f"Schema for: {table_name}", ""]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lines.append("Column | Type | Nullable | PK")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lines.append("-------|------|----------|---")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col in columns: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nullable = "NO" if col[3] else "YES"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pk = "YES" if col[5] else ""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44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70" name="Google Shape;1370;p144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71" name="Google Shape;1371;p144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44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lines.append(f"{col[1]} | {col[2]} | {nullable} | {pk}")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Tools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query_students(major: str = "", min_gpa: float = 0.0, year: int = 0)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"""Search for students with optional filters.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major: Filter by major (optional, empty = all majors)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min_gpa: Minimum GPA filter (optional, 0 = no filter)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year: Filter by year (optional, 0 = all years)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conditions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params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major: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conditions.append("major = ?")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params.append(major)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min_gpa &gt;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conditions.append("gpa &gt;= ?")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params.append(min_gpa)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year &gt;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conditions.append("year = ?")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45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78" name="Google Shape;1378;p145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79" name="Google Shape;1379;p145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145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params.append(year)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sql = "SELECT name, major, gpa, year, email FROM students"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conditions: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sql += " WHERE " + " AND ".join(conditions)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sql += " ORDER BY gpa DESC"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cursor.execute(sql, params)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rows = cursor.fetchall()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rows: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"No students found matching the criteria."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header = "Name | Major | GPA | Year | Email"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sep = "-----|-------|-----|------|------"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[f"Found {len(rows)} student(s):", "", header, sep]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name, major, gpa, year, email in rows: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lines.append(f"{name} | {major} | {gpa:.1f} | Year {year} | {email}")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add_student(name: str, major: str, gpa: float, year: int, email: str)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"""Add a new student record to the database.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name: Student's full name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46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86" name="Google Shape;1386;p146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87" name="Google Shape;1387;p146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146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major: Academic major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gpa: Grade point average (0.0 - 4.0)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year: Academic year (1-4)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email: Student email address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(0.0 &lt;= gpa &lt;= 4.0):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GPA must be between 0.0 and 4.0, got {gpa}"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(1 &lt;= year &lt;= 4):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Year must be between 1 and 4, got {year}"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not email or "@" not in email: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f"Error: Invalid email address: {email}"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cursor.execute(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"INSERT INTO students (name, major, gpa, year, email) VALUES (?, ?, ?, ?, ?)",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(name, major, gpa, year, email)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conn.commit()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student_id = cursor.lastrowid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f"Added student #{student_id}: {name} ({major}, Year {year}, GPA {gpa})"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@server.tool()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get_statistics(major: str = "")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"""Get statistics about students, optionally filtered by major.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47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4" name="Google Shape;1394;p147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395" name="Google Shape;1395;p147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147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major: Filter by major (optional, empty = all students)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 = sqlite3.connect(DB_PATH)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cursor = conn.cursor()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major: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SELECT COUNT(*), AVG(gpa), MIN(gpa), MAX(gpa)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FROM students WHERE major =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""", (major,))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label = f"Statistics for {major}"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cursor.execute("SELECT COUNT(*), AVG(gpa), MIN(gpa), MAX(gpa) FROM students")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label = "Overall Statistics"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row = cursor.fetchone()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# Year distribution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major: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"SELECT year, COUNT(*) FROM students WHERE major = ? GROUP BY year ORDER BY year",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(major,)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cursor.execute("SELECT year, COUNT(*) FROM students GROUP BY year ORDER BY year")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year_dist = cursor.fetchall()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48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2" name="Google Shape;1402;p148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403" name="Google Shape;1403;p148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148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conn.close()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if row[0] == 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return f"No students found for major: {major}"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lines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label,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"=" * len(label),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f"Total students: {row[0]}",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f"Average GPA: {row[1]:.2f}",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f"GPA Range: {row[2]:.1f} - {row[3]:.1f}",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"Year Distribution:"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year, count in year_dist: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lines.append(f"  Year {year}: {count} students")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"\n".join(lines)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---- Prompt ----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@server.prompt()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analyze_students() -&gt; str: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"""Guide for comprehensive student data analysis."""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return """You are an academic data analyst at UT Dallas.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Steps for analysis: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49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10" name="Google Shape;1410;p149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Solution Code (cont.)</a:t>
            </a:r>
            <a:endParaRPr/>
          </a:p>
        </p:txBody>
      </p:sp>
      <p:sp>
        <p:nvSpPr>
          <p:cNvPr id="1411" name="Google Shape;1411;p149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49"/>
          <p:cNvSpPr/>
          <p:nvPr/>
        </p:nvSpPr>
        <p:spPr>
          <a:xfrm>
            <a:off x="548640" y="1051560"/>
            <a:ext cx="11064240" cy="2752344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1. Read db://tables to see available tables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2. Read db://tables/students/schema for column details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3. Use get_statistics() for an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4. Use query_students() with filters for specific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5. Compare across majors and years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Present findings with: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Summary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Notable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- Recommendations for the academic department"""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50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18" name="Google Shape;1418;p150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Full Agent + MCP Integration (Advanced — 45 minutes)</a:t>
            </a:r>
            <a:endParaRPr/>
          </a:p>
        </p:txBody>
      </p:sp>
      <p:sp>
        <p:nvSpPr>
          <p:cNvPr id="1419" name="Google Shape;1419;p150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150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421" name="Google Shape;1421;p150"/>
          <p:cNvSpPr txBox="1"/>
          <p:nvPr/>
        </p:nvSpPr>
        <p:spPr>
          <a:xfrm>
            <a:off x="548640" y="1490472"/>
            <a:ext cx="11064240" cy="551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an MCP server that wraps a simple document knowledge base (simplified RAG from Week 6) and connect it to Claude Desktop. Then demonstrate a multi-tool conversation.</a:t>
            </a:r>
            <a:endParaRPr/>
          </a:p>
        </p:txBody>
      </p:sp>
      <p:sp>
        <p:nvSpPr>
          <p:cNvPr id="1422" name="Google Shape;1422;p150"/>
          <p:cNvSpPr txBox="1"/>
          <p:nvPr/>
        </p:nvSpPr>
        <p:spPr>
          <a:xfrm>
            <a:off x="548640" y="211531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1423" name="Google Shape;1423;p150"/>
          <p:cNvSpPr txBox="1"/>
          <p:nvPr/>
        </p:nvSpPr>
        <p:spPr>
          <a:xfrm>
            <a:off x="548640" y="2554224"/>
            <a:ext cx="11064240" cy="1892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an MCP server with: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add_document(title, content)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add a document to the knowledge base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search_documents(query)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search by keyword matching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list_documents()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show all indexed documents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kb://stats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knowledge base statistics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Seed the knowledge base with 3-5 business documents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 to Claude Desktop (or test with Inspector)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Have a conversation where Claude uses multiple tools to answer a question</a:t>
            </a:r>
            <a:endParaRPr/>
          </a:p>
        </p:txBody>
      </p:sp>
      <p:sp>
        <p:nvSpPr>
          <p:cNvPr id="1424" name="Google Shape;1424;p150"/>
          <p:cNvSpPr txBox="1"/>
          <p:nvPr/>
        </p:nvSpPr>
        <p:spPr>
          <a:xfrm>
            <a:off x="548640" y="4520183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endParaRPr/>
          </a:p>
        </p:txBody>
      </p:sp>
      <p:sp>
        <p:nvSpPr>
          <p:cNvPr id="1425" name="Google Shape;1425;p150"/>
          <p:cNvSpPr txBox="1"/>
          <p:nvPr/>
        </p:nvSpPr>
        <p:spPr>
          <a:xfrm>
            <a:off x="548640" y="4959095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exercise does NOT require OpenAI embeddings — use simple keyword matching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Focus on the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integration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pattern, not the retrieval quality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you want to use real embeddings, adapt the RAG MCP server code from Slide 49</a:t>
            </a:r>
            <a:endParaRPr/>
          </a:p>
        </p:txBody>
      </p:sp>
      <p:sp>
        <p:nvSpPr>
          <p:cNvPr id="1426" name="Google Shape;1426;p150"/>
          <p:cNvSpPr txBox="1"/>
          <p:nvPr/>
        </p:nvSpPr>
        <p:spPr>
          <a:xfrm>
            <a:off x="548640" y="5827775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Starter Code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51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32" name="Google Shape;1432;p151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Full Agent + MCP Integration (Advanced — 45 minutes) (cont.)</a:t>
            </a:r>
            <a:endParaRPr/>
          </a:p>
        </p:txBody>
      </p:sp>
      <p:sp>
        <p:nvSpPr>
          <p:cNvPr id="1433" name="Google Shape;1433;p151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151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knowledge_server.py — Simple Knowledge Base MCP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mcp.server.fastmcp import FastMCP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import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from datetime import datetime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server = FastMCP("knowledge-base")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Simple in-memory document 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documents: list[dict] = []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def _seed_documents():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"""Pre-load some business documents."""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seed_data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"title": "Q4 2025 Sales Report",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"Total Q4 revenue reached $4.2M, a 12% increase from Q3.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"Top performing region was Southwest with $1.5M.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"New customer acquisition was up 25% compared to last quarter.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"Enterprise deals averaged $150K, mid-market $45K."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"title": "Employee Handbook - Remote Work Policy",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"Employees may work remotely up to 3 days per week with manager approval.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"Core hours are 10am-3pm in the employee's local timezone.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"All remote workers must use the company VPN.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"Home office stipend of $500 is available annually."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52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40" name="Google Shape;1440;p152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Full Agent + MCP Integration (Advanced — 45 minutes) (cont.)</a:t>
            </a:r>
            <a:endParaRPr/>
          </a:p>
        </p:txBody>
      </p:sp>
      <p:sp>
        <p:nvSpPr>
          <p:cNvPr id="1441" name="Google Shape;1441;p152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152"/>
          <p:cNvSpPr/>
          <p:nvPr/>
        </p:nvSpPr>
        <p:spPr>
          <a:xfrm>
            <a:off x="548640" y="1051560"/>
            <a:ext cx="11064240" cy="5184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"title": "2026 Marketing Strategy",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"Focus areas: content marketing, LinkedIn ads, and industry events.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"Q1 budget allocated: $250K for digital, $100K for events.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"Target: increase MQLs by 40% and reduce CAC by 15%.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"New product launch campaign planned for March."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"title": "IT Security Guidelines",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"content": "All passwords must be at least 14 characters with MFA enabled.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"Software installations require IT approval.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"Data classification: Public, Internal, Confidential, Restricted. 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"Incident reporting within 1 hour to security@company.com."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for doc in seed_data: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doc["added_at"] = datetime.now().isoformat()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doc["id"] = len(documents) + 1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    documents.append(doc)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_seed_documents()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TODO: Implement the resource, tools, and prompt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Resource: kb://stats (document count, last updated)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Tool: add_document(title, content)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Tool: search_documents(query) — simple keyword search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53"/>
          <p:cNvSpPr/>
          <p:nvPr/>
        </p:nvSpPr>
        <p:spPr>
          <a:xfrm>
            <a:off x="274320" y="201168"/>
            <a:ext cx="502920" cy="411480"/>
          </a:xfrm>
          <a:prstGeom prst="rect">
            <a:avLst/>
          </a:prstGeom>
          <a:solidFill>
            <a:srgbClr val="1A27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48" name="Google Shape;1448;p153"/>
          <p:cNvSpPr txBox="1"/>
          <p:nvPr/>
        </p:nvSpPr>
        <p:spPr>
          <a:xfrm>
            <a:off x="914400" y="16459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Full Agent + MCP Integration (Advanced — 45 minutes) (cont.)</a:t>
            </a:r>
            <a:endParaRPr/>
          </a:p>
        </p:txBody>
      </p:sp>
      <p:sp>
        <p:nvSpPr>
          <p:cNvPr id="1449" name="Google Shape;1449;p153"/>
          <p:cNvSpPr/>
          <p:nvPr/>
        </p:nvSpPr>
        <p:spPr>
          <a:xfrm>
            <a:off x="914400" y="822960"/>
            <a:ext cx="27432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53"/>
          <p:cNvSpPr/>
          <p:nvPr/>
        </p:nvSpPr>
        <p:spPr>
          <a:xfrm>
            <a:off x="548640" y="1051560"/>
            <a:ext cx="11064240" cy="1362456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Tool: list_documents() — show all document titles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# - Prompt: research_mode — guide for using the knowledge base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   server.run()</a:t>
            </a:r>
            <a:endParaRPr/>
          </a:p>
        </p:txBody>
      </p:sp>
      <p:sp>
        <p:nvSpPr>
          <p:cNvPr id="1451" name="Google Shape;1451;p153"/>
          <p:cNvSpPr txBox="1"/>
          <p:nvPr/>
        </p:nvSpPr>
        <p:spPr>
          <a:xfrm>
            <a:off x="548640" y="2523744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Testing Steps</a:t>
            </a:r>
            <a:endParaRPr/>
          </a:p>
        </p:txBody>
      </p:sp>
      <p:sp>
        <p:nvSpPr>
          <p:cNvPr id="1452" name="Google Shape;1452;p153"/>
          <p:cNvSpPr txBox="1"/>
          <p:nvPr/>
        </p:nvSpPr>
        <p:spPr>
          <a:xfrm>
            <a:off x="548640" y="2962656"/>
            <a:ext cx="11064240" cy="153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with Inspector: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npx @modelcontextprotocol/inspector python knowledge_server.py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kb://stats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see 4 seeded documents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list_documents()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see titles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search_documents(query="sales revenue")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find the Q4 report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add_document(title="New Doc", content="Test content")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add a document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(Bonus)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Add to Claude Desktop config and ask: *"What was our Q4 revenue and what's planned for marketing in 2026?"*</a:t>
            </a:r>
            <a:endParaRPr/>
          </a:p>
        </p:txBody>
      </p:sp>
      <p:sp>
        <p:nvSpPr>
          <p:cNvPr id="1453" name="Google Shape;1453;p153"/>
          <p:cNvSpPr txBox="1"/>
          <p:nvPr/>
        </p:nvSpPr>
        <p:spPr>
          <a:xfrm>
            <a:off x="548640" y="456773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Time: 45 minutes</a:t>
            </a:r>
            <a:endParaRPr/>
          </a:p>
        </p:txBody>
      </p:sp>
      <p:sp>
        <p:nvSpPr>
          <p:cNvPr id="1454" name="Google Shape;1454;p153"/>
          <p:cNvSpPr txBox="1"/>
          <p:nvPr/>
        </p:nvSpPr>
        <p:spPr>
          <a:xfrm>
            <a:off x="548640" y="5006644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/>
          </a:p>
        </p:txBody>
      </p:sp>
      <p:sp>
        <p:nvSpPr>
          <p:cNvPr id="1455" name="Google Shape;1455;p153"/>
          <p:cNvSpPr txBox="1"/>
          <p:nvPr/>
        </p:nvSpPr>
        <p:spPr>
          <a:xfrm>
            <a:off x="548640" y="5445556"/>
            <a:ext cx="110642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Replace keyword search with TF-IDF scoring using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sklearn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a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delete_document(id)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tool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a resource template </a:t>
            </a:r>
            <a:r>
              <a:rPr lang="en-US" sz="1200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kb://documents/{id}</a:t>
            </a:r>
            <a:r>
              <a:rPr b="0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read a specific document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